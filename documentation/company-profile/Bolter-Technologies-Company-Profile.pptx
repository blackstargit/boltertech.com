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charts/chart1.xml" ContentType="application/vnd.openxmlformats-officedocument.drawingml.chart+xml"/>
  <Override PartName="/ppt/notesSlides/notesSlide14.xml" ContentType="application/vnd.openxmlformats-officedocument.presentationml.notesSlide+xml"/>
  <Override PartName="/ppt/charts/chart2.xml" ContentType="application/vnd.openxmlformats-officedocument.drawingml.chart+xml"/>
  <Override PartName="/ppt/notesSlides/notesSlide15.xml" ContentType="application/vnd.openxmlformats-officedocument.presentationml.notesSlide+xml"/>
  <Override PartName="/ppt/charts/chart3.xml" ContentType="application/vnd.openxmlformats-officedocument.drawingml.chart+xml"/>
  <Override PartName="/ppt/notesSlides/notesSlide16.xml" ContentType="application/vnd.openxmlformats-officedocument.presentationml.notesSlide+xml"/>
  <Override PartName="/ppt/charts/chart4.xml" ContentType="application/vnd.openxmlformats-officedocument.drawingml.chart+xml"/>
  <Override PartName="/ppt/notesSlides/notesSlide17.xml" ContentType="application/vnd.openxmlformats-officedocument.presentationml.notesSlide+xml"/>
  <Override PartName="/ppt/charts/chart5.xml" ContentType="application/vnd.openxmlformats-officedocument.drawingml.chart+xml"/>
  <Override PartName="/ppt/notesSlides/notesSlide18.xml" ContentType="application/vnd.openxmlformats-officedocument.presentationml.notesSlide+xml"/>
  <Override PartName="/ppt/charts/chart6.xml" ContentType="application/vnd.openxmlformats-officedocument.drawingml.chart+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11" d="100"/>
          <a:sy n="111" d="100"/>
        </p:scale>
        <p:origin x="558" y="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viewProps" Target="viewProp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stacked"/>
        <c:varyColors val="0"/>
        <c:ser>
          <c:idx val="0"/>
          <c:order val="0"/>
          <c:tx>
            <c:strRef>
              <c:f>Sheet1!$B$1</c:f>
              <c:strCache>
                <c:ptCount val="1"/>
                <c:pt idx="0">
                  <c:v>Before</c:v>
                </c:pt>
              </c:strCache>
            </c:strRef>
          </c:tx>
          <c:spPr>
            <a:solidFill>
              <a:srgbClr val="3A3C3F"/>
            </a:solidFill>
            <a:effectLst/>
          </c:spPr>
          <c:invertIfNegative val="0"/>
          <c:cat>
            <c:strRef>
              <c:f>Sheet1!$A$2:$A$13</c:f>
              <c:strCache>
                <c:ptCount val="12"/>
                <c:pt idx="0">
                  <c:v>Baseline</c:v>
                </c:pt>
                <c:pt idx="7">
                  <c:v>Automated</c:v>
                </c:pt>
                <c:pt idx="11">
                  <c:v>Steady-state</c:v>
                </c:pt>
              </c:strCache>
            </c:strRef>
          </c:cat>
          <c:val>
            <c:numRef>
              <c:f>Sheet1!$B$2:$B$13</c:f>
              <c:numCache>
                <c:formatCode>General</c:formatCode>
                <c:ptCount val="12"/>
                <c:pt idx="0">
                  <c:v>96</c:v>
                </c:pt>
                <c:pt idx="1">
                  <c:v>92</c:v>
                </c:pt>
                <c:pt idx="2">
                  <c:v>90</c:v>
                </c:pt>
                <c:pt idx="3">
                  <c:v>84</c:v>
                </c:pt>
                <c:pt idx="4">
                  <c:v>78</c:v>
                </c:pt>
                <c:pt idx="5">
                  <c:v>65</c:v>
                </c:pt>
                <c:pt idx="6">
                  <c:v>52</c:v>
                </c:pt>
                <c:pt idx="7">
                  <c:v>0</c:v>
                </c:pt>
                <c:pt idx="8">
                  <c:v>0</c:v>
                </c:pt>
                <c:pt idx="9">
                  <c:v>0</c:v>
                </c:pt>
                <c:pt idx="10">
                  <c:v>0</c:v>
                </c:pt>
                <c:pt idx="11">
                  <c:v>0</c:v>
                </c:pt>
              </c:numCache>
            </c:numRef>
          </c:val>
          <c:extLst>
            <c:ext xmlns:c16="http://schemas.microsoft.com/office/drawing/2014/chart" uri="{C3380CC4-5D6E-409C-BE32-E72D297353CC}">
              <c16:uniqueId val="{00000000-4E86-46C9-87A2-7F7484E8C408}"/>
            </c:ext>
          </c:extLst>
        </c:ser>
        <c:ser>
          <c:idx val="1"/>
          <c:order val="1"/>
          <c:tx>
            <c:strRef>
              <c:f>Sheet1!$C$1</c:f>
              <c:strCache>
                <c:ptCount val="1"/>
                <c:pt idx="0">
                  <c:v>After</c:v>
                </c:pt>
              </c:strCache>
            </c:strRef>
          </c:tx>
          <c:spPr>
            <a:solidFill>
              <a:srgbClr val="E8A33D"/>
            </a:solidFill>
            <a:effectLst/>
          </c:spPr>
          <c:invertIfNegative val="0"/>
          <c:cat>
            <c:strRef>
              <c:f>Sheet1!$A$2:$A$13</c:f>
              <c:strCache>
                <c:ptCount val="12"/>
                <c:pt idx="0">
                  <c:v>Baseline</c:v>
                </c:pt>
                <c:pt idx="7">
                  <c:v>Automated</c:v>
                </c:pt>
                <c:pt idx="11">
                  <c:v>Steady-state</c:v>
                </c:pt>
              </c:strCache>
            </c:strRef>
          </c:cat>
          <c:val>
            <c:numRef>
              <c:f>Sheet1!$C$2:$C$13</c:f>
              <c:numCache>
                <c:formatCode>General</c:formatCode>
                <c:ptCount val="12"/>
                <c:pt idx="0">
                  <c:v>0</c:v>
                </c:pt>
                <c:pt idx="1">
                  <c:v>0</c:v>
                </c:pt>
                <c:pt idx="2">
                  <c:v>0</c:v>
                </c:pt>
                <c:pt idx="3">
                  <c:v>0</c:v>
                </c:pt>
                <c:pt idx="4">
                  <c:v>0</c:v>
                </c:pt>
                <c:pt idx="5">
                  <c:v>0</c:v>
                </c:pt>
                <c:pt idx="6">
                  <c:v>0</c:v>
                </c:pt>
                <c:pt idx="7">
                  <c:v>38</c:v>
                </c:pt>
                <c:pt idx="8">
                  <c:v>28</c:v>
                </c:pt>
                <c:pt idx="9">
                  <c:v>22</c:v>
                </c:pt>
                <c:pt idx="10">
                  <c:v>16</c:v>
                </c:pt>
                <c:pt idx="11">
                  <c:v>12</c:v>
                </c:pt>
              </c:numCache>
            </c:numRef>
          </c:val>
          <c:extLst>
            <c:ext xmlns:c16="http://schemas.microsoft.com/office/drawing/2014/chart" uri="{C3380CC4-5D6E-409C-BE32-E72D297353CC}">
              <c16:uniqueId val="{00000001-4E86-46C9-87A2-7F7484E8C408}"/>
            </c:ext>
          </c:extLst>
        </c:ser>
        <c:dLbls>
          <c:showLegendKey val="0"/>
          <c:showVal val="0"/>
          <c:showCatName val="0"/>
          <c:showSerName val="0"/>
          <c:showPercent val="0"/>
          <c:showBubbleSize val="0"/>
        </c:dLbls>
        <c:gapWidth val="45"/>
        <c:overlap val="10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2E3033"/>
            </a:solidFill>
            <a:prstDash val="solid"/>
            <a:round/>
          </a:ln>
        </c:spPr>
        <c:txPr>
          <a:bodyPr/>
          <a:lstStyle/>
          <a:p>
            <a:pPr>
              <a:defRPr sz="800" b="0" i="0" u="none" strike="noStrike">
                <a:solidFill>
                  <a:srgbClr val="8B8D8F"/>
                </a:solidFill>
                <a:latin typeface="IBM Plex Mono"/>
              </a:defRPr>
            </a:pPr>
            <a:endParaRPr lang="en-US"/>
          </a:p>
        </c:txPr>
        <c:crossAx val="2094734552"/>
        <c:crosses val="autoZero"/>
        <c:auto val="1"/>
        <c:lblAlgn val="ctr"/>
        <c:lblOffset val="100"/>
        <c:noMultiLvlLbl val="1"/>
      </c:catAx>
      <c:valAx>
        <c:axId val="2094734552"/>
        <c:scaling>
          <c:orientation val="minMax"/>
          <c:max val="100"/>
          <c:min val="0"/>
        </c:scaling>
        <c:delete val="1"/>
        <c:axPos val="l"/>
        <c:majorGridlines>
          <c:spPr>
            <a:ln w="6350" cap="flat">
              <a:solidFill>
                <a:srgbClr val="2E3033"/>
              </a:solidFill>
              <a:prstDash val="dash"/>
              <a:round/>
            </a:ln>
          </c:spPr>
        </c:majorGridlines>
        <c:numFmt formatCode="General" sourceLinked="0"/>
        <c:majorTickMark val="out"/>
        <c:minorTickMark val="none"/>
        <c:tickLblPos val="nextTo"/>
        <c:crossAx val="2094734554"/>
        <c:crosses val="autoZero"/>
        <c:crossBetween val="between"/>
      </c:valAx>
      <c:spPr>
        <a:solidFill>
          <a:srgbClr val="0A0B0C"/>
        </a:solidFill>
        <a:ln>
          <a:noFill/>
        </a:ln>
        <a:effectLst/>
      </c:spPr>
    </c:plotArea>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stacked"/>
        <c:varyColors val="0"/>
        <c:ser>
          <c:idx val="0"/>
          <c:order val="0"/>
          <c:tx>
            <c:strRef>
              <c:f>Sheet1!$B$1</c:f>
              <c:strCache>
                <c:ptCount val="1"/>
                <c:pt idx="0">
                  <c:v>Before</c:v>
                </c:pt>
              </c:strCache>
            </c:strRef>
          </c:tx>
          <c:spPr>
            <a:solidFill>
              <a:srgbClr val="D3CEC4"/>
            </a:solidFill>
            <a:effectLst/>
          </c:spPr>
          <c:invertIfNegative val="0"/>
          <c:cat>
            <c:strRef>
              <c:f>Sheet1!$A$2:$A$13</c:f>
              <c:strCache>
                <c:ptCount val="12"/>
                <c:pt idx="0">
                  <c:v>Baseline</c:v>
                </c:pt>
                <c:pt idx="7">
                  <c:v>Automated</c:v>
                </c:pt>
                <c:pt idx="11">
                  <c:v>Steady-state</c:v>
                </c:pt>
              </c:strCache>
            </c:strRef>
          </c:cat>
          <c:val>
            <c:numRef>
              <c:f>Sheet1!$B$2:$B$13</c:f>
              <c:numCache>
                <c:formatCode>General</c:formatCode>
                <c:ptCount val="12"/>
                <c:pt idx="0">
                  <c:v>88</c:v>
                </c:pt>
                <c:pt idx="1">
                  <c:v>86</c:v>
                </c:pt>
                <c:pt idx="2">
                  <c:v>82</c:v>
                </c:pt>
                <c:pt idx="3">
                  <c:v>79</c:v>
                </c:pt>
                <c:pt idx="4">
                  <c:v>70</c:v>
                </c:pt>
                <c:pt idx="5">
                  <c:v>58</c:v>
                </c:pt>
                <c:pt idx="6">
                  <c:v>48</c:v>
                </c:pt>
                <c:pt idx="7">
                  <c:v>0</c:v>
                </c:pt>
                <c:pt idx="8">
                  <c:v>0</c:v>
                </c:pt>
                <c:pt idx="9">
                  <c:v>0</c:v>
                </c:pt>
                <c:pt idx="10">
                  <c:v>0</c:v>
                </c:pt>
                <c:pt idx="11">
                  <c:v>0</c:v>
                </c:pt>
              </c:numCache>
            </c:numRef>
          </c:val>
          <c:extLst>
            <c:ext xmlns:c16="http://schemas.microsoft.com/office/drawing/2014/chart" uri="{C3380CC4-5D6E-409C-BE32-E72D297353CC}">
              <c16:uniqueId val="{00000000-A1F3-4259-8798-84A366856EF0}"/>
            </c:ext>
          </c:extLst>
        </c:ser>
        <c:ser>
          <c:idx val="1"/>
          <c:order val="1"/>
          <c:tx>
            <c:strRef>
              <c:f>Sheet1!$C$1</c:f>
              <c:strCache>
                <c:ptCount val="1"/>
                <c:pt idx="0">
                  <c:v>After</c:v>
                </c:pt>
              </c:strCache>
            </c:strRef>
          </c:tx>
          <c:spPr>
            <a:solidFill>
              <a:srgbClr val="8F5D0A"/>
            </a:solidFill>
            <a:effectLst/>
          </c:spPr>
          <c:invertIfNegative val="0"/>
          <c:cat>
            <c:strRef>
              <c:f>Sheet1!$A$2:$A$13</c:f>
              <c:strCache>
                <c:ptCount val="12"/>
                <c:pt idx="0">
                  <c:v>Baseline</c:v>
                </c:pt>
                <c:pt idx="7">
                  <c:v>Automated</c:v>
                </c:pt>
                <c:pt idx="11">
                  <c:v>Steady-state</c:v>
                </c:pt>
              </c:strCache>
            </c:strRef>
          </c:cat>
          <c:val>
            <c:numRef>
              <c:f>Sheet1!$C$2:$C$13</c:f>
              <c:numCache>
                <c:formatCode>General</c:formatCode>
                <c:ptCount val="12"/>
                <c:pt idx="0">
                  <c:v>0</c:v>
                </c:pt>
                <c:pt idx="1">
                  <c:v>0</c:v>
                </c:pt>
                <c:pt idx="2">
                  <c:v>0</c:v>
                </c:pt>
                <c:pt idx="3">
                  <c:v>0</c:v>
                </c:pt>
                <c:pt idx="4">
                  <c:v>0</c:v>
                </c:pt>
                <c:pt idx="5">
                  <c:v>0</c:v>
                </c:pt>
                <c:pt idx="6">
                  <c:v>0</c:v>
                </c:pt>
                <c:pt idx="7">
                  <c:v>38</c:v>
                </c:pt>
                <c:pt idx="8">
                  <c:v>30</c:v>
                </c:pt>
                <c:pt idx="9">
                  <c:v>26</c:v>
                </c:pt>
                <c:pt idx="10">
                  <c:v>22</c:v>
                </c:pt>
                <c:pt idx="11">
                  <c:v>19</c:v>
                </c:pt>
              </c:numCache>
            </c:numRef>
          </c:val>
          <c:extLst>
            <c:ext xmlns:c16="http://schemas.microsoft.com/office/drawing/2014/chart" uri="{C3380CC4-5D6E-409C-BE32-E72D297353CC}">
              <c16:uniqueId val="{00000001-A1F3-4259-8798-84A366856EF0}"/>
            </c:ext>
          </c:extLst>
        </c:ser>
        <c:dLbls>
          <c:showLegendKey val="0"/>
          <c:showVal val="0"/>
          <c:showCatName val="0"/>
          <c:showSerName val="0"/>
          <c:showPercent val="0"/>
          <c:showBubbleSize val="0"/>
        </c:dLbls>
        <c:gapWidth val="45"/>
        <c:overlap val="10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DCD8D0"/>
            </a:solidFill>
            <a:prstDash val="solid"/>
            <a:round/>
          </a:ln>
        </c:spPr>
        <c:txPr>
          <a:bodyPr/>
          <a:lstStyle/>
          <a:p>
            <a:pPr>
              <a:defRPr sz="800" b="0" i="0" u="none" strike="noStrike">
                <a:solidFill>
                  <a:srgbClr val="6F6A5F"/>
                </a:solidFill>
                <a:latin typeface="IBM Plex Mono"/>
              </a:defRPr>
            </a:pPr>
            <a:endParaRPr lang="en-US"/>
          </a:p>
        </c:txPr>
        <c:crossAx val="2094734552"/>
        <c:crosses val="autoZero"/>
        <c:auto val="1"/>
        <c:lblAlgn val="ctr"/>
        <c:lblOffset val="100"/>
        <c:noMultiLvlLbl val="1"/>
      </c:catAx>
      <c:valAx>
        <c:axId val="2094734552"/>
        <c:scaling>
          <c:orientation val="minMax"/>
          <c:max val="100"/>
          <c:min val="0"/>
        </c:scaling>
        <c:delete val="1"/>
        <c:axPos val="l"/>
        <c:majorGridlines>
          <c:spPr>
            <a:ln w="6350" cap="flat">
              <a:solidFill>
                <a:srgbClr val="DCD8D0"/>
              </a:solidFill>
              <a:prstDash val="dash"/>
              <a:round/>
            </a:ln>
          </c:spPr>
        </c:majorGridlines>
        <c:numFmt formatCode="General" sourceLinked="0"/>
        <c:majorTickMark val="out"/>
        <c:minorTickMark val="none"/>
        <c:tickLblPos val="nextTo"/>
        <c:crossAx val="2094734554"/>
        <c:crosses val="autoZero"/>
        <c:crossBetween val="between"/>
      </c:valAx>
      <c:spPr>
        <a:solidFill>
          <a:srgbClr val="F3F1ED"/>
        </a:solidFill>
        <a:ln>
          <a:noFill/>
        </a:ln>
        <a:effectLst/>
      </c:spPr>
    </c:plotArea>
    <c:plotVisOnly val="1"/>
    <c:dispBlanksAs val="span"/>
    <c:showDLblsOverMax val="1"/>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stacked"/>
        <c:varyColors val="0"/>
        <c:ser>
          <c:idx val="0"/>
          <c:order val="0"/>
          <c:tx>
            <c:strRef>
              <c:f>Sheet1!$B$1</c:f>
              <c:strCache>
                <c:ptCount val="1"/>
                <c:pt idx="0">
                  <c:v>Before</c:v>
                </c:pt>
              </c:strCache>
            </c:strRef>
          </c:tx>
          <c:spPr>
            <a:solidFill>
              <a:srgbClr val="3A3C3F"/>
            </a:solidFill>
            <a:effectLst/>
          </c:spPr>
          <c:invertIfNegative val="0"/>
          <c:cat>
            <c:strRef>
              <c:f>Sheet1!$A$2:$A$13</c:f>
              <c:strCache>
                <c:ptCount val="12"/>
                <c:pt idx="0">
                  <c:v>Baseline</c:v>
                </c:pt>
                <c:pt idx="7">
                  <c:v>Automated</c:v>
                </c:pt>
                <c:pt idx="11">
                  <c:v>Steady-state</c:v>
                </c:pt>
              </c:strCache>
            </c:strRef>
          </c:cat>
          <c:val>
            <c:numRef>
              <c:f>Sheet1!$B$2:$B$13</c:f>
              <c:numCache>
                <c:formatCode>General</c:formatCode>
                <c:ptCount val="12"/>
                <c:pt idx="0">
                  <c:v>92</c:v>
                </c:pt>
                <c:pt idx="1">
                  <c:v>90</c:v>
                </c:pt>
                <c:pt idx="2">
                  <c:v>88</c:v>
                </c:pt>
                <c:pt idx="3">
                  <c:v>84</c:v>
                </c:pt>
                <c:pt idx="4">
                  <c:v>75</c:v>
                </c:pt>
                <c:pt idx="5">
                  <c:v>62</c:v>
                </c:pt>
                <c:pt idx="6">
                  <c:v>48</c:v>
                </c:pt>
                <c:pt idx="7">
                  <c:v>0</c:v>
                </c:pt>
                <c:pt idx="8">
                  <c:v>0</c:v>
                </c:pt>
                <c:pt idx="9">
                  <c:v>0</c:v>
                </c:pt>
                <c:pt idx="10">
                  <c:v>0</c:v>
                </c:pt>
                <c:pt idx="11">
                  <c:v>0</c:v>
                </c:pt>
              </c:numCache>
            </c:numRef>
          </c:val>
          <c:extLst>
            <c:ext xmlns:c16="http://schemas.microsoft.com/office/drawing/2014/chart" uri="{C3380CC4-5D6E-409C-BE32-E72D297353CC}">
              <c16:uniqueId val="{00000000-CE41-4712-9293-3C04E1A26EE6}"/>
            </c:ext>
          </c:extLst>
        </c:ser>
        <c:ser>
          <c:idx val="1"/>
          <c:order val="1"/>
          <c:tx>
            <c:strRef>
              <c:f>Sheet1!$C$1</c:f>
              <c:strCache>
                <c:ptCount val="1"/>
                <c:pt idx="0">
                  <c:v>After</c:v>
                </c:pt>
              </c:strCache>
            </c:strRef>
          </c:tx>
          <c:spPr>
            <a:solidFill>
              <a:srgbClr val="E8A33D"/>
            </a:solidFill>
            <a:effectLst/>
          </c:spPr>
          <c:invertIfNegative val="0"/>
          <c:cat>
            <c:strRef>
              <c:f>Sheet1!$A$2:$A$13</c:f>
              <c:strCache>
                <c:ptCount val="12"/>
                <c:pt idx="0">
                  <c:v>Baseline</c:v>
                </c:pt>
                <c:pt idx="7">
                  <c:v>Automated</c:v>
                </c:pt>
                <c:pt idx="11">
                  <c:v>Steady-state</c:v>
                </c:pt>
              </c:strCache>
            </c:strRef>
          </c:cat>
          <c:val>
            <c:numRef>
              <c:f>Sheet1!$C$2:$C$13</c:f>
              <c:numCache>
                <c:formatCode>General</c:formatCode>
                <c:ptCount val="12"/>
                <c:pt idx="0">
                  <c:v>0</c:v>
                </c:pt>
                <c:pt idx="1">
                  <c:v>0</c:v>
                </c:pt>
                <c:pt idx="2">
                  <c:v>0</c:v>
                </c:pt>
                <c:pt idx="3">
                  <c:v>0</c:v>
                </c:pt>
                <c:pt idx="4">
                  <c:v>0</c:v>
                </c:pt>
                <c:pt idx="5">
                  <c:v>0</c:v>
                </c:pt>
                <c:pt idx="6">
                  <c:v>0</c:v>
                </c:pt>
                <c:pt idx="7">
                  <c:v>36</c:v>
                </c:pt>
                <c:pt idx="8">
                  <c:v>28</c:v>
                </c:pt>
                <c:pt idx="9">
                  <c:v>24</c:v>
                </c:pt>
                <c:pt idx="10">
                  <c:v>20</c:v>
                </c:pt>
                <c:pt idx="11">
                  <c:v>18</c:v>
                </c:pt>
              </c:numCache>
            </c:numRef>
          </c:val>
          <c:extLst>
            <c:ext xmlns:c16="http://schemas.microsoft.com/office/drawing/2014/chart" uri="{C3380CC4-5D6E-409C-BE32-E72D297353CC}">
              <c16:uniqueId val="{00000001-CE41-4712-9293-3C04E1A26EE6}"/>
            </c:ext>
          </c:extLst>
        </c:ser>
        <c:dLbls>
          <c:showLegendKey val="0"/>
          <c:showVal val="0"/>
          <c:showCatName val="0"/>
          <c:showSerName val="0"/>
          <c:showPercent val="0"/>
          <c:showBubbleSize val="0"/>
        </c:dLbls>
        <c:gapWidth val="45"/>
        <c:overlap val="10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2E3033"/>
            </a:solidFill>
            <a:prstDash val="solid"/>
            <a:round/>
          </a:ln>
        </c:spPr>
        <c:txPr>
          <a:bodyPr/>
          <a:lstStyle/>
          <a:p>
            <a:pPr>
              <a:defRPr sz="800" b="0" i="0" u="none" strike="noStrike">
                <a:solidFill>
                  <a:srgbClr val="8B8D8F"/>
                </a:solidFill>
                <a:latin typeface="IBM Plex Mono"/>
              </a:defRPr>
            </a:pPr>
            <a:endParaRPr lang="en-US"/>
          </a:p>
        </c:txPr>
        <c:crossAx val="2094734552"/>
        <c:crosses val="autoZero"/>
        <c:auto val="1"/>
        <c:lblAlgn val="ctr"/>
        <c:lblOffset val="100"/>
        <c:noMultiLvlLbl val="1"/>
      </c:catAx>
      <c:valAx>
        <c:axId val="2094734552"/>
        <c:scaling>
          <c:orientation val="minMax"/>
          <c:max val="100"/>
          <c:min val="0"/>
        </c:scaling>
        <c:delete val="1"/>
        <c:axPos val="l"/>
        <c:majorGridlines>
          <c:spPr>
            <a:ln w="6350" cap="flat">
              <a:solidFill>
                <a:srgbClr val="2E3033"/>
              </a:solidFill>
              <a:prstDash val="dash"/>
              <a:round/>
            </a:ln>
          </c:spPr>
        </c:majorGridlines>
        <c:numFmt formatCode="General" sourceLinked="0"/>
        <c:majorTickMark val="out"/>
        <c:minorTickMark val="none"/>
        <c:tickLblPos val="nextTo"/>
        <c:crossAx val="2094734554"/>
        <c:crosses val="autoZero"/>
        <c:crossBetween val="between"/>
      </c:valAx>
      <c:spPr>
        <a:solidFill>
          <a:srgbClr val="0A0B0C"/>
        </a:solidFill>
        <a:ln>
          <a:noFill/>
        </a:ln>
        <a:effectLst/>
      </c:spPr>
    </c:plotArea>
    <c:plotVisOnly val="1"/>
    <c:dispBlanksAs val="span"/>
    <c:showDLblsOverMax val="1"/>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stacked"/>
        <c:varyColors val="0"/>
        <c:ser>
          <c:idx val="0"/>
          <c:order val="0"/>
          <c:tx>
            <c:strRef>
              <c:f>Sheet1!$B$1</c:f>
              <c:strCache>
                <c:ptCount val="1"/>
                <c:pt idx="0">
                  <c:v>Before</c:v>
                </c:pt>
              </c:strCache>
            </c:strRef>
          </c:tx>
          <c:spPr>
            <a:solidFill>
              <a:srgbClr val="D3CEC4"/>
            </a:solidFill>
            <a:effectLst/>
          </c:spPr>
          <c:invertIfNegative val="0"/>
          <c:cat>
            <c:strRef>
              <c:f>Sheet1!$A$2:$A$13</c:f>
              <c:strCache>
                <c:ptCount val="12"/>
                <c:pt idx="0">
                  <c:v>Baseline</c:v>
                </c:pt>
                <c:pt idx="7">
                  <c:v>Automated</c:v>
                </c:pt>
                <c:pt idx="11">
                  <c:v>Steady-state</c:v>
                </c:pt>
              </c:strCache>
            </c:strRef>
          </c:cat>
          <c:val>
            <c:numRef>
              <c:f>Sheet1!$B$2:$B$13</c:f>
              <c:numCache>
                <c:formatCode>General</c:formatCode>
                <c:ptCount val="12"/>
                <c:pt idx="0">
                  <c:v>94</c:v>
                </c:pt>
                <c:pt idx="1">
                  <c:v>91</c:v>
                </c:pt>
                <c:pt idx="2">
                  <c:v>88</c:v>
                </c:pt>
                <c:pt idx="3">
                  <c:v>82</c:v>
                </c:pt>
                <c:pt idx="4">
                  <c:v>74</c:v>
                </c:pt>
                <c:pt idx="5">
                  <c:v>60</c:v>
                </c:pt>
                <c:pt idx="6">
                  <c:v>47</c:v>
                </c:pt>
                <c:pt idx="7">
                  <c:v>0</c:v>
                </c:pt>
                <c:pt idx="8">
                  <c:v>0</c:v>
                </c:pt>
                <c:pt idx="9">
                  <c:v>0</c:v>
                </c:pt>
                <c:pt idx="10">
                  <c:v>0</c:v>
                </c:pt>
                <c:pt idx="11">
                  <c:v>0</c:v>
                </c:pt>
              </c:numCache>
            </c:numRef>
          </c:val>
          <c:extLst>
            <c:ext xmlns:c16="http://schemas.microsoft.com/office/drawing/2014/chart" uri="{C3380CC4-5D6E-409C-BE32-E72D297353CC}">
              <c16:uniqueId val="{00000000-698F-4892-818E-AED81BCB414F}"/>
            </c:ext>
          </c:extLst>
        </c:ser>
        <c:ser>
          <c:idx val="1"/>
          <c:order val="1"/>
          <c:tx>
            <c:strRef>
              <c:f>Sheet1!$C$1</c:f>
              <c:strCache>
                <c:ptCount val="1"/>
                <c:pt idx="0">
                  <c:v>After</c:v>
                </c:pt>
              </c:strCache>
            </c:strRef>
          </c:tx>
          <c:spPr>
            <a:solidFill>
              <a:srgbClr val="8F5D0A"/>
            </a:solidFill>
            <a:effectLst/>
          </c:spPr>
          <c:invertIfNegative val="0"/>
          <c:cat>
            <c:strRef>
              <c:f>Sheet1!$A$2:$A$13</c:f>
              <c:strCache>
                <c:ptCount val="12"/>
                <c:pt idx="0">
                  <c:v>Baseline</c:v>
                </c:pt>
                <c:pt idx="7">
                  <c:v>Automated</c:v>
                </c:pt>
                <c:pt idx="11">
                  <c:v>Steady-state</c:v>
                </c:pt>
              </c:strCache>
            </c:strRef>
          </c:cat>
          <c:val>
            <c:numRef>
              <c:f>Sheet1!$C$2:$C$13</c:f>
              <c:numCache>
                <c:formatCode>General</c:formatCode>
                <c:ptCount val="12"/>
                <c:pt idx="0">
                  <c:v>0</c:v>
                </c:pt>
                <c:pt idx="1">
                  <c:v>0</c:v>
                </c:pt>
                <c:pt idx="2">
                  <c:v>0</c:v>
                </c:pt>
                <c:pt idx="3">
                  <c:v>0</c:v>
                </c:pt>
                <c:pt idx="4">
                  <c:v>0</c:v>
                </c:pt>
                <c:pt idx="5">
                  <c:v>0</c:v>
                </c:pt>
                <c:pt idx="6">
                  <c:v>0</c:v>
                </c:pt>
                <c:pt idx="7">
                  <c:v>35</c:v>
                </c:pt>
                <c:pt idx="8">
                  <c:v>26</c:v>
                </c:pt>
                <c:pt idx="9">
                  <c:v>20</c:v>
                </c:pt>
                <c:pt idx="10">
                  <c:v>15</c:v>
                </c:pt>
                <c:pt idx="11">
                  <c:v>12</c:v>
                </c:pt>
              </c:numCache>
            </c:numRef>
          </c:val>
          <c:extLst>
            <c:ext xmlns:c16="http://schemas.microsoft.com/office/drawing/2014/chart" uri="{C3380CC4-5D6E-409C-BE32-E72D297353CC}">
              <c16:uniqueId val="{00000001-698F-4892-818E-AED81BCB414F}"/>
            </c:ext>
          </c:extLst>
        </c:ser>
        <c:dLbls>
          <c:showLegendKey val="0"/>
          <c:showVal val="0"/>
          <c:showCatName val="0"/>
          <c:showSerName val="0"/>
          <c:showPercent val="0"/>
          <c:showBubbleSize val="0"/>
        </c:dLbls>
        <c:gapWidth val="45"/>
        <c:overlap val="10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DCD8D0"/>
            </a:solidFill>
            <a:prstDash val="solid"/>
            <a:round/>
          </a:ln>
        </c:spPr>
        <c:txPr>
          <a:bodyPr/>
          <a:lstStyle/>
          <a:p>
            <a:pPr>
              <a:defRPr sz="800" b="0" i="0" u="none" strike="noStrike">
                <a:solidFill>
                  <a:srgbClr val="6F6A5F"/>
                </a:solidFill>
                <a:latin typeface="IBM Plex Mono"/>
              </a:defRPr>
            </a:pPr>
            <a:endParaRPr lang="en-US"/>
          </a:p>
        </c:txPr>
        <c:crossAx val="2094734552"/>
        <c:crosses val="autoZero"/>
        <c:auto val="1"/>
        <c:lblAlgn val="ctr"/>
        <c:lblOffset val="100"/>
        <c:noMultiLvlLbl val="1"/>
      </c:catAx>
      <c:valAx>
        <c:axId val="2094734552"/>
        <c:scaling>
          <c:orientation val="minMax"/>
          <c:max val="100"/>
          <c:min val="0"/>
        </c:scaling>
        <c:delete val="1"/>
        <c:axPos val="l"/>
        <c:majorGridlines>
          <c:spPr>
            <a:ln w="6350" cap="flat">
              <a:solidFill>
                <a:srgbClr val="DCD8D0"/>
              </a:solidFill>
              <a:prstDash val="dash"/>
              <a:round/>
            </a:ln>
          </c:spPr>
        </c:majorGridlines>
        <c:numFmt formatCode="General" sourceLinked="0"/>
        <c:majorTickMark val="out"/>
        <c:minorTickMark val="none"/>
        <c:tickLblPos val="nextTo"/>
        <c:crossAx val="2094734554"/>
        <c:crosses val="autoZero"/>
        <c:crossBetween val="between"/>
      </c:valAx>
      <c:spPr>
        <a:solidFill>
          <a:srgbClr val="F3F1ED"/>
        </a:solidFill>
        <a:ln>
          <a:noFill/>
        </a:ln>
        <a:effectLst/>
      </c:spPr>
    </c:plotArea>
    <c:plotVisOnly val="1"/>
    <c:dispBlanksAs val="span"/>
    <c:showDLblsOverMax val="1"/>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stacked"/>
        <c:varyColors val="0"/>
        <c:ser>
          <c:idx val="0"/>
          <c:order val="0"/>
          <c:tx>
            <c:strRef>
              <c:f>Sheet1!$B$1</c:f>
              <c:strCache>
                <c:ptCount val="1"/>
                <c:pt idx="0">
                  <c:v>Before</c:v>
                </c:pt>
              </c:strCache>
            </c:strRef>
          </c:tx>
          <c:spPr>
            <a:solidFill>
              <a:srgbClr val="3A3C3F"/>
            </a:solidFill>
            <a:effectLst/>
          </c:spPr>
          <c:invertIfNegative val="0"/>
          <c:cat>
            <c:strRef>
              <c:f>Sheet1!$A$2:$A$13</c:f>
              <c:strCache>
                <c:ptCount val="12"/>
                <c:pt idx="0">
                  <c:v>Baseline</c:v>
                </c:pt>
                <c:pt idx="7">
                  <c:v>Automated</c:v>
                </c:pt>
                <c:pt idx="11">
                  <c:v>Steady-state</c:v>
                </c:pt>
              </c:strCache>
            </c:strRef>
          </c:cat>
          <c:val>
            <c:numRef>
              <c:f>Sheet1!$B$2:$B$13</c:f>
              <c:numCache>
                <c:formatCode>General</c:formatCode>
                <c:ptCount val="12"/>
                <c:pt idx="0">
                  <c:v>92</c:v>
                </c:pt>
                <c:pt idx="1">
                  <c:v>89</c:v>
                </c:pt>
                <c:pt idx="2">
                  <c:v>85</c:v>
                </c:pt>
                <c:pt idx="3">
                  <c:v>78</c:v>
                </c:pt>
                <c:pt idx="4">
                  <c:v>68</c:v>
                </c:pt>
                <c:pt idx="5">
                  <c:v>54</c:v>
                </c:pt>
                <c:pt idx="6">
                  <c:v>40</c:v>
                </c:pt>
                <c:pt idx="7">
                  <c:v>0</c:v>
                </c:pt>
                <c:pt idx="8">
                  <c:v>0</c:v>
                </c:pt>
                <c:pt idx="9">
                  <c:v>0</c:v>
                </c:pt>
                <c:pt idx="10">
                  <c:v>0</c:v>
                </c:pt>
                <c:pt idx="11">
                  <c:v>0</c:v>
                </c:pt>
              </c:numCache>
            </c:numRef>
          </c:val>
          <c:extLst>
            <c:ext xmlns:c16="http://schemas.microsoft.com/office/drawing/2014/chart" uri="{C3380CC4-5D6E-409C-BE32-E72D297353CC}">
              <c16:uniqueId val="{00000000-AD8F-4409-9DE6-C969B469B70A}"/>
            </c:ext>
          </c:extLst>
        </c:ser>
        <c:ser>
          <c:idx val="1"/>
          <c:order val="1"/>
          <c:tx>
            <c:strRef>
              <c:f>Sheet1!$C$1</c:f>
              <c:strCache>
                <c:ptCount val="1"/>
                <c:pt idx="0">
                  <c:v>After</c:v>
                </c:pt>
              </c:strCache>
            </c:strRef>
          </c:tx>
          <c:spPr>
            <a:solidFill>
              <a:srgbClr val="E8A33D"/>
            </a:solidFill>
            <a:effectLst/>
          </c:spPr>
          <c:invertIfNegative val="0"/>
          <c:cat>
            <c:strRef>
              <c:f>Sheet1!$A$2:$A$13</c:f>
              <c:strCache>
                <c:ptCount val="12"/>
                <c:pt idx="0">
                  <c:v>Baseline</c:v>
                </c:pt>
                <c:pt idx="7">
                  <c:v>Automated</c:v>
                </c:pt>
                <c:pt idx="11">
                  <c:v>Steady-state</c:v>
                </c:pt>
              </c:strCache>
            </c:strRef>
          </c:cat>
          <c:val>
            <c:numRef>
              <c:f>Sheet1!$C$2:$C$13</c:f>
              <c:numCache>
                <c:formatCode>General</c:formatCode>
                <c:ptCount val="12"/>
                <c:pt idx="0">
                  <c:v>0</c:v>
                </c:pt>
                <c:pt idx="1">
                  <c:v>0</c:v>
                </c:pt>
                <c:pt idx="2">
                  <c:v>0</c:v>
                </c:pt>
                <c:pt idx="3">
                  <c:v>0</c:v>
                </c:pt>
                <c:pt idx="4">
                  <c:v>0</c:v>
                </c:pt>
                <c:pt idx="5">
                  <c:v>0</c:v>
                </c:pt>
                <c:pt idx="6">
                  <c:v>0</c:v>
                </c:pt>
                <c:pt idx="7">
                  <c:v>28</c:v>
                </c:pt>
                <c:pt idx="8">
                  <c:v>20</c:v>
                </c:pt>
                <c:pt idx="9">
                  <c:v>15</c:v>
                </c:pt>
                <c:pt idx="10">
                  <c:v>12</c:v>
                </c:pt>
                <c:pt idx="11">
                  <c:v>9</c:v>
                </c:pt>
              </c:numCache>
            </c:numRef>
          </c:val>
          <c:extLst>
            <c:ext xmlns:c16="http://schemas.microsoft.com/office/drawing/2014/chart" uri="{C3380CC4-5D6E-409C-BE32-E72D297353CC}">
              <c16:uniqueId val="{00000001-AD8F-4409-9DE6-C969B469B70A}"/>
            </c:ext>
          </c:extLst>
        </c:ser>
        <c:dLbls>
          <c:showLegendKey val="0"/>
          <c:showVal val="0"/>
          <c:showCatName val="0"/>
          <c:showSerName val="0"/>
          <c:showPercent val="0"/>
          <c:showBubbleSize val="0"/>
        </c:dLbls>
        <c:gapWidth val="45"/>
        <c:overlap val="10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2E3033"/>
            </a:solidFill>
            <a:prstDash val="solid"/>
            <a:round/>
          </a:ln>
        </c:spPr>
        <c:txPr>
          <a:bodyPr/>
          <a:lstStyle/>
          <a:p>
            <a:pPr>
              <a:defRPr sz="800" b="0" i="0" u="none" strike="noStrike">
                <a:solidFill>
                  <a:srgbClr val="8B8D8F"/>
                </a:solidFill>
                <a:latin typeface="IBM Plex Mono"/>
              </a:defRPr>
            </a:pPr>
            <a:endParaRPr lang="en-US"/>
          </a:p>
        </c:txPr>
        <c:crossAx val="2094734552"/>
        <c:crosses val="autoZero"/>
        <c:auto val="1"/>
        <c:lblAlgn val="ctr"/>
        <c:lblOffset val="100"/>
        <c:noMultiLvlLbl val="1"/>
      </c:catAx>
      <c:valAx>
        <c:axId val="2094734552"/>
        <c:scaling>
          <c:orientation val="minMax"/>
          <c:max val="100"/>
          <c:min val="0"/>
        </c:scaling>
        <c:delete val="1"/>
        <c:axPos val="l"/>
        <c:majorGridlines>
          <c:spPr>
            <a:ln w="6350" cap="flat">
              <a:solidFill>
                <a:srgbClr val="2E3033"/>
              </a:solidFill>
              <a:prstDash val="dash"/>
              <a:round/>
            </a:ln>
          </c:spPr>
        </c:majorGridlines>
        <c:numFmt formatCode="General" sourceLinked="0"/>
        <c:majorTickMark val="out"/>
        <c:minorTickMark val="none"/>
        <c:tickLblPos val="nextTo"/>
        <c:crossAx val="2094734554"/>
        <c:crosses val="autoZero"/>
        <c:crossBetween val="between"/>
      </c:valAx>
      <c:spPr>
        <a:solidFill>
          <a:srgbClr val="0A0B0C"/>
        </a:solidFill>
        <a:ln>
          <a:noFill/>
        </a:ln>
        <a:effectLst/>
      </c:spPr>
    </c:plotArea>
    <c:plotVisOnly val="1"/>
    <c:dispBlanksAs val="span"/>
    <c:showDLblsOverMax val="1"/>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stacked"/>
        <c:varyColors val="0"/>
        <c:ser>
          <c:idx val="0"/>
          <c:order val="0"/>
          <c:tx>
            <c:strRef>
              <c:f>Sheet1!$B$1</c:f>
              <c:strCache>
                <c:ptCount val="1"/>
                <c:pt idx="0">
                  <c:v>Before</c:v>
                </c:pt>
              </c:strCache>
            </c:strRef>
          </c:tx>
          <c:spPr>
            <a:solidFill>
              <a:srgbClr val="D3CEC4"/>
            </a:solidFill>
            <a:effectLst/>
          </c:spPr>
          <c:invertIfNegative val="0"/>
          <c:cat>
            <c:strRef>
              <c:f>Sheet1!$A$2:$A$13</c:f>
              <c:strCache>
                <c:ptCount val="12"/>
                <c:pt idx="0">
                  <c:v>Baseline</c:v>
                </c:pt>
                <c:pt idx="7">
                  <c:v>Automated</c:v>
                </c:pt>
                <c:pt idx="11">
                  <c:v>Steady-state</c:v>
                </c:pt>
              </c:strCache>
            </c:strRef>
          </c:cat>
          <c:val>
            <c:numRef>
              <c:f>Sheet1!$B$2:$B$13</c:f>
              <c:numCache>
                <c:formatCode>General</c:formatCode>
                <c:ptCount val="12"/>
                <c:pt idx="0">
                  <c:v>98</c:v>
                </c:pt>
                <c:pt idx="1">
                  <c:v>95</c:v>
                </c:pt>
                <c:pt idx="2">
                  <c:v>90</c:v>
                </c:pt>
                <c:pt idx="3">
                  <c:v>85</c:v>
                </c:pt>
                <c:pt idx="4">
                  <c:v>76</c:v>
                </c:pt>
                <c:pt idx="5">
                  <c:v>60</c:v>
                </c:pt>
                <c:pt idx="6">
                  <c:v>42</c:v>
                </c:pt>
                <c:pt idx="7">
                  <c:v>0</c:v>
                </c:pt>
                <c:pt idx="8">
                  <c:v>0</c:v>
                </c:pt>
                <c:pt idx="9">
                  <c:v>0</c:v>
                </c:pt>
                <c:pt idx="10">
                  <c:v>0</c:v>
                </c:pt>
                <c:pt idx="11">
                  <c:v>0</c:v>
                </c:pt>
              </c:numCache>
            </c:numRef>
          </c:val>
          <c:extLst>
            <c:ext xmlns:c16="http://schemas.microsoft.com/office/drawing/2014/chart" uri="{C3380CC4-5D6E-409C-BE32-E72D297353CC}">
              <c16:uniqueId val="{00000000-73D3-4C05-8235-DF12940D33D9}"/>
            </c:ext>
          </c:extLst>
        </c:ser>
        <c:ser>
          <c:idx val="1"/>
          <c:order val="1"/>
          <c:tx>
            <c:strRef>
              <c:f>Sheet1!$C$1</c:f>
              <c:strCache>
                <c:ptCount val="1"/>
                <c:pt idx="0">
                  <c:v>After</c:v>
                </c:pt>
              </c:strCache>
            </c:strRef>
          </c:tx>
          <c:spPr>
            <a:solidFill>
              <a:srgbClr val="8F5D0A"/>
            </a:solidFill>
            <a:effectLst/>
          </c:spPr>
          <c:invertIfNegative val="0"/>
          <c:cat>
            <c:strRef>
              <c:f>Sheet1!$A$2:$A$13</c:f>
              <c:strCache>
                <c:ptCount val="12"/>
                <c:pt idx="0">
                  <c:v>Baseline</c:v>
                </c:pt>
                <c:pt idx="7">
                  <c:v>Automated</c:v>
                </c:pt>
                <c:pt idx="11">
                  <c:v>Steady-state</c:v>
                </c:pt>
              </c:strCache>
            </c:strRef>
          </c:cat>
          <c:val>
            <c:numRef>
              <c:f>Sheet1!$C$2:$C$13</c:f>
              <c:numCache>
                <c:formatCode>General</c:formatCode>
                <c:ptCount val="12"/>
                <c:pt idx="0">
                  <c:v>0</c:v>
                </c:pt>
                <c:pt idx="1">
                  <c:v>0</c:v>
                </c:pt>
                <c:pt idx="2">
                  <c:v>0</c:v>
                </c:pt>
                <c:pt idx="3">
                  <c:v>0</c:v>
                </c:pt>
                <c:pt idx="4">
                  <c:v>0</c:v>
                </c:pt>
                <c:pt idx="5">
                  <c:v>0</c:v>
                </c:pt>
                <c:pt idx="6">
                  <c:v>0</c:v>
                </c:pt>
                <c:pt idx="7">
                  <c:v>28</c:v>
                </c:pt>
                <c:pt idx="8">
                  <c:v>18</c:v>
                </c:pt>
                <c:pt idx="9">
                  <c:v>12</c:v>
                </c:pt>
                <c:pt idx="10">
                  <c:v>8</c:v>
                </c:pt>
                <c:pt idx="11">
                  <c:v>5</c:v>
                </c:pt>
              </c:numCache>
            </c:numRef>
          </c:val>
          <c:extLst>
            <c:ext xmlns:c16="http://schemas.microsoft.com/office/drawing/2014/chart" uri="{C3380CC4-5D6E-409C-BE32-E72D297353CC}">
              <c16:uniqueId val="{00000001-73D3-4C05-8235-DF12940D33D9}"/>
            </c:ext>
          </c:extLst>
        </c:ser>
        <c:dLbls>
          <c:showLegendKey val="0"/>
          <c:showVal val="0"/>
          <c:showCatName val="0"/>
          <c:showSerName val="0"/>
          <c:showPercent val="0"/>
          <c:showBubbleSize val="0"/>
        </c:dLbls>
        <c:gapWidth val="45"/>
        <c:overlap val="10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DCD8D0"/>
            </a:solidFill>
            <a:prstDash val="solid"/>
            <a:round/>
          </a:ln>
        </c:spPr>
        <c:txPr>
          <a:bodyPr/>
          <a:lstStyle/>
          <a:p>
            <a:pPr>
              <a:defRPr sz="800" b="0" i="0" u="none" strike="noStrike">
                <a:solidFill>
                  <a:srgbClr val="6F6A5F"/>
                </a:solidFill>
                <a:latin typeface="IBM Plex Mono"/>
              </a:defRPr>
            </a:pPr>
            <a:endParaRPr lang="en-US"/>
          </a:p>
        </c:txPr>
        <c:crossAx val="2094734552"/>
        <c:crosses val="autoZero"/>
        <c:auto val="1"/>
        <c:lblAlgn val="ctr"/>
        <c:lblOffset val="100"/>
        <c:noMultiLvlLbl val="1"/>
      </c:catAx>
      <c:valAx>
        <c:axId val="2094734552"/>
        <c:scaling>
          <c:orientation val="minMax"/>
          <c:max val="100"/>
          <c:min val="0"/>
        </c:scaling>
        <c:delete val="1"/>
        <c:axPos val="l"/>
        <c:majorGridlines>
          <c:spPr>
            <a:ln w="6350" cap="flat">
              <a:solidFill>
                <a:srgbClr val="DCD8D0"/>
              </a:solidFill>
              <a:prstDash val="dash"/>
              <a:round/>
            </a:ln>
          </c:spPr>
        </c:majorGridlines>
        <c:numFmt formatCode="General" sourceLinked="0"/>
        <c:majorTickMark val="out"/>
        <c:minorTickMark val="none"/>
        <c:tickLblPos val="nextTo"/>
        <c:crossAx val="2094734554"/>
        <c:crosses val="autoZero"/>
        <c:crossBetween val="between"/>
      </c:valAx>
      <c:spPr>
        <a:solidFill>
          <a:srgbClr val="F3F1ED"/>
        </a:solid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80585080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3.xml"/><Relationship Id="rId1" Type="http://schemas.openxmlformats.org/officeDocument/2006/relationships/slideLayout" Target="../slideLayouts/slideLayout1.xml"/><Relationship Id="rId4" Type="http://schemas.openxmlformats.org/officeDocument/2006/relationships/chart" Target="../charts/chart1.xml"/></Relationships>
</file>

<file path=ppt/slides/_rels/slide14.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5.xml"/><Relationship Id="rId1" Type="http://schemas.openxmlformats.org/officeDocument/2006/relationships/slideLayout" Target="../slideLayouts/slideLayout1.xml"/><Relationship Id="rId4" Type="http://schemas.openxmlformats.org/officeDocument/2006/relationships/chart" Target="../charts/chart3.xml"/></Relationships>
</file>

<file path=ppt/slides/_rels/slide1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6.xml"/><Relationship Id="rId1" Type="http://schemas.openxmlformats.org/officeDocument/2006/relationships/slideLayout" Target="../slideLayouts/slideLayout1.xml"/><Relationship Id="rId4" Type="http://schemas.openxmlformats.org/officeDocument/2006/relationships/chart" Target="../charts/chart4.xml"/></Relationships>
</file>

<file path=ppt/slides/_rels/slide17.xml.rels><?xml version="1.0" encoding="UTF-8" standalone="yes"?>
<Relationships xmlns="http://schemas.openxmlformats.org/package/2006/relationships"><Relationship Id="rId3" Type="http://schemas.openxmlformats.org/officeDocument/2006/relationships/chart" Target="../charts/chart5.xml"/><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chart" Target="../charts/chart6.xml"/><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hyperlink" Target="mailto:ceo@boltertech.com" TargetMode="External"/><Relationship Id="rId7" Type="http://schemas.openxmlformats.org/officeDocument/2006/relationships/hyperlink" Target="https://www.linkedin.com/in/blackstarin/" TargetMode="External"/><Relationship Id="rId2" Type="http://schemas.openxmlformats.org/officeDocument/2006/relationships/notesSlide" Target="../notesSlides/notesSlide21.xml"/><Relationship Id="rId1" Type="http://schemas.openxmlformats.org/officeDocument/2006/relationships/slideLayout" Target="../slideLayouts/slideLayout1.xml"/><Relationship Id="rId6" Type="http://schemas.openxmlformats.org/officeDocument/2006/relationships/hyperlink" Target="mailto:cto@boltertech.com" TargetMode="External"/><Relationship Id="rId5" Type="http://schemas.openxmlformats.org/officeDocument/2006/relationships/hyperlink" Target="https://www.linkedin.com/in/HamzaJBandesha/" TargetMode="External"/><Relationship Id="rId4" Type="http://schemas.openxmlformats.org/officeDocument/2006/relationships/hyperlink" Target="mailto:coo@boltertech.com" TargetMode="Externa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hyperlink" Target="https://maps.app.goo.gl/Hn2xWVfHc56vTKj88" TargetMode="External"/><Relationship Id="rId2" Type="http://schemas.openxmlformats.org/officeDocument/2006/relationships/notesSlide" Target="../notesSlides/notesSlide23.xml"/><Relationship Id="rId1" Type="http://schemas.openxmlformats.org/officeDocument/2006/relationships/slideLayout" Target="../slideLayouts/slideLayout1.xml"/><Relationship Id="rId6" Type="http://schemas.openxmlformats.org/officeDocument/2006/relationships/hyperlink" Target="https://boltertech.com" TargetMode="External"/><Relationship Id="rId5" Type="http://schemas.openxmlformats.org/officeDocument/2006/relationships/hyperlink" Target="tel:+923347070209" TargetMode="External"/><Relationship Id="rId4" Type="http://schemas.openxmlformats.org/officeDocument/2006/relationships/hyperlink" Target="mailto:contact@boltertech.com" TargetMode="Externa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0B0C"/>
        </a:solidFill>
        <a:effectLst/>
      </p:bgPr>
    </p:bg>
    <p:spTree>
      <p:nvGrpSpPr>
        <p:cNvPr id="1" name=""/>
        <p:cNvGrpSpPr/>
        <p:nvPr/>
      </p:nvGrpSpPr>
      <p:grpSpPr>
        <a:xfrm>
          <a:off x="0" y="0"/>
          <a:ext cx="0" cy="0"/>
          <a:chOff x="0" y="0"/>
          <a:chExt cx="0" cy="0"/>
        </a:xfrm>
      </p:grpSpPr>
      <p:pic>
        <p:nvPicPr>
          <p:cNvPr id="2" name="Image 0" descr="X:\code\personal\boltertech.com\public\yellow-logo.png"/>
          <p:cNvPicPr>
            <a:picLocks noChangeAspect="1"/>
          </p:cNvPicPr>
          <p:nvPr/>
        </p:nvPicPr>
        <p:blipFill>
          <a:blip r:embed="rId3"/>
          <a:stretch>
            <a:fillRect/>
          </a:stretch>
        </p:blipFill>
        <p:spPr>
          <a:xfrm>
            <a:off x="7726680" y="1097280"/>
            <a:ext cx="3749040" cy="4047224"/>
          </a:xfrm>
          <a:prstGeom prst="rect">
            <a:avLst/>
          </a:prstGeom>
        </p:spPr>
      </p:pic>
      <p:sp>
        <p:nvSpPr>
          <p:cNvPr id="3" name="Shape 0"/>
          <p:cNvSpPr/>
          <p:nvPr/>
        </p:nvSpPr>
        <p:spPr>
          <a:xfrm>
            <a:off x="640080" y="1623060"/>
            <a:ext cx="219456" cy="32004"/>
          </a:xfrm>
          <a:prstGeom prst="rect">
            <a:avLst/>
          </a:prstGeom>
          <a:solidFill>
            <a:srgbClr val="E8A33D"/>
          </a:solidFill>
          <a:ln/>
        </p:spPr>
        <p:txBody>
          <a:bodyPr/>
          <a:lstStyle/>
          <a:p>
            <a:endParaRPr lang="en-PK"/>
          </a:p>
        </p:txBody>
      </p:sp>
      <p:sp>
        <p:nvSpPr>
          <p:cNvPr id="4" name="Text 1"/>
          <p:cNvSpPr/>
          <p:nvPr/>
        </p:nvSpPr>
        <p:spPr>
          <a:xfrm>
            <a:off x="969264" y="1554480"/>
            <a:ext cx="8229600" cy="182880"/>
          </a:xfrm>
          <a:prstGeom prst="rect">
            <a:avLst/>
          </a:prstGeom>
          <a:noFill/>
          <a:ln/>
        </p:spPr>
        <p:txBody>
          <a:bodyPr wrap="square" lIns="0" tIns="0" rIns="0" bIns="0" rtlCol="0" anchor="t"/>
          <a:lstStyle/>
          <a:p>
            <a:pPr marL="0" indent="0">
              <a:buNone/>
            </a:pPr>
            <a:r>
              <a:rPr lang="en-US" sz="900" b="1" kern="0" spc="200" dirty="0">
                <a:solidFill>
                  <a:srgbClr val="E8A33D"/>
                </a:solidFill>
                <a:latin typeface="IBM Plex Mono" pitchFamily="34" charset="0"/>
                <a:ea typeface="IBM Plex Mono" pitchFamily="34" charset="-122"/>
                <a:cs typeface="IBM Plex Mono" pitchFamily="34" charset="-120"/>
              </a:rPr>
              <a:t>COMPANY PROFILE  ·  2026</a:t>
            </a:r>
            <a:endParaRPr lang="en-US" sz="900" dirty="0"/>
          </a:p>
        </p:txBody>
      </p:sp>
      <p:sp>
        <p:nvSpPr>
          <p:cNvPr id="5" name="Text 2"/>
          <p:cNvSpPr/>
          <p:nvPr/>
        </p:nvSpPr>
        <p:spPr>
          <a:xfrm>
            <a:off x="640080" y="1874520"/>
            <a:ext cx="6766560" cy="2103120"/>
          </a:xfrm>
          <a:prstGeom prst="rect">
            <a:avLst/>
          </a:prstGeom>
          <a:noFill/>
          <a:ln/>
        </p:spPr>
        <p:txBody>
          <a:bodyPr wrap="square" lIns="0" tIns="0" rIns="0" bIns="0" rtlCol="0" anchor="t"/>
          <a:lstStyle/>
          <a:p>
            <a:pPr marL="0" indent="0">
              <a:lnSpc>
                <a:spcPct val="88000"/>
              </a:lnSpc>
              <a:buNone/>
            </a:pPr>
            <a:r>
              <a:rPr lang="en-US" sz="6600" b="1" dirty="0">
                <a:solidFill>
                  <a:srgbClr val="FFFFFF"/>
                </a:solidFill>
                <a:latin typeface="Space Grotesk" pitchFamily="34" charset="0"/>
                <a:ea typeface="Space Grotesk" pitchFamily="34" charset="-122"/>
                <a:cs typeface="Space Grotesk" pitchFamily="34" charset="-120"/>
              </a:rPr>
              <a:t>Bolter</a:t>
            </a:r>
            <a:endParaRPr lang="en-US" sz="6600" dirty="0"/>
          </a:p>
          <a:p>
            <a:pPr marL="0" indent="0">
              <a:lnSpc>
                <a:spcPct val="88000"/>
              </a:lnSpc>
              <a:buNone/>
            </a:pPr>
            <a:r>
              <a:rPr lang="en-US" sz="6600" b="1" dirty="0">
                <a:solidFill>
                  <a:srgbClr val="FFFFFF"/>
                </a:solidFill>
                <a:latin typeface="Space Grotesk" pitchFamily="34" charset="0"/>
                <a:ea typeface="Space Grotesk" pitchFamily="34" charset="-122"/>
                <a:cs typeface="Space Grotesk" pitchFamily="34" charset="-120"/>
              </a:rPr>
              <a:t>Technologies</a:t>
            </a:r>
            <a:endParaRPr lang="en-US" sz="6600" dirty="0"/>
          </a:p>
        </p:txBody>
      </p:sp>
      <p:sp>
        <p:nvSpPr>
          <p:cNvPr id="6" name="Text 3"/>
          <p:cNvSpPr/>
          <p:nvPr/>
        </p:nvSpPr>
        <p:spPr>
          <a:xfrm>
            <a:off x="640080" y="4069080"/>
            <a:ext cx="6766560" cy="822960"/>
          </a:xfrm>
          <a:prstGeom prst="rect">
            <a:avLst/>
          </a:prstGeom>
          <a:noFill/>
          <a:ln/>
        </p:spPr>
        <p:txBody>
          <a:bodyPr wrap="square" lIns="0" tIns="0" rIns="0" bIns="0" rtlCol="0" anchor="t"/>
          <a:lstStyle/>
          <a:p>
            <a:pPr marL="0" indent="0">
              <a:lnSpc>
                <a:spcPct val="115000"/>
              </a:lnSpc>
              <a:buNone/>
            </a:pPr>
            <a:r>
              <a:rPr lang="en-US" sz="2000" dirty="0">
                <a:solidFill>
                  <a:srgbClr val="B6B7B8"/>
                </a:solidFill>
                <a:latin typeface="IBM Plex Sans" pitchFamily="34" charset="0"/>
                <a:ea typeface="IBM Plex Sans" pitchFamily="34" charset="-122"/>
                <a:cs typeface="IBM Plex Sans" pitchFamily="34" charset="-120"/>
              </a:rPr>
              <a:t>We build software that works, and we stand behind it.</a:t>
            </a:r>
            <a:endParaRPr lang="en-US" sz="2000" dirty="0"/>
          </a:p>
        </p:txBody>
      </p:sp>
      <p:sp>
        <p:nvSpPr>
          <p:cNvPr id="7" name="Shape 4"/>
          <p:cNvSpPr/>
          <p:nvPr/>
        </p:nvSpPr>
        <p:spPr>
          <a:xfrm>
            <a:off x="640080" y="5532120"/>
            <a:ext cx="10911535" cy="0"/>
          </a:xfrm>
          <a:prstGeom prst="line">
            <a:avLst/>
          </a:prstGeom>
          <a:noFill/>
          <a:ln w="9525">
            <a:solidFill>
              <a:srgbClr val="2E3033"/>
            </a:solidFill>
            <a:prstDash val="solid"/>
          </a:ln>
        </p:spPr>
        <p:txBody>
          <a:bodyPr/>
          <a:lstStyle/>
          <a:p>
            <a:endParaRPr lang="en-PK"/>
          </a:p>
        </p:txBody>
      </p:sp>
      <p:sp>
        <p:nvSpPr>
          <p:cNvPr id="8" name="Text 5"/>
          <p:cNvSpPr/>
          <p:nvPr/>
        </p:nvSpPr>
        <p:spPr>
          <a:xfrm>
            <a:off x="640080" y="5715000"/>
            <a:ext cx="2727884" cy="182880"/>
          </a:xfrm>
          <a:prstGeom prst="rect">
            <a:avLst/>
          </a:prstGeom>
          <a:noFill/>
          <a:ln/>
        </p:spPr>
        <p:txBody>
          <a:bodyPr wrap="square" lIns="0" tIns="0" rIns="0" bIns="0" rtlCol="0" anchor="t"/>
          <a:lstStyle/>
          <a:p>
            <a:pPr marL="0" indent="0">
              <a:buNone/>
            </a:pPr>
            <a:r>
              <a:rPr lang="en-US" sz="800" kern="0" spc="150" dirty="0">
                <a:solidFill>
                  <a:srgbClr val="8B8D8F"/>
                </a:solidFill>
                <a:latin typeface="IBM Plex Mono" pitchFamily="34" charset="0"/>
                <a:ea typeface="IBM Plex Mono" pitchFamily="34" charset="-122"/>
                <a:cs typeface="IBM Plex Mono" pitchFamily="34" charset="-120"/>
              </a:rPr>
              <a:t>ESTABLISHED</a:t>
            </a:r>
            <a:endParaRPr lang="en-US" sz="800" dirty="0"/>
          </a:p>
        </p:txBody>
      </p:sp>
      <p:sp>
        <p:nvSpPr>
          <p:cNvPr id="9" name="Text 6"/>
          <p:cNvSpPr/>
          <p:nvPr/>
        </p:nvSpPr>
        <p:spPr>
          <a:xfrm>
            <a:off x="640080" y="5943600"/>
            <a:ext cx="2727884" cy="274320"/>
          </a:xfrm>
          <a:prstGeom prst="rect">
            <a:avLst/>
          </a:prstGeom>
          <a:noFill/>
          <a:ln/>
        </p:spPr>
        <p:txBody>
          <a:bodyPr wrap="square" lIns="0" tIns="0" rIns="0" bIns="0" rtlCol="0" anchor="t"/>
          <a:lstStyle/>
          <a:p>
            <a:pPr marL="0" indent="0">
              <a:buNone/>
            </a:pPr>
            <a:r>
              <a:rPr lang="en-US" sz="1300" dirty="0">
                <a:solidFill>
                  <a:srgbClr val="FFFFFF"/>
                </a:solidFill>
                <a:latin typeface="IBM Plex Sans" pitchFamily="34" charset="0"/>
                <a:ea typeface="IBM Plex Sans" pitchFamily="34" charset="-122"/>
                <a:cs typeface="IBM Plex Sans" pitchFamily="34" charset="-120"/>
              </a:rPr>
              <a:t>2024</a:t>
            </a:r>
            <a:endParaRPr lang="en-US" sz="1300" dirty="0"/>
          </a:p>
        </p:txBody>
      </p:sp>
      <p:sp>
        <p:nvSpPr>
          <p:cNvPr id="10" name="Text 7"/>
          <p:cNvSpPr/>
          <p:nvPr/>
        </p:nvSpPr>
        <p:spPr>
          <a:xfrm>
            <a:off x="3367964" y="5715000"/>
            <a:ext cx="2727884" cy="182880"/>
          </a:xfrm>
          <a:prstGeom prst="rect">
            <a:avLst/>
          </a:prstGeom>
          <a:noFill/>
          <a:ln/>
        </p:spPr>
        <p:txBody>
          <a:bodyPr wrap="square" lIns="0" tIns="0" rIns="0" bIns="0" rtlCol="0" anchor="t"/>
          <a:lstStyle/>
          <a:p>
            <a:pPr marL="0" indent="0">
              <a:buNone/>
            </a:pPr>
            <a:r>
              <a:rPr lang="en-US" sz="800" kern="0" spc="150" dirty="0">
                <a:solidFill>
                  <a:srgbClr val="8B8D8F"/>
                </a:solidFill>
                <a:latin typeface="IBM Plex Mono" pitchFamily="34" charset="0"/>
                <a:ea typeface="IBM Plex Mono" pitchFamily="34" charset="-122"/>
                <a:cs typeface="IBM Plex Mono" pitchFamily="34" charset="-120"/>
              </a:rPr>
              <a:t>HEADQUARTERS</a:t>
            </a:r>
            <a:endParaRPr lang="en-US" sz="800" dirty="0"/>
          </a:p>
        </p:txBody>
      </p:sp>
      <p:sp>
        <p:nvSpPr>
          <p:cNvPr id="11" name="Text 8"/>
          <p:cNvSpPr/>
          <p:nvPr/>
        </p:nvSpPr>
        <p:spPr>
          <a:xfrm>
            <a:off x="3367964" y="5943600"/>
            <a:ext cx="2727884" cy="274320"/>
          </a:xfrm>
          <a:prstGeom prst="rect">
            <a:avLst/>
          </a:prstGeom>
          <a:noFill/>
          <a:ln/>
        </p:spPr>
        <p:txBody>
          <a:bodyPr wrap="square" lIns="0" tIns="0" rIns="0" bIns="0" rtlCol="0" anchor="t"/>
          <a:lstStyle/>
          <a:p>
            <a:pPr marL="0" indent="0">
              <a:buNone/>
            </a:pPr>
            <a:r>
              <a:rPr lang="en-US" sz="1300" dirty="0">
                <a:solidFill>
                  <a:srgbClr val="FFFFFF"/>
                </a:solidFill>
                <a:latin typeface="IBM Plex Sans" pitchFamily="34" charset="0"/>
                <a:ea typeface="IBM Plex Sans" pitchFamily="34" charset="-122"/>
                <a:cs typeface="IBM Plex Sans" pitchFamily="34" charset="-120"/>
              </a:rPr>
              <a:t>Islamabad, Pakistan</a:t>
            </a:r>
            <a:endParaRPr lang="en-US" sz="1300" dirty="0"/>
          </a:p>
        </p:txBody>
      </p:sp>
      <p:sp>
        <p:nvSpPr>
          <p:cNvPr id="12" name="Text 9"/>
          <p:cNvSpPr/>
          <p:nvPr/>
        </p:nvSpPr>
        <p:spPr>
          <a:xfrm>
            <a:off x="6095848" y="5715000"/>
            <a:ext cx="2727884" cy="182880"/>
          </a:xfrm>
          <a:prstGeom prst="rect">
            <a:avLst/>
          </a:prstGeom>
          <a:noFill/>
          <a:ln/>
        </p:spPr>
        <p:txBody>
          <a:bodyPr wrap="square" lIns="0" tIns="0" rIns="0" bIns="0" rtlCol="0" anchor="t"/>
          <a:lstStyle/>
          <a:p>
            <a:pPr marL="0" indent="0">
              <a:buNone/>
            </a:pPr>
            <a:r>
              <a:rPr lang="en-US" sz="800" kern="0" spc="150" dirty="0">
                <a:solidFill>
                  <a:srgbClr val="8B8D8F"/>
                </a:solidFill>
                <a:latin typeface="IBM Plex Mono" pitchFamily="34" charset="0"/>
                <a:ea typeface="IBM Plex Mono" pitchFamily="34" charset="-122"/>
                <a:cs typeface="IBM Plex Mono" pitchFamily="34" charset="-120"/>
              </a:rPr>
              <a:t>WEBSITE</a:t>
            </a:r>
            <a:endParaRPr lang="en-US" sz="800" dirty="0"/>
          </a:p>
        </p:txBody>
      </p:sp>
      <p:sp>
        <p:nvSpPr>
          <p:cNvPr id="13" name="Text 10"/>
          <p:cNvSpPr/>
          <p:nvPr/>
        </p:nvSpPr>
        <p:spPr>
          <a:xfrm>
            <a:off x="6095848" y="5943600"/>
            <a:ext cx="2727884" cy="274320"/>
          </a:xfrm>
          <a:prstGeom prst="rect">
            <a:avLst/>
          </a:prstGeom>
          <a:noFill/>
          <a:ln/>
        </p:spPr>
        <p:txBody>
          <a:bodyPr wrap="square" lIns="0" tIns="0" rIns="0" bIns="0" rtlCol="0" anchor="t"/>
          <a:lstStyle/>
          <a:p>
            <a:pPr marL="0" indent="0">
              <a:buNone/>
            </a:pPr>
            <a:r>
              <a:rPr lang="en-US" sz="1300" dirty="0">
                <a:solidFill>
                  <a:srgbClr val="FFFFFF"/>
                </a:solidFill>
                <a:latin typeface="IBM Plex Sans" pitchFamily="34" charset="0"/>
                <a:ea typeface="IBM Plex Sans" pitchFamily="34" charset="-122"/>
                <a:cs typeface="IBM Plex Sans" pitchFamily="34" charset="-120"/>
              </a:rPr>
              <a:t>boltertech.com</a:t>
            </a:r>
            <a:endParaRPr lang="en-US" sz="1300" dirty="0"/>
          </a:p>
        </p:txBody>
      </p:sp>
      <p:sp>
        <p:nvSpPr>
          <p:cNvPr id="14" name="Text 11"/>
          <p:cNvSpPr/>
          <p:nvPr/>
        </p:nvSpPr>
        <p:spPr>
          <a:xfrm>
            <a:off x="8823731" y="5715000"/>
            <a:ext cx="2727884" cy="182880"/>
          </a:xfrm>
          <a:prstGeom prst="rect">
            <a:avLst/>
          </a:prstGeom>
          <a:noFill/>
          <a:ln/>
        </p:spPr>
        <p:txBody>
          <a:bodyPr wrap="square" lIns="0" tIns="0" rIns="0" bIns="0" rtlCol="0" anchor="t"/>
          <a:lstStyle/>
          <a:p>
            <a:pPr marL="0" indent="0">
              <a:buNone/>
            </a:pPr>
            <a:r>
              <a:rPr lang="en-US" sz="800" kern="0" spc="150" dirty="0">
                <a:solidFill>
                  <a:srgbClr val="8B8D8F"/>
                </a:solidFill>
                <a:latin typeface="IBM Plex Mono" pitchFamily="34" charset="0"/>
                <a:ea typeface="IBM Plex Mono" pitchFamily="34" charset="-122"/>
                <a:cs typeface="IBM Plex Mono" pitchFamily="34" charset="-120"/>
              </a:rPr>
              <a:t>CONTACT</a:t>
            </a:r>
            <a:endParaRPr lang="en-US" sz="800" dirty="0"/>
          </a:p>
        </p:txBody>
      </p:sp>
      <p:sp>
        <p:nvSpPr>
          <p:cNvPr id="15" name="Text 12"/>
          <p:cNvSpPr/>
          <p:nvPr/>
        </p:nvSpPr>
        <p:spPr>
          <a:xfrm>
            <a:off x="8823731" y="5943600"/>
            <a:ext cx="2727884" cy="274320"/>
          </a:xfrm>
          <a:prstGeom prst="rect">
            <a:avLst/>
          </a:prstGeom>
          <a:noFill/>
          <a:ln/>
        </p:spPr>
        <p:txBody>
          <a:bodyPr wrap="square" lIns="0" tIns="0" rIns="0" bIns="0" rtlCol="0" anchor="t"/>
          <a:lstStyle/>
          <a:p>
            <a:pPr marL="0" indent="0">
              <a:buNone/>
            </a:pPr>
            <a:r>
              <a:rPr lang="en-US" sz="1300" dirty="0">
                <a:solidFill>
                  <a:srgbClr val="FFFFFF"/>
                </a:solidFill>
                <a:latin typeface="IBM Plex Sans" pitchFamily="34" charset="0"/>
                <a:ea typeface="IBM Plex Sans" pitchFamily="34" charset="-122"/>
                <a:cs typeface="IBM Plex Sans" pitchFamily="34" charset="-120"/>
              </a:rPr>
              <a:t>contact@boltertech.com</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3F1ED"/>
        </a:solidFill>
        <a:effectLst/>
      </p:bgPr>
    </p:bg>
    <p:spTree>
      <p:nvGrpSpPr>
        <p:cNvPr id="1" name=""/>
        <p:cNvGrpSpPr/>
        <p:nvPr/>
      </p:nvGrpSpPr>
      <p:grpSpPr>
        <a:xfrm>
          <a:off x="0" y="0"/>
          <a:ext cx="0" cy="0"/>
          <a:chOff x="0" y="0"/>
          <a:chExt cx="0" cy="0"/>
        </a:xfrm>
      </p:grpSpPr>
      <p:sp>
        <p:nvSpPr>
          <p:cNvPr id="2" name="Shape 0"/>
          <p:cNvSpPr/>
          <p:nvPr/>
        </p:nvSpPr>
        <p:spPr>
          <a:xfrm>
            <a:off x="640080" y="571500"/>
            <a:ext cx="219456" cy="32004"/>
          </a:xfrm>
          <a:prstGeom prst="rect">
            <a:avLst/>
          </a:prstGeom>
          <a:solidFill>
            <a:srgbClr val="8F5D0A"/>
          </a:solidFill>
          <a:ln/>
        </p:spPr>
        <p:txBody>
          <a:bodyPr/>
          <a:lstStyle/>
          <a:p>
            <a:endParaRPr lang="en-PK"/>
          </a:p>
        </p:txBody>
      </p:sp>
      <p:sp>
        <p:nvSpPr>
          <p:cNvPr id="3" name="Text 1"/>
          <p:cNvSpPr/>
          <p:nvPr/>
        </p:nvSpPr>
        <p:spPr>
          <a:xfrm>
            <a:off x="969264" y="502920"/>
            <a:ext cx="8229600" cy="182880"/>
          </a:xfrm>
          <a:prstGeom prst="rect">
            <a:avLst/>
          </a:prstGeom>
          <a:noFill/>
          <a:ln/>
        </p:spPr>
        <p:txBody>
          <a:bodyPr wrap="square" lIns="0" tIns="0" rIns="0" bIns="0" rtlCol="0" anchor="t"/>
          <a:lstStyle/>
          <a:p>
            <a:pPr marL="0" indent="0">
              <a:buNone/>
            </a:pPr>
            <a:r>
              <a:rPr lang="en-US" sz="900" b="1" kern="0" spc="200" dirty="0">
                <a:solidFill>
                  <a:srgbClr val="8F5D0A"/>
                </a:solidFill>
                <a:latin typeface="IBM Plex Mono" pitchFamily="34" charset="0"/>
                <a:ea typeface="IBM Plex Mono" pitchFamily="34" charset="-122"/>
                <a:cs typeface="IBM Plex Mono" pitchFamily="34" charset="-120"/>
              </a:rPr>
              <a:t>01  AT A GLANCE</a:t>
            </a:r>
            <a:endParaRPr lang="en-US" sz="900" dirty="0"/>
          </a:p>
        </p:txBody>
      </p:sp>
      <p:sp>
        <p:nvSpPr>
          <p:cNvPr id="4" name="Text 2"/>
          <p:cNvSpPr/>
          <p:nvPr/>
        </p:nvSpPr>
        <p:spPr>
          <a:xfrm>
            <a:off x="640080" y="777240"/>
            <a:ext cx="10911535" cy="685800"/>
          </a:xfrm>
          <a:prstGeom prst="rect">
            <a:avLst/>
          </a:prstGeom>
          <a:noFill/>
          <a:ln/>
        </p:spPr>
        <p:txBody>
          <a:bodyPr wrap="square" lIns="0" tIns="0" rIns="0" bIns="0" rtlCol="0" anchor="t"/>
          <a:lstStyle/>
          <a:p>
            <a:pPr marL="0" indent="0">
              <a:buNone/>
            </a:pPr>
            <a:r>
              <a:rPr lang="en-US" sz="3400" b="1" dirty="0">
                <a:solidFill>
                  <a:srgbClr val="14161A"/>
                </a:solidFill>
                <a:latin typeface="Space Grotesk" pitchFamily="34" charset="0"/>
                <a:ea typeface="Space Grotesk" pitchFamily="34" charset="-122"/>
                <a:cs typeface="Space Grotesk" pitchFamily="34" charset="-120"/>
              </a:rPr>
              <a:t>Bolter Technologies</a:t>
            </a:r>
            <a:endParaRPr lang="en-US" sz="3400" dirty="0"/>
          </a:p>
        </p:txBody>
      </p:sp>
      <p:sp>
        <p:nvSpPr>
          <p:cNvPr id="5" name="Text 3"/>
          <p:cNvSpPr/>
          <p:nvPr/>
        </p:nvSpPr>
        <p:spPr>
          <a:xfrm>
            <a:off x="640080" y="1645920"/>
            <a:ext cx="6583680" cy="1234440"/>
          </a:xfrm>
          <a:prstGeom prst="rect">
            <a:avLst/>
          </a:prstGeom>
          <a:noFill/>
          <a:ln/>
        </p:spPr>
        <p:txBody>
          <a:bodyPr wrap="square" lIns="0" tIns="0" rIns="0" bIns="0" rtlCol="0" anchor="t"/>
          <a:lstStyle/>
          <a:p>
            <a:pPr marL="0" indent="0">
              <a:lnSpc>
                <a:spcPct val="110000"/>
              </a:lnSpc>
              <a:buNone/>
            </a:pPr>
            <a:r>
              <a:rPr lang="en-US" sz="2300" dirty="0">
                <a:solidFill>
                  <a:srgbClr val="14161A"/>
                </a:solidFill>
                <a:latin typeface="Space Grotesk" pitchFamily="34" charset="0"/>
                <a:ea typeface="Space Grotesk" pitchFamily="34" charset="-122"/>
                <a:cs typeface="Space Grotesk" pitchFamily="34" charset="-120"/>
              </a:rPr>
              <a:t>We start with the process that is costing you time, not the technology. Then we automate it, ship it, and stay on the hook for it.</a:t>
            </a:r>
            <a:endParaRPr lang="en-US" sz="2300" dirty="0"/>
          </a:p>
        </p:txBody>
      </p:sp>
      <p:sp>
        <p:nvSpPr>
          <p:cNvPr id="6" name="Text 4"/>
          <p:cNvSpPr/>
          <p:nvPr/>
        </p:nvSpPr>
        <p:spPr>
          <a:xfrm>
            <a:off x="640080" y="3017520"/>
            <a:ext cx="6583680" cy="1371600"/>
          </a:xfrm>
          <a:prstGeom prst="rect">
            <a:avLst/>
          </a:prstGeom>
          <a:noFill/>
          <a:ln/>
        </p:spPr>
        <p:txBody>
          <a:bodyPr wrap="square" lIns="0" tIns="0" rIns="0" bIns="0" rtlCol="0" anchor="t"/>
          <a:lstStyle/>
          <a:p>
            <a:pPr marL="0" indent="0">
              <a:lnSpc>
                <a:spcPct val="130000"/>
              </a:lnSpc>
              <a:buNone/>
            </a:pPr>
            <a:r>
              <a:rPr lang="en-US" sz="1300" dirty="0">
                <a:solidFill>
                  <a:srgbClr val="5B6066"/>
                </a:solidFill>
                <a:latin typeface="IBM Plex Sans" pitchFamily="34" charset="0"/>
                <a:ea typeface="IBM Plex Sans" pitchFamily="34" charset="-122"/>
                <a:cs typeface="IBM Plex Sans" pitchFamily="34" charset="-120"/>
              </a:rPr>
              <a:t>Bolter Technologies is a software and technology company built around a simple idea: technology should make life easier for everyone. We work across AI, automation, software development, data analytics, and cyber security, helping businesses turn ideas, inefficient processes, and complex data into practical systems that actually work.</a:t>
            </a:r>
            <a:endParaRPr lang="en-US" sz="1300" dirty="0"/>
          </a:p>
        </p:txBody>
      </p:sp>
      <p:sp>
        <p:nvSpPr>
          <p:cNvPr id="7" name="Shape 5"/>
          <p:cNvSpPr/>
          <p:nvPr/>
        </p:nvSpPr>
        <p:spPr>
          <a:xfrm>
            <a:off x="8001000" y="1645920"/>
            <a:ext cx="3550615" cy="0"/>
          </a:xfrm>
          <a:prstGeom prst="line">
            <a:avLst/>
          </a:prstGeom>
          <a:noFill/>
          <a:ln w="9525">
            <a:solidFill>
              <a:srgbClr val="DCD8D0"/>
            </a:solidFill>
            <a:prstDash val="solid"/>
          </a:ln>
        </p:spPr>
        <p:txBody>
          <a:bodyPr/>
          <a:lstStyle/>
          <a:p>
            <a:endParaRPr lang="en-PK"/>
          </a:p>
        </p:txBody>
      </p:sp>
      <p:sp>
        <p:nvSpPr>
          <p:cNvPr id="8" name="Text 6"/>
          <p:cNvSpPr/>
          <p:nvPr/>
        </p:nvSpPr>
        <p:spPr>
          <a:xfrm>
            <a:off x="8001000" y="1737360"/>
            <a:ext cx="3550615" cy="182880"/>
          </a:xfrm>
          <a:prstGeom prst="rect">
            <a:avLst/>
          </a:prstGeom>
          <a:noFill/>
          <a:ln/>
        </p:spPr>
        <p:txBody>
          <a:bodyPr wrap="square" lIns="0" tIns="0" rIns="0" bIns="0" rtlCol="0" anchor="t"/>
          <a:lstStyle/>
          <a:p>
            <a:pPr marL="0" indent="0">
              <a:buNone/>
            </a:pPr>
            <a:r>
              <a:rPr lang="en-US" sz="800" kern="0" spc="150" dirty="0">
                <a:solidFill>
                  <a:srgbClr val="6F6A5F"/>
                </a:solidFill>
                <a:latin typeface="IBM Plex Mono" pitchFamily="34" charset="0"/>
                <a:ea typeface="IBM Plex Mono" pitchFamily="34" charset="-122"/>
                <a:cs typeface="IBM Plex Mono" pitchFamily="34" charset="-120"/>
              </a:rPr>
              <a:t>LEGAL NAME</a:t>
            </a:r>
            <a:endParaRPr lang="en-US" sz="800" dirty="0"/>
          </a:p>
        </p:txBody>
      </p:sp>
      <p:sp>
        <p:nvSpPr>
          <p:cNvPr id="9" name="Text 7"/>
          <p:cNvSpPr/>
          <p:nvPr/>
        </p:nvSpPr>
        <p:spPr>
          <a:xfrm>
            <a:off x="8001000" y="1920240"/>
            <a:ext cx="3550615" cy="237744"/>
          </a:xfrm>
          <a:prstGeom prst="rect">
            <a:avLst/>
          </a:prstGeom>
          <a:noFill/>
          <a:ln/>
        </p:spPr>
        <p:txBody>
          <a:bodyPr wrap="square" lIns="0" tIns="0" rIns="0" bIns="0" rtlCol="0" anchor="t"/>
          <a:lstStyle/>
          <a:p>
            <a:pPr marL="0" indent="0">
              <a:buNone/>
            </a:pPr>
            <a:r>
              <a:rPr lang="en-US" sz="1200" dirty="0">
                <a:solidFill>
                  <a:srgbClr val="14161A"/>
                </a:solidFill>
                <a:latin typeface="IBM Plex Sans" pitchFamily="34" charset="0"/>
                <a:ea typeface="IBM Plex Sans" pitchFamily="34" charset="-122"/>
                <a:cs typeface="IBM Plex Sans" pitchFamily="34" charset="-120"/>
              </a:rPr>
              <a:t>Bolter Technologies Private Limited</a:t>
            </a:r>
            <a:endParaRPr lang="en-US" sz="1200" dirty="0"/>
          </a:p>
        </p:txBody>
      </p:sp>
      <p:sp>
        <p:nvSpPr>
          <p:cNvPr id="10" name="Shape 8"/>
          <p:cNvSpPr/>
          <p:nvPr/>
        </p:nvSpPr>
        <p:spPr>
          <a:xfrm>
            <a:off x="8001000" y="2194560"/>
            <a:ext cx="3550615" cy="0"/>
          </a:xfrm>
          <a:prstGeom prst="line">
            <a:avLst/>
          </a:prstGeom>
          <a:noFill/>
          <a:ln w="9525">
            <a:solidFill>
              <a:srgbClr val="DCD8D0"/>
            </a:solidFill>
            <a:prstDash val="solid"/>
          </a:ln>
        </p:spPr>
        <p:txBody>
          <a:bodyPr/>
          <a:lstStyle/>
          <a:p>
            <a:endParaRPr lang="en-PK"/>
          </a:p>
        </p:txBody>
      </p:sp>
      <p:sp>
        <p:nvSpPr>
          <p:cNvPr id="11" name="Text 9"/>
          <p:cNvSpPr/>
          <p:nvPr/>
        </p:nvSpPr>
        <p:spPr>
          <a:xfrm>
            <a:off x="8001000" y="2286000"/>
            <a:ext cx="3550615" cy="182880"/>
          </a:xfrm>
          <a:prstGeom prst="rect">
            <a:avLst/>
          </a:prstGeom>
          <a:noFill/>
          <a:ln/>
        </p:spPr>
        <p:txBody>
          <a:bodyPr wrap="square" lIns="0" tIns="0" rIns="0" bIns="0" rtlCol="0" anchor="t"/>
          <a:lstStyle/>
          <a:p>
            <a:pPr marL="0" indent="0">
              <a:buNone/>
            </a:pPr>
            <a:r>
              <a:rPr lang="en-US" sz="800" kern="0" spc="150" dirty="0">
                <a:solidFill>
                  <a:srgbClr val="6F6A5F"/>
                </a:solidFill>
                <a:latin typeface="IBM Plex Mono" pitchFamily="34" charset="0"/>
                <a:ea typeface="IBM Plex Mono" pitchFamily="34" charset="-122"/>
                <a:cs typeface="IBM Plex Mono" pitchFamily="34" charset="-120"/>
              </a:rPr>
              <a:t>COMPANY TYPE</a:t>
            </a:r>
            <a:endParaRPr lang="en-US" sz="800" dirty="0"/>
          </a:p>
        </p:txBody>
      </p:sp>
      <p:sp>
        <p:nvSpPr>
          <p:cNvPr id="12" name="Text 10"/>
          <p:cNvSpPr/>
          <p:nvPr/>
        </p:nvSpPr>
        <p:spPr>
          <a:xfrm>
            <a:off x="8001000" y="2468880"/>
            <a:ext cx="3550615" cy="237744"/>
          </a:xfrm>
          <a:prstGeom prst="rect">
            <a:avLst/>
          </a:prstGeom>
          <a:noFill/>
          <a:ln/>
        </p:spPr>
        <p:txBody>
          <a:bodyPr wrap="square" lIns="0" tIns="0" rIns="0" bIns="0" rtlCol="0" anchor="t"/>
          <a:lstStyle/>
          <a:p>
            <a:pPr marL="0" indent="0">
              <a:buNone/>
            </a:pPr>
            <a:r>
              <a:rPr lang="en-US" sz="1200" dirty="0">
                <a:solidFill>
                  <a:srgbClr val="14161A"/>
                </a:solidFill>
                <a:latin typeface="IBM Plex Sans" pitchFamily="34" charset="0"/>
                <a:ea typeface="IBM Plex Sans" pitchFamily="34" charset="-122"/>
                <a:cs typeface="IBM Plex Sans" pitchFamily="34" charset="-120"/>
              </a:rPr>
              <a:t>Private Limited</a:t>
            </a:r>
            <a:endParaRPr lang="en-US" sz="1200" dirty="0"/>
          </a:p>
        </p:txBody>
      </p:sp>
      <p:sp>
        <p:nvSpPr>
          <p:cNvPr id="13" name="Shape 11"/>
          <p:cNvSpPr/>
          <p:nvPr/>
        </p:nvSpPr>
        <p:spPr>
          <a:xfrm>
            <a:off x="8001000" y="2743200"/>
            <a:ext cx="3550615" cy="0"/>
          </a:xfrm>
          <a:prstGeom prst="line">
            <a:avLst/>
          </a:prstGeom>
          <a:noFill/>
          <a:ln w="9525">
            <a:solidFill>
              <a:srgbClr val="DCD8D0"/>
            </a:solidFill>
            <a:prstDash val="solid"/>
          </a:ln>
        </p:spPr>
        <p:txBody>
          <a:bodyPr/>
          <a:lstStyle/>
          <a:p>
            <a:endParaRPr lang="en-PK"/>
          </a:p>
        </p:txBody>
      </p:sp>
      <p:sp>
        <p:nvSpPr>
          <p:cNvPr id="14" name="Text 12"/>
          <p:cNvSpPr/>
          <p:nvPr/>
        </p:nvSpPr>
        <p:spPr>
          <a:xfrm>
            <a:off x="8001000" y="2834640"/>
            <a:ext cx="3550615" cy="182880"/>
          </a:xfrm>
          <a:prstGeom prst="rect">
            <a:avLst/>
          </a:prstGeom>
          <a:noFill/>
          <a:ln/>
        </p:spPr>
        <p:txBody>
          <a:bodyPr wrap="square" lIns="0" tIns="0" rIns="0" bIns="0" rtlCol="0" anchor="t"/>
          <a:lstStyle/>
          <a:p>
            <a:pPr marL="0" indent="0">
              <a:buNone/>
            </a:pPr>
            <a:r>
              <a:rPr lang="en-US" sz="800" kern="0" spc="150" dirty="0">
                <a:solidFill>
                  <a:srgbClr val="6F6A5F"/>
                </a:solidFill>
                <a:latin typeface="IBM Plex Mono" pitchFamily="34" charset="0"/>
                <a:ea typeface="IBM Plex Mono" pitchFamily="34" charset="-122"/>
                <a:cs typeface="IBM Plex Mono" pitchFamily="34" charset="-120"/>
              </a:rPr>
              <a:t>INDUSTRY</a:t>
            </a:r>
            <a:endParaRPr lang="en-US" sz="800" dirty="0"/>
          </a:p>
        </p:txBody>
      </p:sp>
      <p:sp>
        <p:nvSpPr>
          <p:cNvPr id="15" name="Text 13"/>
          <p:cNvSpPr/>
          <p:nvPr/>
        </p:nvSpPr>
        <p:spPr>
          <a:xfrm>
            <a:off x="8001000" y="3017520"/>
            <a:ext cx="3550615" cy="237744"/>
          </a:xfrm>
          <a:prstGeom prst="rect">
            <a:avLst/>
          </a:prstGeom>
          <a:noFill/>
          <a:ln/>
        </p:spPr>
        <p:txBody>
          <a:bodyPr wrap="square" lIns="0" tIns="0" rIns="0" bIns="0" rtlCol="0" anchor="t"/>
          <a:lstStyle/>
          <a:p>
            <a:pPr marL="0" indent="0">
              <a:buNone/>
            </a:pPr>
            <a:r>
              <a:rPr lang="en-US" sz="1200" dirty="0">
                <a:solidFill>
                  <a:srgbClr val="14161A"/>
                </a:solidFill>
                <a:latin typeface="IBM Plex Sans" pitchFamily="34" charset="0"/>
                <a:ea typeface="IBM Plex Sans" pitchFamily="34" charset="-122"/>
                <a:cs typeface="IBM Plex Sans" pitchFamily="34" charset="-120"/>
              </a:rPr>
              <a:t>IT Services and IT Consulting</a:t>
            </a:r>
            <a:endParaRPr lang="en-US" sz="1200" dirty="0"/>
          </a:p>
        </p:txBody>
      </p:sp>
      <p:sp>
        <p:nvSpPr>
          <p:cNvPr id="16" name="Shape 14"/>
          <p:cNvSpPr/>
          <p:nvPr/>
        </p:nvSpPr>
        <p:spPr>
          <a:xfrm>
            <a:off x="8001000" y="3291840"/>
            <a:ext cx="3550615" cy="0"/>
          </a:xfrm>
          <a:prstGeom prst="line">
            <a:avLst/>
          </a:prstGeom>
          <a:noFill/>
          <a:ln w="9525">
            <a:solidFill>
              <a:srgbClr val="DCD8D0"/>
            </a:solidFill>
            <a:prstDash val="solid"/>
          </a:ln>
        </p:spPr>
        <p:txBody>
          <a:bodyPr/>
          <a:lstStyle/>
          <a:p>
            <a:endParaRPr lang="en-PK"/>
          </a:p>
        </p:txBody>
      </p:sp>
      <p:sp>
        <p:nvSpPr>
          <p:cNvPr id="17" name="Text 15"/>
          <p:cNvSpPr/>
          <p:nvPr/>
        </p:nvSpPr>
        <p:spPr>
          <a:xfrm>
            <a:off x="8001000" y="3383280"/>
            <a:ext cx="3550615" cy="182880"/>
          </a:xfrm>
          <a:prstGeom prst="rect">
            <a:avLst/>
          </a:prstGeom>
          <a:noFill/>
          <a:ln/>
        </p:spPr>
        <p:txBody>
          <a:bodyPr wrap="square" lIns="0" tIns="0" rIns="0" bIns="0" rtlCol="0" anchor="t"/>
          <a:lstStyle/>
          <a:p>
            <a:pPr marL="0" indent="0">
              <a:buNone/>
            </a:pPr>
            <a:r>
              <a:rPr lang="en-US" sz="800" kern="0" spc="150" dirty="0">
                <a:solidFill>
                  <a:srgbClr val="6F6A5F"/>
                </a:solidFill>
                <a:latin typeface="IBM Plex Mono" pitchFamily="34" charset="0"/>
                <a:ea typeface="IBM Plex Mono" pitchFamily="34" charset="-122"/>
                <a:cs typeface="IBM Plex Mono" pitchFamily="34" charset="-120"/>
              </a:rPr>
              <a:t>CLIENT FOCUS</a:t>
            </a:r>
            <a:endParaRPr lang="en-US" sz="800" dirty="0"/>
          </a:p>
        </p:txBody>
      </p:sp>
      <p:sp>
        <p:nvSpPr>
          <p:cNvPr id="18" name="Text 16"/>
          <p:cNvSpPr/>
          <p:nvPr/>
        </p:nvSpPr>
        <p:spPr>
          <a:xfrm>
            <a:off x="8001000" y="3566160"/>
            <a:ext cx="3550615" cy="237744"/>
          </a:xfrm>
          <a:prstGeom prst="rect">
            <a:avLst/>
          </a:prstGeom>
          <a:noFill/>
          <a:ln/>
        </p:spPr>
        <p:txBody>
          <a:bodyPr wrap="square" lIns="0" tIns="0" rIns="0" bIns="0" rtlCol="0" anchor="t"/>
          <a:lstStyle/>
          <a:p>
            <a:pPr marL="0" indent="0">
              <a:buNone/>
            </a:pPr>
            <a:r>
              <a:rPr lang="en-US" sz="1200" dirty="0">
                <a:solidFill>
                  <a:srgbClr val="14161A"/>
                </a:solidFill>
                <a:latin typeface="IBM Plex Sans" pitchFamily="34" charset="0"/>
                <a:ea typeface="IBM Plex Sans" pitchFamily="34" charset="-122"/>
                <a:cs typeface="IBM Plex Sans" pitchFamily="34" charset="-120"/>
              </a:rPr>
              <a:t>B2B &amp; Enterprise</a:t>
            </a:r>
            <a:endParaRPr lang="en-US" sz="1200" dirty="0"/>
          </a:p>
        </p:txBody>
      </p:sp>
      <p:sp>
        <p:nvSpPr>
          <p:cNvPr id="19" name="Shape 17"/>
          <p:cNvSpPr/>
          <p:nvPr/>
        </p:nvSpPr>
        <p:spPr>
          <a:xfrm>
            <a:off x="8001000" y="3840480"/>
            <a:ext cx="3550615" cy="0"/>
          </a:xfrm>
          <a:prstGeom prst="line">
            <a:avLst/>
          </a:prstGeom>
          <a:noFill/>
          <a:ln w="9525">
            <a:solidFill>
              <a:srgbClr val="DCD8D0"/>
            </a:solidFill>
            <a:prstDash val="solid"/>
          </a:ln>
        </p:spPr>
        <p:txBody>
          <a:bodyPr/>
          <a:lstStyle/>
          <a:p>
            <a:endParaRPr lang="en-PK"/>
          </a:p>
        </p:txBody>
      </p:sp>
      <p:sp>
        <p:nvSpPr>
          <p:cNvPr id="20" name="Text 18"/>
          <p:cNvSpPr/>
          <p:nvPr/>
        </p:nvSpPr>
        <p:spPr>
          <a:xfrm>
            <a:off x="8001000" y="3931920"/>
            <a:ext cx="3550615" cy="182880"/>
          </a:xfrm>
          <a:prstGeom prst="rect">
            <a:avLst/>
          </a:prstGeom>
          <a:noFill/>
          <a:ln/>
        </p:spPr>
        <p:txBody>
          <a:bodyPr wrap="square" lIns="0" tIns="0" rIns="0" bIns="0" rtlCol="0" anchor="t"/>
          <a:lstStyle/>
          <a:p>
            <a:pPr marL="0" indent="0">
              <a:buNone/>
            </a:pPr>
            <a:r>
              <a:rPr lang="en-US" sz="800" kern="0" spc="150" dirty="0">
                <a:solidFill>
                  <a:srgbClr val="6F6A5F"/>
                </a:solidFill>
                <a:latin typeface="IBM Plex Mono" pitchFamily="34" charset="0"/>
                <a:ea typeface="IBM Plex Mono" pitchFamily="34" charset="-122"/>
                <a:cs typeface="IBM Plex Mono" pitchFamily="34" charset="-120"/>
              </a:rPr>
              <a:t>HEADQUARTERS</a:t>
            </a:r>
            <a:endParaRPr lang="en-US" sz="800" dirty="0"/>
          </a:p>
        </p:txBody>
      </p:sp>
      <p:sp>
        <p:nvSpPr>
          <p:cNvPr id="21" name="Text 19"/>
          <p:cNvSpPr/>
          <p:nvPr/>
        </p:nvSpPr>
        <p:spPr>
          <a:xfrm>
            <a:off x="8001000" y="4114800"/>
            <a:ext cx="3550615" cy="237744"/>
          </a:xfrm>
          <a:prstGeom prst="rect">
            <a:avLst/>
          </a:prstGeom>
          <a:noFill/>
          <a:ln/>
        </p:spPr>
        <p:txBody>
          <a:bodyPr wrap="square" lIns="0" tIns="0" rIns="0" bIns="0" rtlCol="0" anchor="t"/>
          <a:lstStyle/>
          <a:p>
            <a:pPr marL="0" indent="0">
              <a:buNone/>
            </a:pPr>
            <a:r>
              <a:rPr lang="en-US" sz="1200" dirty="0">
                <a:solidFill>
                  <a:srgbClr val="14161A"/>
                </a:solidFill>
                <a:latin typeface="IBM Plex Sans" pitchFamily="34" charset="0"/>
                <a:ea typeface="IBM Plex Sans" pitchFamily="34" charset="-122"/>
                <a:cs typeface="IBM Plex Sans" pitchFamily="34" charset="-120"/>
              </a:rPr>
              <a:t>Islamabad, Pakistan</a:t>
            </a:r>
            <a:endParaRPr lang="en-US" sz="1200" dirty="0"/>
          </a:p>
        </p:txBody>
      </p:sp>
      <p:sp>
        <p:nvSpPr>
          <p:cNvPr id="22" name="Shape 20"/>
          <p:cNvSpPr/>
          <p:nvPr/>
        </p:nvSpPr>
        <p:spPr>
          <a:xfrm>
            <a:off x="640080" y="4736592"/>
            <a:ext cx="10911535" cy="0"/>
          </a:xfrm>
          <a:prstGeom prst="line">
            <a:avLst/>
          </a:prstGeom>
          <a:noFill/>
          <a:ln w="9525">
            <a:solidFill>
              <a:srgbClr val="DCD8D0"/>
            </a:solidFill>
            <a:prstDash val="solid"/>
          </a:ln>
        </p:spPr>
        <p:txBody>
          <a:bodyPr/>
          <a:lstStyle/>
          <a:p>
            <a:endParaRPr lang="en-PK"/>
          </a:p>
        </p:txBody>
      </p:sp>
      <p:sp>
        <p:nvSpPr>
          <p:cNvPr id="23" name="Text 21"/>
          <p:cNvSpPr/>
          <p:nvPr/>
        </p:nvSpPr>
        <p:spPr>
          <a:xfrm>
            <a:off x="640080" y="4965192"/>
            <a:ext cx="2453564" cy="777240"/>
          </a:xfrm>
          <a:prstGeom prst="rect">
            <a:avLst/>
          </a:prstGeom>
          <a:noFill/>
          <a:ln/>
        </p:spPr>
        <p:txBody>
          <a:bodyPr wrap="square" lIns="0" tIns="0" rIns="0" bIns="0" rtlCol="0" anchor="t"/>
          <a:lstStyle/>
          <a:p>
            <a:pPr marL="0" indent="0">
              <a:buNone/>
            </a:pPr>
            <a:r>
              <a:rPr lang="en-US" sz="5000" b="1" dirty="0">
                <a:solidFill>
                  <a:srgbClr val="8F5D0A"/>
                </a:solidFill>
                <a:latin typeface="Space Grotesk" pitchFamily="34" charset="0"/>
                <a:ea typeface="Space Grotesk" pitchFamily="34" charset="-122"/>
                <a:cs typeface="Space Grotesk" pitchFamily="34" charset="-120"/>
              </a:rPr>
              <a:t>2024</a:t>
            </a:r>
            <a:endParaRPr lang="en-US" sz="5000" dirty="0"/>
          </a:p>
        </p:txBody>
      </p:sp>
      <p:sp>
        <p:nvSpPr>
          <p:cNvPr id="24" name="Text 22"/>
          <p:cNvSpPr/>
          <p:nvPr/>
        </p:nvSpPr>
        <p:spPr>
          <a:xfrm>
            <a:off x="640080" y="5833872"/>
            <a:ext cx="2453564" cy="274320"/>
          </a:xfrm>
          <a:prstGeom prst="rect">
            <a:avLst/>
          </a:prstGeom>
          <a:noFill/>
          <a:ln/>
        </p:spPr>
        <p:txBody>
          <a:bodyPr wrap="square" lIns="0" tIns="0" rIns="0" bIns="0" rtlCol="0" anchor="t"/>
          <a:lstStyle/>
          <a:p>
            <a:pPr marL="0" indent="0">
              <a:buNone/>
            </a:pPr>
            <a:r>
              <a:rPr lang="en-US" sz="1200" dirty="0">
                <a:solidFill>
                  <a:srgbClr val="5B6066"/>
                </a:solidFill>
                <a:latin typeface="IBM Plex Sans" pitchFamily="34" charset="0"/>
                <a:ea typeface="IBM Plex Sans" pitchFamily="34" charset="-122"/>
                <a:cs typeface="IBM Plex Sans" pitchFamily="34" charset="-120"/>
              </a:rPr>
              <a:t>Founded in Islamabad</a:t>
            </a:r>
            <a:endParaRPr lang="en-US" sz="1200" dirty="0"/>
          </a:p>
        </p:txBody>
      </p:sp>
      <p:sp>
        <p:nvSpPr>
          <p:cNvPr id="25" name="Shape 23"/>
          <p:cNvSpPr/>
          <p:nvPr/>
        </p:nvSpPr>
        <p:spPr>
          <a:xfrm>
            <a:off x="3367964" y="4736592"/>
            <a:ext cx="0" cy="1645920"/>
          </a:xfrm>
          <a:prstGeom prst="line">
            <a:avLst/>
          </a:prstGeom>
          <a:noFill/>
          <a:ln w="9525">
            <a:solidFill>
              <a:srgbClr val="DCD8D0"/>
            </a:solidFill>
            <a:prstDash val="solid"/>
          </a:ln>
        </p:spPr>
        <p:txBody>
          <a:bodyPr/>
          <a:lstStyle/>
          <a:p>
            <a:endParaRPr lang="en-PK"/>
          </a:p>
        </p:txBody>
      </p:sp>
      <p:sp>
        <p:nvSpPr>
          <p:cNvPr id="26" name="Text 24"/>
          <p:cNvSpPr/>
          <p:nvPr/>
        </p:nvSpPr>
        <p:spPr>
          <a:xfrm>
            <a:off x="3642284" y="4965192"/>
            <a:ext cx="2453564" cy="777240"/>
          </a:xfrm>
          <a:prstGeom prst="rect">
            <a:avLst/>
          </a:prstGeom>
          <a:noFill/>
          <a:ln/>
        </p:spPr>
        <p:txBody>
          <a:bodyPr wrap="square" lIns="0" tIns="0" rIns="0" bIns="0" rtlCol="0" anchor="t"/>
          <a:lstStyle/>
          <a:p>
            <a:pPr marL="0" indent="0">
              <a:buNone/>
            </a:pPr>
            <a:r>
              <a:rPr lang="en-US" sz="5000" b="1" dirty="0">
                <a:solidFill>
                  <a:srgbClr val="8F5D0A"/>
                </a:solidFill>
                <a:latin typeface="Space Grotesk" pitchFamily="34" charset="0"/>
                <a:ea typeface="Space Grotesk" pitchFamily="34" charset="-122"/>
                <a:cs typeface="Space Grotesk" pitchFamily="34" charset="-120"/>
              </a:rPr>
              <a:t>5–10</a:t>
            </a:r>
            <a:endParaRPr lang="en-US" sz="5000" dirty="0"/>
          </a:p>
        </p:txBody>
      </p:sp>
      <p:sp>
        <p:nvSpPr>
          <p:cNvPr id="27" name="Text 25"/>
          <p:cNvSpPr/>
          <p:nvPr/>
        </p:nvSpPr>
        <p:spPr>
          <a:xfrm>
            <a:off x="3642284" y="5833872"/>
            <a:ext cx="2453564" cy="274320"/>
          </a:xfrm>
          <a:prstGeom prst="rect">
            <a:avLst/>
          </a:prstGeom>
          <a:noFill/>
          <a:ln/>
        </p:spPr>
        <p:txBody>
          <a:bodyPr wrap="square" lIns="0" tIns="0" rIns="0" bIns="0" rtlCol="0" anchor="t"/>
          <a:lstStyle/>
          <a:p>
            <a:pPr marL="0" indent="0">
              <a:buNone/>
            </a:pPr>
            <a:r>
              <a:rPr lang="en-US" sz="1200" dirty="0">
                <a:solidFill>
                  <a:srgbClr val="5B6066"/>
                </a:solidFill>
                <a:latin typeface="IBM Plex Sans" pitchFamily="34" charset="0"/>
                <a:ea typeface="IBM Plex Sans" pitchFamily="34" charset="-122"/>
                <a:cs typeface="IBM Plex Sans" pitchFamily="34" charset="-120"/>
              </a:rPr>
              <a:t>Team</a:t>
            </a:r>
            <a:endParaRPr lang="en-US" sz="1200" dirty="0"/>
          </a:p>
        </p:txBody>
      </p:sp>
      <p:sp>
        <p:nvSpPr>
          <p:cNvPr id="28" name="Shape 26"/>
          <p:cNvSpPr/>
          <p:nvPr/>
        </p:nvSpPr>
        <p:spPr>
          <a:xfrm>
            <a:off x="6095848" y="4736592"/>
            <a:ext cx="0" cy="1645920"/>
          </a:xfrm>
          <a:prstGeom prst="line">
            <a:avLst/>
          </a:prstGeom>
          <a:noFill/>
          <a:ln w="9525">
            <a:solidFill>
              <a:srgbClr val="DCD8D0"/>
            </a:solidFill>
            <a:prstDash val="solid"/>
          </a:ln>
        </p:spPr>
        <p:txBody>
          <a:bodyPr/>
          <a:lstStyle/>
          <a:p>
            <a:endParaRPr lang="en-PK"/>
          </a:p>
        </p:txBody>
      </p:sp>
      <p:sp>
        <p:nvSpPr>
          <p:cNvPr id="29" name="Text 27"/>
          <p:cNvSpPr/>
          <p:nvPr/>
        </p:nvSpPr>
        <p:spPr>
          <a:xfrm>
            <a:off x="6370168" y="4965192"/>
            <a:ext cx="2453564" cy="777240"/>
          </a:xfrm>
          <a:prstGeom prst="rect">
            <a:avLst/>
          </a:prstGeom>
          <a:noFill/>
          <a:ln/>
        </p:spPr>
        <p:txBody>
          <a:bodyPr wrap="square" lIns="0" tIns="0" rIns="0" bIns="0" rtlCol="0" anchor="t"/>
          <a:lstStyle/>
          <a:p>
            <a:pPr marL="0" indent="0">
              <a:buNone/>
            </a:pPr>
            <a:r>
              <a:rPr lang="en-US" sz="5000" b="1" dirty="0">
                <a:solidFill>
                  <a:srgbClr val="8F5D0A"/>
                </a:solidFill>
                <a:latin typeface="Space Grotesk" pitchFamily="34" charset="0"/>
                <a:ea typeface="Space Grotesk" pitchFamily="34" charset="-122"/>
                <a:cs typeface="Space Grotesk" pitchFamily="34" charset="-120"/>
              </a:rPr>
              <a:t>14</a:t>
            </a:r>
            <a:endParaRPr lang="en-US" sz="5000" dirty="0"/>
          </a:p>
        </p:txBody>
      </p:sp>
      <p:sp>
        <p:nvSpPr>
          <p:cNvPr id="30" name="Text 28"/>
          <p:cNvSpPr/>
          <p:nvPr/>
        </p:nvSpPr>
        <p:spPr>
          <a:xfrm>
            <a:off x="6370168" y="5833872"/>
            <a:ext cx="2453564" cy="274320"/>
          </a:xfrm>
          <a:prstGeom prst="rect">
            <a:avLst/>
          </a:prstGeom>
          <a:noFill/>
          <a:ln/>
        </p:spPr>
        <p:txBody>
          <a:bodyPr wrap="square" lIns="0" tIns="0" rIns="0" bIns="0" rtlCol="0" anchor="t"/>
          <a:lstStyle/>
          <a:p>
            <a:pPr marL="0" indent="0">
              <a:buNone/>
            </a:pPr>
            <a:r>
              <a:rPr lang="en-US" sz="1200" dirty="0">
                <a:solidFill>
                  <a:srgbClr val="5B6066"/>
                </a:solidFill>
                <a:latin typeface="IBM Plex Sans" pitchFamily="34" charset="0"/>
                <a:ea typeface="IBM Plex Sans" pitchFamily="34" charset="-122"/>
                <a:cs typeface="IBM Plex Sans" pitchFamily="34" charset="-120"/>
              </a:rPr>
              <a:t>Projects in the portfolio</a:t>
            </a:r>
            <a:endParaRPr lang="en-US" sz="1200" dirty="0"/>
          </a:p>
        </p:txBody>
      </p:sp>
      <p:sp>
        <p:nvSpPr>
          <p:cNvPr id="31" name="Shape 29"/>
          <p:cNvSpPr/>
          <p:nvPr/>
        </p:nvSpPr>
        <p:spPr>
          <a:xfrm>
            <a:off x="8823731" y="4736592"/>
            <a:ext cx="0" cy="1645920"/>
          </a:xfrm>
          <a:prstGeom prst="line">
            <a:avLst/>
          </a:prstGeom>
          <a:noFill/>
          <a:ln w="9525">
            <a:solidFill>
              <a:srgbClr val="DCD8D0"/>
            </a:solidFill>
            <a:prstDash val="solid"/>
          </a:ln>
        </p:spPr>
        <p:txBody>
          <a:bodyPr/>
          <a:lstStyle/>
          <a:p>
            <a:endParaRPr lang="en-PK"/>
          </a:p>
        </p:txBody>
      </p:sp>
      <p:sp>
        <p:nvSpPr>
          <p:cNvPr id="32" name="Text 30"/>
          <p:cNvSpPr/>
          <p:nvPr/>
        </p:nvSpPr>
        <p:spPr>
          <a:xfrm>
            <a:off x="9098051" y="4965192"/>
            <a:ext cx="2453564" cy="777240"/>
          </a:xfrm>
          <a:prstGeom prst="rect">
            <a:avLst/>
          </a:prstGeom>
          <a:noFill/>
          <a:ln/>
        </p:spPr>
        <p:txBody>
          <a:bodyPr wrap="square" lIns="0" tIns="0" rIns="0" bIns="0" rtlCol="0" anchor="t"/>
          <a:lstStyle/>
          <a:p>
            <a:pPr marL="0" indent="0">
              <a:buNone/>
            </a:pPr>
            <a:r>
              <a:rPr lang="en-US" sz="5000" b="1" dirty="0">
                <a:solidFill>
                  <a:srgbClr val="8F5D0A"/>
                </a:solidFill>
                <a:latin typeface="Space Grotesk" pitchFamily="34" charset="0"/>
                <a:ea typeface="Space Grotesk" pitchFamily="34" charset="-122"/>
                <a:cs typeface="Space Grotesk" pitchFamily="34" charset="-120"/>
              </a:rPr>
              <a:t>5</a:t>
            </a:r>
            <a:endParaRPr lang="en-US" sz="5000" dirty="0"/>
          </a:p>
        </p:txBody>
      </p:sp>
      <p:sp>
        <p:nvSpPr>
          <p:cNvPr id="33" name="Text 31"/>
          <p:cNvSpPr/>
          <p:nvPr/>
        </p:nvSpPr>
        <p:spPr>
          <a:xfrm>
            <a:off x="9098051" y="5833872"/>
            <a:ext cx="2453564" cy="274320"/>
          </a:xfrm>
          <a:prstGeom prst="rect">
            <a:avLst/>
          </a:prstGeom>
          <a:noFill/>
          <a:ln/>
        </p:spPr>
        <p:txBody>
          <a:bodyPr wrap="square" lIns="0" tIns="0" rIns="0" bIns="0" rtlCol="0" anchor="t"/>
          <a:lstStyle/>
          <a:p>
            <a:pPr marL="0" indent="0">
              <a:buNone/>
            </a:pPr>
            <a:r>
              <a:rPr lang="en-US" sz="1200" dirty="0">
                <a:solidFill>
                  <a:srgbClr val="5B6066"/>
                </a:solidFill>
                <a:latin typeface="IBM Plex Sans" pitchFamily="34" charset="0"/>
                <a:ea typeface="IBM Plex Sans" pitchFamily="34" charset="-122"/>
                <a:cs typeface="IBM Plex Sans" pitchFamily="34" charset="-120"/>
              </a:rPr>
              <a:t>Practice lines, one team</a:t>
            </a:r>
            <a:endParaRPr lang="en-US" sz="1200" dirty="0"/>
          </a:p>
        </p:txBody>
      </p:sp>
      <p:sp>
        <p:nvSpPr>
          <p:cNvPr id="34" name="Text 32"/>
          <p:cNvSpPr/>
          <p:nvPr/>
        </p:nvSpPr>
        <p:spPr>
          <a:xfrm>
            <a:off x="640080" y="6473952"/>
            <a:ext cx="6400800" cy="164592"/>
          </a:xfrm>
          <a:prstGeom prst="rect">
            <a:avLst/>
          </a:prstGeom>
          <a:noFill/>
          <a:ln/>
        </p:spPr>
        <p:txBody>
          <a:bodyPr wrap="square" lIns="0" tIns="0" rIns="0" bIns="0" rtlCol="0" anchor="t"/>
          <a:lstStyle/>
          <a:p>
            <a:pPr marL="0" indent="0">
              <a:buNone/>
            </a:pPr>
            <a:r>
              <a:rPr lang="en-US" sz="700" kern="0" spc="150" dirty="0">
                <a:solidFill>
                  <a:srgbClr val="6F6A5F"/>
                </a:solidFill>
                <a:latin typeface="IBM Plex Mono" pitchFamily="34" charset="0"/>
                <a:ea typeface="IBM Plex Mono" pitchFamily="34" charset="-122"/>
                <a:cs typeface="IBM Plex Mono" pitchFamily="34" charset="-120"/>
              </a:rPr>
              <a:t>BOLTER TECHNOLOGIES PRIVATE LIMITED  ·  COMPANY PROFILE</a:t>
            </a:r>
            <a:endParaRPr lang="en-US" sz="700" dirty="0"/>
          </a:p>
        </p:txBody>
      </p:sp>
      <p:sp>
        <p:nvSpPr>
          <p:cNvPr id="35" name="Text 33"/>
          <p:cNvSpPr/>
          <p:nvPr/>
        </p:nvSpPr>
        <p:spPr>
          <a:xfrm>
            <a:off x="9722815" y="6473952"/>
            <a:ext cx="1828800" cy="164592"/>
          </a:xfrm>
          <a:prstGeom prst="rect">
            <a:avLst/>
          </a:prstGeom>
          <a:noFill/>
          <a:ln/>
        </p:spPr>
        <p:txBody>
          <a:bodyPr wrap="square" lIns="0" tIns="0" rIns="0" bIns="0" rtlCol="0" anchor="t"/>
          <a:lstStyle/>
          <a:p>
            <a:pPr marL="0" indent="0" algn="r">
              <a:buNone/>
            </a:pPr>
            <a:r>
              <a:rPr lang="en-US" sz="700" kern="0" spc="150" dirty="0">
                <a:solidFill>
                  <a:srgbClr val="6F6A5F"/>
                </a:solidFill>
                <a:latin typeface="IBM Plex Mono" pitchFamily="34" charset="0"/>
                <a:ea typeface="IBM Plex Mono" pitchFamily="34" charset="-122"/>
                <a:cs typeface="IBM Plex Mono" pitchFamily="34" charset="-120"/>
              </a:rPr>
              <a:t>02 / 23</a:t>
            </a:r>
            <a:endParaRPr lang="en-US" sz="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A0B0C"/>
        </a:solidFill>
        <a:effectLst/>
      </p:bgPr>
    </p:bg>
    <p:spTree>
      <p:nvGrpSpPr>
        <p:cNvPr id="1" name=""/>
        <p:cNvGrpSpPr/>
        <p:nvPr/>
      </p:nvGrpSpPr>
      <p:grpSpPr>
        <a:xfrm>
          <a:off x="0" y="0"/>
          <a:ext cx="0" cy="0"/>
          <a:chOff x="0" y="0"/>
          <a:chExt cx="0" cy="0"/>
        </a:xfrm>
      </p:grpSpPr>
      <p:sp>
        <p:nvSpPr>
          <p:cNvPr id="2" name="Shape 0"/>
          <p:cNvSpPr/>
          <p:nvPr/>
        </p:nvSpPr>
        <p:spPr>
          <a:xfrm>
            <a:off x="640080" y="571500"/>
            <a:ext cx="219456" cy="32004"/>
          </a:xfrm>
          <a:prstGeom prst="rect">
            <a:avLst/>
          </a:prstGeom>
          <a:solidFill>
            <a:srgbClr val="E8A33D"/>
          </a:solidFill>
          <a:ln/>
        </p:spPr>
        <p:txBody>
          <a:bodyPr/>
          <a:lstStyle/>
          <a:p>
            <a:endParaRPr lang="en-PK"/>
          </a:p>
        </p:txBody>
      </p:sp>
      <p:sp>
        <p:nvSpPr>
          <p:cNvPr id="3" name="Text 1"/>
          <p:cNvSpPr/>
          <p:nvPr/>
        </p:nvSpPr>
        <p:spPr>
          <a:xfrm>
            <a:off x="969264" y="502920"/>
            <a:ext cx="8229600" cy="182880"/>
          </a:xfrm>
          <a:prstGeom prst="rect">
            <a:avLst/>
          </a:prstGeom>
          <a:noFill/>
          <a:ln/>
        </p:spPr>
        <p:txBody>
          <a:bodyPr wrap="square" lIns="0" tIns="0" rIns="0" bIns="0" rtlCol="0" anchor="t"/>
          <a:lstStyle/>
          <a:p>
            <a:pPr marL="0" indent="0">
              <a:buNone/>
            </a:pPr>
            <a:r>
              <a:rPr lang="en-US" sz="900" b="1" kern="0" spc="200" dirty="0">
                <a:solidFill>
                  <a:srgbClr val="E8A33D"/>
                </a:solidFill>
                <a:latin typeface="IBM Plex Mono" pitchFamily="34" charset="0"/>
                <a:ea typeface="IBM Plex Mono" pitchFamily="34" charset="-122"/>
                <a:cs typeface="IBM Plex Mono" pitchFamily="34" charset="-120"/>
              </a:rPr>
              <a:t>02  HOW WE OPERATE</a:t>
            </a:r>
            <a:endParaRPr lang="en-US" sz="900" dirty="0"/>
          </a:p>
        </p:txBody>
      </p:sp>
      <p:sp>
        <p:nvSpPr>
          <p:cNvPr id="4" name="Text 2"/>
          <p:cNvSpPr/>
          <p:nvPr/>
        </p:nvSpPr>
        <p:spPr>
          <a:xfrm>
            <a:off x="640080" y="777240"/>
            <a:ext cx="10911535" cy="685800"/>
          </a:xfrm>
          <a:prstGeom prst="rect">
            <a:avLst/>
          </a:prstGeom>
          <a:noFill/>
          <a:ln/>
        </p:spPr>
        <p:txBody>
          <a:bodyPr wrap="square" lIns="0" tIns="0" rIns="0" bIns="0" rtlCol="0" anchor="t"/>
          <a:lstStyle/>
          <a:p>
            <a:pPr marL="0" indent="0">
              <a:buNone/>
            </a:pPr>
            <a:r>
              <a:rPr lang="en-US" sz="3400" b="1" dirty="0">
                <a:solidFill>
                  <a:srgbClr val="FFFFFF"/>
                </a:solidFill>
                <a:latin typeface="Space Grotesk" pitchFamily="34" charset="0"/>
                <a:ea typeface="Space Grotesk" pitchFamily="34" charset="-122"/>
                <a:cs typeface="Space Grotesk" pitchFamily="34" charset="-120"/>
              </a:rPr>
              <a:t>What we commit to in writing</a:t>
            </a:r>
            <a:endParaRPr lang="en-US" sz="3400" dirty="0"/>
          </a:p>
        </p:txBody>
      </p:sp>
      <p:sp>
        <p:nvSpPr>
          <p:cNvPr id="5" name="Shape 3"/>
          <p:cNvSpPr/>
          <p:nvPr/>
        </p:nvSpPr>
        <p:spPr>
          <a:xfrm>
            <a:off x="640080" y="2057400"/>
            <a:ext cx="2453564" cy="0"/>
          </a:xfrm>
          <a:prstGeom prst="line">
            <a:avLst/>
          </a:prstGeom>
          <a:noFill/>
          <a:ln w="9525">
            <a:solidFill>
              <a:srgbClr val="2E3033"/>
            </a:solidFill>
            <a:prstDash val="solid"/>
          </a:ln>
        </p:spPr>
        <p:txBody>
          <a:bodyPr/>
          <a:lstStyle/>
          <a:p>
            <a:endParaRPr lang="en-PK"/>
          </a:p>
        </p:txBody>
      </p:sp>
      <p:sp>
        <p:nvSpPr>
          <p:cNvPr id="6" name="Shape 4"/>
          <p:cNvSpPr/>
          <p:nvPr/>
        </p:nvSpPr>
        <p:spPr>
          <a:xfrm>
            <a:off x="640080" y="2057400"/>
            <a:ext cx="548640" cy="0"/>
          </a:xfrm>
          <a:prstGeom prst="line">
            <a:avLst/>
          </a:prstGeom>
          <a:noFill/>
          <a:ln w="28575">
            <a:solidFill>
              <a:srgbClr val="E8A33D"/>
            </a:solidFill>
            <a:prstDash val="solid"/>
          </a:ln>
        </p:spPr>
        <p:txBody>
          <a:bodyPr/>
          <a:lstStyle/>
          <a:p>
            <a:endParaRPr lang="en-PK"/>
          </a:p>
        </p:txBody>
      </p:sp>
      <p:sp>
        <p:nvSpPr>
          <p:cNvPr id="7" name="Text 5"/>
          <p:cNvSpPr/>
          <p:nvPr/>
        </p:nvSpPr>
        <p:spPr>
          <a:xfrm>
            <a:off x="640080" y="2331720"/>
            <a:ext cx="2453564" cy="274320"/>
          </a:xfrm>
          <a:prstGeom prst="rect">
            <a:avLst/>
          </a:prstGeom>
          <a:noFill/>
          <a:ln/>
        </p:spPr>
        <p:txBody>
          <a:bodyPr wrap="square" lIns="0" tIns="0" rIns="0" bIns="0" rtlCol="0" anchor="t"/>
          <a:lstStyle/>
          <a:p>
            <a:pPr marL="0" indent="0">
              <a:buNone/>
            </a:pPr>
            <a:r>
              <a:rPr lang="en-US" sz="1100" dirty="0">
                <a:solidFill>
                  <a:srgbClr val="E8A33D"/>
                </a:solidFill>
                <a:latin typeface="IBM Plex Mono" pitchFamily="34" charset="0"/>
                <a:ea typeface="IBM Plex Mono" pitchFamily="34" charset="-122"/>
                <a:cs typeface="IBM Plex Mono" pitchFamily="34" charset="-120"/>
              </a:rPr>
              <a:t>01</a:t>
            </a:r>
            <a:endParaRPr lang="en-US" sz="1100" dirty="0"/>
          </a:p>
        </p:txBody>
      </p:sp>
      <p:sp>
        <p:nvSpPr>
          <p:cNvPr id="8" name="Text 6"/>
          <p:cNvSpPr/>
          <p:nvPr/>
        </p:nvSpPr>
        <p:spPr>
          <a:xfrm>
            <a:off x="640080" y="2743200"/>
            <a:ext cx="2453564" cy="731520"/>
          </a:xfrm>
          <a:prstGeom prst="rect">
            <a:avLst/>
          </a:prstGeom>
          <a:noFill/>
          <a:ln/>
        </p:spPr>
        <p:txBody>
          <a:bodyPr wrap="square" lIns="0" tIns="0" rIns="0" bIns="0" rtlCol="0" anchor="t"/>
          <a:lstStyle/>
          <a:p>
            <a:pPr marL="0" indent="0">
              <a:lnSpc>
                <a:spcPct val="100000"/>
              </a:lnSpc>
              <a:buNone/>
            </a:pPr>
            <a:r>
              <a:rPr lang="en-US" sz="2000" b="1" dirty="0">
                <a:solidFill>
                  <a:srgbClr val="FFFFFF"/>
                </a:solidFill>
                <a:latin typeface="Space Grotesk" pitchFamily="34" charset="0"/>
                <a:ea typeface="Space Grotesk" pitchFamily="34" charset="-122"/>
                <a:cs typeface="Space Grotesk" pitchFamily="34" charset="-120"/>
              </a:rPr>
              <a:t>A dedicated point of contact</a:t>
            </a:r>
            <a:endParaRPr lang="en-US" sz="2000" dirty="0"/>
          </a:p>
        </p:txBody>
      </p:sp>
      <p:sp>
        <p:nvSpPr>
          <p:cNvPr id="9" name="Text 7"/>
          <p:cNvSpPr/>
          <p:nvPr/>
        </p:nvSpPr>
        <p:spPr>
          <a:xfrm>
            <a:off x="640080" y="3611880"/>
            <a:ext cx="2453564" cy="2651760"/>
          </a:xfrm>
          <a:prstGeom prst="rect">
            <a:avLst/>
          </a:prstGeom>
          <a:noFill/>
          <a:ln/>
        </p:spPr>
        <p:txBody>
          <a:bodyPr wrap="square" lIns="0" tIns="0" rIns="0" bIns="0" rtlCol="0" anchor="t"/>
          <a:lstStyle/>
          <a:p>
            <a:pPr marL="0" indent="0">
              <a:lnSpc>
                <a:spcPct val="130000"/>
              </a:lnSpc>
              <a:buNone/>
            </a:pPr>
            <a:r>
              <a:rPr lang="en-US" sz="1200" dirty="0">
                <a:solidFill>
                  <a:srgbClr val="B6B7B8"/>
                </a:solidFill>
                <a:latin typeface="IBM Plex Sans" pitchFamily="34" charset="0"/>
                <a:ea typeface="IBM Plex Sans" pitchFamily="34" charset="-122"/>
                <a:cs typeface="IBM Plex Sans" pitchFamily="34" charset="-120"/>
              </a:rPr>
              <a:t>You will have a clear point of contact throughout the project who understands your requirements, decisions, and progress. You will always know who to speak to when you have a question, need an update, or want to make a decision.</a:t>
            </a:r>
            <a:endParaRPr lang="en-US" sz="1200" dirty="0"/>
          </a:p>
        </p:txBody>
      </p:sp>
      <p:sp>
        <p:nvSpPr>
          <p:cNvPr id="10" name="Shape 8"/>
          <p:cNvSpPr/>
          <p:nvPr/>
        </p:nvSpPr>
        <p:spPr>
          <a:xfrm>
            <a:off x="3459404" y="2057400"/>
            <a:ext cx="2453564" cy="0"/>
          </a:xfrm>
          <a:prstGeom prst="line">
            <a:avLst/>
          </a:prstGeom>
          <a:noFill/>
          <a:ln w="9525">
            <a:solidFill>
              <a:srgbClr val="2E3033"/>
            </a:solidFill>
            <a:prstDash val="solid"/>
          </a:ln>
        </p:spPr>
        <p:txBody>
          <a:bodyPr/>
          <a:lstStyle/>
          <a:p>
            <a:endParaRPr lang="en-PK"/>
          </a:p>
        </p:txBody>
      </p:sp>
      <p:sp>
        <p:nvSpPr>
          <p:cNvPr id="11" name="Shape 9"/>
          <p:cNvSpPr/>
          <p:nvPr/>
        </p:nvSpPr>
        <p:spPr>
          <a:xfrm>
            <a:off x="3459404" y="2057400"/>
            <a:ext cx="548640" cy="0"/>
          </a:xfrm>
          <a:prstGeom prst="line">
            <a:avLst/>
          </a:prstGeom>
          <a:noFill/>
          <a:ln w="28575">
            <a:solidFill>
              <a:srgbClr val="E8A33D"/>
            </a:solidFill>
            <a:prstDash val="solid"/>
          </a:ln>
        </p:spPr>
        <p:txBody>
          <a:bodyPr/>
          <a:lstStyle/>
          <a:p>
            <a:endParaRPr lang="en-PK"/>
          </a:p>
        </p:txBody>
      </p:sp>
      <p:sp>
        <p:nvSpPr>
          <p:cNvPr id="12" name="Text 10"/>
          <p:cNvSpPr/>
          <p:nvPr/>
        </p:nvSpPr>
        <p:spPr>
          <a:xfrm>
            <a:off x="3459404" y="2331720"/>
            <a:ext cx="2453564" cy="274320"/>
          </a:xfrm>
          <a:prstGeom prst="rect">
            <a:avLst/>
          </a:prstGeom>
          <a:noFill/>
          <a:ln/>
        </p:spPr>
        <p:txBody>
          <a:bodyPr wrap="square" lIns="0" tIns="0" rIns="0" bIns="0" rtlCol="0" anchor="t"/>
          <a:lstStyle/>
          <a:p>
            <a:pPr marL="0" indent="0">
              <a:buNone/>
            </a:pPr>
            <a:r>
              <a:rPr lang="en-US" sz="1100" dirty="0">
                <a:solidFill>
                  <a:srgbClr val="E8A33D"/>
                </a:solidFill>
                <a:latin typeface="IBM Plex Mono" pitchFamily="34" charset="0"/>
                <a:ea typeface="IBM Plex Mono" pitchFamily="34" charset="-122"/>
                <a:cs typeface="IBM Plex Mono" pitchFamily="34" charset="-120"/>
              </a:rPr>
              <a:t>02</a:t>
            </a:r>
            <a:endParaRPr lang="en-US" sz="1100" dirty="0"/>
          </a:p>
        </p:txBody>
      </p:sp>
      <p:sp>
        <p:nvSpPr>
          <p:cNvPr id="13" name="Text 11"/>
          <p:cNvSpPr/>
          <p:nvPr/>
        </p:nvSpPr>
        <p:spPr>
          <a:xfrm>
            <a:off x="3459404" y="2743200"/>
            <a:ext cx="2453564" cy="731520"/>
          </a:xfrm>
          <a:prstGeom prst="rect">
            <a:avLst/>
          </a:prstGeom>
          <a:noFill/>
          <a:ln/>
        </p:spPr>
        <p:txBody>
          <a:bodyPr wrap="square" lIns="0" tIns="0" rIns="0" bIns="0" rtlCol="0" anchor="t"/>
          <a:lstStyle/>
          <a:p>
            <a:pPr marL="0" indent="0">
              <a:lnSpc>
                <a:spcPct val="100000"/>
              </a:lnSpc>
              <a:buNone/>
            </a:pPr>
            <a:r>
              <a:rPr lang="en-US" sz="2000" b="1" dirty="0">
                <a:solidFill>
                  <a:srgbClr val="FFFFFF"/>
                </a:solidFill>
                <a:latin typeface="Space Grotesk" pitchFamily="34" charset="0"/>
                <a:ea typeface="Space Grotesk" pitchFamily="34" charset="-122"/>
                <a:cs typeface="Space Grotesk" pitchFamily="34" charset="-120"/>
              </a:rPr>
              <a:t>Clear pricing by phase</a:t>
            </a:r>
            <a:endParaRPr lang="en-US" sz="2000" dirty="0"/>
          </a:p>
        </p:txBody>
      </p:sp>
      <p:sp>
        <p:nvSpPr>
          <p:cNvPr id="14" name="Text 12"/>
          <p:cNvSpPr/>
          <p:nvPr/>
        </p:nvSpPr>
        <p:spPr>
          <a:xfrm>
            <a:off x="3459404" y="3611880"/>
            <a:ext cx="2453564" cy="2651760"/>
          </a:xfrm>
          <a:prstGeom prst="rect">
            <a:avLst/>
          </a:prstGeom>
          <a:noFill/>
          <a:ln/>
        </p:spPr>
        <p:txBody>
          <a:bodyPr wrap="square" lIns="0" tIns="0" rIns="0" bIns="0" rtlCol="0" anchor="t"/>
          <a:lstStyle/>
          <a:p>
            <a:pPr marL="0" indent="0">
              <a:lnSpc>
                <a:spcPct val="130000"/>
              </a:lnSpc>
              <a:buNone/>
            </a:pPr>
            <a:r>
              <a:rPr lang="en-US" sz="1200" dirty="0">
                <a:solidFill>
                  <a:srgbClr val="B6B7B8"/>
                </a:solidFill>
                <a:latin typeface="IBM Plex Sans" pitchFamily="34" charset="0"/>
                <a:ea typeface="IBM Plex Sans" pitchFamily="34" charset="-122"/>
                <a:cs typeface="IBM Plex Sans" pitchFamily="34" charset="-120"/>
              </a:rPr>
              <a:t>Before each phase begins, you will know what we are delivering, what it will cost, and what assumptions the price is based on. If a change affects the scope, timeline, or cost, we will discuss and agree it with you before carrying out the additional work.</a:t>
            </a:r>
            <a:endParaRPr lang="en-US" sz="1200" dirty="0"/>
          </a:p>
        </p:txBody>
      </p:sp>
      <p:sp>
        <p:nvSpPr>
          <p:cNvPr id="15" name="Shape 13"/>
          <p:cNvSpPr/>
          <p:nvPr/>
        </p:nvSpPr>
        <p:spPr>
          <a:xfrm>
            <a:off x="6278728" y="2057400"/>
            <a:ext cx="2453564" cy="0"/>
          </a:xfrm>
          <a:prstGeom prst="line">
            <a:avLst/>
          </a:prstGeom>
          <a:noFill/>
          <a:ln w="9525">
            <a:solidFill>
              <a:srgbClr val="2E3033"/>
            </a:solidFill>
            <a:prstDash val="solid"/>
          </a:ln>
        </p:spPr>
        <p:txBody>
          <a:bodyPr/>
          <a:lstStyle/>
          <a:p>
            <a:endParaRPr lang="en-PK"/>
          </a:p>
        </p:txBody>
      </p:sp>
      <p:sp>
        <p:nvSpPr>
          <p:cNvPr id="16" name="Shape 14"/>
          <p:cNvSpPr/>
          <p:nvPr/>
        </p:nvSpPr>
        <p:spPr>
          <a:xfrm>
            <a:off x="6278728" y="2057400"/>
            <a:ext cx="548640" cy="0"/>
          </a:xfrm>
          <a:prstGeom prst="line">
            <a:avLst/>
          </a:prstGeom>
          <a:noFill/>
          <a:ln w="28575">
            <a:solidFill>
              <a:srgbClr val="E8A33D"/>
            </a:solidFill>
            <a:prstDash val="solid"/>
          </a:ln>
        </p:spPr>
        <p:txBody>
          <a:bodyPr/>
          <a:lstStyle/>
          <a:p>
            <a:endParaRPr lang="en-PK"/>
          </a:p>
        </p:txBody>
      </p:sp>
      <p:sp>
        <p:nvSpPr>
          <p:cNvPr id="17" name="Text 15"/>
          <p:cNvSpPr/>
          <p:nvPr/>
        </p:nvSpPr>
        <p:spPr>
          <a:xfrm>
            <a:off x="6278728" y="2331720"/>
            <a:ext cx="2453564" cy="274320"/>
          </a:xfrm>
          <a:prstGeom prst="rect">
            <a:avLst/>
          </a:prstGeom>
          <a:noFill/>
          <a:ln/>
        </p:spPr>
        <p:txBody>
          <a:bodyPr wrap="square" lIns="0" tIns="0" rIns="0" bIns="0" rtlCol="0" anchor="t"/>
          <a:lstStyle/>
          <a:p>
            <a:pPr marL="0" indent="0">
              <a:buNone/>
            </a:pPr>
            <a:r>
              <a:rPr lang="en-US" sz="1100" dirty="0">
                <a:solidFill>
                  <a:srgbClr val="E8A33D"/>
                </a:solidFill>
                <a:latin typeface="IBM Plex Mono" pitchFamily="34" charset="0"/>
                <a:ea typeface="IBM Plex Mono" pitchFamily="34" charset="-122"/>
                <a:cs typeface="IBM Plex Mono" pitchFamily="34" charset="-120"/>
              </a:rPr>
              <a:t>03</a:t>
            </a:r>
            <a:endParaRPr lang="en-US" sz="1100" dirty="0"/>
          </a:p>
        </p:txBody>
      </p:sp>
      <p:sp>
        <p:nvSpPr>
          <p:cNvPr id="18" name="Text 16"/>
          <p:cNvSpPr/>
          <p:nvPr/>
        </p:nvSpPr>
        <p:spPr>
          <a:xfrm>
            <a:off x="6278728" y="2743200"/>
            <a:ext cx="2453564" cy="731520"/>
          </a:xfrm>
          <a:prstGeom prst="rect">
            <a:avLst/>
          </a:prstGeom>
          <a:noFill/>
          <a:ln/>
        </p:spPr>
        <p:txBody>
          <a:bodyPr wrap="square" lIns="0" tIns="0" rIns="0" bIns="0" rtlCol="0" anchor="t"/>
          <a:lstStyle/>
          <a:p>
            <a:pPr marL="0" indent="0">
              <a:lnSpc>
                <a:spcPct val="100000"/>
              </a:lnSpc>
              <a:buNone/>
            </a:pPr>
            <a:r>
              <a:rPr lang="en-US" sz="2000" b="1" dirty="0">
                <a:solidFill>
                  <a:srgbClr val="FFFFFF"/>
                </a:solidFill>
                <a:latin typeface="Space Grotesk" pitchFamily="34" charset="0"/>
                <a:ea typeface="Space Grotesk" pitchFamily="34" charset="-122"/>
                <a:cs typeface="Space Grotesk" pitchFamily="34" charset="-120"/>
              </a:rPr>
              <a:t>You own what we build</a:t>
            </a:r>
            <a:endParaRPr lang="en-US" sz="2000" dirty="0"/>
          </a:p>
        </p:txBody>
      </p:sp>
      <p:sp>
        <p:nvSpPr>
          <p:cNvPr id="19" name="Text 17"/>
          <p:cNvSpPr/>
          <p:nvPr/>
        </p:nvSpPr>
        <p:spPr>
          <a:xfrm>
            <a:off x="6278728" y="3611880"/>
            <a:ext cx="2453564" cy="2651760"/>
          </a:xfrm>
          <a:prstGeom prst="rect">
            <a:avLst/>
          </a:prstGeom>
          <a:noFill/>
          <a:ln/>
        </p:spPr>
        <p:txBody>
          <a:bodyPr wrap="square" lIns="0" tIns="0" rIns="0" bIns="0" rtlCol="0" anchor="t"/>
          <a:lstStyle/>
          <a:p>
            <a:pPr marL="0" indent="0">
              <a:lnSpc>
                <a:spcPct val="130000"/>
              </a:lnSpc>
              <a:buNone/>
            </a:pPr>
            <a:r>
              <a:rPr lang="en-US" sz="1200" dirty="0">
                <a:solidFill>
                  <a:srgbClr val="B6B7B8"/>
                </a:solidFill>
                <a:latin typeface="IBM Plex Sans" pitchFamily="34" charset="0"/>
                <a:ea typeface="IBM Plex Sans" pitchFamily="34" charset="-122"/>
                <a:cs typeface="IBM Plex Sans" pitchFamily="34" charset="-120"/>
              </a:rPr>
              <a:t>The software, designs, documentation, and project deliverables created specifically for you belong to you, subject to the terms agreed in your contract. We will provide the access and documentation you need to operate, maintain, and continue developing your solution.</a:t>
            </a:r>
            <a:endParaRPr lang="en-US" sz="1200" dirty="0"/>
          </a:p>
        </p:txBody>
      </p:sp>
      <p:sp>
        <p:nvSpPr>
          <p:cNvPr id="20" name="Shape 18"/>
          <p:cNvSpPr/>
          <p:nvPr/>
        </p:nvSpPr>
        <p:spPr>
          <a:xfrm>
            <a:off x="9098051" y="2057400"/>
            <a:ext cx="2453564" cy="0"/>
          </a:xfrm>
          <a:prstGeom prst="line">
            <a:avLst/>
          </a:prstGeom>
          <a:noFill/>
          <a:ln w="9525">
            <a:solidFill>
              <a:srgbClr val="2E3033"/>
            </a:solidFill>
            <a:prstDash val="solid"/>
          </a:ln>
        </p:spPr>
        <p:txBody>
          <a:bodyPr/>
          <a:lstStyle/>
          <a:p>
            <a:endParaRPr lang="en-PK"/>
          </a:p>
        </p:txBody>
      </p:sp>
      <p:sp>
        <p:nvSpPr>
          <p:cNvPr id="21" name="Shape 19"/>
          <p:cNvSpPr/>
          <p:nvPr/>
        </p:nvSpPr>
        <p:spPr>
          <a:xfrm>
            <a:off x="9098051" y="2057400"/>
            <a:ext cx="548640" cy="0"/>
          </a:xfrm>
          <a:prstGeom prst="line">
            <a:avLst/>
          </a:prstGeom>
          <a:noFill/>
          <a:ln w="28575">
            <a:solidFill>
              <a:srgbClr val="E8A33D"/>
            </a:solidFill>
            <a:prstDash val="solid"/>
          </a:ln>
        </p:spPr>
        <p:txBody>
          <a:bodyPr/>
          <a:lstStyle/>
          <a:p>
            <a:endParaRPr lang="en-PK"/>
          </a:p>
        </p:txBody>
      </p:sp>
      <p:sp>
        <p:nvSpPr>
          <p:cNvPr id="22" name="Text 20"/>
          <p:cNvSpPr/>
          <p:nvPr/>
        </p:nvSpPr>
        <p:spPr>
          <a:xfrm>
            <a:off x="9098051" y="2331720"/>
            <a:ext cx="2453564" cy="274320"/>
          </a:xfrm>
          <a:prstGeom prst="rect">
            <a:avLst/>
          </a:prstGeom>
          <a:noFill/>
          <a:ln/>
        </p:spPr>
        <p:txBody>
          <a:bodyPr wrap="square" lIns="0" tIns="0" rIns="0" bIns="0" rtlCol="0" anchor="t"/>
          <a:lstStyle/>
          <a:p>
            <a:pPr marL="0" indent="0">
              <a:buNone/>
            </a:pPr>
            <a:r>
              <a:rPr lang="en-US" sz="1100" dirty="0">
                <a:solidFill>
                  <a:srgbClr val="E8A33D"/>
                </a:solidFill>
                <a:latin typeface="IBM Plex Mono" pitchFamily="34" charset="0"/>
                <a:ea typeface="IBM Plex Mono" pitchFamily="34" charset="-122"/>
                <a:cs typeface="IBM Plex Mono" pitchFamily="34" charset="-120"/>
              </a:rPr>
              <a:t>04</a:t>
            </a:r>
            <a:endParaRPr lang="en-US" sz="1100" dirty="0"/>
          </a:p>
        </p:txBody>
      </p:sp>
      <p:sp>
        <p:nvSpPr>
          <p:cNvPr id="23" name="Text 21"/>
          <p:cNvSpPr/>
          <p:nvPr/>
        </p:nvSpPr>
        <p:spPr>
          <a:xfrm>
            <a:off x="9098051" y="2743200"/>
            <a:ext cx="2453564" cy="731520"/>
          </a:xfrm>
          <a:prstGeom prst="rect">
            <a:avLst/>
          </a:prstGeom>
          <a:noFill/>
          <a:ln/>
        </p:spPr>
        <p:txBody>
          <a:bodyPr wrap="square" lIns="0" tIns="0" rIns="0" bIns="0" rtlCol="0" anchor="t"/>
          <a:lstStyle/>
          <a:p>
            <a:pPr marL="0" indent="0">
              <a:lnSpc>
                <a:spcPct val="100000"/>
              </a:lnSpc>
              <a:buNone/>
            </a:pPr>
            <a:r>
              <a:rPr lang="en-US" sz="2000" b="1" dirty="0">
                <a:solidFill>
                  <a:srgbClr val="FFFFFF"/>
                </a:solidFill>
                <a:latin typeface="Space Grotesk" pitchFamily="34" charset="0"/>
                <a:ea typeface="Space Grotesk" pitchFamily="34" charset="-122"/>
                <a:cs typeface="Space Grotesk" pitchFamily="34" charset="-120"/>
              </a:rPr>
              <a:t>Support beyond delivery</a:t>
            </a:r>
            <a:endParaRPr lang="en-US" sz="2000" dirty="0"/>
          </a:p>
        </p:txBody>
      </p:sp>
      <p:sp>
        <p:nvSpPr>
          <p:cNvPr id="24" name="Text 22"/>
          <p:cNvSpPr/>
          <p:nvPr/>
        </p:nvSpPr>
        <p:spPr>
          <a:xfrm>
            <a:off x="9098051" y="3611880"/>
            <a:ext cx="2453564" cy="2651760"/>
          </a:xfrm>
          <a:prstGeom prst="rect">
            <a:avLst/>
          </a:prstGeom>
          <a:noFill/>
          <a:ln/>
        </p:spPr>
        <p:txBody>
          <a:bodyPr wrap="square" lIns="0" tIns="0" rIns="0" bIns="0" rtlCol="0" anchor="t"/>
          <a:lstStyle/>
          <a:p>
            <a:pPr marL="0" indent="0">
              <a:lnSpc>
                <a:spcPct val="130000"/>
              </a:lnSpc>
              <a:buNone/>
            </a:pPr>
            <a:r>
              <a:rPr lang="en-US" sz="1200" dirty="0">
                <a:solidFill>
                  <a:srgbClr val="B6B7B8"/>
                </a:solidFill>
                <a:latin typeface="IBM Plex Sans" pitchFamily="34" charset="0"/>
                <a:ea typeface="IBM Plex Sans" pitchFamily="34" charset="-122"/>
                <a:cs typeface="IBM Plex Sans" pitchFamily="34" charset="-120"/>
              </a:rPr>
              <a:t>Our involvement does not have to end when the project goes live. We provide a proper handover and can continue supporting, maintaining, improving, and expanding your solution through an ongoing support arrangement when your business needs it.</a:t>
            </a:r>
            <a:endParaRPr lang="en-US" sz="1200" dirty="0"/>
          </a:p>
        </p:txBody>
      </p:sp>
      <p:sp>
        <p:nvSpPr>
          <p:cNvPr id="25" name="Text 23"/>
          <p:cNvSpPr/>
          <p:nvPr/>
        </p:nvSpPr>
        <p:spPr>
          <a:xfrm>
            <a:off x="640080" y="6473952"/>
            <a:ext cx="6400800" cy="164592"/>
          </a:xfrm>
          <a:prstGeom prst="rect">
            <a:avLst/>
          </a:prstGeom>
          <a:noFill/>
          <a:ln/>
        </p:spPr>
        <p:txBody>
          <a:bodyPr wrap="square" lIns="0" tIns="0" rIns="0" bIns="0" rtlCol="0" anchor="t"/>
          <a:lstStyle/>
          <a:p>
            <a:pPr marL="0" indent="0">
              <a:buNone/>
            </a:pPr>
            <a:r>
              <a:rPr lang="en-US" sz="700" kern="0" spc="150" dirty="0">
                <a:solidFill>
                  <a:srgbClr val="8B8D8F"/>
                </a:solidFill>
                <a:latin typeface="IBM Plex Mono" pitchFamily="34" charset="0"/>
                <a:ea typeface="IBM Plex Mono" pitchFamily="34" charset="-122"/>
                <a:cs typeface="IBM Plex Mono" pitchFamily="34" charset="-120"/>
              </a:rPr>
              <a:t>BOLTER TECHNOLOGIES PRIVATE LIMITED  ·  COMPANY PROFILE</a:t>
            </a:r>
            <a:endParaRPr lang="en-US" sz="700" dirty="0"/>
          </a:p>
        </p:txBody>
      </p:sp>
      <p:sp>
        <p:nvSpPr>
          <p:cNvPr id="26" name="Text 24"/>
          <p:cNvSpPr/>
          <p:nvPr/>
        </p:nvSpPr>
        <p:spPr>
          <a:xfrm>
            <a:off x="9722815" y="6473952"/>
            <a:ext cx="1828800" cy="164592"/>
          </a:xfrm>
          <a:prstGeom prst="rect">
            <a:avLst/>
          </a:prstGeom>
          <a:noFill/>
          <a:ln/>
        </p:spPr>
        <p:txBody>
          <a:bodyPr wrap="square" lIns="0" tIns="0" rIns="0" bIns="0" rtlCol="0" anchor="t"/>
          <a:lstStyle/>
          <a:p>
            <a:pPr marL="0" indent="0" algn="r">
              <a:buNone/>
            </a:pPr>
            <a:r>
              <a:rPr lang="en-US" sz="700" kern="0" spc="150" dirty="0">
                <a:solidFill>
                  <a:srgbClr val="8B8D8F"/>
                </a:solidFill>
                <a:latin typeface="IBM Plex Mono" pitchFamily="34" charset="0"/>
                <a:ea typeface="IBM Plex Mono" pitchFamily="34" charset="-122"/>
                <a:cs typeface="IBM Plex Mono" pitchFamily="34" charset="-120"/>
              </a:rPr>
              <a:t>03 / 23</a:t>
            </a:r>
            <a:endParaRPr lang="en-US" sz="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3F1ED"/>
        </a:solidFill>
        <a:effectLst/>
      </p:bgPr>
    </p:bg>
    <p:spTree>
      <p:nvGrpSpPr>
        <p:cNvPr id="1" name=""/>
        <p:cNvGrpSpPr/>
        <p:nvPr/>
      </p:nvGrpSpPr>
      <p:grpSpPr>
        <a:xfrm>
          <a:off x="0" y="0"/>
          <a:ext cx="0" cy="0"/>
          <a:chOff x="0" y="0"/>
          <a:chExt cx="0" cy="0"/>
        </a:xfrm>
      </p:grpSpPr>
      <p:sp>
        <p:nvSpPr>
          <p:cNvPr id="2" name="Shape 0"/>
          <p:cNvSpPr/>
          <p:nvPr/>
        </p:nvSpPr>
        <p:spPr>
          <a:xfrm>
            <a:off x="640080" y="571500"/>
            <a:ext cx="219456" cy="32004"/>
          </a:xfrm>
          <a:prstGeom prst="rect">
            <a:avLst/>
          </a:prstGeom>
          <a:solidFill>
            <a:srgbClr val="8F5D0A"/>
          </a:solidFill>
          <a:ln/>
        </p:spPr>
        <p:txBody>
          <a:bodyPr/>
          <a:lstStyle/>
          <a:p>
            <a:endParaRPr lang="en-PK"/>
          </a:p>
        </p:txBody>
      </p:sp>
      <p:sp>
        <p:nvSpPr>
          <p:cNvPr id="3" name="Text 1"/>
          <p:cNvSpPr/>
          <p:nvPr/>
        </p:nvSpPr>
        <p:spPr>
          <a:xfrm>
            <a:off x="969264" y="502920"/>
            <a:ext cx="8229600" cy="182880"/>
          </a:xfrm>
          <a:prstGeom prst="rect">
            <a:avLst/>
          </a:prstGeom>
          <a:noFill/>
          <a:ln/>
        </p:spPr>
        <p:txBody>
          <a:bodyPr wrap="square" lIns="0" tIns="0" rIns="0" bIns="0" rtlCol="0" anchor="t"/>
          <a:lstStyle/>
          <a:p>
            <a:pPr marL="0" indent="0">
              <a:buNone/>
            </a:pPr>
            <a:r>
              <a:rPr lang="en-US" sz="900" b="1" kern="0" spc="200" dirty="0">
                <a:solidFill>
                  <a:srgbClr val="8F5D0A"/>
                </a:solidFill>
                <a:latin typeface="IBM Plex Mono" pitchFamily="34" charset="0"/>
                <a:ea typeface="IBM Plex Mono" pitchFamily="34" charset="-122"/>
                <a:cs typeface="IBM Plex Mono" pitchFamily="34" charset="-120"/>
              </a:rPr>
              <a:t>03  PRACTICE</a:t>
            </a:r>
            <a:endParaRPr lang="en-US" sz="900" dirty="0"/>
          </a:p>
        </p:txBody>
      </p:sp>
      <p:sp>
        <p:nvSpPr>
          <p:cNvPr id="4" name="Text 2"/>
          <p:cNvSpPr/>
          <p:nvPr/>
        </p:nvSpPr>
        <p:spPr>
          <a:xfrm>
            <a:off x="640080" y="777240"/>
            <a:ext cx="4754880" cy="1280160"/>
          </a:xfrm>
          <a:prstGeom prst="rect">
            <a:avLst/>
          </a:prstGeom>
          <a:noFill/>
          <a:ln/>
        </p:spPr>
        <p:txBody>
          <a:bodyPr wrap="square" lIns="0" tIns="0" rIns="0" bIns="0" rtlCol="0" anchor="t"/>
          <a:lstStyle/>
          <a:p>
            <a:pPr marL="0" indent="0">
              <a:buNone/>
            </a:pPr>
            <a:r>
              <a:rPr lang="en-US" sz="3400" b="1" dirty="0">
                <a:solidFill>
                  <a:srgbClr val="14161A"/>
                </a:solidFill>
                <a:latin typeface="Space Grotesk" pitchFamily="34" charset="0"/>
                <a:ea typeface="Space Grotesk" pitchFamily="34" charset="-122"/>
                <a:cs typeface="Space Grotesk" pitchFamily="34" charset="-120"/>
              </a:rPr>
              <a:t>One practice, five depths</a:t>
            </a:r>
            <a:endParaRPr lang="en-US" sz="3400" dirty="0"/>
          </a:p>
        </p:txBody>
      </p:sp>
      <p:sp>
        <p:nvSpPr>
          <p:cNvPr id="5" name="Text 3"/>
          <p:cNvSpPr/>
          <p:nvPr/>
        </p:nvSpPr>
        <p:spPr>
          <a:xfrm>
            <a:off x="640080" y="2194560"/>
            <a:ext cx="4389120" cy="1371600"/>
          </a:xfrm>
          <a:prstGeom prst="rect">
            <a:avLst/>
          </a:prstGeom>
          <a:noFill/>
          <a:ln/>
        </p:spPr>
        <p:txBody>
          <a:bodyPr wrap="square" lIns="0" tIns="0" rIns="0" bIns="0" rtlCol="0" anchor="t"/>
          <a:lstStyle/>
          <a:p>
            <a:pPr marL="0" indent="0">
              <a:lnSpc>
                <a:spcPct val="130000"/>
              </a:lnSpc>
              <a:buNone/>
            </a:pPr>
            <a:r>
              <a:rPr lang="en-US" sz="1500" dirty="0">
                <a:solidFill>
                  <a:srgbClr val="5B6066"/>
                </a:solidFill>
                <a:latin typeface="IBM Plex Sans" pitchFamily="34" charset="0"/>
                <a:ea typeface="IBM Plex Sans" pitchFamily="34" charset="-122"/>
                <a:cs typeface="IBM Plex Sans" pitchFamily="34" charset="-120"/>
              </a:rPr>
              <a:t>Software development, AI automation, data analytics, and cyber security.</a:t>
            </a:r>
            <a:endParaRPr lang="en-US" sz="1500" dirty="0"/>
          </a:p>
        </p:txBody>
      </p:sp>
      <p:sp>
        <p:nvSpPr>
          <p:cNvPr id="6" name="Shape 4"/>
          <p:cNvSpPr/>
          <p:nvPr/>
        </p:nvSpPr>
        <p:spPr>
          <a:xfrm>
            <a:off x="5394960" y="1188720"/>
            <a:ext cx="6156655" cy="0"/>
          </a:xfrm>
          <a:prstGeom prst="line">
            <a:avLst/>
          </a:prstGeom>
          <a:noFill/>
          <a:ln w="9525">
            <a:solidFill>
              <a:srgbClr val="DCD8D0"/>
            </a:solidFill>
            <a:prstDash val="solid"/>
          </a:ln>
        </p:spPr>
        <p:txBody>
          <a:bodyPr/>
          <a:lstStyle/>
          <a:p>
            <a:endParaRPr lang="en-PK"/>
          </a:p>
        </p:txBody>
      </p:sp>
      <p:sp>
        <p:nvSpPr>
          <p:cNvPr id="7" name="Text 5"/>
          <p:cNvSpPr/>
          <p:nvPr/>
        </p:nvSpPr>
        <p:spPr>
          <a:xfrm>
            <a:off x="5394960" y="1463040"/>
            <a:ext cx="457200" cy="274320"/>
          </a:xfrm>
          <a:prstGeom prst="rect">
            <a:avLst/>
          </a:prstGeom>
          <a:noFill/>
          <a:ln/>
        </p:spPr>
        <p:txBody>
          <a:bodyPr wrap="square" lIns="0" tIns="0" rIns="0" bIns="0" rtlCol="0" anchor="t"/>
          <a:lstStyle/>
          <a:p>
            <a:pPr marL="0" indent="0">
              <a:buNone/>
            </a:pPr>
            <a:r>
              <a:rPr lang="en-US" sz="1000" dirty="0">
                <a:solidFill>
                  <a:srgbClr val="8F5D0A"/>
                </a:solidFill>
                <a:latin typeface="IBM Plex Mono" pitchFamily="34" charset="0"/>
                <a:ea typeface="IBM Plex Mono" pitchFamily="34" charset="-122"/>
                <a:cs typeface="IBM Plex Mono" pitchFamily="34" charset="-120"/>
              </a:rPr>
              <a:t>01</a:t>
            </a:r>
            <a:endParaRPr lang="en-US" sz="1000" dirty="0"/>
          </a:p>
        </p:txBody>
      </p:sp>
      <p:sp>
        <p:nvSpPr>
          <p:cNvPr id="8" name="Text 6"/>
          <p:cNvSpPr/>
          <p:nvPr/>
        </p:nvSpPr>
        <p:spPr>
          <a:xfrm>
            <a:off x="5943600" y="1408176"/>
            <a:ext cx="3657600" cy="365760"/>
          </a:xfrm>
          <a:prstGeom prst="rect">
            <a:avLst/>
          </a:prstGeom>
          <a:noFill/>
          <a:ln/>
        </p:spPr>
        <p:txBody>
          <a:bodyPr wrap="square" lIns="0" tIns="0" rIns="0" bIns="0" rtlCol="0" anchor="t"/>
          <a:lstStyle/>
          <a:p>
            <a:pPr marL="0" indent="0">
              <a:buNone/>
            </a:pPr>
            <a:r>
              <a:rPr lang="en-US" sz="2100" b="1" dirty="0">
                <a:solidFill>
                  <a:srgbClr val="14161A"/>
                </a:solidFill>
                <a:latin typeface="Space Grotesk" pitchFamily="34" charset="0"/>
                <a:ea typeface="Space Grotesk" pitchFamily="34" charset="-122"/>
                <a:cs typeface="Space Grotesk" pitchFamily="34" charset="-120"/>
              </a:rPr>
              <a:t>Software development</a:t>
            </a:r>
            <a:endParaRPr lang="en-US" sz="2100" dirty="0"/>
          </a:p>
        </p:txBody>
      </p:sp>
      <p:sp>
        <p:nvSpPr>
          <p:cNvPr id="9" name="Text 7"/>
          <p:cNvSpPr/>
          <p:nvPr/>
        </p:nvSpPr>
        <p:spPr>
          <a:xfrm>
            <a:off x="5943600" y="1755648"/>
            <a:ext cx="3657600" cy="182880"/>
          </a:xfrm>
          <a:prstGeom prst="rect">
            <a:avLst/>
          </a:prstGeom>
          <a:noFill/>
          <a:ln/>
        </p:spPr>
        <p:txBody>
          <a:bodyPr wrap="square" lIns="0" tIns="0" rIns="0" bIns="0" rtlCol="0" anchor="t"/>
          <a:lstStyle/>
          <a:p>
            <a:pPr marL="0" indent="0">
              <a:buNone/>
            </a:pPr>
            <a:r>
              <a:rPr lang="en-US" sz="750" b="1" kern="0" spc="150" dirty="0">
                <a:solidFill>
                  <a:srgbClr val="8F5D0A"/>
                </a:solidFill>
                <a:latin typeface="IBM Plex Mono" pitchFamily="34" charset="0"/>
                <a:ea typeface="IBM Plex Mono" pitchFamily="34" charset="-122"/>
                <a:cs typeface="IBM Plex Mono" pitchFamily="34" charset="-120"/>
              </a:rPr>
              <a:t>LEAD PRACTICE</a:t>
            </a:r>
            <a:endParaRPr lang="en-US" sz="750" dirty="0"/>
          </a:p>
        </p:txBody>
      </p:sp>
      <p:sp>
        <p:nvSpPr>
          <p:cNvPr id="10" name="Shape 8"/>
          <p:cNvSpPr/>
          <p:nvPr/>
        </p:nvSpPr>
        <p:spPr>
          <a:xfrm>
            <a:off x="9692640" y="1600200"/>
            <a:ext cx="944575" cy="64008"/>
          </a:xfrm>
          <a:prstGeom prst="rect">
            <a:avLst/>
          </a:prstGeom>
          <a:solidFill>
            <a:srgbClr val="E9E5DE"/>
          </a:solidFill>
          <a:ln/>
        </p:spPr>
        <p:txBody>
          <a:bodyPr/>
          <a:lstStyle/>
          <a:p>
            <a:endParaRPr lang="en-PK"/>
          </a:p>
        </p:txBody>
      </p:sp>
      <p:sp>
        <p:nvSpPr>
          <p:cNvPr id="11" name="Shape 9"/>
          <p:cNvSpPr/>
          <p:nvPr/>
        </p:nvSpPr>
        <p:spPr>
          <a:xfrm>
            <a:off x="9692640" y="1600200"/>
            <a:ext cx="708431" cy="64008"/>
          </a:xfrm>
          <a:prstGeom prst="rect">
            <a:avLst/>
          </a:prstGeom>
          <a:solidFill>
            <a:srgbClr val="8F5D0A"/>
          </a:solidFill>
          <a:ln/>
        </p:spPr>
        <p:txBody>
          <a:bodyPr/>
          <a:lstStyle/>
          <a:p>
            <a:endParaRPr lang="en-PK"/>
          </a:p>
        </p:txBody>
      </p:sp>
      <p:sp>
        <p:nvSpPr>
          <p:cNvPr id="12" name="Text 10"/>
          <p:cNvSpPr/>
          <p:nvPr/>
        </p:nvSpPr>
        <p:spPr>
          <a:xfrm>
            <a:off x="10865815" y="1353312"/>
            <a:ext cx="685800" cy="411480"/>
          </a:xfrm>
          <a:prstGeom prst="rect">
            <a:avLst/>
          </a:prstGeom>
          <a:noFill/>
          <a:ln/>
        </p:spPr>
        <p:txBody>
          <a:bodyPr wrap="square" lIns="0" tIns="0" rIns="0" bIns="0" rtlCol="0" anchor="t"/>
          <a:lstStyle/>
          <a:p>
            <a:pPr marL="0" indent="0" algn="r">
              <a:buNone/>
            </a:pPr>
            <a:r>
              <a:rPr lang="en-US" sz="2400" b="1" dirty="0">
                <a:solidFill>
                  <a:srgbClr val="14161A"/>
                </a:solidFill>
                <a:latin typeface="Space Grotesk" pitchFamily="34" charset="0"/>
                <a:ea typeface="Space Grotesk" pitchFamily="34" charset="-122"/>
                <a:cs typeface="Space Grotesk" pitchFamily="34" charset="-120"/>
              </a:rPr>
              <a:t>03</a:t>
            </a:r>
            <a:endParaRPr lang="en-US" sz="2400" dirty="0"/>
          </a:p>
        </p:txBody>
      </p:sp>
      <p:sp>
        <p:nvSpPr>
          <p:cNvPr id="13" name="Text 11"/>
          <p:cNvSpPr/>
          <p:nvPr/>
        </p:nvSpPr>
        <p:spPr>
          <a:xfrm>
            <a:off x="10637215" y="1755648"/>
            <a:ext cx="914400" cy="182880"/>
          </a:xfrm>
          <a:prstGeom prst="rect">
            <a:avLst/>
          </a:prstGeom>
          <a:noFill/>
          <a:ln/>
        </p:spPr>
        <p:txBody>
          <a:bodyPr wrap="square" lIns="0" tIns="0" rIns="0" bIns="0" rtlCol="0" anchor="t"/>
          <a:lstStyle/>
          <a:p>
            <a:pPr marL="0" indent="0" algn="r">
              <a:buNone/>
            </a:pPr>
            <a:r>
              <a:rPr lang="en-US" sz="700" kern="0" spc="150" dirty="0">
                <a:solidFill>
                  <a:srgbClr val="6F6A5F"/>
                </a:solidFill>
                <a:latin typeface="IBM Plex Mono" pitchFamily="34" charset="0"/>
                <a:ea typeface="IBM Plex Mono" pitchFamily="34" charset="-122"/>
                <a:cs typeface="IBM Plex Mono" pitchFamily="34" charset="-120"/>
              </a:rPr>
              <a:t>PROJECTS</a:t>
            </a:r>
            <a:endParaRPr lang="en-US" sz="700" dirty="0"/>
          </a:p>
        </p:txBody>
      </p:sp>
      <p:sp>
        <p:nvSpPr>
          <p:cNvPr id="14" name="Shape 12"/>
          <p:cNvSpPr/>
          <p:nvPr/>
        </p:nvSpPr>
        <p:spPr>
          <a:xfrm>
            <a:off x="5394960" y="2066544"/>
            <a:ext cx="6156655" cy="0"/>
          </a:xfrm>
          <a:prstGeom prst="line">
            <a:avLst/>
          </a:prstGeom>
          <a:noFill/>
          <a:ln w="9525">
            <a:solidFill>
              <a:srgbClr val="DCD8D0"/>
            </a:solidFill>
            <a:prstDash val="solid"/>
          </a:ln>
        </p:spPr>
        <p:txBody>
          <a:bodyPr/>
          <a:lstStyle/>
          <a:p>
            <a:endParaRPr lang="en-PK"/>
          </a:p>
        </p:txBody>
      </p:sp>
      <p:sp>
        <p:nvSpPr>
          <p:cNvPr id="15" name="Text 13"/>
          <p:cNvSpPr/>
          <p:nvPr/>
        </p:nvSpPr>
        <p:spPr>
          <a:xfrm>
            <a:off x="5394960" y="2340864"/>
            <a:ext cx="457200" cy="274320"/>
          </a:xfrm>
          <a:prstGeom prst="rect">
            <a:avLst/>
          </a:prstGeom>
          <a:noFill/>
          <a:ln/>
        </p:spPr>
        <p:txBody>
          <a:bodyPr wrap="square" lIns="0" tIns="0" rIns="0" bIns="0" rtlCol="0" anchor="t"/>
          <a:lstStyle/>
          <a:p>
            <a:pPr marL="0" indent="0">
              <a:buNone/>
            </a:pPr>
            <a:r>
              <a:rPr lang="en-US" sz="1000" dirty="0">
                <a:solidFill>
                  <a:srgbClr val="8F5D0A"/>
                </a:solidFill>
                <a:latin typeface="IBM Plex Mono" pitchFamily="34" charset="0"/>
                <a:ea typeface="IBM Plex Mono" pitchFamily="34" charset="-122"/>
                <a:cs typeface="IBM Plex Mono" pitchFamily="34" charset="-120"/>
              </a:rPr>
              <a:t>02</a:t>
            </a:r>
            <a:endParaRPr lang="en-US" sz="1000" dirty="0"/>
          </a:p>
        </p:txBody>
      </p:sp>
      <p:sp>
        <p:nvSpPr>
          <p:cNvPr id="16" name="Text 14"/>
          <p:cNvSpPr/>
          <p:nvPr/>
        </p:nvSpPr>
        <p:spPr>
          <a:xfrm>
            <a:off x="5943600" y="2286000"/>
            <a:ext cx="3657600" cy="365760"/>
          </a:xfrm>
          <a:prstGeom prst="rect">
            <a:avLst/>
          </a:prstGeom>
          <a:noFill/>
          <a:ln/>
        </p:spPr>
        <p:txBody>
          <a:bodyPr wrap="square" lIns="0" tIns="0" rIns="0" bIns="0" rtlCol="0" anchor="t"/>
          <a:lstStyle/>
          <a:p>
            <a:pPr marL="0" indent="0">
              <a:buNone/>
            </a:pPr>
            <a:r>
              <a:rPr lang="en-US" sz="2100" b="1" dirty="0">
                <a:solidFill>
                  <a:srgbClr val="14161A"/>
                </a:solidFill>
                <a:latin typeface="Space Grotesk" pitchFamily="34" charset="0"/>
                <a:ea typeface="Space Grotesk" pitchFamily="34" charset="-122"/>
                <a:cs typeface="Space Grotesk" pitchFamily="34" charset="-120"/>
              </a:rPr>
              <a:t>AI solutions</a:t>
            </a:r>
            <a:endParaRPr lang="en-US" sz="2100" dirty="0"/>
          </a:p>
        </p:txBody>
      </p:sp>
      <p:sp>
        <p:nvSpPr>
          <p:cNvPr id="17" name="Text 15"/>
          <p:cNvSpPr/>
          <p:nvPr/>
        </p:nvSpPr>
        <p:spPr>
          <a:xfrm>
            <a:off x="5943600" y="2633472"/>
            <a:ext cx="3657600" cy="182880"/>
          </a:xfrm>
          <a:prstGeom prst="rect">
            <a:avLst/>
          </a:prstGeom>
          <a:noFill/>
          <a:ln/>
        </p:spPr>
        <p:txBody>
          <a:bodyPr wrap="square" lIns="0" tIns="0" rIns="0" bIns="0" rtlCol="0" anchor="t"/>
          <a:lstStyle/>
          <a:p>
            <a:pPr marL="0" indent="0">
              <a:buNone/>
            </a:pPr>
            <a:r>
              <a:rPr lang="en-US" sz="750" kern="0" spc="150" dirty="0">
                <a:solidFill>
                  <a:srgbClr val="6F6A5F"/>
                </a:solidFill>
                <a:latin typeface="IBM Plex Mono" pitchFamily="34" charset="0"/>
                <a:ea typeface="IBM Plex Mono" pitchFamily="34" charset="-122"/>
                <a:cs typeface="IBM Plex Mono" pitchFamily="34" charset="-120"/>
              </a:rPr>
              <a:t>8 CAPABILITIES</a:t>
            </a:r>
            <a:endParaRPr lang="en-US" sz="750" dirty="0"/>
          </a:p>
        </p:txBody>
      </p:sp>
      <p:sp>
        <p:nvSpPr>
          <p:cNvPr id="18" name="Shape 16"/>
          <p:cNvSpPr/>
          <p:nvPr/>
        </p:nvSpPr>
        <p:spPr>
          <a:xfrm>
            <a:off x="9692640" y="2478024"/>
            <a:ext cx="944575" cy="64008"/>
          </a:xfrm>
          <a:prstGeom prst="rect">
            <a:avLst/>
          </a:prstGeom>
          <a:solidFill>
            <a:srgbClr val="E9E5DE"/>
          </a:solidFill>
          <a:ln/>
        </p:spPr>
        <p:txBody>
          <a:bodyPr/>
          <a:lstStyle/>
          <a:p>
            <a:endParaRPr lang="en-PK"/>
          </a:p>
        </p:txBody>
      </p:sp>
      <p:sp>
        <p:nvSpPr>
          <p:cNvPr id="19" name="Shape 17"/>
          <p:cNvSpPr/>
          <p:nvPr/>
        </p:nvSpPr>
        <p:spPr>
          <a:xfrm>
            <a:off x="9692640" y="2478024"/>
            <a:ext cx="708431" cy="64008"/>
          </a:xfrm>
          <a:prstGeom prst="rect">
            <a:avLst/>
          </a:prstGeom>
          <a:solidFill>
            <a:srgbClr val="8F5D0A"/>
          </a:solidFill>
          <a:ln/>
        </p:spPr>
        <p:txBody>
          <a:bodyPr/>
          <a:lstStyle/>
          <a:p>
            <a:endParaRPr lang="en-PK"/>
          </a:p>
        </p:txBody>
      </p:sp>
      <p:sp>
        <p:nvSpPr>
          <p:cNvPr id="20" name="Text 18"/>
          <p:cNvSpPr/>
          <p:nvPr/>
        </p:nvSpPr>
        <p:spPr>
          <a:xfrm>
            <a:off x="10865815" y="2231136"/>
            <a:ext cx="685800" cy="411480"/>
          </a:xfrm>
          <a:prstGeom prst="rect">
            <a:avLst/>
          </a:prstGeom>
          <a:noFill/>
          <a:ln/>
        </p:spPr>
        <p:txBody>
          <a:bodyPr wrap="square" lIns="0" tIns="0" rIns="0" bIns="0" rtlCol="0" anchor="t"/>
          <a:lstStyle/>
          <a:p>
            <a:pPr marL="0" indent="0" algn="r">
              <a:buNone/>
            </a:pPr>
            <a:r>
              <a:rPr lang="en-US" sz="2400" b="1" dirty="0">
                <a:solidFill>
                  <a:srgbClr val="14161A"/>
                </a:solidFill>
                <a:latin typeface="Space Grotesk" pitchFamily="34" charset="0"/>
                <a:ea typeface="Space Grotesk" pitchFamily="34" charset="-122"/>
                <a:cs typeface="Space Grotesk" pitchFamily="34" charset="-120"/>
              </a:rPr>
              <a:t>03</a:t>
            </a:r>
            <a:endParaRPr lang="en-US" sz="2400" dirty="0"/>
          </a:p>
        </p:txBody>
      </p:sp>
      <p:sp>
        <p:nvSpPr>
          <p:cNvPr id="21" name="Text 19"/>
          <p:cNvSpPr/>
          <p:nvPr/>
        </p:nvSpPr>
        <p:spPr>
          <a:xfrm>
            <a:off x="10637215" y="2633472"/>
            <a:ext cx="914400" cy="182880"/>
          </a:xfrm>
          <a:prstGeom prst="rect">
            <a:avLst/>
          </a:prstGeom>
          <a:noFill/>
          <a:ln/>
        </p:spPr>
        <p:txBody>
          <a:bodyPr wrap="square" lIns="0" tIns="0" rIns="0" bIns="0" rtlCol="0" anchor="t"/>
          <a:lstStyle/>
          <a:p>
            <a:pPr marL="0" indent="0" algn="r">
              <a:buNone/>
            </a:pPr>
            <a:r>
              <a:rPr lang="en-US" sz="700" kern="0" spc="150" dirty="0">
                <a:solidFill>
                  <a:srgbClr val="6F6A5F"/>
                </a:solidFill>
                <a:latin typeface="IBM Plex Mono" pitchFamily="34" charset="0"/>
                <a:ea typeface="IBM Plex Mono" pitchFamily="34" charset="-122"/>
                <a:cs typeface="IBM Plex Mono" pitchFamily="34" charset="-120"/>
              </a:rPr>
              <a:t>PROJECTS</a:t>
            </a:r>
            <a:endParaRPr lang="en-US" sz="700" dirty="0"/>
          </a:p>
        </p:txBody>
      </p:sp>
      <p:sp>
        <p:nvSpPr>
          <p:cNvPr id="22" name="Shape 20"/>
          <p:cNvSpPr/>
          <p:nvPr/>
        </p:nvSpPr>
        <p:spPr>
          <a:xfrm>
            <a:off x="5394960" y="2944368"/>
            <a:ext cx="6156655" cy="0"/>
          </a:xfrm>
          <a:prstGeom prst="line">
            <a:avLst/>
          </a:prstGeom>
          <a:noFill/>
          <a:ln w="9525">
            <a:solidFill>
              <a:srgbClr val="DCD8D0"/>
            </a:solidFill>
            <a:prstDash val="solid"/>
          </a:ln>
        </p:spPr>
        <p:txBody>
          <a:bodyPr/>
          <a:lstStyle/>
          <a:p>
            <a:endParaRPr lang="en-PK"/>
          </a:p>
        </p:txBody>
      </p:sp>
      <p:sp>
        <p:nvSpPr>
          <p:cNvPr id="23" name="Text 21"/>
          <p:cNvSpPr/>
          <p:nvPr/>
        </p:nvSpPr>
        <p:spPr>
          <a:xfrm>
            <a:off x="5394960" y="3218688"/>
            <a:ext cx="457200" cy="274320"/>
          </a:xfrm>
          <a:prstGeom prst="rect">
            <a:avLst/>
          </a:prstGeom>
          <a:noFill/>
          <a:ln/>
        </p:spPr>
        <p:txBody>
          <a:bodyPr wrap="square" lIns="0" tIns="0" rIns="0" bIns="0" rtlCol="0" anchor="t"/>
          <a:lstStyle/>
          <a:p>
            <a:pPr marL="0" indent="0">
              <a:buNone/>
            </a:pPr>
            <a:r>
              <a:rPr lang="en-US" sz="1000" dirty="0">
                <a:solidFill>
                  <a:srgbClr val="8F5D0A"/>
                </a:solidFill>
                <a:latin typeface="IBM Plex Mono" pitchFamily="34" charset="0"/>
                <a:ea typeface="IBM Plex Mono" pitchFamily="34" charset="-122"/>
                <a:cs typeface="IBM Plex Mono" pitchFamily="34" charset="-120"/>
              </a:rPr>
              <a:t>03</a:t>
            </a:r>
            <a:endParaRPr lang="en-US" sz="1000" dirty="0"/>
          </a:p>
        </p:txBody>
      </p:sp>
      <p:sp>
        <p:nvSpPr>
          <p:cNvPr id="24" name="Text 22"/>
          <p:cNvSpPr/>
          <p:nvPr/>
        </p:nvSpPr>
        <p:spPr>
          <a:xfrm>
            <a:off x="5943600" y="3163824"/>
            <a:ext cx="3657600" cy="365760"/>
          </a:xfrm>
          <a:prstGeom prst="rect">
            <a:avLst/>
          </a:prstGeom>
          <a:noFill/>
          <a:ln/>
        </p:spPr>
        <p:txBody>
          <a:bodyPr wrap="square" lIns="0" tIns="0" rIns="0" bIns="0" rtlCol="0" anchor="t"/>
          <a:lstStyle/>
          <a:p>
            <a:pPr marL="0" indent="0">
              <a:buNone/>
            </a:pPr>
            <a:r>
              <a:rPr lang="en-US" sz="2100" b="1" dirty="0">
                <a:solidFill>
                  <a:srgbClr val="14161A"/>
                </a:solidFill>
                <a:latin typeface="Space Grotesk" pitchFamily="34" charset="0"/>
                <a:ea typeface="Space Grotesk" pitchFamily="34" charset="-122"/>
                <a:cs typeface="Space Grotesk" pitchFamily="34" charset="-120"/>
              </a:rPr>
              <a:t>AI &amp; business automation</a:t>
            </a:r>
            <a:endParaRPr lang="en-US" sz="2100" dirty="0"/>
          </a:p>
        </p:txBody>
      </p:sp>
      <p:sp>
        <p:nvSpPr>
          <p:cNvPr id="25" name="Text 23"/>
          <p:cNvSpPr/>
          <p:nvPr/>
        </p:nvSpPr>
        <p:spPr>
          <a:xfrm>
            <a:off x="5943600" y="3511296"/>
            <a:ext cx="3657600" cy="182880"/>
          </a:xfrm>
          <a:prstGeom prst="rect">
            <a:avLst/>
          </a:prstGeom>
          <a:noFill/>
          <a:ln/>
        </p:spPr>
        <p:txBody>
          <a:bodyPr wrap="square" lIns="0" tIns="0" rIns="0" bIns="0" rtlCol="0" anchor="t"/>
          <a:lstStyle/>
          <a:p>
            <a:pPr marL="0" indent="0">
              <a:buNone/>
            </a:pPr>
            <a:r>
              <a:rPr lang="en-US" sz="750" kern="0" spc="150" dirty="0">
                <a:solidFill>
                  <a:srgbClr val="6F6A5F"/>
                </a:solidFill>
                <a:latin typeface="IBM Plex Mono" pitchFamily="34" charset="0"/>
                <a:ea typeface="IBM Plex Mono" pitchFamily="34" charset="-122"/>
                <a:cs typeface="IBM Plex Mono" pitchFamily="34" charset="-120"/>
              </a:rPr>
              <a:t>9 CAPABILITIES</a:t>
            </a:r>
            <a:endParaRPr lang="en-US" sz="750" dirty="0"/>
          </a:p>
        </p:txBody>
      </p:sp>
      <p:sp>
        <p:nvSpPr>
          <p:cNvPr id="26" name="Shape 24"/>
          <p:cNvSpPr/>
          <p:nvPr/>
        </p:nvSpPr>
        <p:spPr>
          <a:xfrm>
            <a:off x="9692640" y="3355848"/>
            <a:ext cx="944575" cy="64008"/>
          </a:xfrm>
          <a:prstGeom prst="rect">
            <a:avLst/>
          </a:prstGeom>
          <a:solidFill>
            <a:srgbClr val="E9E5DE"/>
          </a:solidFill>
          <a:ln/>
        </p:spPr>
        <p:txBody>
          <a:bodyPr/>
          <a:lstStyle/>
          <a:p>
            <a:endParaRPr lang="en-PK"/>
          </a:p>
        </p:txBody>
      </p:sp>
      <p:sp>
        <p:nvSpPr>
          <p:cNvPr id="27" name="Shape 25"/>
          <p:cNvSpPr/>
          <p:nvPr/>
        </p:nvSpPr>
        <p:spPr>
          <a:xfrm>
            <a:off x="9692639" y="3355848"/>
            <a:ext cx="555541" cy="64008"/>
          </a:xfrm>
          <a:prstGeom prst="rect">
            <a:avLst/>
          </a:prstGeom>
          <a:solidFill>
            <a:srgbClr val="8F5D0A"/>
          </a:solidFill>
          <a:ln/>
        </p:spPr>
        <p:txBody>
          <a:bodyPr/>
          <a:lstStyle/>
          <a:p>
            <a:endParaRPr lang="en-PK"/>
          </a:p>
        </p:txBody>
      </p:sp>
      <p:sp>
        <p:nvSpPr>
          <p:cNvPr id="28" name="Text 26"/>
          <p:cNvSpPr/>
          <p:nvPr/>
        </p:nvSpPr>
        <p:spPr>
          <a:xfrm>
            <a:off x="10865815" y="3108960"/>
            <a:ext cx="685800" cy="411480"/>
          </a:xfrm>
          <a:prstGeom prst="rect">
            <a:avLst/>
          </a:prstGeom>
          <a:noFill/>
          <a:ln/>
        </p:spPr>
        <p:txBody>
          <a:bodyPr wrap="square" lIns="0" tIns="0" rIns="0" bIns="0" rtlCol="0" anchor="t"/>
          <a:lstStyle/>
          <a:p>
            <a:pPr marL="0" indent="0" algn="r">
              <a:buNone/>
            </a:pPr>
            <a:r>
              <a:rPr lang="en-US" sz="2400" b="1" dirty="0">
                <a:solidFill>
                  <a:srgbClr val="14161A"/>
                </a:solidFill>
                <a:latin typeface="Space Grotesk" pitchFamily="34" charset="0"/>
                <a:ea typeface="Space Grotesk" pitchFamily="34" charset="-122"/>
                <a:cs typeface="Space Grotesk" pitchFamily="34" charset="-120"/>
              </a:rPr>
              <a:t>02</a:t>
            </a:r>
            <a:endParaRPr lang="en-US" sz="2400" dirty="0"/>
          </a:p>
        </p:txBody>
      </p:sp>
      <p:sp>
        <p:nvSpPr>
          <p:cNvPr id="29" name="Text 27"/>
          <p:cNvSpPr/>
          <p:nvPr/>
        </p:nvSpPr>
        <p:spPr>
          <a:xfrm>
            <a:off x="10637215" y="3511296"/>
            <a:ext cx="914400" cy="182880"/>
          </a:xfrm>
          <a:prstGeom prst="rect">
            <a:avLst/>
          </a:prstGeom>
          <a:noFill/>
          <a:ln/>
        </p:spPr>
        <p:txBody>
          <a:bodyPr wrap="square" lIns="0" tIns="0" rIns="0" bIns="0" rtlCol="0" anchor="t"/>
          <a:lstStyle/>
          <a:p>
            <a:pPr marL="0" indent="0" algn="r">
              <a:buNone/>
            </a:pPr>
            <a:r>
              <a:rPr lang="en-US" sz="700" kern="0" spc="150" dirty="0">
                <a:solidFill>
                  <a:srgbClr val="6F6A5F"/>
                </a:solidFill>
                <a:latin typeface="IBM Plex Mono" pitchFamily="34" charset="0"/>
                <a:ea typeface="IBM Plex Mono" pitchFamily="34" charset="-122"/>
                <a:cs typeface="IBM Plex Mono" pitchFamily="34" charset="-120"/>
              </a:rPr>
              <a:t>PROJECTS</a:t>
            </a:r>
            <a:endParaRPr lang="en-US" sz="700" dirty="0"/>
          </a:p>
        </p:txBody>
      </p:sp>
      <p:sp>
        <p:nvSpPr>
          <p:cNvPr id="30" name="Shape 28"/>
          <p:cNvSpPr/>
          <p:nvPr/>
        </p:nvSpPr>
        <p:spPr>
          <a:xfrm>
            <a:off x="5394960" y="3822192"/>
            <a:ext cx="6156655" cy="0"/>
          </a:xfrm>
          <a:prstGeom prst="line">
            <a:avLst/>
          </a:prstGeom>
          <a:noFill/>
          <a:ln w="9525">
            <a:solidFill>
              <a:srgbClr val="DCD8D0"/>
            </a:solidFill>
            <a:prstDash val="solid"/>
          </a:ln>
        </p:spPr>
        <p:txBody>
          <a:bodyPr/>
          <a:lstStyle/>
          <a:p>
            <a:endParaRPr lang="en-PK"/>
          </a:p>
        </p:txBody>
      </p:sp>
      <p:sp>
        <p:nvSpPr>
          <p:cNvPr id="31" name="Text 29"/>
          <p:cNvSpPr/>
          <p:nvPr/>
        </p:nvSpPr>
        <p:spPr>
          <a:xfrm>
            <a:off x="5394960" y="4096512"/>
            <a:ext cx="457200" cy="274320"/>
          </a:xfrm>
          <a:prstGeom prst="rect">
            <a:avLst/>
          </a:prstGeom>
          <a:noFill/>
          <a:ln/>
        </p:spPr>
        <p:txBody>
          <a:bodyPr wrap="square" lIns="0" tIns="0" rIns="0" bIns="0" rtlCol="0" anchor="t"/>
          <a:lstStyle/>
          <a:p>
            <a:pPr marL="0" indent="0">
              <a:buNone/>
            </a:pPr>
            <a:r>
              <a:rPr lang="en-US" sz="1000" dirty="0">
                <a:solidFill>
                  <a:srgbClr val="8F5D0A"/>
                </a:solidFill>
                <a:latin typeface="IBM Plex Mono" pitchFamily="34" charset="0"/>
                <a:ea typeface="IBM Plex Mono" pitchFamily="34" charset="-122"/>
                <a:cs typeface="IBM Plex Mono" pitchFamily="34" charset="-120"/>
              </a:rPr>
              <a:t>04</a:t>
            </a:r>
            <a:endParaRPr lang="en-US" sz="1000" dirty="0"/>
          </a:p>
        </p:txBody>
      </p:sp>
      <p:sp>
        <p:nvSpPr>
          <p:cNvPr id="32" name="Text 30"/>
          <p:cNvSpPr/>
          <p:nvPr/>
        </p:nvSpPr>
        <p:spPr>
          <a:xfrm>
            <a:off x="5943600" y="4041648"/>
            <a:ext cx="3657600" cy="365760"/>
          </a:xfrm>
          <a:prstGeom prst="rect">
            <a:avLst/>
          </a:prstGeom>
          <a:noFill/>
          <a:ln/>
        </p:spPr>
        <p:txBody>
          <a:bodyPr wrap="square" lIns="0" tIns="0" rIns="0" bIns="0" rtlCol="0" anchor="t"/>
          <a:lstStyle/>
          <a:p>
            <a:pPr marL="0" indent="0">
              <a:buNone/>
            </a:pPr>
            <a:r>
              <a:rPr lang="en-US" sz="2100" b="1" dirty="0">
                <a:solidFill>
                  <a:srgbClr val="14161A"/>
                </a:solidFill>
                <a:latin typeface="Space Grotesk" pitchFamily="34" charset="0"/>
                <a:ea typeface="Space Grotesk" pitchFamily="34" charset="-122"/>
                <a:cs typeface="Space Grotesk" pitchFamily="34" charset="-120"/>
              </a:rPr>
              <a:t>Data analytics</a:t>
            </a:r>
            <a:endParaRPr lang="en-US" sz="2100" dirty="0"/>
          </a:p>
        </p:txBody>
      </p:sp>
      <p:sp>
        <p:nvSpPr>
          <p:cNvPr id="33" name="Text 31"/>
          <p:cNvSpPr/>
          <p:nvPr/>
        </p:nvSpPr>
        <p:spPr>
          <a:xfrm>
            <a:off x="5943600" y="4389120"/>
            <a:ext cx="3657600" cy="182880"/>
          </a:xfrm>
          <a:prstGeom prst="rect">
            <a:avLst/>
          </a:prstGeom>
          <a:noFill/>
          <a:ln/>
        </p:spPr>
        <p:txBody>
          <a:bodyPr wrap="square" lIns="0" tIns="0" rIns="0" bIns="0" rtlCol="0" anchor="t"/>
          <a:lstStyle/>
          <a:p>
            <a:pPr marL="0" indent="0">
              <a:buNone/>
            </a:pPr>
            <a:r>
              <a:rPr lang="en-US" sz="750" kern="0" spc="150" dirty="0">
                <a:solidFill>
                  <a:srgbClr val="6F6A5F"/>
                </a:solidFill>
                <a:latin typeface="IBM Plex Mono" pitchFamily="34" charset="0"/>
                <a:ea typeface="IBM Plex Mono" pitchFamily="34" charset="-122"/>
                <a:cs typeface="IBM Plex Mono" pitchFamily="34" charset="-120"/>
              </a:rPr>
              <a:t>10 CAPABILITIES</a:t>
            </a:r>
            <a:endParaRPr lang="en-US" sz="750" dirty="0"/>
          </a:p>
        </p:txBody>
      </p:sp>
      <p:sp>
        <p:nvSpPr>
          <p:cNvPr id="34" name="Shape 32"/>
          <p:cNvSpPr/>
          <p:nvPr/>
        </p:nvSpPr>
        <p:spPr>
          <a:xfrm>
            <a:off x="9692640" y="4233672"/>
            <a:ext cx="944575" cy="64008"/>
          </a:xfrm>
          <a:prstGeom prst="rect">
            <a:avLst/>
          </a:prstGeom>
          <a:solidFill>
            <a:srgbClr val="E9E5DE"/>
          </a:solidFill>
          <a:ln/>
        </p:spPr>
        <p:txBody>
          <a:bodyPr/>
          <a:lstStyle/>
          <a:p>
            <a:endParaRPr lang="en-PK"/>
          </a:p>
        </p:txBody>
      </p:sp>
      <p:sp>
        <p:nvSpPr>
          <p:cNvPr id="35" name="Shape 33"/>
          <p:cNvSpPr/>
          <p:nvPr/>
        </p:nvSpPr>
        <p:spPr>
          <a:xfrm>
            <a:off x="9692640" y="4233672"/>
            <a:ext cx="944575" cy="64008"/>
          </a:xfrm>
          <a:prstGeom prst="rect">
            <a:avLst/>
          </a:prstGeom>
          <a:solidFill>
            <a:srgbClr val="8F5D0A"/>
          </a:solidFill>
          <a:ln/>
        </p:spPr>
        <p:txBody>
          <a:bodyPr/>
          <a:lstStyle/>
          <a:p>
            <a:endParaRPr lang="en-PK"/>
          </a:p>
        </p:txBody>
      </p:sp>
      <p:sp>
        <p:nvSpPr>
          <p:cNvPr id="36" name="Text 34"/>
          <p:cNvSpPr/>
          <p:nvPr/>
        </p:nvSpPr>
        <p:spPr>
          <a:xfrm>
            <a:off x="10865815" y="3986784"/>
            <a:ext cx="685800" cy="411480"/>
          </a:xfrm>
          <a:prstGeom prst="rect">
            <a:avLst/>
          </a:prstGeom>
          <a:noFill/>
          <a:ln/>
        </p:spPr>
        <p:txBody>
          <a:bodyPr wrap="square" lIns="0" tIns="0" rIns="0" bIns="0" rtlCol="0" anchor="t"/>
          <a:lstStyle/>
          <a:p>
            <a:pPr marL="0" indent="0" algn="r">
              <a:buNone/>
            </a:pPr>
            <a:r>
              <a:rPr lang="en-US" sz="2400" b="1" dirty="0">
                <a:solidFill>
                  <a:srgbClr val="14161A"/>
                </a:solidFill>
                <a:latin typeface="Space Grotesk" pitchFamily="34" charset="0"/>
                <a:ea typeface="Space Grotesk" pitchFamily="34" charset="-122"/>
                <a:cs typeface="Space Grotesk" pitchFamily="34" charset="-120"/>
              </a:rPr>
              <a:t>04</a:t>
            </a:r>
            <a:endParaRPr lang="en-US" sz="2400" dirty="0"/>
          </a:p>
        </p:txBody>
      </p:sp>
      <p:sp>
        <p:nvSpPr>
          <p:cNvPr id="37" name="Text 35"/>
          <p:cNvSpPr/>
          <p:nvPr/>
        </p:nvSpPr>
        <p:spPr>
          <a:xfrm>
            <a:off x="10637215" y="4389120"/>
            <a:ext cx="914400" cy="182880"/>
          </a:xfrm>
          <a:prstGeom prst="rect">
            <a:avLst/>
          </a:prstGeom>
          <a:noFill/>
          <a:ln/>
        </p:spPr>
        <p:txBody>
          <a:bodyPr wrap="square" lIns="0" tIns="0" rIns="0" bIns="0" rtlCol="0" anchor="t"/>
          <a:lstStyle/>
          <a:p>
            <a:pPr marL="0" indent="0" algn="r">
              <a:buNone/>
            </a:pPr>
            <a:r>
              <a:rPr lang="en-US" sz="700" kern="0" spc="150" dirty="0">
                <a:solidFill>
                  <a:srgbClr val="6F6A5F"/>
                </a:solidFill>
                <a:latin typeface="IBM Plex Mono" pitchFamily="34" charset="0"/>
                <a:ea typeface="IBM Plex Mono" pitchFamily="34" charset="-122"/>
                <a:cs typeface="IBM Plex Mono" pitchFamily="34" charset="-120"/>
              </a:rPr>
              <a:t>PROJECTS</a:t>
            </a:r>
            <a:endParaRPr lang="en-US" sz="700" dirty="0"/>
          </a:p>
        </p:txBody>
      </p:sp>
      <p:sp>
        <p:nvSpPr>
          <p:cNvPr id="38" name="Shape 36"/>
          <p:cNvSpPr/>
          <p:nvPr/>
        </p:nvSpPr>
        <p:spPr>
          <a:xfrm>
            <a:off x="5394960" y="4700016"/>
            <a:ext cx="6156655" cy="0"/>
          </a:xfrm>
          <a:prstGeom prst="line">
            <a:avLst/>
          </a:prstGeom>
          <a:noFill/>
          <a:ln w="9525">
            <a:solidFill>
              <a:srgbClr val="DCD8D0"/>
            </a:solidFill>
            <a:prstDash val="solid"/>
          </a:ln>
        </p:spPr>
        <p:txBody>
          <a:bodyPr/>
          <a:lstStyle/>
          <a:p>
            <a:endParaRPr lang="en-PK"/>
          </a:p>
        </p:txBody>
      </p:sp>
      <p:sp>
        <p:nvSpPr>
          <p:cNvPr id="39" name="Text 37"/>
          <p:cNvSpPr/>
          <p:nvPr/>
        </p:nvSpPr>
        <p:spPr>
          <a:xfrm>
            <a:off x="5394960" y="4974336"/>
            <a:ext cx="457200" cy="274320"/>
          </a:xfrm>
          <a:prstGeom prst="rect">
            <a:avLst/>
          </a:prstGeom>
          <a:noFill/>
          <a:ln/>
        </p:spPr>
        <p:txBody>
          <a:bodyPr wrap="square" lIns="0" tIns="0" rIns="0" bIns="0" rtlCol="0" anchor="t"/>
          <a:lstStyle/>
          <a:p>
            <a:pPr marL="0" indent="0">
              <a:buNone/>
            </a:pPr>
            <a:r>
              <a:rPr lang="en-US" sz="1000" dirty="0">
                <a:solidFill>
                  <a:srgbClr val="8F5D0A"/>
                </a:solidFill>
                <a:latin typeface="IBM Plex Mono" pitchFamily="34" charset="0"/>
                <a:ea typeface="IBM Plex Mono" pitchFamily="34" charset="-122"/>
                <a:cs typeface="IBM Plex Mono" pitchFamily="34" charset="-120"/>
              </a:rPr>
              <a:t>05</a:t>
            </a:r>
            <a:endParaRPr lang="en-US" sz="1000" dirty="0"/>
          </a:p>
        </p:txBody>
      </p:sp>
      <p:sp>
        <p:nvSpPr>
          <p:cNvPr id="40" name="Text 38"/>
          <p:cNvSpPr/>
          <p:nvPr/>
        </p:nvSpPr>
        <p:spPr>
          <a:xfrm>
            <a:off x="5943600" y="4919472"/>
            <a:ext cx="3657600" cy="365760"/>
          </a:xfrm>
          <a:prstGeom prst="rect">
            <a:avLst/>
          </a:prstGeom>
          <a:noFill/>
          <a:ln/>
        </p:spPr>
        <p:txBody>
          <a:bodyPr wrap="square" lIns="0" tIns="0" rIns="0" bIns="0" rtlCol="0" anchor="t"/>
          <a:lstStyle/>
          <a:p>
            <a:pPr marL="0" indent="0">
              <a:buNone/>
            </a:pPr>
            <a:r>
              <a:rPr lang="en-US" sz="2100" b="1" dirty="0">
                <a:solidFill>
                  <a:srgbClr val="14161A"/>
                </a:solidFill>
                <a:latin typeface="Space Grotesk" pitchFamily="34" charset="0"/>
                <a:ea typeface="Space Grotesk" pitchFamily="34" charset="-122"/>
                <a:cs typeface="Space Grotesk" pitchFamily="34" charset="-120"/>
              </a:rPr>
              <a:t>Cyber security</a:t>
            </a:r>
            <a:endParaRPr lang="en-US" sz="2100" dirty="0"/>
          </a:p>
        </p:txBody>
      </p:sp>
      <p:sp>
        <p:nvSpPr>
          <p:cNvPr id="41" name="Text 39"/>
          <p:cNvSpPr/>
          <p:nvPr/>
        </p:nvSpPr>
        <p:spPr>
          <a:xfrm>
            <a:off x="5943600" y="5266944"/>
            <a:ext cx="3657600" cy="182880"/>
          </a:xfrm>
          <a:prstGeom prst="rect">
            <a:avLst/>
          </a:prstGeom>
          <a:noFill/>
          <a:ln/>
        </p:spPr>
        <p:txBody>
          <a:bodyPr wrap="square" lIns="0" tIns="0" rIns="0" bIns="0" rtlCol="0" anchor="t"/>
          <a:lstStyle/>
          <a:p>
            <a:pPr marL="0" indent="0">
              <a:buNone/>
            </a:pPr>
            <a:r>
              <a:rPr lang="en-US" sz="750" kern="0" spc="150" dirty="0">
                <a:solidFill>
                  <a:srgbClr val="6F6A5F"/>
                </a:solidFill>
                <a:latin typeface="IBM Plex Mono" pitchFamily="34" charset="0"/>
                <a:ea typeface="IBM Plex Mono" pitchFamily="34" charset="-122"/>
                <a:cs typeface="IBM Plex Mono" pitchFamily="34" charset="-120"/>
              </a:rPr>
              <a:t>7 CAPABILITIES</a:t>
            </a:r>
            <a:endParaRPr lang="en-US" sz="750" dirty="0"/>
          </a:p>
        </p:txBody>
      </p:sp>
      <p:sp>
        <p:nvSpPr>
          <p:cNvPr id="42" name="Shape 40"/>
          <p:cNvSpPr/>
          <p:nvPr/>
        </p:nvSpPr>
        <p:spPr>
          <a:xfrm>
            <a:off x="9692640" y="5111496"/>
            <a:ext cx="944575" cy="64008"/>
          </a:xfrm>
          <a:prstGeom prst="rect">
            <a:avLst/>
          </a:prstGeom>
          <a:solidFill>
            <a:srgbClr val="E9E5DE"/>
          </a:solidFill>
          <a:ln/>
        </p:spPr>
        <p:txBody>
          <a:bodyPr/>
          <a:lstStyle/>
          <a:p>
            <a:endParaRPr lang="en-PK"/>
          </a:p>
        </p:txBody>
      </p:sp>
      <p:sp>
        <p:nvSpPr>
          <p:cNvPr id="43" name="Shape 41"/>
          <p:cNvSpPr/>
          <p:nvPr/>
        </p:nvSpPr>
        <p:spPr>
          <a:xfrm>
            <a:off x="9692640" y="5111496"/>
            <a:ext cx="708431" cy="64008"/>
          </a:xfrm>
          <a:prstGeom prst="rect">
            <a:avLst/>
          </a:prstGeom>
          <a:solidFill>
            <a:srgbClr val="8F5D0A"/>
          </a:solidFill>
          <a:ln/>
        </p:spPr>
        <p:txBody>
          <a:bodyPr/>
          <a:lstStyle/>
          <a:p>
            <a:endParaRPr lang="en-PK"/>
          </a:p>
        </p:txBody>
      </p:sp>
      <p:sp>
        <p:nvSpPr>
          <p:cNvPr id="44" name="Text 42"/>
          <p:cNvSpPr/>
          <p:nvPr/>
        </p:nvSpPr>
        <p:spPr>
          <a:xfrm>
            <a:off x="10865815" y="4864608"/>
            <a:ext cx="685800" cy="411480"/>
          </a:xfrm>
          <a:prstGeom prst="rect">
            <a:avLst/>
          </a:prstGeom>
          <a:noFill/>
          <a:ln/>
        </p:spPr>
        <p:txBody>
          <a:bodyPr wrap="square" lIns="0" tIns="0" rIns="0" bIns="0" rtlCol="0" anchor="t"/>
          <a:lstStyle/>
          <a:p>
            <a:pPr marL="0" indent="0" algn="r">
              <a:buNone/>
            </a:pPr>
            <a:r>
              <a:rPr lang="en-US" sz="2400" b="1" dirty="0">
                <a:solidFill>
                  <a:srgbClr val="14161A"/>
                </a:solidFill>
                <a:latin typeface="Space Grotesk" pitchFamily="34" charset="0"/>
                <a:ea typeface="Space Grotesk" pitchFamily="34" charset="-122"/>
                <a:cs typeface="Space Grotesk" pitchFamily="34" charset="-120"/>
              </a:rPr>
              <a:t>03</a:t>
            </a:r>
            <a:endParaRPr lang="en-US" sz="2400" dirty="0"/>
          </a:p>
        </p:txBody>
      </p:sp>
      <p:sp>
        <p:nvSpPr>
          <p:cNvPr id="45" name="Text 43"/>
          <p:cNvSpPr/>
          <p:nvPr/>
        </p:nvSpPr>
        <p:spPr>
          <a:xfrm>
            <a:off x="10637215" y="5266944"/>
            <a:ext cx="914400" cy="182880"/>
          </a:xfrm>
          <a:prstGeom prst="rect">
            <a:avLst/>
          </a:prstGeom>
          <a:noFill/>
          <a:ln/>
        </p:spPr>
        <p:txBody>
          <a:bodyPr wrap="square" lIns="0" tIns="0" rIns="0" bIns="0" rtlCol="0" anchor="t"/>
          <a:lstStyle/>
          <a:p>
            <a:pPr marL="0" indent="0" algn="r">
              <a:buNone/>
            </a:pPr>
            <a:r>
              <a:rPr lang="en-US" sz="700" kern="0" spc="150" dirty="0">
                <a:solidFill>
                  <a:srgbClr val="6F6A5F"/>
                </a:solidFill>
                <a:latin typeface="IBM Plex Mono" pitchFamily="34" charset="0"/>
                <a:ea typeface="IBM Plex Mono" pitchFamily="34" charset="-122"/>
                <a:cs typeface="IBM Plex Mono" pitchFamily="34" charset="-120"/>
              </a:rPr>
              <a:t>PROJECTS</a:t>
            </a:r>
            <a:endParaRPr lang="en-US" sz="700" dirty="0"/>
          </a:p>
        </p:txBody>
      </p:sp>
      <p:sp>
        <p:nvSpPr>
          <p:cNvPr id="46" name="Shape 44"/>
          <p:cNvSpPr/>
          <p:nvPr/>
        </p:nvSpPr>
        <p:spPr>
          <a:xfrm>
            <a:off x="5394960" y="5577840"/>
            <a:ext cx="6156655" cy="0"/>
          </a:xfrm>
          <a:prstGeom prst="line">
            <a:avLst/>
          </a:prstGeom>
          <a:noFill/>
          <a:ln w="9525">
            <a:solidFill>
              <a:srgbClr val="DCD8D0"/>
            </a:solidFill>
            <a:prstDash val="solid"/>
          </a:ln>
        </p:spPr>
        <p:txBody>
          <a:bodyPr/>
          <a:lstStyle/>
          <a:p>
            <a:endParaRPr lang="en-PK"/>
          </a:p>
        </p:txBody>
      </p:sp>
      <p:sp>
        <p:nvSpPr>
          <p:cNvPr id="47" name="Text 45"/>
          <p:cNvSpPr/>
          <p:nvPr/>
        </p:nvSpPr>
        <p:spPr>
          <a:xfrm>
            <a:off x="640080" y="6473952"/>
            <a:ext cx="6400800" cy="164592"/>
          </a:xfrm>
          <a:prstGeom prst="rect">
            <a:avLst/>
          </a:prstGeom>
          <a:noFill/>
          <a:ln/>
        </p:spPr>
        <p:txBody>
          <a:bodyPr wrap="square" lIns="0" tIns="0" rIns="0" bIns="0" rtlCol="0" anchor="t"/>
          <a:lstStyle/>
          <a:p>
            <a:pPr marL="0" indent="0">
              <a:buNone/>
            </a:pPr>
            <a:r>
              <a:rPr lang="en-US" sz="700" kern="0" spc="150" dirty="0">
                <a:solidFill>
                  <a:srgbClr val="6F6A5F"/>
                </a:solidFill>
                <a:latin typeface="IBM Plex Mono" pitchFamily="34" charset="0"/>
                <a:ea typeface="IBM Plex Mono" pitchFamily="34" charset="-122"/>
                <a:cs typeface="IBM Plex Mono" pitchFamily="34" charset="-120"/>
              </a:rPr>
              <a:t>BOLTER TECHNOLOGIES PRIVATE LIMITED  ·  COMPANY PROFILE</a:t>
            </a:r>
            <a:endParaRPr lang="en-US" sz="700" dirty="0"/>
          </a:p>
        </p:txBody>
      </p:sp>
      <p:sp>
        <p:nvSpPr>
          <p:cNvPr id="48" name="Text 46"/>
          <p:cNvSpPr/>
          <p:nvPr/>
        </p:nvSpPr>
        <p:spPr>
          <a:xfrm>
            <a:off x="9722815" y="6473952"/>
            <a:ext cx="1828800" cy="164592"/>
          </a:xfrm>
          <a:prstGeom prst="rect">
            <a:avLst/>
          </a:prstGeom>
          <a:noFill/>
          <a:ln/>
        </p:spPr>
        <p:txBody>
          <a:bodyPr wrap="square" lIns="0" tIns="0" rIns="0" bIns="0" rtlCol="0" anchor="t"/>
          <a:lstStyle/>
          <a:p>
            <a:pPr marL="0" indent="0" algn="r">
              <a:buNone/>
            </a:pPr>
            <a:r>
              <a:rPr lang="en-US" sz="700" kern="0" spc="150" dirty="0">
                <a:solidFill>
                  <a:srgbClr val="6F6A5F"/>
                </a:solidFill>
                <a:latin typeface="IBM Plex Mono" pitchFamily="34" charset="0"/>
                <a:ea typeface="IBM Plex Mono" pitchFamily="34" charset="-122"/>
                <a:cs typeface="IBM Plex Mono" pitchFamily="34" charset="-120"/>
              </a:rPr>
              <a:t>04 / 23</a:t>
            </a:r>
            <a:endParaRPr lang="en-US" sz="700" dirty="0"/>
          </a:p>
        </p:txBody>
      </p:sp>
      <p:pic>
        <p:nvPicPr>
          <p:cNvPr id="54" name="Image 0" descr="X:\code\personal\boltertech.com\public\yellow-logo.png">
            <a:extLst>
              <a:ext uri="{FF2B5EF4-FFF2-40B4-BE49-F238E27FC236}">
                <a16:creationId xmlns:a16="http://schemas.microsoft.com/office/drawing/2014/main" id="{EA0DE2FF-E9A3-6003-F523-91D4B55697D3}"/>
              </a:ext>
            </a:extLst>
          </p:cNvPr>
          <p:cNvPicPr>
            <a:picLocks noChangeAspect="1"/>
          </p:cNvPicPr>
          <p:nvPr/>
        </p:nvPicPr>
        <p:blipFill>
          <a:blip r:embed="rId3">
            <a:alphaModFix amt="20000"/>
          </a:blip>
          <a:stretch>
            <a:fillRect/>
          </a:stretch>
        </p:blipFill>
        <p:spPr>
          <a:xfrm>
            <a:off x="1004402" y="2816352"/>
            <a:ext cx="3172795" cy="3425147"/>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A0B0C"/>
        </a:solidFill>
        <a:effectLst/>
      </p:bgPr>
    </p:bg>
    <p:spTree>
      <p:nvGrpSpPr>
        <p:cNvPr id="1" name=""/>
        <p:cNvGrpSpPr/>
        <p:nvPr/>
      </p:nvGrpSpPr>
      <p:grpSpPr>
        <a:xfrm>
          <a:off x="0" y="0"/>
          <a:ext cx="0" cy="0"/>
          <a:chOff x="0" y="0"/>
          <a:chExt cx="0" cy="0"/>
        </a:xfrm>
      </p:grpSpPr>
      <p:sp>
        <p:nvSpPr>
          <p:cNvPr id="2" name="Shape 0"/>
          <p:cNvSpPr/>
          <p:nvPr/>
        </p:nvSpPr>
        <p:spPr>
          <a:xfrm>
            <a:off x="640080" y="571500"/>
            <a:ext cx="219456" cy="32004"/>
          </a:xfrm>
          <a:prstGeom prst="rect">
            <a:avLst/>
          </a:prstGeom>
          <a:solidFill>
            <a:srgbClr val="E8A33D"/>
          </a:solidFill>
          <a:ln/>
        </p:spPr>
        <p:txBody>
          <a:bodyPr/>
          <a:lstStyle/>
          <a:p>
            <a:endParaRPr lang="en-PK"/>
          </a:p>
        </p:txBody>
      </p:sp>
      <p:sp>
        <p:nvSpPr>
          <p:cNvPr id="3" name="Text 1"/>
          <p:cNvSpPr/>
          <p:nvPr/>
        </p:nvSpPr>
        <p:spPr>
          <a:xfrm>
            <a:off x="969264" y="502920"/>
            <a:ext cx="8229600" cy="182880"/>
          </a:xfrm>
          <a:prstGeom prst="rect">
            <a:avLst/>
          </a:prstGeom>
          <a:noFill/>
          <a:ln/>
        </p:spPr>
        <p:txBody>
          <a:bodyPr wrap="square" lIns="0" tIns="0" rIns="0" bIns="0" rtlCol="0" anchor="t"/>
          <a:lstStyle/>
          <a:p>
            <a:pPr marL="0" indent="0">
              <a:buNone/>
            </a:pPr>
            <a:r>
              <a:rPr lang="en-US" sz="900" b="1" kern="0" spc="200" dirty="0">
                <a:solidFill>
                  <a:srgbClr val="E8A33D"/>
                </a:solidFill>
                <a:latin typeface="IBM Plex Mono" pitchFamily="34" charset="0"/>
                <a:ea typeface="IBM Plex Mono" pitchFamily="34" charset="-122"/>
                <a:cs typeface="IBM Plex Mono" pitchFamily="34" charset="-120"/>
              </a:rPr>
              <a:t>03  PRACTICE  ·  01 / 05  ·  LEAD PRACTICE</a:t>
            </a:r>
            <a:endParaRPr lang="en-US" sz="900" dirty="0"/>
          </a:p>
        </p:txBody>
      </p:sp>
      <p:sp>
        <p:nvSpPr>
          <p:cNvPr id="4" name="Text 2"/>
          <p:cNvSpPr/>
          <p:nvPr/>
        </p:nvSpPr>
        <p:spPr>
          <a:xfrm>
            <a:off x="640080" y="777240"/>
            <a:ext cx="5303520" cy="685800"/>
          </a:xfrm>
          <a:prstGeom prst="rect">
            <a:avLst/>
          </a:prstGeom>
          <a:noFill/>
          <a:ln/>
        </p:spPr>
        <p:txBody>
          <a:bodyPr wrap="square" lIns="0" tIns="0" rIns="0" bIns="0" rtlCol="0" anchor="t"/>
          <a:lstStyle/>
          <a:p>
            <a:pPr marL="0" indent="0">
              <a:buNone/>
            </a:pPr>
            <a:r>
              <a:rPr lang="en-US" sz="3400" b="1" dirty="0">
                <a:solidFill>
                  <a:srgbClr val="FFFFFF"/>
                </a:solidFill>
                <a:latin typeface="Space Grotesk" pitchFamily="34" charset="0"/>
                <a:ea typeface="Space Grotesk" pitchFamily="34" charset="-122"/>
                <a:cs typeface="Space Grotesk" pitchFamily="34" charset="-120"/>
              </a:rPr>
              <a:t>Software development</a:t>
            </a:r>
            <a:endParaRPr lang="en-US" sz="3400" dirty="0"/>
          </a:p>
        </p:txBody>
      </p:sp>
      <p:sp>
        <p:nvSpPr>
          <p:cNvPr id="5" name="Text 3"/>
          <p:cNvSpPr/>
          <p:nvPr/>
        </p:nvSpPr>
        <p:spPr>
          <a:xfrm>
            <a:off x="640080" y="1645920"/>
            <a:ext cx="5029200" cy="1645920"/>
          </a:xfrm>
          <a:prstGeom prst="rect">
            <a:avLst/>
          </a:prstGeom>
          <a:noFill/>
          <a:ln/>
        </p:spPr>
        <p:txBody>
          <a:bodyPr wrap="square" lIns="0" tIns="0" rIns="0" bIns="0" rtlCol="0" anchor="t"/>
          <a:lstStyle/>
          <a:p>
            <a:pPr marL="0" indent="0">
              <a:lnSpc>
                <a:spcPct val="130000"/>
              </a:lnSpc>
              <a:buNone/>
            </a:pPr>
            <a:r>
              <a:rPr lang="en-US" sz="1350" dirty="0">
                <a:solidFill>
                  <a:srgbClr val="FFFFFF"/>
                </a:solidFill>
                <a:latin typeface="IBM Plex Sans" pitchFamily="34" charset="0"/>
                <a:ea typeface="IBM Plex Sans" pitchFamily="34" charset="-122"/>
                <a:cs typeface="IBM Plex Sans" pitchFamily="34" charset="-120"/>
              </a:rPr>
              <a:t>We design and build reliable software around the way your business actually works. From websites and customer-facing platforms to internal systems, business applications, APIs, and custom tools, we take projects from idea and requirements through development, testing, deployment, and handover.</a:t>
            </a:r>
            <a:endParaRPr lang="en-US" sz="1350" dirty="0"/>
          </a:p>
        </p:txBody>
      </p:sp>
      <p:sp>
        <p:nvSpPr>
          <p:cNvPr id="6" name="Text 4"/>
          <p:cNvSpPr/>
          <p:nvPr/>
        </p:nvSpPr>
        <p:spPr>
          <a:xfrm>
            <a:off x="640080" y="3429000"/>
            <a:ext cx="5029200" cy="182880"/>
          </a:xfrm>
          <a:prstGeom prst="rect">
            <a:avLst/>
          </a:prstGeom>
          <a:noFill/>
          <a:ln/>
        </p:spPr>
        <p:txBody>
          <a:bodyPr wrap="square" lIns="0" tIns="0" rIns="0" bIns="0" rtlCol="0" anchor="t"/>
          <a:lstStyle/>
          <a:p>
            <a:pPr marL="0" indent="0">
              <a:buNone/>
            </a:pPr>
            <a:r>
              <a:rPr lang="en-US" sz="800" kern="0" spc="150" dirty="0">
                <a:solidFill>
                  <a:srgbClr val="8B8D8F"/>
                </a:solidFill>
                <a:latin typeface="IBM Plex Mono" pitchFamily="34" charset="0"/>
                <a:ea typeface="IBM Plex Mono" pitchFamily="34" charset="-122"/>
                <a:cs typeface="IBM Plex Mono" pitchFamily="34" charset="-120"/>
              </a:rPr>
              <a:t>SELECTED WORK</a:t>
            </a:r>
            <a:endParaRPr lang="en-US" sz="800" dirty="0"/>
          </a:p>
        </p:txBody>
      </p:sp>
      <p:sp>
        <p:nvSpPr>
          <p:cNvPr id="7" name="Text 5"/>
          <p:cNvSpPr/>
          <p:nvPr/>
        </p:nvSpPr>
        <p:spPr>
          <a:xfrm>
            <a:off x="640080" y="3657600"/>
            <a:ext cx="5029200" cy="822960"/>
          </a:xfrm>
          <a:prstGeom prst="rect">
            <a:avLst/>
          </a:prstGeom>
          <a:noFill/>
          <a:ln/>
        </p:spPr>
        <p:txBody>
          <a:bodyPr wrap="square" lIns="0" tIns="0" rIns="0" bIns="0" rtlCol="0" anchor="t"/>
          <a:lstStyle/>
          <a:p>
            <a:pPr marL="0" indent="0">
              <a:lnSpc>
                <a:spcPct val="125000"/>
              </a:lnSpc>
              <a:buNone/>
            </a:pPr>
            <a:r>
              <a:rPr lang="en-US" sz="1250" b="1" dirty="0">
                <a:solidFill>
                  <a:srgbClr val="E8A33D"/>
                </a:solidFill>
                <a:latin typeface="Space Grotesk" pitchFamily="34" charset="0"/>
                <a:ea typeface="Space Grotesk" pitchFamily="34" charset="-122"/>
                <a:cs typeface="Space Grotesk" pitchFamily="34" charset="-120"/>
              </a:rPr>
              <a:t>LTE Trove</a:t>
            </a:r>
            <a:endParaRPr lang="en-US" sz="1250" dirty="0"/>
          </a:p>
          <a:p>
            <a:pPr marL="0" indent="0">
              <a:lnSpc>
                <a:spcPct val="125000"/>
              </a:lnSpc>
              <a:buNone/>
            </a:pPr>
            <a:r>
              <a:rPr lang="en-US" sz="1250" b="1" dirty="0">
                <a:solidFill>
                  <a:srgbClr val="E8A33D"/>
                </a:solidFill>
                <a:latin typeface="Space Grotesk" pitchFamily="34" charset="0"/>
                <a:ea typeface="Space Grotesk" pitchFamily="34" charset="-122"/>
                <a:cs typeface="Space Grotesk" pitchFamily="34" charset="-120"/>
              </a:rPr>
              <a:t>PSX Portfolio Tracker</a:t>
            </a:r>
            <a:endParaRPr lang="en-US" sz="1250" dirty="0"/>
          </a:p>
          <a:p>
            <a:pPr marL="0" indent="0">
              <a:lnSpc>
                <a:spcPct val="125000"/>
              </a:lnSpc>
              <a:buNone/>
            </a:pPr>
            <a:r>
              <a:rPr lang="en-US" sz="1250" b="1" dirty="0">
                <a:solidFill>
                  <a:srgbClr val="E8A33D"/>
                </a:solidFill>
                <a:latin typeface="Space Grotesk" pitchFamily="34" charset="0"/>
                <a:ea typeface="Space Grotesk" pitchFamily="34" charset="-122"/>
                <a:cs typeface="Space Grotesk" pitchFamily="34" charset="-120"/>
              </a:rPr>
              <a:t>Zenith</a:t>
            </a:r>
            <a:endParaRPr lang="en-US" sz="1250" dirty="0"/>
          </a:p>
        </p:txBody>
      </p:sp>
      <p:sp>
        <p:nvSpPr>
          <p:cNvPr id="8" name="Text 6"/>
          <p:cNvSpPr/>
          <p:nvPr/>
        </p:nvSpPr>
        <p:spPr>
          <a:xfrm>
            <a:off x="640080" y="4892040"/>
            <a:ext cx="5029200" cy="182880"/>
          </a:xfrm>
          <a:prstGeom prst="rect">
            <a:avLst/>
          </a:prstGeom>
          <a:noFill/>
          <a:ln/>
        </p:spPr>
        <p:txBody>
          <a:bodyPr wrap="square" lIns="0" tIns="0" rIns="0" bIns="0" rtlCol="0" anchor="t"/>
          <a:lstStyle/>
          <a:p>
            <a:pPr marL="0" indent="0">
              <a:buNone/>
            </a:pPr>
            <a:r>
              <a:rPr lang="en-US" sz="800" kern="0" spc="150" dirty="0">
                <a:solidFill>
                  <a:srgbClr val="8B8D8F"/>
                </a:solidFill>
                <a:latin typeface="IBM Plex Mono" pitchFamily="34" charset="0"/>
                <a:ea typeface="IBM Plex Mono" pitchFamily="34" charset="-122"/>
                <a:cs typeface="IBM Plex Mono" pitchFamily="34" charset="-120"/>
              </a:rPr>
              <a:t>TYPICALLY BUILT WITH</a:t>
            </a:r>
            <a:endParaRPr lang="en-US" sz="800" dirty="0"/>
          </a:p>
        </p:txBody>
      </p:sp>
      <p:sp>
        <p:nvSpPr>
          <p:cNvPr id="9" name="Text 7"/>
          <p:cNvSpPr/>
          <p:nvPr/>
        </p:nvSpPr>
        <p:spPr>
          <a:xfrm>
            <a:off x="640080" y="5120640"/>
            <a:ext cx="5029200" cy="1188720"/>
          </a:xfrm>
          <a:prstGeom prst="rect">
            <a:avLst/>
          </a:prstGeom>
          <a:noFill/>
          <a:ln/>
        </p:spPr>
        <p:txBody>
          <a:bodyPr wrap="square" lIns="0" tIns="0" rIns="0" bIns="0" rtlCol="0" anchor="t"/>
          <a:lstStyle/>
          <a:p>
            <a:pPr marL="0" indent="0">
              <a:lnSpc>
                <a:spcPct val="135000"/>
              </a:lnSpc>
              <a:buNone/>
            </a:pPr>
            <a:r>
              <a:rPr lang="en-US" sz="850" dirty="0">
                <a:solidFill>
                  <a:srgbClr val="B6B7B8"/>
                </a:solidFill>
                <a:latin typeface="IBM Plex Mono" pitchFamily="34" charset="0"/>
                <a:ea typeface="IBM Plex Mono" pitchFamily="34" charset="-122"/>
                <a:cs typeface="IBM Plex Mono" pitchFamily="34" charset="-120"/>
              </a:rPr>
              <a:t>Next.js  ·  React  ·  TypeScript  ·  JavaScript  ·  Node.js  ·  Python  ·  FastAPI  ·  Django  ·  Flask  ·  PHP  ·  Laravel  ·  Java  ·  Spring Boot  ·  C#  ·  .NET  ·  C++  ·  Go  ·  Rust  ·  HTML  ·  CSS  ·  Tailwind CSS  ·  shadcn/ui  ·  PostgreSQL  ·  MySQL  ·  MongoDB  ·  Redis  ·  SQLite  ·  GraphQL  ·  REST  ·  Docker  ·  AWS  ·  Azure  ·  Google Cloud  ·  Vercel  ·  GitHub Actions</a:t>
            </a:r>
            <a:endParaRPr lang="en-US" sz="850" dirty="0"/>
          </a:p>
        </p:txBody>
      </p:sp>
      <p:sp>
        <p:nvSpPr>
          <p:cNvPr id="10" name="Text 8"/>
          <p:cNvSpPr/>
          <p:nvPr/>
        </p:nvSpPr>
        <p:spPr>
          <a:xfrm>
            <a:off x="6263640" y="1627632"/>
            <a:ext cx="5287975" cy="182880"/>
          </a:xfrm>
          <a:prstGeom prst="rect">
            <a:avLst/>
          </a:prstGeom>
          <a:noFill/>
          <a:ln/>
        </p:spPr>
        <p:txBody>
          <a:bodyPr wrap="square" lIns="0" tIns="0" rIns="0" bIns="0" rtlCol="0" anchor="t"/>
          <a:lstStyle/>
          <a:p>
            <a:pPr marL="0" indent="0">
              <a:buNone/>
            </a:pPr>
            <a:r>
              <a:rPr lang="en-US" sz="800" kern="0" spc="150" dirty="0">
                <a:solidFill>
                  <a:srgbClr val="8B8D8F"/>
                </a:solidFill>
                <a:latin typeface="IBM Plex Mono" pitchFamily="34" charset="0"/>
                <a:ea typeface="IBM Plex Mono" pitchFamily="34" charset="-122"/>
                <a:cs typeface="IBM Plex Mono" pitchFamily="34" charset="-120"/>
              </a:rPr>
              <a:t>WHAT IT INCLUDES</a:t>
            </a:r>
            <a:endParaRPr lang="en-US" sz="800" dirty="0"/>
          </a:p>
        </p:txBody>
      </p:sp>
      <p:sp>
        <p:nvSpPr>
          <p:cNvPr id="11" name="Shape 9"/>
          <p:cNvSpPr/>
          <p:nvPr/>
        </p:nvSpPr>
        <p:spPr>
          <a:xfrm>
            <a:off x="6263640" y="1920240"/>
            <a:ext cx="5287975" cy="0"/>
          </a:xfrm>
          <a:prstGeom prst="line">
            <a:avLst/>
          </a:prstGeom>
          <a:noFill/>
          <a:ln w="9525">
            <a:solidFill>
              <a:srgbClr val="2E3033"/>
            </a:solidFill>
            <a:prstDash val="solid"/>
          </a:ln>
        </p:spPr>
        <p:txBody>
          <a:bodyPr/>
          <a:lstStyle/>
          <a:p>
            <a:endParaRPr lang="en-PK"/>
          </a:p>
        </p:txBody>
      </p:sp>
      <p:sp>
        <p:nvSpPr>
          <p:cNvPr id="12" name="Text 10"/>
          <p:cNvSpPr/>
          <p:nvPr/>
        </p:nvSpPr>
        <p:spPr>
          <a:xfrm>
            <a:off x="6263640" y="1920240"/>
            <a:ext cx="411480" cy="566928"/>
          </a:xfrm>
          <a:prstGeom prst="rect">
            <a:avLst/>
          </a:prstGeom>
          <a:noFill/>
          <a:ln/>
        </p:spPr>
        <p:txBody>
          <a:bodyPr wrap="square" lIns="0" tIns="0" rIns="0" bIns="0" rtlCol="0" anchor="ctr"/>
          <a:lstStyle/>
          <a:p>
            <a:pPr marL="0" indent="0">
              <a:buNone/>
            </a:pPr>
            <a:r>
              <a:rPr lang="en-US" sz="900" dirty="0">
                <a:solidFill>
                  <a:srgbClr val="E8A33D"/>
                </a:solidFill>
                <a:latin typeface="IBM Plex Mono" pitchFamily="34" charset="0"/>
                <a:ea typeface="IBM Plex Mono" pitchFamily="34" charset="-122"/>
                <a:cs typeface="IBM Plex Mono" pitchFamily="34" charset="-120"/>
              </a:rPr>
              <a:t>01</a:t>
            </a:r>
            <a:endParaRPr lang="en-US" sz="900" dirty="0"/>
          </a:p>
        </p:txBody>
      </p:sp>
      <p:sp>
        <p:nvSpPr>
          <p:cNvPr id="13" name="Text 11"/>
          <p:cNvSpPr/>
          <p:nvPr/>
        </p:nvSpPr>
        <p:spPr>
          <a:xfrm>
            <a:off x="6720840" y="1920240"/>
            <a:ext cx="4830775" cy="566928"/>
          </a:xfrm>
          <a:prstGeom prst="rect">
            <a:avLst/>
          </a:prstGeom>
          <a:noFill/>
          <a:ln/>
        </p:spPr>
        <p:txBody>
          <a:bodyPr wrap="square" lIns="0" tIns="0" rIns="0" bIns="0" rtlCol="0" anchor="ctr"/>
          <a:lstStyle/>
          <a:p>
            <a:pPr marL="0" indent="0">
              <a:buNone/>
            </a:pPr>
            <a:r>
              <a:rPr lang="en-US" sz="1200" dirty="0">
                <a:solidFill>
                  <a:srgbClr val="FFFFFF"/>
                </a:solidFill>
                <a:latin typeface="IBM Plex Sans" pitchFamily="34" charset="0"/>
                <a:ea typeface="IBM Plex Sans" pitchFamily="34" charset="-122"/>
                <a:cs typeface="IBM Plex Sans" pitchFamily="34" charset="-120"/>
              </a:rPr>
              <a:t>Websites, web applications, SaaS platforms, and customer portals</a:t>
            </a:r>
            <a:endParaRPr lang="en-US" sz="1200" dirty="0"/>
          </a:p>
        </p:txBody>
      </p:sp>
      <p:sp>
        <p:nvSpPr>
          <p:cNvPr id="14" name="Shape 12"/>
          <p:cNvSpPr/>
          <p:nvPr/>
        </p:nvSpPr>
        <p:spPr>
          <a:xfrm>
            <a:off x="6263640" y="2487168"/>
            <a:ext cx="5287975" cy="0"/>
          </a:xfrm>
          <a:prstGeom prst="line">
            <a:avLst/>
          </a:prstGeom>
          <a:noFill/>
          <a:ln w="9525">
            <a:solidFill>
              <a:srgbClr val="2E3033"/>
            </a:solidFill>
            <a:prstDash val="solid"/>
          </a:ln>
        </p:spPr>
        <p:txBody>
          <a:bodyPr/>
          <a:lstStyle/>
          <a:p>
            <a:endParaRPr lang="en-PK"/>
          </a:p>
        </p:txBody>
      </p:sp>
      <p:sp>
        <p:nvSpPr>
          <p:cNvPr id="15" name="Text 13"/>
          <p:cNvSpPr/>
          <p:nvPr/>
        </p:nvSpPr>
        <p:spPr>
          <a:xfrm>
            <a:off x="6263640" y="2487168"/>
            <a:ext cx="411480" cy="566928"/>
          </a:xfrm>
          <a:prstGeom prst="rect">
            <a:avLst/>
          </a:prstGeom>
          <a:noFill/>
          <a:ln/>
        </p:spPr>
        <p:txBody>
          <a:bodyPr wrap="square" lIns="0" tIns="0" rIns="0" bIns="0" rtlCol="0" anchor="ctr"/>
          <a:lstStyle/>
          <a:p>
            <a:pPr marL="0" indent="0">
              <a:buNone/>
            </a:pPr>
            <a:r>
              <a:rPr lang="en-US" sz="900" dirty="0">
                <a:solidFill>
                  <a:srgbClr val="E8A33D"/>
                </a:solidFill>
                <a:latin typeface="IBM Plex Mono" pitchFamily="34" charset="0"/>
                <a:ea typeface="IBM Plex Mono" pitchFamily="34" charset="-122"/>
                <a:cs typeface="IBM Plex Mono" pitchFamily="34" charset="-120"/>
              </a:rPr>
              <a:t>02</a:t>
            </a:r>
            <a:endParaRPr lang="en-US" sz="900" dirty="0"/>
          </a:p>
        </p:txBody>
      </p:sp>
      <p:sp>
        <p:nvSpPr>
          <p:cNvPr id="16" name="Text 14"/>
          <p:cNvSpPr/>
          <p:nvPr/>
        </p:nvSpPr>
        <p:spPr>
          <a:xfrm>
            <a:off x="6720840" y="2487168"/>
            <a:ext cx="4830775" cy="566928"/>
          </a:xfrm>
          <a:prstGeom prst="rect">
            <a:avLst/>
          </a:prstGeom>
          <a:noFill/>
          <a:ln/>
        </p:spPr>
        <p:txBody>
          <a:bodyPr wrap="square" lIns="0" tIns="0" rIns="0" bIns="0" rtlCol="0" anchor="ctr"/>
          <a:lstStyle/>
          <a:p>
            <a:pPr marL="0" indent="0">
              <a:buNone/>
            </a:pPr>
            <a:r>
              <a:rPr lang="en-US" sz="1200" dirty="0">
                <a:solidFill>
                  <a:srgbClr val="FFFFFF"/>
                </a:solidFill>
                <a:latin typeface="IBM Plex Sans" pitchFamily="34" charset="0"/>
                <a:ea typeface="IBM Plex Sans" pitchFamily="34" charset="-122"/>
                <a:cs typeface="IBM Plex Sans" pitchFamily="34" charset="-120"/>
              </a:rPr>
              <a:t>Internal business applications, dashboards, and custom tools</a:t>
            </a:r>
            <a:endParaRPr lang="en-US" sz="1200" dirty="0"/>
          </a:p>
        </p:txBody>
      </p:sp>
      <p:sp>
        <p:nvSpPr>
          <p:cNvPr id="17" name="Shape 15"/>
          <p:cNvSpPr/>
          <p:nvPr/>
        </p:nvSpPr>
        <p:spPr>
          <a:xfrm>
            <a:off x="6263640" y="3054096"/>
            <a:ext cx="5287975" cy="0"/>
          </a:xfrm>
          <a:prstGeom prst="line">
            <a:avLst/>
          </a:prstGeom>
          <a:noFill/>
          <a:ln w="9525">
            <a:solidFill>
              <a:srgbClr val="2E3033"/>
            </a:solidFill>
            <a:prstDash val="solid"/>
          </a:ln>
        </p:spPr>
        <p:txBody>
          <a:bodyPr/>
          <a:lstStyle/>
          <a:p>
            <a:endParaRPr lang="en-PK"/>
          </a:p>
        </p:txBody>
      </p:sp>
      <p:sp>
        <p:nvSpPr>
          <p:cNvPr id="18" name="Text 16"/>
          <p:cNvSpPr/>
          <p:nvPr/>
        </p:nvSpPr>
        <p:spPr>
          <a:xfrm>
            <a:off x="6263640" y="3054096"/>
            <a:ext cx="411480" cy="566928"/>
          </a:xfrm>
          <a:prstGeom prst="rect">
            <a:avLst/>
          </a:prstGeom>
          <a:noFill/>
          <a:ln/>
        </p:spPr>
        <p:txBody>
          <a:bodyPr wrap="square" lIns="0" tIns="0" rIns="0" bIns="0" rtlCol="0" anchor="ctr"/>
          <a:lstStyle/>
          <a:p>
            <a:pPr marL="0" indent="0">
              <a:buNone/>
            </a:pPr>
            <a:r>
              <a:rPr lang="en-US" sz="900" dirty="0">
                <a:solidFill>
                  <a:srgbClr val="E8A33D"/>
                </a:solidFill>
                <a:latin typeface="IBM Plex Mono" pitchFamily="34" charset="0"/>
                <a:ea typeface="IBM Plex Mono" pitchFamily="34" charset="-122"/>
                <a:cs typeface="IBM Plex Mono" pitchFamily="34" charset="-120"/>
              </a:rPr>
              <a:t>03</a:t>
            </a:r>
            <a:endParaRPr lang="en-US" sz="900" dirty="0"/>
          </a:p>
        </p:txBody>
      </p:sp>
      <p:sp>
        <p:nvSpPr>
          <p:cNvPr id="19" name="Text 17"/>
          <p:cNvSpPr/>
          <p:nvPr/>
        </p:nvSpPr>
        <p:spPr>
          <a:xfrm>
            <a:off x="6720840" y="3054096"/>
            <a:ext cx="4830775" cy="566928"/>
          </a:xfrm>
          <a:prstGeom prst="rect">
            <a:avLst/>
          </a:prstGeom>
          <a:noFill/>
          <a:ln/>
        </p:spPr>
        <p:txBody>
          <a:bodyPr wrap="square" lIns="0" tIns="0" rIns="0" bIns="0" rtlCol="0" anchor="ctr"/>
          <a:lstStyle/>
          <a:p>
            <a:pPr marL="0" indent="0">
              <a:buNone/>
            </a:pPr>
            <a:r>
              <a:rPr lang="en-US" sz="1200" dirty="0">
                <a:solidFill>
                  <a:srgbClr val="FFFFFF"/>
                </a:solidFill>
                <a:latin typeface="IBM Plex Sans" pitchFamily="34" charset="0"/>
                <a:ea typeface="IBM Plex Sans" pitchFamily="34" charset="-122"/>
                <a:cs typeface="IBM Plex Sans" pitchFamily="34" charset="-120"/>
              </a:rPr>
              <a:t>REST APIs, backend systems, databases, and third-party integrations</a:t>
            </a:r>
            <a:endParaRPr lang="en-US" sz="1200" dirty="0"/>
          </a:p>
        </p:txBody>
      </p:sp>
      <p:sp>
        <p:nvSpPr>
          <p:cNvPr id="20" name="Shape 18"/>
          <p:cNvSpPr/>
          <p:nvPr/>
        </p:nvSpPr>
        <p:spPr>
          <a:xfrm>
            <a:off x="6263640" y="3621024"/>
            <a:ext cx="5287975" cy="0"/>
          </a:xfrm>
          <a:prstGeom prst="line">
            <a:avLst/>
          </a:prstGeom>
          <a:noFill/>
          <a:ln w="9525">
            <a:solidFill>
              <a:srgbClr val="2E3033"/>
            </a:solidFill>
            <a:prstDash val="solid"/>
          </a:ln>
        </p:spPr>
        <p:txBody>
          <a:bodyPr/>
          <a:lstStyle/>
          <a:p>
            <a:endParaRPr lang="en-PK"/>
          </a:p>
        </p:txBody>
      </p:sp>
      <p:sp>
        <p:nvSpPr>
          <p:cNvPr id="21" name="Text 19"/>
          <p:cNvSpPr/>
          <p:nvPr/>
        </p:nvSpPr>
        <p:spPr>
          <a:xfrm>
            <a:off x="6263640" y="3621024"/>
            <a:ext cx="411480" cy="566928"/>
          </a:xfrm>
          <a:prstGeom prst="rect">
            <a:avLst/>
          </a:prstGeom>
          <a:noFill/>
          <a:ln/>
        </p:spPr>
        <p:txBody>
          <a:bodyPr wrap="square" lIns="0" tIns="0" rIns="0" bIns="0" rtlCol="0" anchor="ctr"/>
          <a:lstStyle/>
          <a:p>
            <a:pPr marL="0" indent="0">
              <a:buNone/>
            </a:pPr>
            <a:r>
              <a:rPr lang="en-US" sz="900" dirty="0">
                <a:solidFill>
                  <a:srgbClr val="E8A33D"/>
                </a:solidFill>
                <a:latin typeface="IBM Plex Mono" pitchFamily="34" charset="0"/>
                <a:ea typeface="IBM Plex Mono" pitchFamily="34" charset="-122"/>
                <a:cs typeface="IBM Plex Mono" pitchFamily="34" charset="-120"/>
              </a:rPr>
              <a:t>04</a:t>
            </a:r>
            <a:endParaRPr lang="en-US" sz="900" dirty="0"/>
          </a:p>
        </p:txBody>
      </p:sp>
      <p:sp>
        <p:nvSpPr>
          <p:cNvPr id="22" name="Text 20"/>
          <p:cNvSpPr/>
          <p:nvPr/>
        </p:nvSpPr>
        <p:spPr>
          <a:xfrm>
            <a:off x="6720840" y="3621024"/>
            <a:ext cx="4830775" cy="566928"/>
          </a:xfrm>
          <a:prstGeom prst="rect">
            <a:avLst/>
          </a:prstGeom>
          <a:noFill/>
          <a:ln/>
        </p:spPr>
        <p:txBody>
          <a:bodyPr wrap="square" lIns="0" tIns="0" rIns="0" bIns="0" rtlCol="0" anchor="ctr"/>
          <a:lstStyle/>
          <a:p>
            <a:pPr marL="0" indent="0">
              <a:buNone/>
            </a:pPr>
            <a:r>
              <a:rPr lang="en-US" sz="1200" dirty="0">
                <a:solidFill>
                  <a:srgbClr val="FFFFFF"/>
                </a:solidFill>
                <a:latin typeface="IBM Plex Sans" pitchFamily="34" charset="0"/>
                <a:ea typeface="IBM Plex Sans" pitchFamily="34" charset="-122"/>
                <a:cs typeface="IBM Plex Sans" pitchFamily="34" charset="-120"/>
              </a:rPr>
              <a:t>Authentication, user management, payments, notifications, and business workflows</a:t>
            </a:r>
            <a:endParaRPr lang="en-US" sz="1200" dirty="0"/>
          </a:p>
        </p:txBody>
      </p:sp>
      <p:sp>
        <p:nvSpPr>
          <p:cNvPr id="23" name="Shape 21"/>
          <p:cNvSpPr/>
          <p:nvPr/>
        </p:nvSpPr>
        <p:spPr>
          <a:xfrm>
            <a:off x="6263640" y="4187952"/>
            <a:ext cx="5287975" cy="0"/>
          </a:xfrm>
          <a:prstGeom prst="line">
            <a:avLst/>
          </a:prstGeom>
          <a:noFill/>
          <a:ln w="9525">
            <a:solidFill>
              <a:srgbClr val="2E3033"/>
            </a:solidFill>
            <a:prstDash val="solid"/>
          </a:ln>
        </p:spPr>
        <p:txBody>
          <a:bodyPr/>
          <a:lstStyle/>
          <a:p>
            <a:endParaRPr lang="en-PK"/>
          </a:p>
        </p:txBody>
      </p:sp>
      <p:sp>
        <p:nvSpPr>
          <p:cNvPr id="24" name="Text 22"/>
          <p:cNvSpPr/>
          <p:nvPr/>
        </p:nvSpPr>
        <p:spPr>
          <a:xfrm>
            <a:off x="6263640" y="4187952"/>
            <a:ext cx="411480" cy="566928"/>
          </a:xfrm>
          <a:prstGeom prst="rect">
            <a:avLst/>
          </a:prstGeom>
          <a:noFill/>
          <a:ln/>
        </p:spPr>
        <p:txBody>
          <a:bodyPr wrap="square" lIns="0" tIns="0" rIns="0" bIns="0" rtlCol="0" anchor="ctr"/>
          <a:lstStyle/>
          <a:p>
            <a:pPr marL="0" indent="0">
              <a:buNone/>
            </a:pPr>
            <a:r>
              <a:rPr lang="en-US" sz="900" dirty="0">
                <a:solidFill>
                  <a:srgbClr val="E8A33D"/>
                </a:solidFill>
                <a:latin typeface="IBM Plex Mono" pitchFamily="34" charset="0"/>
                <a:ea typeface="IBM Plex Mono" pitchFamily="34" charset="-122"/>
                <a:cs typeface="IBM Plex Mono" pitchFamily="34" charset="-120"/>
              </a:rPr>
              <a:t>05</a:t>
            </a:r>
            <a:endParaRPr lang="en-US" sz="900" dirty="0"/>
          </a:p>
        </p:txBody>
      </p:sp>
      <p:sp>
        <p:nvSpPr>
          <p:cNvPr id="25" name="Text 23"/>
          <p:cNvSpPr/>
          <p:nvPr/>
        </p:nvSpPr>
        <p:spPr>
          <a:xfrm>
            <a:off x="6720840" y="4187952"/>
            <a:ext cx="4830775" cy="566928"/>
          </a:xfrm>
          <a:prstGeom prst="rect">
            <a:avLst/>
          </a:prstGeom>
          <a:noFill/>
          <a:ln/>
        </p:spPr>
        <p:txBody>
          <a:bodyPr wrap="square" lIns="0" tIns="0" rIns="0" bIns="0" rtlCol="0" anchor="ctr"/>
          <a:lstStyle/>
          <a:p>
            <a:pPr marL="0" indent="0">
              <a:buNone/>
            </a:pPr>
            <a:r>
              <a:rPr lang="en-US" sz="1200" dirty="0">
                <a:solidFill>
                  <a:srgbClr val="FFFFFF"/>
                </a:solidFill>
                <a:latin typeface="IBM Plex Sans" pitchFamily="34" charset="0"/>
                <a:ea typeface="IBM Plex Sans" pitchFamily="34" charset="-122"/>
                <a:cs typeface="IBM Plex Sans" pitchFamily="34" charset="-120"/>
              </a:rPr>
              <a:t>Modernising legacy applications and replacing spreadsheet-based processes</a:t>
            </a:r>
            <a:endParaRPr lang="en-US" sz="1200" dirty="0"/>
          </a:p>
        </p:txBody>
      </p:sp>
      <p:sp>
        <p:nvSpPr>
          <p:cNvPr id="26" name="Shape 24"/>
          <p:cNvSpPr/>
          <p:nvPr/>
        </p:nvSpPr>
        <p:spPr>
          <a:xfrm>
            <a:off x="6263640" y="4754880"/>
            <a:ext cx="5287975" cy="0"/>
          </a:xfrm>
          <a:prstGeom prst="line">
            <a:avLst/>
          </a:prstGeom>
          <a:noFill/>
          <a:ln w="9525">
            <a:solidFill>
              <a:srgbClr val="2E3033"/>
            </a:solidFill>
            <a:prstDash val="solid"/>
          </a:ln>
        </p:spPr>
        <p:txBody>
          <a:bodyPr/>
          <a:lstStyle/>
          <a:p>
            <a:endParaRPr lang="en-PK"/>
          </a:p>
        </p:txBody>
      </p:sp>
      <p:sp>
        <p:nvSpPr>
          <p:cNvPr id="27" name="Text 25"/>
          <p:cNvSpPr/>
          <p:nvPr/>
        </p:nvSpPr>
        <p:spPr>
          <a:xfrm>
            <a:off x="6263640" y="4754880"/>
            <a:ext cx="411480" cy="566928"/>
          </a:xfrm>
          <a:prstGeom prst="rect">
            <a:avLst/>
          </a:prstGeom>
          <a:noFill/>
          <a:ln/>
        </p:spPr>
        <p:txBody>
          <a:bodyPr wrap="square" lIns="0" tIns="0" rIns="0" bIns="0" rtlCol="0" anchor="ctr"/>
          <a:lstStyle/>
          <a:p>
            <a:pPr marL="0" indent="0">
              <a:buNone/>
            </a:pPr>
            <a:r>
              <a:rPr lang="en-US" sz="900" dirty="0">
                <a:solidFill>
                  <a:srgbClr val="E8A33D"/>
                </a:solidFill>
                <a:latin typeface="IBM Plex Mono" pitchFamily="34" charset="0"/>
                <a:ea typeface="IBM Plex Mono" pitchFamily="34" charset="-122"/>
                <a:cs typeface="IBM Plex Mono" pitchFamily="34" charset="-120"/>
              </a:rPr>
              <a:t>06</a:t>
            </a:r>
            <a:endParaRPr lang="en-US" sz="900" dirty="0"/>
          </a:p>
        </p:txBody>
      </p:sp>
      <p:sp>
        <p:nvSpPr>
          <p:cNvPr id="28" name="Text 26"/>
          <p:cNvSpPr/>
          <p:nvPr/>
        </p:nvSpPr>
        <p:spPr>
          <a:xfrm>
            <a:off x="6720840" y="4754880"/>
            <a:ext cx="4830775" cy="566928"/>
          </a:xfrm>
          <a:prstGeom prst="rect">
            <a:avLst/>
          </a:prstGeom>
          <a:noFill/>
          <a:ln/>
        </p:spPr>
        <p:txBody>
          <a:bodyPr wrap="square" lIns="0" tIns="0" rIns="0" bIns="0" rtlCol="0" anchor="ctr"/>
          <a:lstStyle/>
          <a:p>
            <a:pPr marL="0" indent="0">
              <a:buNone/>
            </a:pPr>
            <a:r>
              <a:rPr lang="en-US" sz="1200" dirty="0">
                <a:solidFill>
                  <a:srgbClr val="FFFFFF"/>
                </a:solidFill>
                <a:latin typeface="IBM Plex Sans" pitchFamily="34" charset="0"/>
                <a:ea typeface="IBM Plex Sans" pitchFamily="34" charset="-122"/>
                <a:cs typeface="IBM Plex Sans" pitchFamily="34" charset="-120"/>
              </a:rPr>
              <a:t>Cloud deployment, performance optimisation, monitoring, and technical documentation</a:t>
            </a:r>
            <a:endParaRPr lang="en-US" sz="1200" dirty="0"/>
          </a:p>
        </p:txBody>
      </p:sp>
      <p:sp>
        <p:nvSpPr>
          <p:cNvPr id="29" name="Shape 27"/>
          <p:cNvSpPr/>
          <p:nvPr/>
        </p:nvSpPr>
        <p:spPr>
          <a:xfrm>
            <a:off x="6263640" y="5321808"/>
            <a:ext cx="5287975" cy="0"/>
          </a:xfrm>
          <a:prstGeom prst="line">
            <a:avLst/>
          </a:prstGeom>
          <a:noFill/>
          <a:ln w="9525">
            <a:solidFill>
              <a:srgbClr val="2E3033"/>
            </a:solidFill>
            <a:prstDash val="solid"/>
          </a:ln>
        </p:spPr>
        <p:txBody>
          <a:bodyPr/>
          <a:lstStyle/>
          <a:p>
            <a:endParaRPr lang="en-PK"/>
          </a:p>
        </p:txBody>
      </p:sp>
      <p:sp>
        <p:nvSpPr>
          <p:cNvPr id="30" name="Text 28"/>
          <p:cNvSpPr/>
          <p:nvPr/>
        </p:nvSpPr>
        <p:spPr>
          <a:xfrm>
            <a:off x="640080" y="6473952"/>
            <a:ext cx="6400800" cy="164592"/>
          </a:xfrm>
          <a:prstGeom prst="rect">
            <a:avLst/>
          </a:prstGeom>
          <a:noFill/>
          <a:ln/>
        </p:spPr>
        <p:txBody>
          <a:bodyPr wrap="square" lIns="0" tIns="0" rIns="0" bIns="0" rtlCol="0" anchor="t"/>
          <a:lstStyle/>
          <a:p>
            <a:pPr marL="0" indent="0">
              <a:buNone/>
            </a:pPr>
            <a:r>
              <a:rPr lang="en-US" sz="700" kern="0" spc="150" dirty="0">
                <a:solidFill>
                  <a:srgbClr val="8B8D8F"/>
                </a:solidFill>
                <a:latin typeface="IBM Plex Mono" pitchFamily="34" charset="0"/>
                <a:ea typeface="IBM Plex Mono" pitchFamily="34" charset="-122"/>
                <a:cs typeface="IBM Plex Mono" pitchFamily="34" charset="-120"/>
              </a:rPr>
              <a:t>BOLTER TECHNOLOGIES PRIVATE LIMITED  ·  COMPANY PROFILE</a:t>
            </a:r>
            <a:endParaRPr lang="en-US" sz="700" dirty="0"/>
          </a:p>
        </p:txBody>
      </p:sp>
      <p:sp>
        <p:nvSpPr>
          <p:cNvPr id="31" name="Text 29"/>
          <p:cNvSpPr/>
          <p:nvPr/>
        </p:nvSpPr>
        <p:spPr>
          <a:xfrm>
            <a:off x="9722815" y="6473952"/>
            <a:ext cx="1828800" cy="164592"/>
          </a:xfrm>
          <a:prstGeom prst="rect">
            <a:avLst/>
          </a:prstGeom>
          <a:noFill/>
          <a:ln/>
        </p:spPr>
        <p:txBody>
          <a:bodyPr wrap="square" lIns="0" tIns="0" rIns="0" bIns="0" rtlCol="0" anchor="t"/>
          <a:lstStyle/>
          <a:p>
            <a:pPr marL="0" indent="0" algn="r">
              <a:buNone/>
            </a:pPr>
            <a:r>
              <a:rPr lang="en-US" sz="700" kern="0" spc="150" dirty="0">
                <a:solidFill>
                  <a:srgbClr val="8B8D8F"/>
                </a:solidFill>
                <a:latin typeface="IBM Plex Mono" pitchFamily="34" charset="0"/>
                <a:ea typeface="IBM Plex Mono" pitchFamily="34" charset="-122"/>
                <a:cs typeface="IBM Plex Mono" pitchFamily="34" charset="-120"/>
              </a:rPr>
              <a:t>05 / 23</a:t>
            </a:r>
            <a:endParaRPr lang="en-US" sz="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3F1ED"/>
        </a:solidFill>
        <a:effectLst/>
      </p:bgPr>
    </p:bg>
    <p:spTree>
      <p:nvGrpSpPr>
        <p:cNvPr id="1" name=""/>
        <p:cNvGrpSpPr/>
        <p:nvPr/>
      </p:nvGrpSpPr>
      <p:grpSpPr>
        <a:xfrm>
          <a:off x="0" y="0"/>
          <a:ext cx="0" cy="0"/>
          <a:chOff x="0" y="0"/>
          <a:chExt cx="0" cy="0"/>
        </a:xfrm>
      </p:grpSpPr>
      <p:sp>
        <p:nvSpPr>
          <p:cNvPr id="2" name="Shape 0"/>
          <p:cNvSpPr/>
          <p:nvPr/>
        </p:nvSpPr>
        <p:spPr>
          <a:xfrm>
            <a:off x="640080" y="571500"/>
            <a:ext cx="219456" cy="32004"/>
          </a:xfrm>
          <a:prstGeom prst="rect">
            <a:avLst/>
          </a:prstGeom>
          <a:solidFill>
            <a:srgbClr val="8F5D0A"/>
          </a:solidFill>
          <a:ln/>
        </p:spPr>
        <p:txBody>
          <a:bodyPr/>
          <a:lstStyle/>
          <a:p>
            <a:endParaRPr lang="en-PK"/>
          </a:p>
        </p:txBody>
      </p:sp>
      <p:sp>
        <p:nvSpPr>
          <p:cNvPr id="3" name="Text 1"/>
          <p:cNvSpPr/>
          <p:nvPr/>
        </p:nvSpPr>
        <p:spPr>
          <a:xfrm>
            <a:off x="969264" y="502920"/>
            <a:ext cx="8229600" cy="182880"/>
          </a:xfrm>
          <a:prstGeom prst="rect">
            <a:avLst/>
          </a:prstGeom>
          <a:noFill/>
          <a:ln/>
        </p:spPr>
        <p:txBody>
          <a:bodyPr wrap="square" lIns="0" tIns="0" rIns="0" bIns="0" rtlCol="0" anchor="t"/>
          <a:lstStyle/>
          <a:p>
            <a:pPr marL="0" indent="0">
              <a:buNone/>
            </a:pPr>
            <a:r>
              <a:rPr lang="en-US" sz="900" b="1" kern="0" spc="200" dirty="0">
                <a:solidFill>
                  <a:srgbClr val="8F5D0A"/>
                </a:solidFill>
                <a:latin typeface="IBM Plex Mono" pitchFamily="34" charset="0"/>
                <a:ea typeface="IBM Plex Mono" pitchFamily="34" charset="-122"/>
                <a:cs typeface="IBM Plex Mono" pitchFamily="34" charset="-120"/>
              </a:rPr>
              <a:t>03  PRACTICE  ·  02 / 05</a:t>
            </a:r>
            <a:endParaRPr lang="en-US" sz="900" dirty="0"/>
          </a:p>
        </p:txBody>
      </p:sp>
      <p:sp>
        <p:nvSpPr>
          <p:cNvPr id="4" name="Text 2"/>
          <p:cNvSpPr/>
          <p:nvPr/>
        </p:nvSpPr>
        <p:spPr>
          <a:xfrm>
            <a:off x="640080" y="777240"/>
            <a:ext cx="5303520" cy="685800"/>
          </a:xfrm>
          <a:prstGeom prst="rect">
            <a:avLst/>
          </a:prstGeom>
          <a:noFill/>
          <a:ln/>
        </p:spPr>
        <p:txBody>
          <a:bodyPr wrap="square" lIns="0" tIns="0" rIns="0" bIns="0" rtlCol="0" anchor="t"/>
          <a:lstStyle/>
          <a:p>
            <a:pPr marL="0" indent="0">
              <a:buNone/>
            </a:pPr>
            <a:r>
              <a:rPr lang="en-US" sz="3400" b="1" dirty="0">
                <a:solidFill>
                  <a:srgbClr val="14161A"/>
                </a:solidFill>
                <a:latin typeface="Space Grotesk" pitchFamily="34" charset="0"/>
                <a:ea typeface="Space Grotesk" pitchFamily="34" charset="-122"/>
                <a:cs typeface="Space Grotesk" pitchFamily="34" charset="-120"/>
              </a:rPr>
              <a:t>AI solutions</a:t>
            </a:r>
            <a:endParaRPr lang="en-US" sz="3400" dirty="0"/>
          </a:p>
        </p:txBody>
      </p:sp>
      <p:sp>
        <p:nvSpPr>
          <p:cNvPr id="5" name="Text 3"/>
          <p:cNvSpPr/>
          <p:nvPr/>
        </p:nvSpPr>
        <p:spPr>
          <a:xfrm>
            <a:off x="640080" y="1645920"/>
            <a:ext cx="5029200" cy="1645920"/>
          </a:xfrm>
          <a:prstGeom prst="rect">
            <a:avLst/>
          </a:prstGeom>
          <a:noFill/>
          <a:ln/>
        </p:spPr>
        <p:txBody>
          <a:bodyPr wrap="square" lIns="0" tIns="0" rIns="0" bIns="0" rtlCol="0" anchor="t"/>
          <a:lstStyle/>
          <a:p>
            <a:pPr marL="0" indent="0">
              <a:lnSpc>
                <a:spcPct val="130000"/>
              </a:lnSpc>
              <a:buNone/>
            </a:pPr>
            <a:r>
              <a:rPr lang="en-US" sz="1350" dirty="0">
                <a:solidFill>
                  <a:srgbClr val="14161A"/>
                </a:solidFill>
                <a:latin typeface="IBM Plex Sans" pitchFamily="34" charset="0"/>
                <a:ea typeface="IBM Plex Sans" pitchFamily="34" charset="-122"/>
                <a:cs typeface="IBM Plex Sans" pitchFamily="34" charset="-120"/>
              </a:rPr>
              <a:t>We turn AI from an experiment into something your team can actually use. We identify where AI can create measurable value, select the right models and approach, and build the applications, workflows, safeguards, and evaluation needed to put it into production.</a:t>
            </a:r>
            <a:endParaRPr lang="en-US" sz="1350" dirty="0"/>
          </a:p>
        </p:txBody>
      </p:sp>
      <p:sp>
        <p:nvSpPr>
          <p:cNvPr id="6" name="Text 4"/>
          <p:cNvSpPr/>
          <p:nvPr/>
        </p:nvSpPr>
        <p:spPr>
          <a:xfrm>
            <a:off x="640080" y="3429000"/>
            <a:ext cx="5029200" cy="182880"/>
          </a:xfrm>
          <a:prstGeom prst="rect">
            <a:avLst/>
          </a:prstGeom>
          <a:noFill/>
          <a:ln/>
        </p:spPr>
        <p:txBody>
          <a:bodyPr wrap="square" lIns="0" tIns="0" rIns="0" bIns="0" rtlCol="0" anchor="t"/>
          <a:lstStyle/>
          <a:p>
            <a:pPr marL="0" indent="0">
              <a:buNone/>
            </a:pPr>
            <a:r>
              <a:rPr lang="en-US" sz="800" kern="0" spc="150" dirty="0">
                <a:solidFill>
                  <a:srgbClr val="6F6A5F"/>
                </a:solidFill>
                <a:latin typeface="IBM Plex Mono" pitchFamily="34" charset="0"/>
                <a:ea typeface="IBM Plex Mono" pitchFamily="34" charset="-122"/>
                <a:cs typeface="IBM Plex Mono" pitchFamily="34" charset="-120"/>
              </a:rPr>
              <a:t>SELECTED WORK</a:t>
            </a:r>
            <a:endParaRPr lang="en-US" sz="800" dirty="0"/>
          </a:p>
        </p:txBody>
      </p:sp>
      <p:sp>
        <p:nvSpPr>
          <p:cNvPr id="7" name="Text 5"/>
          <p:cNvSpPr/>
          <p:nvPr/>
        </p:nvSpPr>
        <p:spPr>
          <a:xfrm>
            <a:off x="640080" y="3657600"/>
            <a:ext cx="5029200" cy="822960"/>
          </a:xfrm>
          <a:prstGeom prst="rect">
            <a:avLst/>
          </a:prstGeom>
          <a:noFill/>
          <a:ln/>
        </p:spPr>
        <p:txBody>
          <a:bodyPr wrap="square" lIns="0" tIns="0" rIns="0" bIns="0" rtlCol="0" anchor="t"/>
          <a:lstStyle/>
          <a:p>
            <a:pPr marL="0" indent="0">
              <a:lnSpc>
                <a:spcPct val="125000"/>
              </a:lnSpc>
              <a:buNone/>
            </a:pPr>
            <a:r>
              <a:rPr lang="en-US" sz="1250" b="1" dirty="0">
                <a:solidFill>
                  <a:srgbClr val="8F5D0A"/>
                </a:solidFill>
                <a:latin typeface="Space Grotesk" pitchFamily="34" charset="0"/>
                <a:ea typeface="Space Grotesk" pitchFamily="34" charset="-122"/>
                <a:cs typeface="Space Grotesk" pitchFamily="34" charset="-120"/>
              </a:rPr>
              <a:t>Cortex Strike</a:t>
            </a:r>
            <a:endParaRPr lang="en-US" sz="1250" dirty="0"/>
          </a:p>
          <a:p>
            <a:pPr marL="0" indent="0">
              <a:lnSpc>
                <a:spcPct val="125000"/>
              </a:lnSpc>
              <a:buNone/>
            </a:pPr>
            <a:r>
              <a:rPr lang="en-US" sz="1250" b="1" dirty="0">
                <a:solidFill>
                  <a:srgbClr val="8F5D0A"/>
                </a:solidFill>
                <a:latin typeface="Space Grotesk" pitchFamily="34" charset="0"/>
                <a:ea typeface="Space Grotesk" pitchFamily="34" charset="-122"/>
                <a:cs typeface="Space Grotesk" pitchFamily="34" charset="-120"/>
              </a:rPr>
              <a:t>EchoHunt</a:t>
            </a:r>
            <a:endParaRPr lang="en-US" sz="1250" dirty="0"/>
          </a:p>
          <a:p>
            <a:pPr marL="0" indent="0">
              <a:lnSpc>
                <a:spcPct val="125000"/>
              </a:lnSpc>
              <a:buNone/>
            </a:pPr>
            <a:r>
              <a:rPr lang="en-US" sz="1250" b="1" dirty="0">
                <a:solidFill>
                  <a:srgbClr val="8F5D0A"/>
                </a:solidFill>
                <a:latin typeface="Space Grotesk" pitchFamily="34" charset="0"/>
                <a:ea typeface="Space Grotesk" pitchFamily="34" charset="-122"/>
                <a:cs typeface="Space Grotesk" pitchFamily="34" charset="-120"/>
              </a:rPr>
              <a:t>RetinaScan AI</a:t>
            </a:r>
            <a:endParaRPr lang="en-US" sz="1250" dirty="0"/>
          </a:p>
        </p:txBody>
      </p:sp>
      <p:sp>
        <p:nvSpPr>
          <p:cNvPr id="8" name="Text 6"/>
          <p:cNvSpPr/>
          <p:nvPr/>
        </p:nvSpPr>
        <p:spPr>
          <a:xfrm>
            <a:off x="640080" y="4892040"/>
            <a:ext cx="5029200" cy="182880"/>
          </a:xfrm>
          <a:prstGeom prst="rect">
            <a:avLst/>
          </a:prstGeom>
          <a:noFill/>
          <a:ln/>
        </p:spPr>
        <p:txBody>
          <a:bodyPr wrap="square" lIns="0" tIns="0" rIns="0" bIns="0" rtlCol="0" anchor="t"/>
          <a:lstStyle/>
          <a:p>
            <a:pPr marL="0" indent="0">
              <a:buNone/>
            </a:pPr>
            <a:r>
              <a:rPr lang="en-US" sz="800" kern="0" spc="150" dirty="0">
                <a:solidFill>
                  <a:srgbClr val="6F6A5F"/>
                </a:solidFill>
                <a:latin typeface="IBM Plex Mono" pitchFamily="34" charset="0"/>
                <a:ea typeface="IBM Plex Mono" pitchFamily="34" charset="-122"/>
                <a:cs typeface="IBM Plex Mono" pitchFamily="34" charset="-120"/>
              </a:rPr>
              <a:t>TYPICALLY BUILT WITH</a:t>
            </a:r>
            <a:endParaRPr lang="en-US" sz="800" dirty="0"/>
          </a:p>
        </p:txBody>
      </p:sp>
      <p:sp>
        <p:nvSpPr>
          <p:cNvPr id="9" name="Text 7"/>
          <p:cNvSpPr/>
          <p:nvPr/>
        </p:nvSpPr>
        <p:spPr>
          <a:xfrm>
            <a:off x="640080" y="5120640"/>
            <a:ext cx="5029200" cy="1188720"/>
          </a:xfrm>
          <a:prstGeom prst="rect">
            <a:avLst/>
          </a:prstGeom>
          <a:noFill/>
          <a:ln/>
        </p:spPr>
        <p:txBody>
          <a:bodyPr wrap="square" lIns="0" tIns="0" rIns="0" bIns="0" rtlCol="0" anchor="t"/>
          <a:lstStyle/>
          <a:p>
            <a:pPr marL="0" indent="0">
              <a:lnSpc>
                <a:spcPct val="135000"/>
              </a:lnSpc>
              <a:buNone/>
            </a:pPr>
            <a:r>
              <a:rPr lang="en-US" sz="850" dirty="0">
                <a:solidFill>
                  <a:srgbClr val="5B6066"/>
                </a:solidFill>
                <a:latin typeface="IBM Plex Mono" pitchFamily="34" charset="0"/>
                <a:ea typeface="IBM Plex Mono" pitchFamily="34" charset="-122"/>
                <a:cs typeface="IBM Plex Mono" pitchFamily="34" charset="-120"/>
              </a:rPr>
              <a:t>Python  ·  TypeScript  ·  JavaScript  ·  OpenAI  ·  Anthropic  ·  Google Gemini  ·  Meta Llama  ·  Mistral  ·  LangChain  ·  LangGraph  ·  LlamaIndex  ·  Hugging Face  ·  PyTorch  ·  TensorFlow  ·  scikit-learn  ·  Pandas  ·  Polars  ·  FastAPI  ·  PostgreSQL  ·  MongoDB  ·  Redis  ·  Pinecone  ·  Qdrant  ·  Chroma  ·  pgvector  ·  Docker  ·  AWS  ·  Azure  ·  Google Cloud</a:t>
            </a:r>
            <a:endParaRPr lang="en-US" sz="850" dirty="0"/>
          </a:p>
        </p:txBody>
      </p:sp>
      <p:sp>
        <p:nvSpPr>
          <p:cNvPr id="10" name="Text 8"/>
          <p:cNvSpPr/>
          <p:nvPr/>
        </p:nvSpPr>
        <p:spPr>
          <a:xfrm>
            <a:off x="6263640" y="1627632"/>
            <a:ext cx="5287975" cy="182880"/>
          </a:xfrm>
          <a:prstGeom prst="rect">
            <a:avLst/>
          </a:prstGeom>
          <a:noFill/>
          <a:ln/>
        </p:spPr>
        <p:txBody>
          <a:bodyPr wrap="square" lIns="0" tIns="0" rIns="0" bIns="0" rtlCol="0" anchor="t"/>
          <a:lstStyle/>
          <a:p>
            <a:pPr marL="0" indent="0">
              <a:buNone/>
            </a:pPr>
            <a:r>
              <a:rPr lang="en-US" sz="800" kern="0" spc="150" dirty="0">
                <a:solidFill>
                  <a:srgbClr val="6F6A5F"/>
                </a:solidFill>
                <a:latin typeface="IBM Plex Mono" pitchFamily="34" charset="0"/>
                <a:ea typeface="IBM Plex Mono" pitchFamily="34" charset="-122"/>
                <a:cs typeface="IBM Plex Mono" pitchFamily="34" charset="-120"/>
              </a:rPr>
              <a:t>WHAT IT INCLUDES</a:t>
            </a:r>
            <a:endParaRPr lang="en-US" sz="800" dirty="0"/>
          </a:p>
        </p:txBody>
      </p:sp>
      <p:sp>
        <p:nvSpPr>
          <p:cNvPr id="11" name="Shape 9"/>
          <p:cNvSpPr/>
          <p:nvPr/>
        </p:nvSpPr>
        <p:spPr>
          <a:xfrm>
            <a:off x="6263640" y="1920240"/>
            <a:ext cx="5287975" cy="0"/>
          </a:xfrm>
          <a:prstGeom prst="line">
            <a:avLst/>
          </a:prstGeom>
          <a:noFill/>
          <a:ln w="9525">
            <a:solidFill>
              <a:srgbClr val="DCD8D0"/>
            </a:solidFill>
            <a:prstDash val="solid"/>
          </a:ln>
        </p:spPr>
        <p:txBody>
          <a:bodyPr/>
          <a:lstStyle/>
          <a:p>
            <a:endParaRPr lang="en-PK"/>
          </a:p>
        </p:txBody>
      </p:sp>
      <p:sp>
        <p:nvSpPr>
          <p:cNvPr id="12" name="Text 10"/>
          <p:cNvSpPr/>
          <p:nvPr/>
        </p:nvSpPr>
        <p:spPr>
          <a:xfrm>
            <a:off x="6263640" y="1920240"/>
            <a:ext cx="411480" cy="548640"/>
          </a:xfrm>
          <a:prstGeom prst="rect">
            <a:avLst/>
          </a:prstGeom>
          <a:noFill/>
          <a:ln/>
        </p:spPr>
        <p:txBody>
          <a:bodyPr wrap="square" lIns="0" tIns="0" rIns="0" bIns="0" rtlCol="0" anchor="ctr"/>
          <a:lstStyle/>
          <a:p>
            <a:pPr marL="0" indent="0">
              <a:buNone/>
            </a:pPr>
            <a:r>
              <a:rPr lang="en-US" sz="900" dirty="0">
                <a:solidFill>
                  <a:srgbClr val="8F5D0A"/>
                </a:solidFill>
                <a:latin typeface="IBM Plex Mono" pitchFamily="34" charset="0"/>
                <a:ea typeface="IBM Plex Mono" pitchFamily="34" charset="-122"/>
                <a:cs typeface="IBM Plex Mono" pitchFamily="34" charset="-120"/>
              </a:rPr>
              <a:t>01</a:t>
            </a:r>
            <a:endParaRPr lang="en-US" sz="900" dirty="0"/>
          </a:p>
        </p:txBody>
      </p:sp>
      <p:sp>
        <p:nvSpPr>
          <p:cNvPr id="13" name="Text 11"/>
          <p:cNvSpPr/>
          <p:nvPr/>
        </p:nvSpPr>
        <p:spPr>
          <a:xfrm>
            <a:off x="6720840" y="1920240"/>
            <a:ext cx="4830775" cy="548640"/>
          </a:xfrm>
          <a:prstGeom prst="rect">
            <a:avLst/>
          </a:prstGeom>
          <a:noFill/>
          <a:ln/>
        </p:spPr>
        <p:txBody>
          <a:bodyPr wrap="square" lIns="0" tIns="0" rIns="0" bIns="0" rtlCol="0" anchor="ctr"/>
          <a:lstStyle/>
          <a:p>
            <a:pPr marL="0" indent="0">
              <a:buNone/>
            </a:pPr>
            <a:r>
              <a:rPr lang="en-US" sz="1200" dirty="0">
                <a:solidFill>
                  <a:srgbClr val="14161A"/>
                </a:solidFill>
                <a:latin typeface="IBM Plex Sans" pitchFamily="34" charset="0"/>
                <a:ea typeface="IBM Plex Sans" pitchFamily="34" charset="-122"/>
                <a:cs typeface="IBM Plex Sans" pitchFamily="34" charset="-120"/>
              </a:rPr>
              <a:t>AI assistants, copilots, and intelligent business applications</a:t>
            </a:r>
            <a:endParaRPr lang="en-US" sz="1200" dirty="0"/>
          </a:p>
        </p:txBody>
      </p:sp>
      <p:sp>
        <p:nvSpPr>
          <p:cNvPr id="14" name="Shape 12"/>
          <p:cNvSpPr/>
          <p:nvPr/>
        </p:nvSpPr>
        <p:spPr>
          <a:xfrm>
            <a:off x="6263640" y="2468880"/>
            <a:ext cx="5287975" cy="0"/>
          </a:xfrm>
          <a:prstGeom prst="line">
            <a:avLst/>
          </a:prstGeom>
          <a:noFill/>
          <a:ln w="9525">
            <a:solidFill>
              <a:srgbClr val="DCD8D0"/>
            </a:solidFill>
            <a:prstDash val="solid"/>
          </a:ln>
        </p:spPr>
        <p:txBody>
          <a:bodyPr/>
          <a:lstStyle/>
          <a:p>
            <a:endParaRPr lang="en-PK"/>
          </a:p>
        </p:txBody>
      </p:sp>
      <p:sp>
        <p:nvSpPr>
          <p:cNvPr id="15" name="Text 13"/>
          <p:cNvSpPr/>
          <p:nvPr/>
        </p:nvSpPr>
        <p:spPr>
          <a:xfrm>
            <a:off x="6263640" y="2468880"/>
            <a:ext cx="411480" cy="548640"/>
          </a:xfrm>
          <a:prstGeom prst="rect">
            <a:avLst/>
          </a:prstGeom>
          <a:noFill/>
          <a:ln/>
        </p:spPr>
        <p:txBody>
          <a:bodyPr wrap="square" lIns="0" tIns="0" rIns="0" bIns="0" rtlCol="0" anchor="ctr"/>
          <a:lstStyle/>
          <a:p>
            <a:pPr marL="0" indent="0">
              <a:buNone/>
            </a:pPr>
            <a:r>
              <a:rPr lang="en-US" sz="900" dirty="0">
                <a:solidFill>
                  <a:srgbClr val="8F5D0A"/>
                </a:solidFill>
                <a:latin typeface="IBM Plex Mono" pitchFamily="34" charset="0"/>
                <a:ea typeface="IBM Plex Mono" pitchFamily="34" charset="-122"/>
                <a:cs typeface="IBM Plex Mono" pitchFamily="34" charset="-120"/>
              </a:rPr>
              <a:t>02</a:t>
            </a:r>
            <a:endParaRPr lang="en-US" sz="900" dirty="0"/>
          </a:p>
        </p:txBody>
      </p:sp>
      <p:sp>
        <p:nvSpPr>
          <p:cNvPr id="16" name="Text 14"/>
          <p:cNvSpPr/>
          <p:nvPr/>
        </p:nvSpPr>
        <p:spPr>
          <a:xfrm>
            <a:off x="6720840" y="2468880"/>
            <a:ext cx="4830775" cy="548640"/>
          </a:xfrm>
          <a:prstGeom prst="rect">
            <a:avLst/>
          </a:prstGeom>
          <a:noFill/>
          <a:ln/>
        </p:spPr>
        <p:txBody>
          <a:bodyPr wrap="square" lIns="0" tIns="0" rIns="0" bIns="0" rtlCol="0" anchor="ctr"/>
          <a:lstStyle/>
          <a:p>
            <a:pPr marL="0" indent="0">
              <a:buNone/>
            </a:pPr>
            <a:r>
              <a:rPr lang="en-US" sz="1200" dirty="0">
                <a:solidFill>
                  <a:srgbClr val="14161A"/>
                </a:solidFill>
                <a:latin typeface="IBM Plex Sans" pitchFamily="34" charset="0"/>
                <a:ea typeface="IBM Plex Sans" pitchFamily="34" charset="-122"/>
                <a:cs typeface="IBM Plex Sans" pitchFamily="34" charset="-120"/>
              </a:rPr>
              <a:t>LLM integrations and AI-powered features inside existing software</a:t>
            </a:r>
            <a:endParaRPr lang="en-US" sz="1200" dirty="0"/>
          </a:p>
        </p:txBody>
      </p:sp>
      <p:sp>
        <p:nvSpPr>
          <p:cNvPr id="17" name="Shape 15"/>
          <p:cNvSpPr/>
          <p:nvPr/>
        </p:nvSpPr>
        <p:spPr>
          <a:xfrm>
            <a:off x="6263640" y="3017520"/>
            <a:ext cx="5287975" cy="0"/>
          </a:xfrm>
          <a:prstGeom prst="line">
            <a:avLst/>
          </a:prstGeom>
          <a:noFill/>
          <a:ln w="9525">
            <a:solidFill>
              <a:srgbClr val="DCD8D0"/>
            </a:solidFill>
            <a:prstDash val="solid"/>
          </a:ln>
        </p:spPr>
        <p:txBody>
          <a:bodyPr/>
          <a:lstStyle/>
          <a:p>
            <a:endParaRPr lang="en-PK"/>
          </a:p>
        </p:txBody>
      </p:sp>
      <p:sp>
        <p:nvSpPr>
          <p:cNvPr id="18" name="Text 16"/>
          <p:cNvSpPr/>
          <p:nvPr/>
        </p:nvSpPr>
        <p:spPr>
          <a:xfrm>
            <a:off x="6263640" y="3017520"/>
            <a:ext cx="411480" cy="548640"/>
          </a:xfrm>
          <a:prstGeom prst="rect">
            <a:avLst/>
          </a:prstGeom>
          <a:noFill/>
          <a:ln/>
        </p:spPr>
        <p:txBody>
          <a:bodyPr wrap="square" lIns="0" tIns="0" rIns="0" bIns="0" rtlCol="0" anchor="ctr"/>
          <a:lstStyle/>
          <a:p>
            <a:pPr marL="0" indent="0">
              <a:buNone/>
            </a:pPr>
            <a:r>
              <a:rPr lang="en-US" sz="900" dirty="0">
                <a:solidFill>
                  <a:srgbClr val="8F5D0A"/>
                </a:solidFill>
                <a:latin typeface="IBM Plex Mono" pitchFamily="34" charset="0"/>
                <a:ea typeface="IBM Plex Mono" pitchFamily="34" charset="-122"/>
                <a:cs typeface="IBM Plex Mono" pitchFamily="34" charset="-120"/>
              </a:rPr>
              <a:t>03</a:t>
            </a:r>
            <a:endParaRPr lang="en-US" sz="900" dirty="0"/>
          </a:p>
        </p:txBody>
      </p:sp>
      <p:sp>
        <p:nvSpPr>
          <p:cNvPr id="19" name="Text 17"/>
          <p:cNvSpPr/>
          <p:nvPr/>
        </p:nvSpPr>
        <p:spPr>
          <a:xfrm>
            <a:off x="6720840" y="3017520"/>
            <a:ext cx="4830775" cy="548640"/>
          </a:xfrm>
          <a:prstGeom prst="rect">
            <a:avLst/>
          </a:prstGeom>
          <a:noFill/>
          <a:ln/>
        </p:spPr>
        <p:txBody>
          <a:bodyPr wrap="square" lIns="0" tIns="0" rIns="0" bIns="0" rtlCol="0" anchor="ctr"/>
          <a:lstStyle/>
          <a:p>
            <a:pPr marL="0" indent="0">
              <a:buNone/>
            </a:pPr>
            <a:r>
              <a:rPr lang="en-US" sz="1200" dirty="0">
                <a:solidFill>
                  <a:srgbClr val="14161A"/>
                </a:solidFill>
                <a:latin typeface="IBM Plex Sans" pitchFamily="34" charset="0"/>
                <a:ea typeface="IBM Plex Sans" pitchFamily="34" charset="-122"/>
                <a:cs typeface="IBM Plex Sans" pitchFamily="34" charset="-120"/>
              </a:rPr>
              <a:t>Document processing, extraction, classification, and summarisation</a:t>
            </a:r>
            <a:endParaRPr lang="en-US" sz="1200" dirty="0"/>
          </a:p>
        </p:txBody>
      </p:sp>
      <p:sp>
        <p:nvSpPr>
          <p:cNvPr id="20" name="Shape 18"/>
          <p:cNvSpPr/>
          <p:nvPr/>
        </p:nvSpPr>
        <p:spPr>
          <a:xfrm>
            <a:off x="6263640" y="3566160"/>
            <a:ext cx="5287975" cy="0"/>
          </a:xfrm>
          <a:prstGeom prst="line">
            <a:avLst/>
          </a:prstGeom>
          <a:noFill/>
          <a:ln w="9525">
            <a:solidFill>
              <a:srgbClr val="DCD8D0"/>
            </a:solidFill>
            <a:prstDash val="solid"/>
          </a:ln>
        </p:spPr>
        <p:txBody>
          <a:bodyPr/>
          <a:lstStyle/>
          <a:p>
            <a:endParaRPr lang="en-PK"/>
          </a:p>
        </p:txBody>
      </p:sp>
      <p:sp>
        <p:nvSpPr>
          <p:cNvPr id="21" name="Text 19"/>
          <p:cNvSpPr/>
          <p:nvPr/>
        </p:nvSpPr>
        <p:spPr>
          <a:xfrm>
            <a:off x="6263640" y="3566160"/>
            <a:ext cx="411480" cy="548640"/>
          </a:xfrm>
          <a:prstGeom prst="rect">
            <a:avLst/>
          </a:prstGeom>
          <a:noFill/>
          <a:ln/>
        </p:spPr>
        <p:txBody>
          <a:bodyPr wrap="square" lIns="0" tIns="0" rIns="0" bIns="0" rtlCol="0" anchor="ctr"/>
          <a:lstStyle/>
          <a:p>
            <a:pPr marL="0" indent="0">
              <a:buNone/>
            </a:pPr>
            <a:r>
              <a:rPr lang="en-US" sz="900" dirty="0">
                <a:solidFill>
                  <a:srgbClr val="8F5D0A"/>
                </a:solidFill>
                <a:latin typeface="IBM Plex Mono" pitchFamily="34" charset="0"/>
                <a:ea typeface="IBM Plex Mono" pitchFamily="34" charset="-122"/>
                <a:cs typeface="IBM Plex Mono" pitchFamily="34" charset="-120"/>
              </a:rPr>
              <a:t>04</a:t>
            </a:r>
            <a:endParaRPr lang="en-US" sz="900" dirty="0"/>
          </a:p>
        </p:txBody>
      </p:sp>
      <p:sp>
        <p:nvSpPr>
          <p:cNvPr id="22" name="Text 20"/>
          <p:cNvSpPr/>
          <p:nvPr/>
        </p:nvSpPr>
        <p:spPr>
          <a:xfrm>
            <a:off x="6720840" y="3566160"/>
            <a:ext cx="4830775" cy="548640"/>
          </a:xfrm>
          <a:prstGeom prst="rect">
            <a:avLst/>
          </a:prstGeom>
          <a:noFill/>
          <a:ln/>
        </p:spPr>
        <p:txBody>
          <a:bodyPr wrap="square" lIns="0" tIns="0" rIns="0" bIns="0" rtlCol="0" anchor="ctr"/>
          <a:lstStyle/>
          <a:p>
            <a:pPr marL="0" indent="0">
              <a:buNone/>
            </a:pPr>
            <a:r>
              <a:rPr lang="en-US" sz="1200" dirty="0">
                <a:solidFill>
                  <a:srgbClr val="14161A"/>
                </a:solidFill>
                <a:latin typeface="IBM Plex Sans" pitchFamily="34" charset="0"/>
                <a:ea typeface="IBM Plex Sans" pitchFamily="34" charset="-122"/>
                <a:cs typeface="IBM Plex Sans" pitchFamily="34" charset="-120"/>
              </a:rPr>
              <a:t>Retrieval-augmented generation (RAG) and knowledge-based systems</a:t>
            </a:r>
            <a:endParaRPr lang="en-US" sz="1200" dirty="0"/>
          </a:p>
        </p:txBody>
      </p:sp>
      <p:sp>
        <p:nvSpPr>
          <p:cNvPr id="23" name="Shape 21"/>
          <p:cNvSpPr/>
          <p:nvPr/>
        </p:nvSpPr>
        <p:spPr>
          <a:xfrm>
            <a:off x="6263640" y="4114800"/>
            <a:ext cx="5287975" cy="0"/>
          </a:xfrm>
          <a:prstGeom prst="line">
            <a:avLst/>
          </a:prstGeom>
          <a:noFill/>
          <a:ln w="9525">
            <a:solidFill>
              <a:srgbClr val="DCD8D0"/>
            </a:solidFill>
            <a:prstDash val="solid"/>
          </a:ln>
        </p:spPr>
        <p:txBody>
          <a:bodyPr/>
          <a:lstStyle/>
          <a:p>
            <a:endParaRPr lang="en-PK"/>
          </a:p>
        </p:txBody>
      </p:sp>
      <p:sp>
        <p:nvSpPr>
          <p:cNvPr id="24" name="Text 22"/>
          <p:cNvSpPr/>
          <p:nvPr/>
        </p:nvSpPr>
        <p:spPr>
          <a:xfrm>
            <a:off x="6263640" y="4114800"/>
            <a:ext cx="411480" cy="548640"/>
          </a:xfrm>
          <a:prstGeom prst="rect">
            <a:avLst/>
          </a:prstGeom>
          <a:noFill/>
          <a:ln/>
        </p:spPr>
        <p:txBody>
          <a:bodyPr wrap="square" lIns="0" tIns="0" rIns="0" bIns="0" rtlCol="0" anchor="ctr"/>
          <a:lstStyle/>
          <a:p>
            <a:pPr marL="0" indent="0">
              <a:buNone/>
            </a:pPr>
            <a:r>
              <a:rPr lang="en-US" sz="900" dirty="0">
                <a:solidFill>
                  <a:srgbClr val="8F5D0A"/>
                </a:solidFill>
                <a:latin typeface="IBM Plex Mono" pitchFamily="34" charset="0"/>
                <a:ea typeface="IBM Plex Mono" pitchFamily="34" charset="-122"/>
                <a:cs typeface="IBM Plex Mono" pitchFamily="34" charset="-120"/>
              </a:rPr>
              <a:t>05</a:t>
            </a:r>
            <a:endParaRPr lang="en-US" sz="900" dirty="0"/>
          </a:p>
        </p:txBody>
      </p:sp>
      <p:sp>
        <p:nvSpPr>
          <p:cNvPr id="25" name="Text 23"/>
          <p:cNvSpPr/>
          <p:nvPr/>
        </p:nvSpPr>
        <p:spPr>
          <a:xfrm>
            <a:off x="6720840" y="4114800"/>
            <a:ext cx="4830775" cy="548640"/>
          </a:xfrm>
          <a:prstGeom prst="rect">
            <a:avLst/>
          </a:prstGeom>
          <a:noFill/>
          <a:ln/>
        </p:spPr>
        <p:txBody>
          <a:bodyPr wrap="square" lIns="0" tIns="0" rIns="0" bIns="0" rtlCol="0" anchor="ctr"/>
          <a:lstStyle/>
          <a:p>
            <a:pPr marL="0" indent="0">
              <a:buNone/>
            </a:pPr>
            <a:r>
              <a:rPr lang="en-US" sz="1200" dirty="0">
                <a:solidFill>
                  <a:srgbClr val="14161A"/>
                </a:solidFill>
                <a:latin typeface="IBM Plex Sans" pitchFamily="34" charset="0"/>
                <a:ea typeface="IBM Plex Sans" pitchFamily="34" charset="-122"/>
                <a:cs typeface="IBM Plex Sans" pitchFamily="34" charset="-120"/>
              </a:rPr>
              <a:t>AI agents and multi-step task automation</a:t>
            </a:r>
            <a:endParaRPr lang="en-US" sz="1200" dirty="0"/>
          </a:p>
        </p:txBody>
      </p:sp>
      <p:sp>
        <p:nvSpPr>
          <p:cNvPr id="26" name="Shape 24"/>
          <p:cNvSpPr/>
          <p:nvPr/>
        </p:nvSpPr>
        <p:spPr>
          <a:xfrm>
            <a:off x="6263640" y="4663440"/>
            <a:ext cx="5287975" cy="0"/>
          </a:xfrm>
          <a:prstGeom prst="line">
            <a:avLst/>
          </a:prstGeom>
          <a:noFill/>
          <a:ln w="9525">
            <a:solidFill>
              <a:srgbClr val="DCD8D0"/>
            </a:solidFill>
            <a:prstDash val="solid"/>
          </a:ln>
        </p:spPr>
        <p:txBody>
          <a:bodyPr/>
          <a:lstStyle/>
          <a:p>
            <a:endParaRPr lang="en-PK"/>
          </a:p>
        </p:txBody>
      </p:sp>
      <p:sp>
        <p:nvSpPr>
          <p:cNvPr id="27" name="Text 25"/>
          <p:cNvSpPr/>
          <p:nvPr/>
        </p:nvSpPr>
        <p:spPr>
          <a:xfrm>
            <a:off x="6263640" y="4663440"/>
            <a:ext cx="411480" cy="548640"/>
          </a:xfrm>
          <a:prstGeom prst="rect">
            <a:avLst/>
          </a:prstGeom>
          <a:noFill/>
          <a:ln/>
        </p:spPr>
        <p:txBody>
          <a:bodyPr wrap="square" lIns="0" tIns="0" rIns="0" bIns="0" rtlCol="0" anchor="ctr"/>
          <a:lstStyle/>
          <a:p>
            <a:pPr marL="0" indent="0">
              <a:buNone/>
            </a:pPr>
            <a:r>
              <a:rPr lang="en-US" sz="900" dirty="0">
                <a:solidFill>
                  <a:srgbClr val="8F5D0A"/>
                </a:solidFill>
                <a:latin typeface="IBM Plex Mono" pitchFamily="34" charset="0"/>
                <a:ea typeface="IBM Plex Mono" pitchFamily="34" charset="-122"/>
                <a:cs typeface="IBM Plex Mono" pitchFamily="34" charset="-120"/>
              </a:rPr>
              <a:t>06</a:t>
            </a:r>
            <a:endParaRPr lang="en-US" sz="900" dirty="0"/>
          </a:p>
        </p:txBody>
      </p:sp>
      <p:sp>
        <p:nvSpPr>
          <p:cNvPr id="28" name="Text 26"/>
          <p:cNvSpPr/>
          <p:nvPr/>
        </p:nvSpPr>
        <p:spPr>
          <a:xfrm>
            <a:off x="6720840" y="4663440"/>
            <a:ext cx="4830775" cy="548640"/>
          </a:xfrm>
          <a:prstGeom prst="rect">
            <a:avLst/>
          </a:prstGeom>
          <a:noFill/>
          <a:ln/>
        </p:spPr>
        <p:txBody>
          <a:bodyPr wrap="square" lIns="0" tIns="0" rIns="0" bIns="0" rtlCol="0" anchor="ctr"/>
          <a:lstStyle/>
          <a:p>
            <a:pPr marL="0" indent="0">
              <a:buNone/>
            </a:pPr>
            <a:r>
              <a:rPr lang="en-US" sz="1200" dirty="0">
                <a:solidFill>
                  <a:srgbClr val="14161A"/>
                </a:solidFill>
                <a:latin typeface="IBM Plex Sans" pitchFamily="34" charset="0"/>
                <a:ea typeface="IBM Plex Sans" pitchFamily="34" charset="-122"/>
                <a:cs typeface="IBM Plex Sans" pitchFamily="34" charset="-120"/>
              </a:rPr>
              <a:t>Model selection, prompt engineering, evaluation, and monitoring</a:t>
            </a:r>
            <a:endParaRPr lang="en-US" sz="1200" dirty="0"/>
          </a:p>
        </p:txBody>
      </p:sp>
      <p:sp>
        <p:nvSpPr>
          <p:cNvPr id="29" name="Shape 27"/>
          <p:cNvSpPr/>
          <p:nvPr/>
        </p:nvSpPr>
        <p:spPr>
          <a:xfrm>
            <a:off x="6263640" y="5212080"/>
            <a:ext cx="5287975" cy="0"/>
          </a:xfrm>
          <a:prstGeom prst="line">
            <a:avLst/>
          </a:prstGeom>
          <a:noFill/>
          <a:ln w="9525">
            <a:solidFill>
              <a:srgbClr val="DCD8D0"/>
            </a:solidFill>
            <a:prstDash val="solid"/>
          </a:ln>
        </p:spPr>
        <p:txBody>
          <a:bodyPr/>
          <a:lstStyle/>
          <a:p>
            <a:endParaRPr lang="en-PK"/>
          </a:p>
        </p:txBody>
      </p:sp>
      <p:sp>
        <p:nvSpPr>
          <p:cNvPr id="30" name="Text 28"/>
          <p:cNvSpPr/>
          <p:nvPr/>
        </p:nvSpPr>
        <p:spPr>
          <a:xfrm>
            <a:off x="6263640" y="5212080"/>
            <a:ext cx="411480" cy="548640"/>
          </a:xfrm>
          <a:prstGeom prst="rect">
            <a:avLst/>
          </a:prstGeom>
          <a:noFill/>
          <a:ln/>
        </p:spPr>
        <p:txBody>
          <a:bodyPr wrap="square" lIns="0" tIns="0" rIns="0" bIns="0" rtlCol="0" anchor="ctr"/>
          <a:lstStyle/>
          <a:p>
            <a:pPr marL="0" indent="0">
              <a:buNone/>
            </a:pPr>
            <a:r>
              <a:rPr lang="en-US" sz="900" dirty="0">
                <a:solidFill>
                  <a:srgbClr val="8F5D0A"/>
                </a:solidFill>
                <a:latin typeface="IBM Plex Mono" pitchFamily="34" charset="0"/>
                <a:ea typeface="IBM Plex Mono" pitchFamily="34" charset="-122"/>
                <a:cs typeface="IBM Plex Mono" pitchFamily="34" charset="-120"/>
              </a:rPr>
              <a:t>07</a:t>
            </a:r>
            <a:endParaRPr lang="en-US" sz="900" dirty="0"/>
          </a:p>
        </p:txBody>
      </p:sp>
      <p:sp>
        <p:nvSpPr>
          <p:cNvPr id="31" name="Text 29"/>
          <p:cNvSpPr/>
          <p:nvPr/>
        </p:nvSpPr>
        <p:spPr>
          <a:xfrm>
            <a:off x="6720840" y="5212080"/>
            <a:ext cx="4830775" cy="548640"/>
          </a:xfrm>
          <a:prstGeom prst="rect">
            <a:avLst/>
          </a:prstGeom>
          <a:noFill/>
          <a:ln/>
        </p:spPr>
        <p:txBody>
          <a:bodyPr wrap="square" lIns="0" tIns="0" rIns="0" bIns="0" rtlCol="0" anchor="ctr"/>
          <a:lstStyle/>
          <a:p>
            <a:pPr marL="0" indent="0">
              <a:buNone/>
            </a:pPr>
            <a:r>
              <a:rPr lang="en-US" sz="1200" dirty="0">
                <a:solidFill>
                  <a:srgbClr val="14161A"/>
                </a:solidFill>
                <a:latin typeface="IBM Plex Sans" pitchFamily="34" charset="0"/>
                <a:ea typeface="IBM Plex Sans" pitchFamily="34" charset="-122"/>
                <a:cs typeface="IBM Plex Sans" pitchFamily="34" charset="-120"/>
              </a:rPr>
              <a:t>Human-in-the-loop workflows for decisions that require oversight</a:t>
            </a:r>
            <a:endParaRPr lang="en-US" sz="1200" dirty="0"/>
          </a:p>
        </p:txBody>
      </p:sp>
      <p:sp>
        <p:nvSpPr>
          <p:cNvPr id="32" name="Shape 30"/>
          <p:cNvSpPr/>
          <p:nvPr/>
        </p:nvSpPr>
        <p:spPr>
          <a:xfrm>
            <a:off x="6263640" y="5760720"/>
            <a:ext cx="5287975" cy="0"/>
          </a:xfrm>
          <a:prstGeom prst="line">
            <a:avLst/>
          </a:prstGeom>
          <a:noFill/>
          <a:ln w="9525">
            <a:solidFill>
              <a:srgbClr val="DCD8D0"/>
            </a:solidFill>
            <a:prstDash val="solid"/>
          </a:ln>
        </p:spPr>
        <p:txBody>
          <a:bodyPr/>
          <a:lstStyle/>
          <a:p>
            <a:endParaRPr lang="en-PK"/>
          </a:p>
        </p:txBody>
      </p:sp>
      <p:sp>
        <p:nvSpPr>
          <p:cNvPr id="33" name="Text 31"/>
          <p:cNvSpPr/>
          <p:nvPr/>
        </p:nvSpPr>
        <p:spPr>
          <a:xfrm>
            <a:off x="6263640" y="5760720"/>
            <a:ext cx="411480" cy="548640"/>
          </a:xfrm>
          <a:prstGeom prst="rect">
            <a:avLst/>
          </a:prstGeom>
          <a:noFill/>
          <a:ln/>
        </p:spPr>
        <p:txBody>
          <a:bodyPr wrap="square" lIns="0" tIns="0" rIns="0" bIns="0" rtlCol="0" anchor="ctr"/>
          <a:lstStyle/>
          <a:p>
            <a:pPr marL="0" indent="0">
              <a:buNone/>
            </a:pPr>
            <a:r>
              <a:rPr lang="en-US" sz="900" dirty="0">
                <a:solidFill>
                  <a:srgbClr val="8F5D0A"/>
                </a:solidFill>
                <a:latin typeface="IBM Plex Mono" pitchFamily="34" charset="0"/>
                <a:ea typeface="IBM Plex Mono" pitchFamily="34" charset="-122"/>
                <a:cs typeface="IBM Plex Mono" pitchFamily="34" charset="-120"/>
              </a:rPr>
              <a:t>08</a:t>
            </a:r>
            <a:endParaRPr lang="en-US" sz="900" dirty="0"/>
          </a:p>
        </p:txBody>
      </p:sp>
      <p:sp>
        <p:nvSpPr>
          <p:cNvPr id="34" name="Text 32"/>
          <p:cNvSpPr/>
          <p:nvPr/>
        </p:nvSpPr>
        <p:spPr>
          <a:xfrm>
            <a:off x="6720840" y="5760720"/>
            <a:ext cx="4830775" cy="548640"/>
          </a:xfrm>
          <a:prstGeom prst="rect">
            <a:avLst/>
          </a:prstGeom>
          <a:noFill/>
          <a:ln/>
        </p:spPr>
        <p:txBody>
          <a:bodyPr wrap="square" lIns="0" tIns="0" rIns="0" bIns="0" rtlCol="0" anchor="ctr"/>
          <a:lstStyle/>
          <a:p>
            <a:pPr marL="0" indent="0">
              <a:buNone/>
            </a:pPr>
            <a:r>
              <a:rPr lang="en-US" sz="1200" dirty="0">
                <a:solidFill>
                  <a:srgbClr val="14161A"/>
                </a:solidFill>
                <a:latin typeface="IBM Plex Sans" pitchFamily="34" charset="0"/>
                <a:ea typeface="IBM Plex Sans" pitchFamily="34" charset="-122"/>
                <a:cs typeface="IBM Plex Sans" pitchFamily="34" charset="-120"/>
              </a:rPr>
              <a:t>AI integration with internal systems, databases, APIs, and business tools</a:t>
            </a:r>
            <a:endParaRPr lang="en-US" sz="1200" dirty="0"/>
          </a:p>
        </p:txBody>
      </p:sp>
      <p:sp>
        <p:nvSpPr>
          <p:cNvPr id="35" name="Shape 33"/>
          <p:cNvSpPr/>
          <p:nvPr/>
        </p:nvSpPr>
        <p:spPr>
          <a:xfrm>
            <a:off x="6263640" y="6309360"/>
            <a:ext cx="5287975" cy="0"/>
          </a:xfrm>
          <a:prstGeom prst="line">
            <a:avLst/>
          </a:prstGeom>
          <a:noFill/>
          <a:ln w="9525">
            <a:solidFill>
              <a:srgbClr val="DCD8D0"/>
            </a:solidFill>
            <a:prstDash val="solid"/>
          </a:ln>
        </p:spPr>
        <p:txBody>
          <a:bodyPr/>
          <a:lstStyle/>
          <a:p>
            <a:endParaRPr lang="en-PK"/>
          </a:p>
        </p:txBody>
      </p:sp>
      <p:sp>
        <p:nvSpPr>
          <p:cNvPr id="36" name="Text 34"/>
          <p:cNvSpPr/>
          <p:nvPr/>
        </p:nvSpPr>
        <p:spPr>
          <a:xfrm>
            <a:off x="640080" y="6473952"/>
            <a:ext cx="6400800" cy="164592"/>
          </a:xfrm>
          <a:prstGeom prst="rect">
            <a:avLst/>
          </a:prstGeom>
          <a:noFill/>
          <a:ln/>
        </p:spPr>
        <p:txBody>
          <a:bodyPr wrap="square" lIns="0" tIns="0" rIns="0" bIns="0" rtlCol="0" anchor="t"/>
          <a:lstStyle/>
          <a:p>
            <a:pPr marL="0" indent="0">
              <a:buNone/>
            </a:pPr>
            <a:r>
              <a:rPr lang="en-US" sz="700" kern="0" spc="150" dirty="0">
                <a:solidFill>
                  <a:srgbClr val="6F6A5F"/>
                </a:solidFill>
                <a:latin typeface="IBM Plex Mono" pitchFamily="34" charset="0"/>
                <a:ea typeface="IBM Plex Mono" pitchFamily="34" charset="-122"/>
                <a:cs typeface="IBM Plex Mono" pitchFamily="34" charset="-120"/>
              </a:rPr>
              <a:t>BOLTER TECHNOLOGIES PRIVATE LIMITED  ·  COMPANY PROFILE</a:t>
            </a:r>
            <a:endParaRPr lang="en-US" sz="700" dirty="0"/>
          </a:p>
        </p:txBody>
      </p:sp>
      <p:sp>
        <p:nvSpPr>
          <p:cNvPr id="37" name="Text 35"/>
          <p:cNvSpPr/>
          <p:nvPr/>
        </p:nvSpPr>
        <p:spPr>
          <a:xfrm>
            <a:off x="9722815" y="6473952"/>
            <a:ext cx="1828800" cy="164592"/>
          </a:xfrm>
          <a:prstGeom prst="rect">
            <a:avLst/>
          </a:prstGeom>
          <a:noFill/>
          <a:ln/>
        </p:spPr>
        <p:txBody>
          <a:bodyPr wrap="square" lIns="0" tIns="0" rIns="0" bIns="0" rtlCol="0" anchor="t"/>
          <a:lstStyle/>
          <a:p>
            <a:pPr marL="0" indent="0" algn="r">
              <a:buNone/>
            </a:pPr>
            <a:r>
              <a:rPr lang="en-US" sz="700" kern="0" spc="150" dirty="0">
                <a:solidFill>
                  <a:srgbClr val="6F6A5F"/>
                </a:solidFill>
                <a:latin typeface="IBM Plex Mono" pitchFamily="34" charset="0"/>
                <a:ea typeface="IBM Plex Mono" pitchFamily="34" charset="-122"/>
                <a:cs typeface="IBM Plex Mono" pitchFamily="34" charset="-120"/>
              </a:rPr>
              <a:t>06 / 23</a:t>
            </a:r>
            <a:endParaRPr lang="en-US" sz="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A0B0C"/>
        </a:solidFill>
        <a:effectLst/>
      </p:bgPr>
    </p:bg>
    <p:spTree>
      <p:nvGrpSpPr>
        <p:cNvPr id="1" name=""/>
        <p:cNvGrpSpPr/>
        <p:nvPr/>
      </p:nvGrpSpPr>
      <p:grpSpPr>
        <a:xfrm>
          <a:off x="0" y="0"/>
          <a:ext cx="0" cy="0"/>
          <a:chOff x="0" y="0"/>
          <a:chExt cx="0" cy="0"/>
        </a:xfrm>
      </p:grpSpPr>
      <p:sp>
        <p:nvSpPr>
          <p:cNvPr id="2" name="Shape 0"/>
          <p:cNvSpPr/>
          <p:nvPr/>
        </p:nvSpPr>
        <p:spPr>
          <a:xfrm>
            <a:off x="640080" y="571500"/>
            <a:ext cx="219456" cy="32004"/>
          </a:xfrm>
          <a:prstGeom prst="rect">
            <a:avLst/>
          </a:prstGeom>
          <a:solidFill>
            <a:srgbClr val="E8A33D"/>
          </a:solidFill>
          <a:ln/>
        </p:spPr>
        <p:txBody>
          <a:bodyPr/>
          <a:lstStyle/>
          <a:p>
            <a:endParaRPr lang="en-PK"/>
          </a:p>
        </p:txBody>
      </p:sp>
      <p:sp>
        <p:nvSpPr>
          <p:cNvPr id="3" name="Text 1"/>
          <p:cNvSpPr/>
          <p:nvPr/>
        </p:nvSpPr>
        <p:spPr>
          <a:xfrm>
            <a:off x="969264" y="502920"/>
            <a:ext cx="8229600" cy="182880"/>
          </a:xfrm>
          <a:prstGeom prst="rect">
            <a:avLst/>
          </a:prstGeom>
          <a:noFill/>
          <a:ln/>
        </p:spPr>
        <p:txBody>
          <a:bodyPr wrap="square" lIns="0" tIns="0" rIns="0" bIns="0" rtlCol="0" anchor="t"/>
          <a:lstStyle/>
          <a:p>
            <a:pPr marL="0" indent="0">
              <a:buNone/>
            </a:pPr>
            <a:r>
              <a:rPr lang="en-US" sz="900" b="1" kern="0" spc="200" dirty="0">
                <a:solidFill>
                  <a:srgbClr val="E8A33D"/>
                </a:solidFill>
                <a:latin typeface="IBM Plex Mono" pitchFamily="34" charset="0"/>
                <a:ea typeface="IBM Plex Mono" pitchFamily="34" charset="-122"/>
                <a:cs typeface="IBM Plex Mono" pitchFamily="34" charset="-120"/>
              </a:rPr>
              <a:t>03  PRACTICE  ·  03 / 05</a:t>
            </a:r>
            <a:endParaRPr lang="en-US" sz="900" dirty="0"/>
          </a:p>
        </p:txBody>
      </p:sp>
      <p:sp>
        <p:nvSpPr>
          <p:cNvPr id="4" name="Text 2"/>
          <p:cNvSpPr/>
          <p:nvPr/>
        </p:nvSpPr>
        <p:spPr>
          <a:xfrm>
            <a:off x="640080" y="777240"/>
            <a:ext cx="5303520" cy="685800"/>
          </a:xfrm>
          <a:prstGeom prst="rect">
            <a:avLst/>
          </a:prstGeom>
          <a:noFill/>
          <a:ln/>
        </p:spPr>
        <p:txBody>
          <a:bodyPr wrap="square" lIns="0" tIns="0" rIns="0" bIns="0" rtlCol="0" anchor="t"/>
          <a:lstStyle/>
          <a:p>
            <a:pPr marL="0" indent="0">
              <a:buNone/>
            </a:pPr>
            <a:r>
              <a:rPr lang="en-US" sz="3400" b="1" dirty="0">
                <a:solidFill>
                  <a:srgbClr val="FFFFFF"/>
                </a:solidFill>
                <a:latin typeface="Space Grotesk" pitchFamily="34" charset="0"/>
                <a:ea typeface="Space Grotesk" pitchFamily="34" charset="-122"/>
                <a:cs typeface="Space Grotesk" pitchFamily="34" charset="-120"/>
              </a:rPr>
              <a:t>AI &amp; business automation</a:t>
            </a:r>
            <a:endParaRPr lang="en-US" sz="3400" dirty="0"/>
          </a:p>
        </p:txBody>
      </p:sp>
      <p:sp>
        <p:nvSpPr>
          <p:cNvPr id="5" name="Text 3"/>
          <p:cNvSpPr/>
          <p:nvPr/>
        </p:nvSpPr>
        <p:spPr>
          <a:xfrm>
            <a:off x="640080" y="1920240"/>
            <a:ext cx="5029200" cy="1371599"/>
          </a:xfrm>
          <a:prstGeom prst="rect">
            <a:avLst/>
          </a:prstGeom>
          <a:noFill/>
          <a:ln/>
        </p:spPr>
        <p:txBody>
          <a:bodyPr wrap="square" lIns="0" tIns="0" rIns="0" bIns="0" rtlCol="0" anchor="t"/>
          <a:lstStyle/>
          <a:p>
            <a:pPr marL="0" indent="0">
              <a:lnSpc>
                <a:spcPct val="130000"/>
              </a:lnSpc>
              <a:buNone/>
            </a:pPr>
            <a:r>
              <a:rPr lang="en-US" sz="1350" dirty="0">
                <a:solidFill>
                  <a:srgbClr val="FFFFFF"/>
                </a:solidFill>
                <a:latin typeface="IBM Plex Sans" pitchFamily="34" charset="0"/>
                <a:ea typeface="IBM Plex Sans" pitchFamily="34" charset="-122"/>
                <a:cs typeface="IBM Plex Sans" pitchFamily="34" charset="-120"/>
              </a:rPr>
              <a:t>We automate repetitive work that consumes your team's time, connecting the systems, data, and processes already in your business. The goal is not simply to remove a manual step, but to build a reliable workflow that can run consistently with the right level of human oversight.</a:t>
            </a:r>
            <a:endParaRPr lang="en-US" sz="1350" dirty="0"/>
          </a:p>
        </p:txBody>
      </p:sp>
      <p:sp>
        <p:nvSpPr>
          <p:cNvPr id="6" name="Text 4"/>
          <p:cNvSpPr/>
          <p:nvPr/>
        </p:nvSpPr>
        <p:spPr>
          <a:xfrm>
            <a:off x="640080" y="3637760"/>
            <a:ext cx="5029200" cy="182881"/>
          </a:xfrm>
          <a:prstGeom prst="rect">
            <a:avLst/>
          </a:prstGeom>
          <a:noFill/>
          <a:ln/>
        </p:spPr>
        <p:txBody>
          <a:bodyPr wrap="square" lIns="0" tIns="0" rIns="0" bIns="0" rtlCol="0" anchor="t"/>
          <a:lstStyle/>
          <a:p>
            <a:pPr marL="0" indent="0">
              <a:buNone/>
            </a:pPr>
            <a:r>
              <a:rPr lang="en-US" sz="800" kern="0" spc="150" dirty="0">
                <a:solidFill>
                  <a:srgbClr val="8B8D8F"/>
                </a:solidFill>
                <a:latin typeface="IBM Plex Mono" pitchFamily="34" charset="0"/>
                <a:ea typeface="IBM Plex Mono" pitchFamily="34" charset="-122"/>
                <a:cs typeface="IBM Plex Mono" pitchFamily="34" charset="-120"/>
              </a:rPr>
              <a:t>SELECTED WORK</a:t>
            </a:r>
            <a:endParaRPr lang="en-US" sz="800" dirty="0"/>
          </a:p>
        </p:txBody>
      </p:sp>
      <p:sp>
        <p:nvSpPr>
          <p:cNvPr id="7" name="Text 5"/>
          <p:cNvSpPr/>
          <p:nvPr/>
        </p:nvSpPr>
        <p:spPr>
          <a:xfrm>
            <a:off x="640080" y="3866360"/>
            <a:ext cx="5029200" cy="274320"/>
          </a:xfrm>
          <a:prstGeom prst="rect">
            <a:avLst/>
          </a:prstGeom>
          <a:noFill/>
          <a:ln/>
        </p:spPr>
        <p:txBody>
          <a:bodyPr wrap="square" lIns="0" tIns="0" rIns="0" bIns="0" rtlCol="0" anchor="t"/>
          <a:lstStyle/>
          <a:p>
            <a:pPr marL="0" indent="0">
              <a:lnSpc>
                <a:spcPct val="125000"/>
              </a:lnSpc>
              <a:buNone/>
            </a:pPr>
            <a:r>
              <a:rPr lang="en-US" sz="1250" b="1" dirty="0">
                <a:solidFill>
                  <a:srgbClr val="E8A33D"/>
                </a:solidFill>
                <a:latin typeface="Space Grotesk" pitchFamily="34" charset="0"/>
                <a:ea typeface="Space Grotesk" pitchFamily="34" charset="-122"/>
                <a:cs typeface="Space Grotesk" pitchFamily="34" charset="-120"/>
              </a:rPr>
              <a:t>Current by Logmate</a:t>
            </a:r>
            <a:endParaRPr lang="en-US" sz="1250" dirty="0"/>
          </a:p>
        </p:txBody>
      </p:sp>
      <p:sp>
        <p:nvSpPr>
          <p:cNvPr id="8" name="Text 6"/>
          <p:cNvSpPr/>
          <p:nvPr/>
        </p:nvSpPr>
        <p:spPr>
          <a:xfrm>
            <a:off x="640080" y="4892040"/>
            <a:ext cx="5029200" cy="182880"/>
          </a:xfrm>
          <a:prstGeom prst="rect">
            <a:avLst/>
          </a:prstGeom>
          <a:noFill/>
          <a:ln/>
        </p:spPr>
        <p:txBody>
          <a:bodyPr wrap="square" lIns="0" tIns="0" rIns="0" bIns="0" rtlCol="0" anchor="t"/>
          <a:lstStyle/>
          <a:p>
            <a:pPr marL="0" indent="0">
              <a:buNone/>
            </a:pPr>
            <a:r>
              <a:rPr lang="en-US" sz="800" kern="0" spc="150" dirty="0">
                <a:solidFill>
                  <a:srgbClr val="8B8D8F"/>
                </a:solidFill>
                <a:latin typeface="IBM Plex Mono" pitchFamily="34" charset="0"/>
                <a:ea typeface="IBM Plex Mono" pitchFamily="34" charset="-122"/>
                <a:cs typeface="IBM Plex Mono" pitchFamily="34" charset="-120"/>
              </a:rPr>
              <a:t>TYPICALLY BUILT WITH</a:t>
            </a:r>
            <a:endParaRPr lang="en-US" sz="800" dirty="0"/>
          </a:p>
        </p:txBody>
      </p:sp>
      <p:sp>
        <p:nvSpPr>
          <p:cNvPr id="9" name="Text 7"/>
          <p:cNvSpPr/>
          <p:nvPr/>
        </p:nvSpPr>
        <p:spPr>
          <a:xfrm>
            <a:off x="640080" y="5120640"/>
            <a:ext cx="5029200" cy="1188720"/>
          </a:xfrm>
          <a:prstGeom prst="rect">
            <a:avLst/>
          </a:prstGeom>
          <a:noFill/>
          <a:ln/>
        </p:spPr>
        <p:txBody>
          <a:bodyPr wrap="square" lIns="0" tIns="0" rIns="0" bIns="0" rtlCol="0" anchor="t"/>
          <a:lstStyle/>
          <a:p>
            <a:pPr marL="0" indent="0">
              <a:lnSpc>
                <a:spcPct val="135000"/>
              </a:lnSpc>
              <a:buNone/>
            </a:pPr>
            <a:r>
              <a:rPr lang="en-US" sz="850" dirty="0">
                <a:solidFill>
                  <a:srgbClr val="B6B7B8"/>
                </a:solidFill>
                <a:latin typeface="IBM Plex Mono" pitchFamily="34" charset="0"/>
                <a:ea typeface="IBM Plex Mono" pitchFamily="34" charset="-122"/>
                <a:cs typeface="IBM Plex Mono" pitchFamily="34" charset="-120"/>
              </a:rPr>
              <a:t>Python  ·  TypeScript  ·  JavaScript  ·  Node.js  ·  FastAPI  ·  Django  ·  Temporal  ·  Celery  ·  Redis  ·  RabbitMQ  ·  Apache Kafka  ·  n8n  ·  Zapier  ·  Make  ·  Power Automate  ·  REST APIs  ·  GraphQL  ·  Webhooks  ·  PostgreSQL  ·  MySQL  ·  MongoDB  ·  AWS  ·  Azure  ·  Google Cloud  ·  Docker  ·  GitHub Actions</a:t>
            </a:r>
            <a:endParaRPr lang="en-US" sz="850" dirty="0"/>
          </a:p>
        </p:txBody>
      </p:sp>
      <p:sp>
        <p:nvSpPr>
          <p:cNvPr id="10" name="Text 8"/>
          <p:cNvSpPr/>
          <p:nvPr/>
        </p:nvSpPr>
        <p:spPr>
          <a:xfrm>
            <a:off x="6263640" y="1627632"/>
            <a:ext cx="5287975" cy="182880"/>
          </a:xfrm>
          <a:prstGeom prst="rect">
            <a:avLst/>
          </a:prstGeom>
          <a:noFill/>
          <a:ln/>
        </p:spPr>
        <p:txBody>
          <a:bodyPr wrap="square" lIns="0" tIns="0" rIns="0" bIns="0" rtlCol="0" anchor="t"/>
          <a:lstStyle/>
          <a:p>
            <a:pPr marL="0" indent="0">
              <a:buNone/>
            </a:pPr>
            <a:r>
              <a:rPr lang="en-US" sz="800" kern="0" spc="150" dirty="0">
                <a:solidFill>
                  <a:srgbClr val="8B8D8F"/>
                </a:solidFill>
                <a:latin typeface="IBM Plex Mono" pitchFamily="34" charset="0"/>
                <a:ea typeface="IBM Plex Mono" pitchFamily="34" charset="-122"/>
                <a:cs typeface="IBM Plex Mono" pitchFamily="34" charset="-120"/>
              </a:rPr>
              <a:t>WHAT IT INCLUDES</a:t>
            </a:r>
            <a:endParaRPr lang="en-US" sz="800" dirty="0"/>
          </a:p>
        </p:txBody>
      </p:sp>
      <p:sp>
        <p:nvSpPr>
          <p:cNvPr id="11" name="Shape 9"/>
          <p:cNvSpPr/>
          <p:nvPr/>
        </p:nvSpPr>
        <p:spPr>
          <a:xfrm>
            <a:off x="6263640" y="1920240"/>
            <a:ext cx="5287975" cy="0"/>
          </a:xfrm>
          <a:prstGeom prst="line">
            <a:avLst/>
          </a:prstGeom>
          <a:noFill/>
          <a:ln w="9525">
            <a:solidFill>
              <a:srgbClr val="2E3033"/>
            </a:solidFill>
            <a:prstDash val="solid"/>
          </a:ln>
        </p:spPr>
        <p:txBody>
          <a:bodyPr/>
          <a:lstStyle/>
          <a:p>
            <a:endParaRPr lang="en-PK"/>
          </a:p>
        </p:txBody>
      </p:sp>
      <p:sp>
        <p:nvSpPr>
          <p:cNvPr id="12" name="Text 10"/>
          <p:cNvSpPr/>
          <p:nvPr/>
        </p:nvSpPr>
        <p:spPr>
          <a:xfrm>
            <a:off x="6263640" y="1920240"/>
            <a:ext cx="411480" cy="487680"/>
          </a:xfrm>
          <a:prstGeom prst="rect">
            <a:avLst/>
          </a:prstGeom>
          <a:noFill/>
          <a:ln/>
        </p:spPr>
        <p:txBody>
          <a:bodyPr wrap="square" lIns="0" tIns="0" rIns="0" bIns="0" rtlCol="0" anchor="ctr"/>
          <a:lstStyle/>
          <a:p>
            <a:pPr marL="0" indent="0">
              <a:buNone/>
            </a:pPr>
            <a:r>
              <a:rPr lang="en-US" sz="900" dirty="0">
                <a:solidFill>
                  <a:srgbClr val="E8A33D"/>
                </a:solidFill>
                <a:latin typeface="IBM Plex Mono" pitchFamily="34" charset="0"/>
                <a:ea typeface="IBM Plex Mono" pitchFamily="34" charset="-122"/>
                <a:cs typeface="IBM Plex Mono" pitchFamily="34" charset="-120"/>
              </a:rPr>
              <a:t>01</a:t>
            </a:r>
            <a:endParaRPr lang="en-US" sz="900" dirty="0"/>
          </a:p>
        </p:txBody>
      </p:sp>
      <p:sp>
        <p:nvSpPr>
          <p:cNvPr id="13" name="Text 11"/>
          <p:cNvSpPr/>
          <p:nvPr/>
        </p:nvSpPr>
        <p:spPr>
          <a:xfrm>
            <a:off x="6720840" y="1920240"/>
            <a:ext cx="4830775" cy="487680"/>
          </a:xfrm>
          <a:prstGeom prst="rect">
            <a:avLst/>
          </a:prstGeom>
          <a:noFill/>
          <a:ln/>
        </p:spPr>
        <p:txBody>
          <a:bodyPr wrap="square" lIns="0" tIns="0" rIns="0" bIns="0" rtlCol="0" anchor="ctr"/>
          <a:lstStyle/>
          <a:p>
            <a:pPr marL="0" indent="0">
              <a:buNone/>
            </a:pPr>
            <a:r>
              <a:rPr lang="en-US" sz="1200" dirty="0">
                <a:solidFill>
                  <a:srgbClr val="FFFFFF"/>
                </a:solidFill>
                <a:latin typeface="IBM Plex Sans" pitchFamily="34" charset="0"/>
                <a:ea typeface="IBM Plex Sans" pitchFamily="34" charset="-122"/>
                <a:cs typeface="IBM Plex Sans" pitchFamily="34" charset="-120"/>
              </a:rPr>
              <a:t>Business process discovery and workflow mapping</a:t>
            </a:r>
            <a:endParaRPr lang="en-US" sz="1200" dirty="0"/>
          </a:p>
        </p:txBody>
      </p:sp>
      <p:sp>
        <p:nvSpPr>
          <p:cNvPr id="14" name="Shape 12"/>
          <p:cNvSpPr/>
          <p:nvPr/>
        </p:nvSpPr>
        <p:spPr>
          <a:xfrm>
            <a:off x="6263640" y="2407920"/>
            <a:ext cx="5287975" cy="0"/>
          </a:xfrm>
          <a:prstGeom prst="line">
            <a:avLst/>
          </a:prstGeom>
          <a:noFill/>
          <a:ln w="9525">
            <a:solidFill>
              <a:srgbClr val="2E3033"/>
            </a:solidFill>
            <a:prstDash val="solid"/>
          </a:ln>
        </p:spPr>
        <p:txBody>
          <a:bodyPr/>
          <a:lstStyle/>
          <a:p>
            <a:endParaRPr lang="en-PK"/>
          </a:p>
        </p:txBody>
      </p:sp>
      <p:sp>
        <p:nvSpPr>
          <p:cNvPr id="15" name="Text 13"/>
          <p:cNvSpPr/>
          <p:nvPr/>
        </p:nvSpPr>
        <p:spPr>
          <a:xfrm>
            <a:off x="6263640" y="2407920"/>
            <a:ext cx="411480" cy="487680"/>
          </a:xfrm>
          <a:prstGeom prst="rect">
            <a:avLst/>
          </a:prstGeom>
          <a:noFill/>
          <a:ln/>
        </p:spPr>
        <p:txBody>
          <a:bodyPr wrap="square" lIns="0" tIns="0" rIns="0" bIns="0" rtlCol="0" anchor="ctr"/>
          <a:lstStyle/>
          <a:p>
            <a:pPr marL="0" indent="0">
              <a:buNone/>
            </a:pPr>
            <a:r>
              <a:rPr lang="en-US" sz="900" dirty="0">
                <a:solidFill>
                  <a:srgbClr val="E8A33D"/>
                </a:solidFill>
                <a:latin typeface="IBM Plex Mono" pitchFamily="34" charset="0"/>
                <a:ea typeface="IBM Plex Mono" pitchFamily="34" charset="-122"/>
                <a:cs typeface="IBM Plex Mono" pitchFamily="34" charset="-120"/>
              </a:rPr>
              <a:t>02</a:t>
            </a:r>
            <a:endParaRPr lang="en-US" sz="900" dirty="0"/>
          </a:p>
        </p:txBody>
      </p:sp>
      <p:sp>
        <p:nvSpPr>
          <p:cNvPr id="16" name="Text 14"/>
          <p:cNvSpPr/>
          <p:nvPr/>
        </p:nvSpPr>
        <p:spPr>
          <a:xfrm>
            <a:off x="6720840" y="2407920"/>
            <a:ext cx="4830775" cy="487680"/>
          </a:xfrm>
          <a:prstGeom prst="rect">
            <a:avLst/>
          </a:prstGeom>
          <a:noFill/>
          <a:ln/>
        </p:spPr>
        <p:txBody>
          <a:bodyPr wrap="square" lIns="0" tIns="0" rIns="0" bIns="0" rtlCol="0" anchor="ctr"/>
          <a:lstStyle/>
          <a:p>
            <a:pPr marL="0" indent="0">
              <a:buNone/>
            </a:pPr>
            <a:r>
              <a:rPr lang="en-US" sz="1200" dirty="0">
                <a:solidFill>
                  <a:srgbClr val="FFFFFF"/>
                </a:solidFill>
                <a:latin typeface="IBM Plex Sans" pitchFamily="34" charset="0"/>
                <a:ea typeface="IBM Plex Sans" pitchFamily="34" charset="-122"/>
                <a:cs typeface="IBM Plex Sans" pitchFamily="34" charset="-120"/>
              </a:rPr>
              <a:t>End-to-end workflow automation</a:t>
            </a:r>
            <a:endParaRPr lang="en-US" sz="1200" dirty="0"/>
          </a:p>
        </p:txBody>
      </p:sp>
      <p:sp>
        <p:nvSpPr>
          <p:cNvPr id="17" name="Shape 15"/>
          <p:cNvSpPr/>
          <p:nvPr/>
        </p:nvSpPr>
        <p:spPr>
          <a:xfrm>
            <a:off x="6263640" y="2895600"/>
            <a:ext cx="5287975" cy="0"/>
          </a:xfrm>
          <a:prstGeom prst="line">
            <a:avLst/>
          </a:prstGeom>
          <a:noFill/>
          <a:ln w="9525">
            <a:solidFill>
              <a:srgbClr val="2E3033"/>
            </a:solidFill>
            <a:prstDash val="solid"/>
          </a:ln>
        </p:spPr>
        <p:txBody>
          <a:bodyPr/>
          <a:lstStyle/>
          <a:p>
            <a:endParaRPr lang="en-PK"/>
          </a:p>
        </p:txBody>
      </p:sp>
      <p:sp>
        <p:nvSpPr>
          <p:cNvPr id="18" name="Text 16"/>
          <p:cNvSpPr/>
          <p:nvPr/>
        </p:nvSpPr>
        <p:spPr>
          <a:xfrm>
            <a:off x="6263640" y="2895600"/>
            <a:ext cx="411480" cy="487680"/>
          </a:xfrm>
          <a:prstGeom prst="rect">
            <a:avLst/>
          </a:prstGeom>
          <a:noFill/>
          <a:ln/>
        </p:spPr>
        <p:txBody>
          <a:bodyPr wrap="square" lIns="0" tIns="0" rIns="0" bIns="0" rtlCol="0" anchor="ctr"/>
          <a:lstStyle/>
          <a:p>
            <a:pPr marL="0" indent="0">
              <a:buNone/>
            </a:pPr>
            <a:r>
              <a:rPr lang="en-US" sz="900" dirty="0">
                <a:solidFill>
                  <a:srgbClr val="E8A33D"/>
                </a:solidFill>
                <a:latin typeface="IBM Plex Mono" pitchFamily="34" charset="0"/>
                <a:ea typeface="IBM Plex Mono" pitchFamily="34" charset="-122"/>
                <a:cs typeface="IBM Plex Mono" pitchFamily="34" charset="-120"/>
              </a:rPr>
              <a:t>03</a:t>
            </a:r>
            <a:endParaRPr lang="en-US" sz="900" dirty="0"/>
          </a:p>
        </p:txBody>
      </p:sp>
      <p:sp>
        <p:nvSpPr>
          <p:cNvPr id="19" name="Text 17"/>
          <p:cNvSpPr/>
          <p:nvPr/>
        </p:nvSpPr>
        <p:spPr>
          <a:xfrm>
            <a:off x="6720840" y="2895600"/>
            <a:ext cx="4830775" cy="487680"/>
          </a:xfrm>
          <a:prstGeom prst="rect">
            <a:avLst/>
          </a:prstGeom>
          <a:noFill/>
          <a:ln/>
        </p:spPr>
        <p:txBody>
          <a:bodyPr wrap="square" lIns="0" tIns="0" rIns="0" bIns="0" rtlCol="0" anchor="ctr"/>
          <a:lstStyle/>
          <a:p>
            <a:pPr marL="0" indent="0">
              <a:buNone/>
            </a:pPr>
            <a:r>
              <a:rPr lang="en-US" sz="1200" dirty="0">
                <a:solidFill>
                  <a:srgbClr val="FFFFFF"/>
                </a:solidFill>
                <a:latin typeface="IBM Plex Sans" pitchFamily="34" charset="0"/>
                <a:ea typeface="IBM Plex Sans" pitchFamily="34" charset="-122"/>
                <a:cs typeface="IBM Plex Sans" pitchFamily="34" charset="-120"/>
              </a:rPr>
              <a:t>AI-powered document and data processing</a:t>
            </a:r>
            <a:endParaRPr lang="en-US" sz="1200" dirty="0"/>
          </a:p>
        </p:txBody>
      </p:sp>
      <p:sp>
        <p:nvSpPr>
          <p:cNvPr id="20" name="Shape 18"/>
          <p:cNvSpPr/>
          <p:nvPr/>
        </p:nvSpPr>
        <p:spPr>
          <a:xfrm>
            <a:off x="6263640" y="3383280"/>
            <a:ext cx="5287975" cy="0"/>
          </a:xfrm>
          <a:prstGeom prst="line">
            <a:avLst/>
          </a:prstGeom>
          <a:noFill/>
          <a:ln w="9525">
            <a:solidFill>
              <a:srgbClr val="2E3033"/>
            </a:solidFill>
            <a:prstDash val="solid"/>
          </a:ln>
        </p:spPr>
        <p:txBody>
          <a:bodyPr/>
          <a:lstStyle/>
          <a:p>
            <a:endParaRPr lang="en-PK"/>
          </a:p>
        </p:txBody>
      </p:sp>
      <p:sp>
        <p:nvSpPr>
          <p:cNvPr id="21" name="Text 19"/>
          <p:cNvSpPr/>
          <p:nvPr/>
        </p:nvSpPr>
        <p:spPr>
          <a:xfrm>
            <a:off x="6263640" y="3383280"/>
            <a:ext cx="411480" cy="487680"/>
          </a:xfrm>
          <a:prstGeom prst="rect">
            <a:avLst/>
          </a:prstGeom>
          <a:noFill/>
          <a:ln/>
        </p:spPr>
        <p:txBody>
          <a:bodyPr wrap="square" lIns="0" tIns="0" rIns="0" bIns="0" rtlCol="0" anchor="ctr"/>
          <a:lstStyle/>
          <a:p>
            <a:pPr marL="0" indent="0">
              <a:buNone/>
            </a:pPr>
            <a:r>
              <a:rPr lang="en-US" sz="900" dirty="0">
                <a:solidFill>
                  <a:srgbClr val="E8A33D"/>
                </a:solidFill>
                <a:latin typeface="IBM Plex Mono" pitchFamily="34" charset="0"/>
                <a:ea typeface="IBM Plex Mono" pitchFamily="34" charset="-122"/>
                <a:cs typeface="IBM Plex Mono" pitchFamily="34" charset="-120"/>
              </a:rPr>
              <a:t>04</a:t>
            </a:r>
            <a:endParaRPr lang="en-US" sz="900" dirty="0"/>
          </a:p>
        </p:txBody>
      </p:sp>
      <p:sp>
        <p:nvSpPr>
          <p:cNvPr id="22" name="Text 20"/>
          <p:cNvSpPr/>
          <p:nvPr/>
        </p:nvSpPr>
        <p:spPr>
          <a:xfrm>
            <a:off x="6720840" y="3383280"/>
            <a:ext cx="4830775" cy="487680"/>
          </a:xfrm>
          <a:prstGeom prst="rect">
            <a:avLst/>
          </a:prstGeom>
          <a:noFill/>
          <a:ln/>
        </p:spPr>
        <p:txBody>
          <a:bodyPr wrap="square" lIns="0" tIns="0" rIns="0" bIns="0" rtlCol="0" anchor="ctr"/>
          <a:lstStyle/>
          <a:p>
            <a:pPr marL="0" indent="0">
              <a:buNone/>
            </a:pPr>
            <a:r>
              <a:rPr lang="en-US" sz="1200" dirty="0">
                <a:solidFill>
                  <a:srgbClr val="FFFFFF"/>
                </a:solidFill>
                <a:latin typeface="IBM Plex Sans" pitchFamily="34" charset="0"/>
                <a:ea typeface="IBM Plex Sans" pitchFamily="34" charset="-122"/>
                <a:cs typeface="IBM Plex Sans" pitchFamily="34" charset="-120"/>
              </a:rPr>
              <a:t>Invoice, billing, reporting, and approval automation</a:t>
            </a:r>
            <a:endParaRPr lang="en-US" sz="1200" dirty="0"/>
          </a:p>
        </p:txBody>
      </p:sp>
      <p:sp>
        <p:nvSpPr>
          <p:cNvPr id="23" name="Shape 21"/>
          <p:cNvSpPr/>
          <p:nvPr/>
        </p:nvSpPr>
        <p:spPr>
          <a:xfrm>
            <a:off x="6263640" y="3870960"/>
            <a:ext cx="5287975" cy="0"/>
          </a:xfrm>
          <a:prstGeom prst="line">
            <a:avLst/>
          </a:prstGeom>
          <a:noFill/>
          <a:ln w="9525">
            <a:solidFill>
              <a:srgbClr val="2E3033"/>
            </a:solidFill>
            <a:prstDash val="solid"/>
          </a:ln>
        </p:spPr>
        <p:txBody>
          <a:bodyPr/>
          <a:lstStyle/>
          <a:p>
            <a:endParaRPr lang="en-PK"/>
          </a:p>
        </p:txBody>
      </p:sp>
      <p:sp>
        <p:nvSpPr>
          <p:cNvPr id="24" name="Text 22"/>
          <p:cNvSpPr/>
          <p:nvPr/>
        </p:nvSpPr>
        <p:spPr>
          <a:xfrm>
            <a:off x="6263640" y="3870960"/>
            <a:ext cx="411480" cy="487680"/>
          </a:xfrm>
          <a:prstGeom prst="rect">
            <a:avLst/>
          </a:prstGeom>
          <a:noFill/>
          <a:ln/>
        </p:spPr>
        <p:txBody>
          <a:bodyPr wrap="square" lIns="0" tIns="0" rIns="0" bIns="0" rtlCol="0" anchor="ctr"/>
          <a:lstStyle/>
          <a:p>
            <a:pPr marL="0" indent="0">
              <a:buNone/>
            </a:pPr>
            <a:r>
              <a:rPr lang="en-US" sz="900" dirty="0">
                <a:solidFill>
                  <a:srgbClr val="E8A33D"/>
                </a:solidFill>
                <a:latin typeface="IBM Plex Mono" pitchFamily="34" charset="0"/>
                <a:ea typeface="IBM Plex Mono" pitchFamily="34" charset="-122"/>
                <a:cs typeface="IBM Plex Mono" pitchFamily="34" charset="-120"/>
              </a:rPr>
              <a:t>05</a:t>
            </a:r>
            <a:endParaRPr lang="en-US" sz="900" dirty="0"/>
          </a:p>
        </p:txBody>
      </p:sp>
      <p:sp>
        <p:nvSpPr>
          <p:cNvPr id="25" name="Text 23"/>
          <p:cNvSpPr/>
          <p:nvPr/>
        </p:nvSpPr>
        <p:spPr>
          <a:xfrm>
            <a:off x="6720840" y="3870960"/>
            <a:ext cx="4830775" cy="487680"/>
          </a:xfrm>
          <a:prstGeom prst="rect">
            <a:avLst/>
          </a:prstGeom>
          <a:noFill/>
          <a:ln/>
        </p:spPr>
        <p:txBody>
          <a:bodyPr wrap="square" lIns="0" tIns="0" rIns="0" bIns="0" rtlCol="0" anchor="ctr"/>
          <a:lstStyle/>
          <a:p>
            <a:pPr marL="0" indent="0">
              <a:buNone/>
            </a:pPr>
            <a:r>
              <a:rPr lang="en-US" sz="1200" dirty="0">
                <a:solidFill>
                  <a:srgbClr val="FFFFFF"/>
                </a:solidFill>
                <a:latin typeface="IBM Plex Sans" pitchFamily="34" charset="0"/>
                <a:ea typeface="IBM Plex Sans" pitchFamily="34" charset="-122"/>
                <a:cs typeface="IBM Plex Sans" pitchFamily="34" charset="-120"/>
              </a:rPr>
              <a:t>CRM, ERP, email, spreadsheet, and API integrations</a:t>
            </a:r>
            <a:endParaRPr lang="en-US" sz="1200" dirty="0"/>
          </a:p>
        </p:txBody>
      </p:sp>
      <p:sp>
        <p:nvSpPr>
          <p:cNvPr id="26" name="Shape 24"/>
          <p:cNvSpPr/>
          <p:nvPr/>
        </p:nvSpPr>
        <p:spPr>
          <a:xfrm>
            <a:off x="6263640" y="4358640"/>
            <a:ext cx="5287975" cy="0"/>
          </a:xfrm>
          <a:prstGeom prst="line">
            <a:avLst/>
          </a:prstGeom>
          <a:noFill/>
          <a:ln w="9525">
            <a:solidFill>
              <a:srgbClr val="2E3033"/>
            </a:solidFill>
            <a:prstDash val="solid"/>
          </a:ln>
        </p:spPr>
        <p:txBody>
          <a:bodyPr/>
          <a:lstStyle/>
          <a:p>
            <a:endParaRPr lang="en-PK"/>
          </a:p>
        </p:txBody>
      </p:sp>
      <p:sp>
        <p:nvSpPr>
          <p:cNvPr id="27" name="Text 25"/>
          <p:cNvSpPr/>
          <p:nvPr/>
        </p:nvSpPr>
        <p:spPr>
          <a:xfrm>
            <a:off x="6263640" y="4358640"/>
            <a:ext cx="411480" cy="487680"/>
          </a:xfrm>
          <a:prstGeom prst="rect">
            <a:avLst/>
          </a:prstGeom>
          <a:noFill/>
          <a:ln/>
        </p:spPr>
        <p:txBody>
          <a:bodyPr wrap="square" lIns="0" tIns="0" rIns="0" bIns="0" rtlCol="0" anchor="ctr"/>
          <a:lstStyle/>
          <a:p>
            <a:pPr marL="0" indent="0">
              <a:buNone/>
            </a:pPr>
            <a:r>
              <a:rPr lang="en-US" sz="900" dirty="0">
                <a:solidFill>
                  <a:srgbClr val="E8A33D"/>
                </a:solidFill>
                <a:latin typeface="IBM Plex Mono" pitchFamily="34" charset="0"/>
                <a:ea typeface="IBM Plex Mono" pitchFamily="34" charset="-122"/>
                <a:cs typeface="IBM Plex Mono" pitchFamily="34" charset="-120"/>
              </a:rPr>
              <a:t>06</a:t>
            </a:r>
            <a:endParaRPr lang="en-US" sz="900" dirty="0"/>
          </a:p>
        </p:txBody>
      </p:sp>
      <p:sp>
        <p:nvSpPr>
          <p:cNvPr id="28" name="Text 26"/>
          <p:cNvSpPr/>
          <p:nvPr/>
        </p:nvSpPr>
        <p:spPr>
          <a:xfrm>
            <a:off x="6720840" y="4358640"/>
            <a:ext cx="4830775" cy="487680"/>
          </a:xfrm>
          <a:prstGeom prst="rect">
            <a:avLst/>
          </a:prstGeom>
          <a:noFill/>
          <a:ln/>
        </p:spPr>
        <p:txBody>
          <a:bodyPr wrap="square" lIns="0" tIns="0" rIns="0" bIns="0" rtlCol="0" anchor="ctr"/>
          <a:lstStyle/>
          <a:p>
            <a:pPr marL="0" indent="0">
              <a:buNone/>
            </a:pPr>
            <a:r>
              <a:rPr lang="en-US" sz="1200" dirty="0">
                <a:solidFill>
                  <a:srgbClr val="FFFFFF"/>
                </a:solidFill>
                <a:latin typeface="IBM Plex Sans" pitchFamily="34" charset="0"/>
                <a:ea typeface="IBM Plex Sans" pitchFamily="34" charset="-122"/>
                <a:cs typeface="IBM Plex Sans" pitchFamily="34" charset="-120"/>
              </a:rPr>
              <a:t>Scheduled jobs, background processing, and event-driven workflows</a:t>
            </a:r>
            <a:endParaRPr lang="en-US" sz="1200" dirty="0"/>
          </a:p>
        </p:txBody>
      </p:sp>
      <p:sp>
        <p:nvSpPr>
          <p:cNvPr id="29" name="Shape 27"/>
          <p:cNvSpPr/>
          <p:nvPr/>
        </p:nvSpPr>
        <p:spPr>
          <a:xfrm>
            <a:off x="6263640" y="4846320"/>
            <a:ext cx="5287975" cy="0"/>
          </a:xfrm>
          <a:prstGeom prst="line">
            <a:avLst/>
          </a:prstGeom>
          <a:noFill/>
          <a:ln w="9525">
            <a:solidFill>
              <a:srgbClr val="2E3033"/>
            </a:solidFill>
            <a:prstDash val="solid"/>
          </a:ln>
        </p:spPr>
        <p:txBody>
          <a:bodyPr/>
          <a:lstStyle/>
          <a:p>
            <a:endParaRPr lang="en-PK"/>
          </a:p>
        </p:txBody>
      </p:sp>
      <p:sp>
        <p:nvSpPr>
          <p:cNvPr id="30" name="Text 28"/>
          <p:cNvSpPr/>
          <p:nvPr/>
        </p:nvSpPr>
        <p:spPr>
          <a:xfrm>
            <a:off x="6263640" y="4846320"/>
            <a:ext cx="411480" cy="487680"/>
          </a:xfrm>
          <a:prstGeom prst="rect">
            <a:avLst/>
          </a:prstGeom>
          <a:noFill/>
          <a:ln/>
        </p:spPr>
        <p:txBody>
          <a:bodyPr wrap="square" lIns="0" tIns="0" rIns="0" bIns="0" rtlCol="0" anchor="ctr"/>
          <a:lstStyle/>
          <a:p>
            <a:pPr marL="0" indent="0">
              <a:buNone/>
            </a:pPr>
            <a:r>
              <a:rPr lang="en-US" sz="900" dirty="0">
                <a:solidFill>
                  <a:srgbClr val="E8A33D"/>
                </a:solidFill>
                <a:latin typeface="IBM Plex Mono" pitchFamily="34" charset="0"/>
                <a:ea typeface="IBM Plex Mono" pitchFamily="34" charset="-122"/>
                <a:cs typeface="IBM Plex Mono" pitchFamily="34" charset="-120"/>
              </a:rPr>
              <a:t>07</a:t>
            </a:r>
            <a:endParaRPr lang="en-US" sz="900" dirty="0"/>
          </a:p>
        </p:txBody>
      </p:sp>
      <p:sp>
        <p:nvSpPr>
          <p:cNvPr id="31" name="Text 29"/>
          <p:cNvSpPr/>
          <p:nvPr/>
        </p:nvSpPr>
        <p:spPr>
          <a:xfrm>
            <a:off x="6720840" y="4846320"/>
            <a:ext cx="4830775" cy="487680"/>
          </a:xfrm>
          <a:prstGeom prst="rect">
            <a:avLst/>
          </a:prstGeom>
          <a:noFill/>
          <a:ln/>
        </p:spPr>
        <p:txBody>
          <a:bodyPr wrap="square" lIns="0" tIns="0" rIns="0" bIns="0" rtlCol="0" anchor="ctr"/>
          <a:lstStyle/>
          <a:p>
            <a:pPr marL="0" indent="0">
              <a:buNone/>
            </a:pPr>
            <a:r>
              <a:rPr lang="en-US" sz="1200" dirty="0">
                <a:solidFill>
                  <a:srgbClr val="FFFFFF"/>
                </a:solidFill>
                <a:latin typeface="IBM Plex Sans" pitchFamily="34" charset="0"/>
                <a:ea typeface="IBM Plex Sans" pitchFamily="34" charset="-122"/>
                <a:cs typeface="IBM Plex Sans" pitchFamily="34" charset="-120"/>
              </a:rPr>
              <a:t>Automated notifications, alerts, data synchronisation, and reporting</a:t>
            </a:r>
            <a:endParaRPr lang="en-US" sz="1200" dirty="0"/>
          </a:p>
        </p:txBody>
      </p:sp>
      <p:sp>
        <p:nvSpPr>
          <p:cNvPr id="32" name="Shape 30"/>
          <p:cNvSpPr/>
          <p:nvPr/>
        </p:nvSpPr>
        <p:spPr>
          <a:xfrm>
            <a:off x="6263640" y="5334000"/>
            <a:ext cx="5287975" cy="0"/>
          </a:xfrm>
          <a:prstGeom prst="line">
            <a:avLst/>
          </a:prstGeom>
          <a:noFill/>
          <a:ln w="9525">
            <a:solidFill>
              <a:srgbClr val="2E3033"/>
            </a:solidFill>
            <a:prstDash val="solid"/>
          </a:ln>
        </p:spPr>
        <p:txBody>
          <a:bodyPr/>
          <a:lstStyle/>
          <a:p>
            <a:endParaRPr lang="en-PK"/>
          </a:p>
        </p:txBody>
      </p:sp>
      <p:sp>
        <p:nvSpPr>
          <p:cNvPr id="33" name="Text 31"/>
          <p:cNvSpPr/>
          <p:nvPr/>
        </p:nvSpPr>
        <p:spPr>
          <a:xfrm>
            <a:off x="6263640" y="5334000"/>
            <a:ext cx="411480" cy="487680"/>
          </a:xfrm>
          <a:prstGeom prst="rect">
            <a:avLst/>
          </a:prstGeom>
          <a:noFill/>
          <a:ln/>
        </p:spPr>
        <p:txBody>
          <a:bodyPr wrap="square" lIns="0" tIns="0" rIns="0" bIns="0" rtlCol="0" anchor="ctr"/>
          <a:lstStyle/>
          <a:p>
            <a:pPr marL="0" indent="0">
              <a:buNone/>
            </a:pPr>
            <a:r>
              <a:rPr lang="en-US" sz="900" dirty="0">
                <a:solidFill>
                  <a:srgbClr val="E8A33D"/>
                </a:solidFill>
                <a:latin typeface="IBM Plex Mono" pitchFamily="34" charset="0"/>
                <a:ea typeface="IBM Plex Mono" pitchFamily="34" charset="-122"/>
                <a:cs typeface="IBM Plex Mono" pitchFamily="34" charset="-120"/>
              </a:rPr>
              <a:t>08</a:t>
            </a:r>
            <a:endParaRPr lang="en-US" sz="900" dirty="0"/>
          </a:p>
        </p:txBody>
      </p:sp>
      <p:sp>
        <p:nvSpPr>
          <p:cNvPr id="34" name="Text 32"/>
          <p:cNvSpPr/>
          <p:nvPr/>
        </p:nvSpPr>
        <p:spPr>
          <a:xfrm>
            <a:off x="6720840" y="5334000"/>
            <a:ext cx="4830775" cy="487680"/>
          </a:xfrm>
          <a:prstGeom prst="rect">
            <a:avLst/>
          </a:prstGeom>
          <a:noFill/>
          <a:ln/>
        </p:spPr>
        <p:txBody>
          <a:bodyPr wrap="square" lIns="0" tIns="0" rIns="0" bIns="0" rtlCol="0" anchor="ctr"/>
          <a:lstStyle/>
          <a:p>
            <a:pPr marL="0" indent="0">
              <a:buNone/>
            </a:pPr>
            <a:r>
              <a:rPr lang="en-US" sz="1200" dirty="0">
                <a:solidFill>
                  <a:srgbClr val="FFFFFF"/>
                </a:solidFill>
                <a:latin typeface="IBM Plex Sans" pitchFamily="34" charset="0"/>
                <a:ea typeface="IBM Plex Sans" pitchFamily="34" charset="-122"/>
                <a:cs typeface="IBM Plex Sans" pitchFamily="34" charset="-120"/>
              </a:rPr>
              <a:t>Human approval steps where automation should not make the final decision</a:t>
            </a:r>
            <a:endParaRPr lang="en-US" sz="1200" dirty="0"/>
          </a:p>
        </p:txBody>
      </p:sp>
      <p:sp>
        <p:nvSpPr>
          <p:cNvPr id="35" name="Shape 33"/>
          <p:cNvSpPr/>
          <p:nvPr/>
        </p:nvSpPr>
        <p:spPr>
          <a:xfrm>
            <a:off x="6263640" y="5821680"/>
            <a:ext cx="5287975" cy="0"/>
          </a:xfrm>
          <a:prstGeom prst="line">
            <a:avLst/>
          </a:prstGeom>
          <a:noFill/>
          <a:ln w="9525">
            <a:solidFill>
              <a:srgbClr val="2E3033"/>
            </a:solidFill>
            <a:prstDash val="solid"/>
          </a:ln>
        </p:spPr>
        <p:txBody>
          <a:bodyPr/>
          <a:lstStyle/>
          <a:p>
            <a:endParaRPr lang="en-PK"/>
          </a:p>
        </p:txBody>
      </p:sp>
      <p:sp>
        <p:nvSpPr>
          <p:cNvPr id="36" name="Text 34"/>
          <p:cNvSpPr/>
          <p:nvPr/>
        </p:nvSpPr>
        <p:spPr>
          <a:xfrm>
            <a:off x="6263640" y="5821680"/>
            <a:ext cx="411480" cy="487680"/>
          </a:xfrm>
          <a:prstGeom prst="rect">
            <a:avLst/>
          </a:prstGeom>
          <a:noFill/>
          <a:ln/>
        </p:spPr>
        <p:txBody>
          <a:bodyPr wrap="square" lIns="0" tIns="0" rIns="0" bIns="0" rtlCol="0" anchor="ctr"/>
          <a:lstStyle/>
          <a:p>
            <a:pPr marL="0" indent="0">
              <a:buNone/>
            </a:pPr>
            <a:r>
              <a:rPr lang="en-US" sz="900" dirty="0">
                <a:solidFill>
                  <a:srgbClr val="E8A33D"/>
                </a:solidFill>
                <a:latin typeface="IBM Plex Mono" pitchFamily="34" charset="0"/>
                <a:ea typeface="IBM Plex Mono" pitchFamily="34" charset="-122"/>
                <a:cs typeface="IBM Plex Mono" pitchFamily="34" charset="-120"/>
              </a:rPr>
              <a:t>09</a:t>
            </a:r>
            <a:endParaRPr lang="en-US" sz="900" dirty="0"/>
          </a:p>
        </p:txBody>
      </p:sp>
      <p:sp>
        <p:nvSpPr>
          <p:cNvPr id="37" name="Text 35"/>
          <p:cNvSpPr/>
          <p:nvPr/>
        </p:nvSpPr>
        <p:spPr>
          <a:xfrm>
            <a:off x="6720840" y="5821680"/>
            <a:ext cx="4830775" cy="487680"/>
          </a:xfrm>
          <a:prstGeom prst="rect">
            <a:avLst/>
          </a:prstGeom>
          <a:noFill/>
          <a:ln/>
        </p:spPr>
        <p:txBody>
          <a:bodyPr wrap="square" lIns="0" tIns="0" rIns="0" bIns="0" rtlCol="0" anchor="ctr"/>
          <a:lstStyle/>
          <a:p>
            <a:pPr marL="0" indent="0">
              <a:buNone/>
            </a:pPr>
            <a:r>
              <a:rPr lang="en-US" sz="1200" dirty="0">
                <a:solidFill>
                  <a:srgbClr val="FFFFFF"/>
                </a:solidFill>
                <a:latin typeface="IBM Plex Sans" pitchFamily="34" charset="0"/>
                <a:ea typeface="IBM Plex Sans" pitchFamily="34" charset="-122"/>
                <a:cs typeface="IBM Plex Sans" pitchFamily="34" charset="-120"/>
              </a:rPr>
              <a:t>Monitoring, error handling, logging, and operational handover</a:t>
            </a:r>
            <a:endParaRPr lang="en-US" sz="1200" dirty="0"/>
          </a:p>
        </p:txBody>
      </p:sp>
      <p:sp>
        <p:nvSpPr>
          <p:cNvPr id="38" name="Shape 36"/>
          <p:cNvSpPr/>
          <p:nvPr/>
        </p:nvSpPr>
        <p:spPr>
          <a:xfrm>
            <a:off x="6263640" y="6309360"/>
            <a:ext cx="5287975" cy="0"/>
          </a:xfrm>
          <a:prstGeom prst="line">
            <a:avLst/>
          </a:prstGeom>
          <a:noFill/>
          <a:ln w="9525">
            <a:solidFill>
              <a:srgbClr val="2E3033"/>
            </a:solidFill>
            <a:prstDash val="solid"/>
          </a:ln>
        </p:spPr>
        <p:txBody>
          <a:bodyPr/>
          <a:lstStyle/>
          <a:p>
            <a:endParaRPr lang="en-PK"/>
          </a:p>
        </p:txBody>
      </p:sp>
      <p:sp>
        <p:nvSpPr>
          <p:cNvPr id="39" name="Text 37"/>
          <p:cNvSpPr/>
          <p:nvPr/>
        </p:nvSpPr>
        <p:spPr>
          <a:xfrm>
            <a:off x="640080" y="6473952"/>
            <a:ext cx="6400800" cy="164592"/>
          </a:xfrm>
          <a:prstGeom prst="rect">
            <a:avLst/>
          </a:prstGeom>
          <a:noFill/>
          <a:ln/>
        </p:spPr>
        <p:txBody>
          <a:bodyPr wrap="square" lIns="0" tIns="0" rIns="0" bIns="0" rtlCol="0" anchor="t"/>
          <a:lstStyle/>
          <a:p>
            <a:pPr marL="0" indent="0">
              <a:buNone/>
            </a:pPr>
            <a:r>
              <a:rPr lang="en-US" sz="700" kern="0" spc="150" dirty="0">
                <a:solidFill>
                  <a:srgbClr val="8B8D8F"/>
                </a:solidFill>
                <a:latin typeface="IBM Plex Mono" pitchFamily="34" charset="0"/>
                <a:ea typeface="IBM Plex Mono" pitchFamily="34" charset="-122"/>
                <a:cs typeface="IBM Plex Mono" pitchFamily="34" charset="-120"/>
              </a:rPr>
              <a:t>BOLTER TECHNOLOGIES PRIVATE LIMITED  ·  COMPANY PROFILE</a:t>
            </a:r>
            <a:endParaRPr lang="en-US" sz="700" dirty="0"/>
          </a:p>
        </p:txBody>
      </p:sp>
      <p:sp>
        <p:nvSpPr>
          <p:cNvPr id="40" name="Text 38"/>
          <p:cNvSpPr/>
          <p:nvPr/>
        </p:nvSpPr>
        <p:spPr>
          <a:xfrm>
            <a:off x="9722815" y="6473952"/>
            <a:ext cx="1828800" cy="164592"/>
          </a:xfrm>
          <a:prstGeom prst="rect">
            <a:avLst/>
          </a:prstGeom>
          <a:noFill/>
          <a:ln/>
        </p:spPr>
        <p:txBody>
          <a:bodyPr wrap="square" lIns="0" tIns="0" rIns="0" bIns="0" rtlCol="0" anchor="t"/>
          <a:lstStyle/>
          <a:p>
            <a:pPr marL="0" indent="0" algn="r">
              <a:buNone/>
            </a:pPr>
            <a:r>
              <a:rPr lang="en-US" sz="700" kern="0" spc="150" dirty="0">
                <a:solidFill>
                  <a:srgbClr val="8B8D8F"/>
                </a:solidFill>
                <a:latin typeface="IBM Plex Mono" pitchFamily="34" charset="0"/>
                <a:ea typeface="IBM Plex Mono" pitchFamily="34" charset="-122"/>
                <a:cs typeface="IBM Plex Mono" pitchFamily="34" charset="-120"/>
              </a:rPr>
              <a:t>07 / 23</a:t>
            </a:r>
            <a:endParaRPr lang="en-US" sz="700" dirty="0"/>
          </a:p>
        </p:txBody>
      </p:sp>
      <p:sp>
        <p:nvSpPr>
          <p:cNvPr id="42" name="Text 5">
            <a:extLst>
              <a:ext uri="{FF2B5EF4-FFF2-40B4-BE49-F238E27FC236}">
                <a16:creationId xmlns:a16="http://schemas.microsoft.com/office/drawing/2014/main" id="{8C5CF463-CE3C-98E0-1886-0B742AD9BC6A}"/>
              </a:ext>
            </a:extLst>
          </p:cNvPr>
          <p:cNvSpPr/>
          <p:nvPr/>
        </p:nvSpPr>
        <p:spPr>
          <a:xfrm>
            <a:off x="640080" y="4114800"/>
            <a:ext cx="5029200" cy="274320"/>
          </a:xfrm>
          <a:prstGeom prst="rect">
            <a:avLst/>
          </a:prstGeom>
          <a:noFill/>
          <a:ln/>
        </p:spPr>
        <p:txBody>
          <a:bodyPr wrap="square" lIns="0" tIns="0" rIns="0" bIns="0" rtlCol="0" anchor="t"/>
          <a:lstStyle/>
          <a:p>
            <a:pPr marL="0" indent="0">
              <a:lnSpc>
                <a:spcPct val="125000"/>
              </a:lnSpc>
              <a:buNone/>
            </a:pPr>
            <a:r>
              <a:rPr lang="en-US" sz="1250" b="1" dirty="0">
                <a:solidFill>
                  <a:srgbClr val="E8A33D"/>
                </a:solidFill>
                <a:latin typeface="Space Grotesk" pitchFamily="34" charset="0"/>
                <a:ea typeface="Space Grotesk" pitchFamily="34" charset="-122"/>
                <a:cs typeface="Space Grotesk" pitchFamily="34" charset="-120"/>
              </a:rPr>
              <a:t>Tenant Management System</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3F1ED"/>
        </a:solidFill>
        <a:effectLst/>
      </p:bgPr>
    </p:bg>
    <p:spTree>
      <p:nvGrpSpPr>
        <p:cNvPr id="1" name=""/>
        <p:cNvGrpSpPr/>
        <p:nvPr/>
      </p:nvGrpSpPr>
      <p:grpSpPr>
        <a:xfrm>
          <a:off x="0" y="0"/>
          <a:ext cx="0" cy="0"/>
          <a:chOff x="0" y="0"/>
          <a:chExt cx="0" cy="0"/>
        </a:xfrm>
      </p:grpSpPr>
      <p:sp>
        <p:nvSpPr>
          <p:cNvPr id="2" name="Shape 0"/>
          <p:cNvSpPr/>
          <p:nvPr/>
        </p:nvSpPr>
        <p:spPr>
          <a:xfrm>
            <a:off x="640080" y="571500"/>
            <a:ext cx="219456" cy="32004"/>
          </a:xfrm>
          <a:prstGeom prst="rect">
            <a:avLst/>
          </a:prstGeom>
          <a:solidFill>
            <a:srgbClr val="8F5D0A"/>
          </a:solidFill>
          <a:ln/>
        </p:spPr>
        <p:txBody>
          <a:bodyPr/>
          <a:lstStyle/>
          <a:p>
            <a:endParaRPr lang="en-PK"/>
          </a:p>
        </p:txBody>
      </p:sp>
      <p:sp>
        <p:nvSpPr>
          <p:cNvPr id="3" name="Text 1"/>
          <p:cNvSpPr/>
          <p:nvPr/>
        </p:nvSpPr>
        <p:spPr>
          <a:xfrm>
            <a:off x="969264" y="502920"/>
            <a:ext cx="8229600" cy="182880"/>
          </a:xfrm>
          <a:prstGeom prst="rect">
            <a:avLst/>
          </a:prstGeom>
          <a:noFill/>
          <a:ln/>
        </p:spPr>
        <p:txBody>
          <a:bodyPr wrap="square" lIns="0" tIns="0" rIns="0" bIns="0" rtlCol="0" anchor="t"/>
          <a:lstStyle/>
          <a:p>
            <a:pPr marL="0" indent="0">
              <a:buNone/>
            </a:pPr>
            <a:r>
              <a:rPr lang="en-US" sz="900" b="1" kern="0" spc="200" dirty="0">
                <a:solidFill>
                  <a:srgbClr val="8F5D0A"/>
                </a:solidFill>
                <a:latin typeface="IBM Plex Mono" pitchFamily="34" charset="0"/>
                <a:ea typeface="IBM Plex Mono" pitchFamily="34" charset="-122"/>
                <a:cs typeface="IBM Plex Mono" pitchFamily="34" charset="-120"/>
              </a:rPr>
              <a:t>03  PRACTICE  ·  04 / 05</a:t>
            </a:r>
            <a:endParaRPr lang="en-US" sz="900" dirty="0"/>
          </a:p>
        </p:txBody>
      </p:sp>
      <p:sp>
        <p:nvSpPr>
          <p:cNvPr id="4" name="Text 2"/>
          <p:cNvSpPr/>
          <p:nvPr/>
        </p:nvSpPr>
        <p:spPr>
          <a:xfrm>
            <a:off x="640080" y="777240"/>
            <a:ext cx="5303520" cy="685800"/>
          </a:xfrm>
          <a:prstGeom prst="rect">
            <a:avLst/>
          </a:prstGeom>
          <a:noFill/>
          <a:ln/>
        </p:spPr>
        <p:txBody>
          <a:bodyPr wrap="square" lIns="0" tIns="0" rIns="0" bIns="0" rtlCol="0" anchor="t"/>
          <a:lstStyle/>
          <a:p>
            <a:pPr marL="0" indent="0">
              <a:buNone/>
            </a:pPr>
            <a:r>
              <a:rPr lang="en-US" sz="3400" b="1" dirty="0">
                <a:solidFill>
                  <a:srgbClr val="14161A"/>
                </a:solidFill>
                <a:latin typeface="Space Grotesk" pitchFamily="34" charset="0"/>
                <a:ea typeface="Space Grotesk" pitchFamily="34" charset="-122"/>
                <a:cs typeface="Space Grotesk" pitchFamily="34" charset="-120"/>
              </a:rPr>
              <a:t>Data analytics</a:t>
            </a:r>
            <a:endParaRPr lang="en-US" sz="3400" dirty="0"/>
          </a:p>
        </p:txBody>
      </p:sp>
      <p:sp>
        <p:nvSpPr>
          <p:cNvPr id="5" name="Text 3"/>
          <p:cNvSpPr/>
          <p:nvPr/>
        </p:nvSpPr>
        <p:spPr>
          <a:xfrm>
            <a:off x="640080" y="1645920"/>
            <a:ext cx="5029200" cy="1645920"/>
          </a:xfrm>
          <a:prstGeom prst="rect">
            <a:avLst/>
          </a:prstGeom>
          <a:noFill/>
          <a:ln/>
        </p:spPr>
        <p:txBody>
          <a:bodyPr wrap="square" lIns="0" tIns="0" rIns="0" bIns="0" rtlCol="0" anchor="t"/>
          <a:lstStyle/>
          <a:p>
            <a:pPr marL="0" indent="0">
              <a:lnSpc>
                <a:spcPct val="130000"/>
              </a:lnSpc>
              <a:buNone/>
            </a:pPr>
            <a:r>
              <a:rPr lang="en-US" sz="1350" dirty="0">
                <a:solidFill>
                  <a:srgbClr val="14161A"/>
                </a:solidFill>
                <a:latin typeface="IBM Plex Sans" pitchFamily="34" charset="0"/>
                <a:ea typeface="IBM Plex Sans" pitchFamily="34" charset="-122"/>
                <a:cs typeface="IBM Plex Sans" pitchFamily="34" charset="-120"/>
              </a:rPr>
              <a:t>We turn disconnected, messy, or underused data into information your team can trust and act on. From data pipelines and database design to analytics, dashboards, forecasting, and machine learning, we build the systems that make your data useful for everyday decisions.</a:t>
            </a:r>
            <a:endParaRPr lang="en-US" sz="1350" dirty="0"/>
          </a:p>
        </p:txBody>
      </p:sp>
      <p:sp>
        <p:nvSpPr>
          <p:cNvPr id="6" name="Text 4"/>
          <p:cNvSpPr/>
          <p:nvPr/>
        </p:nvSpPr>
        <p:spPr>
          <a:xfrm>
            <a:off x="640080" y="3429000"/>
            <a:ext cx="5029200" cy="182880"/>
          </a:xfrm>
          <a:prstGeom prst="rect">
            <a:avLst/>
          </a:prstGeom>
          <a:noFill/>
          <a:ln/>
        </p:spPr>
        <p:txBody>
          <a:bodyPr wrap="square" lIns="0" tIns="0" rIns="0" bIns="0" rtlCol="0" anchor="t"/>
          <a:lstStyle/>
          <a:p>
            <a:pPr marL="0" indent="0">
              <a:buNone/>
            </a:pPr>
            <a:r>
              <a:rPr lang="en-US" sz="800" kern="0" spc="150" dirty="0">
                <a:solidFill>
                  <a:srgbClr val="6F6A5F"/>
                </a:solidFill>
                <a:latin typeface="IBM Plex Mono" pitchFamily="34" charset="0"/>
                <a:ea typeface="IBM Plex Mono" pitchFamily="34" charset="-122"/>
                <a:cs typeface="IBM Plex Mono" pitchFamily="34" charset="-120"/>
              </a:rPr>
              <a:t>SELECTED WORK</a:t>
            </a:r>
            <a:endParaRPr lang="en-US" sz="800" dirty="0"/>
          </a:p>
        </p:txBody>
      </p:sp>
      <p:sp>
        <p:nvSpPr>
          <p:cNvPr id="7" name="Text 5"/>
          <p:cNvSpPr/>
          <p:nvPr/>
        </p:nvSpPr>
        <p:spPr>
          <a:xfrm>
            <a:off x="640080" y="3657600"/>
            <a:ext cx="5029200" cy="1097280"/>
          </a:xfrm>
          <a:prstGeom prst="rect">
            <a:avLst/>
          </a:prstGeom>
          <a:noFill/>
          <a:ln/>
        </p:spPr>
        <p:txBody>
          <a:bodyPr wrap="square" lIns="0" tIns="0" rIns="0" bIns="0" rtlCol="0" anchor="t"/>
          <a:lstStyle/>
          <a:p>
            <a:pPr marL="0" indent="0">
              <a:lnSpc>
                <a:spcPct val="125000"/>
              </a:lnSpc>
              <a:buNone/>
            </a:pPr>
            <a:r>
              <a:rPr lang="en-US" sz="1250" b="1" dirty="0">
                <a:solidFill>
                  <a:srgbClr val="8F5D0A"/>
                </a:solidFill>
                <a:latin typeface="Space Grotesk" pitchFamily="34" charset="0"/>
                <a:ea typeface="Space Grotesk" pitchFamily="34" charset="-122"/>
                <a:cs typeface="Space Grotesk" pitchFamily="34" charset="-120"/>
              </a:rPr>
              <a:t>DCAS</a:t>
            </a:r>
            <a:endParaRPr lang="en-US" sz="1250" dirty="0"/>
          </a:p>
          <a:p>
            <a:pPr marL="0" indent="0">
              <a:lnSpc>
                <a:spcPct val="125000"/>
              </a:lnSpc>
              <a:buNone/>
            </a:pPr>
            <a:r>
              <a:rPr lang="en-US" sz="1250" b="1" dirty="0">
                <a:solidFill>
                  <a:srgbClr val="8F5D0A"/>
                </a:solidFill>
                <a:latin typeface="Space Grotesk" pitchFamily="34" charset="0"/>
                <a:ea typeface="Space Grotesk" pitchFamily="34" charset="-122"/>
                <a:cs typeface="Space Grotesk" pitchFamily="34" charset="-120"/>
              </a:rPr>
              <a:t>PKNVD</a:t>
            </a:r>
            <a:endParaRPr lang="en-US" sz="1250" dirty="0"/>
          </a:p>
          <a:p>
            <a:pPr marL="0" indent="0">
              <a:lnSpc>
                <a:spcPct val="125000"/>
              </a:lnSpc>
              <a:buNone/>
            </a:pPr>
            <a:r>
              <a:rPr lang="en-US" sz="1250" b="1" dirty="0">
                <a:solidFill>
                  <a:srgbClr val="8F5D0A"/>
                </a:solidFill>
                <a:latin typeface="Space Grotesk" pitchFamily="34" charset="0"/>
                <a:ea typeface="Space Grotesk" pitchFamily="34" charset="-122"/>
                <a:cs typeface="Space Grotesk" pitchFamily="34" charset="-120"/>
              </a:rPr>
              <a:t>Enterprise Omnichannel Media &amp; Social Analytics Platform</a:t>
            </a:r>
            <a:endParaRPr lang="en-US" sz="1250" dirty="0"/>
          </a:p>
          <a:p>
            <a:pPr marL="0" indent="0">
              <a:lnSpc>
                <a:spcPct val="125000"/>
              </a:lnSpc>
              <a:buNone/>
            </a:pPr>
            <a:r>
              <a:rPr lang="en-US" sz="1250" b="1" dirty="0">
                <a:solidFill>
                  <a:srgbClr val="8F5D0A"/>
                </a:solidFill>
                <a:latin typeface="Space Grotesk" pitchFamily="34" charset="0"/>
                <a:ea typeface="Space Grotesk" pitchFamily="34" charset="-122"/>
                <a:cs typeface="Space Grotesk" pitchFamily="34" charset="-120"/>
              </a:rPr>
              <a:t>Enterprise Real-Time Website Analysis Dashboard</a:t>
            </a:r>
            <a:endParaRPr lang="en-US" sz="1250" dirty="0"/>
          </a:p>
        </p:txBody>
      </p:sp>
      <p:sp>
        <p:nvSpPr>
          <p:cNvPr id="8" name="Text 6"/>
          <p:cNvSpPr/>
          <p:nvPr/>
        </p:nvSpPr>
        <p:spPr>
          <a:xfrm>
            <a:off x="640080" y="4892040"/>
            <a:ext cx="5029200" cy="182880"/>
          </a:xfrm>
          <a:prstGeom prst="rect">
            <a:avLst/>
          </a:prstGeom>
          <a:noFill/>
          <a:ln/>
        </p:spPr>
        <p:txBody>
          <a:bodyPr wrap="square" lIns="0" tIns="0" rIns="0" bIns="0" rtlCol="0" anchor="t"/>
          <a:lstStyle/>
          <a:p>
            <a:pPr marL="0" indent="0">
              <a:buNone/>
            </a:pPr>
            <a:r>
              <a:rPr lang="en-US" sz="800" kern="0" spc="150" dirty="0">
                <a:solidFill>
                  <a:srgbClr val="6F6A5F"/>
                </a:solidFill>
                <a:latin typeface="IBM Plex Mono" pitchFamily="34" charset="0"/>
                <a:ea typeface="IBM Plex Mono" pitchFamily="34" charset="-122"/>
                <a:cs typeface="IBM Plex Mono" pitchFamily="34" charset="-120"/>
              </a:rPr>
              <a:t>TYPICALLY BUILT WITH</a:t>
            </a:r>
            <a:endParaRPr lang="en-US" sz="800" dirty="0"/>
          </a:p>
        </p:txBody>
      </p:sp>
      <p:sp>
        <p:nvSpPr>
          <p:cNvPr id="9" name="Text 7"/>
          <p:cNvSpPr/>
          <p:nvPr/>
        </p:nvSpPr>
        <p:spPr>
          <a:xfrm>
            <a:off x="640080" y="5120640"/>
            <a:ext cx="5029200" cy="1188720"/>
          </a:xfrm>
          <a:prstGeom prst="rect">
            <a:avLst/>
          </a:prstGeom>
          <a:noFill/>
          <a:ln/>
        </p:spPr>
        <p:txBody>
          <a:bodyPr wrap="square" lIns="0" tIns="0" rIns="0" bIns="0" rtlCol="0" anchor="t"/>
          <a:lstStyle/>
          <a:p>
            <a:pPr marL="0" indent="0">
              <a:lnSpc>
                <a:spcPct val="135000"/>
              </a:lnSpc>
              <a:buNone/>
            </a:pPr>
            <a:r>
              <a:rPr lang="en-US" sz="850" dirty="0">
                <a:solidFill>
                  <a:srgbClr val="5B6066"/>
                </a:solidFill>
                <a:latin typeface="IBM Plex Mono" pitchFamily="34" charset="0"/>
                <a:ea typeface="IBM Plex Mono" pitchFamily="34" charset="-122"/>
                <a:cs typeface="IBM Plex Mono" pitchFamily="34" charset="-120"/>
              </a:rPr>
              <a:t>Python  ·  SQL  ·  Pandas  ·  Polars  ·  NumPy  ·  scikit-learn  ·  PyTorch  ·  TensorFlow  ·  Jupyter  ·  dbt  ·  Apache Airflow  ·  Dagster  ·  Apache Spark  ·  Apache Kafka  ·  DuckDB  ·  PostgreSQL  ·  MySQL  ·  Microsoft SQL Server  ·  Oracle  ·  MongoDB  ·  Redis  ·  ClickHouse  ·  Snowflake  ·  BigQuery  ·  Amazon Redshift  ·  Power BI  ·  Tableau  ·  Metabase  ·  Looker  ·  AWS  ·  Azure  ·  Google Cloud</a:t>
            </a:r>
            <a:endParaRPr lang="en-US" sz="850" dirty="0"/>
          </a:p>
        </p:txBody>
      </p:sp>
      <p:sp>
        <p:nvSpPr>
          <p:cNvPr id="10" name="Text 8"/>
          <p:cNvSpPr/>
          <p:nvPr/>
        </p:nvSpPr>
        <p:spPr>
          <a:xfrm>
            <a:off x="6263640" y="1627632"/>
            <a:ext cx="5287975" cy="182880"/>
          </a:xfrm>
          <a:prstGeom prst="rect">
            <a:avLst/>
          </a:prstGeom>
          <a:noFill/>
          <a:ln/>
        </p:spPr>
        <p:txBody>
          <a:bodyPr wrap="square" lIns="0" tIns="0" rIns="0" bIns="0" rtlCol="0" anchor="t"/>
          <a:lstStyle/>
          <a:p>
            <a:pPr marL="0" indent="0">
              <a:buNone/>
            </a:pPr>
            <a:r>
              <a:rPr lang="en-US" sz="800" kern="0" spc="150" dirty="0">
                <a:solidFill>
                  <a:srgbClr val="6F6A5F"/>
                </a:solidFill>
                <a:latin typeface="IBM Plex Mono" pitchFamily="34" charset="0"/>
                <a:ea typeface="IBM Plex Mono" pitchFamily="34" charset="-122"/>
                <a:cs typeface="IBM Plex Mono" pitchFamily="34" charset="-120"/>
              </a:rPr>
              <a:t>WHAT IT INCLUDES</a:t>
            </a:r>
            <a:endParaRPr lang="en-US" sz="800" dirty="0"/>
          </a:p>
        </p:txBody>
      </p:sp>
      <p:sp>
        <p:nvSpPr>
          <p:cNvPr id="11" name="Shape 9"/>
          <p:cNvSpPr/>
          <p:nvPr/>
        </p:nvSpPr>
        <p:spPr>
          <a:xfrm>
            <a:off x="6263640" y="1920240"/>
            <a:ext cx="5287975" cy="0"/>
          </a:xfrm>
          <a:prstGeom prst="line">
            <a:avLst/>
          </a:prstGeom>
          <a:noFill/>
          <a:ln w="9525">
            <a:solidFill>
              <a:srgbClr val="DCD8D0"/>
            </a:solidFill>
            <a:prstDash val="solid"/>
          </a:ln>
        </p:spPr>
        <p:txBody>
          <a:bodyPr/>
          <a:lstStyle/>
          <a:p>
            <a:endParaRPr lang="en-PK"/>
          </a:p>
        </p:txBody>
      </p:sp>
      <p:sp>
        <p:nvSpPr>
          <p:cNvPr id="12" name="Text 10"/>
          <p:cNvSpPr/>
          <p:nvPr/>
        </p:nvSpPr>
        <p:spPr>
          <a:xfrm>
            <a:off x="6263640" y="1920240"/>
            <a:ext cx="411480" cy="438912"/>
          </a:xfrm>
          <a:prstGeom prst="rect">
            <a:avLst/>
          </a:prstGeom>
          <a:noFill/>
          <a:ln/>
        </p:spPr>
        <p:txBody>
          <a:bodyPr wrap="square" lIns="0" tIns="0" rIns="0" bIns="0" rtlCol="0" anchor="ctr"/>
          <a:lstStyle/>
          <a:p>
            <a:pPr marL="0" indent="0">
              <a:buNone/>
            </a:pPr>
            <a:r>
              <a:rPr lang="en-US" sz="900" dirty="0">
                <a:solidFill>
                  <a:srgbClr val="8F5D0A"/>
                </a:solidFill>
                <a:latin typeface="IBM Plex Mono" pitchFamily="34" charset="0"/>
                <a:ea typeface="IBM Plex Mono" pitchFamily="34" charset="-122"/>
                <a:cs typeface="IBM Plex Mono" pitchFamily="34" charset="-120"/>
              </a:rPr>
              <a:t>01</a:t>
            </a:r>
            <a:endParaRPr lang="en-US" sz="900" dirty="0"/>
          </a:p>
        </p:txBody>
      </p:sp>
      <p:sp>
        <p:nvSpPr>
          <p:cNvPr id="13" name="Text 11"/>
          <p:cNvSpPr/>
          <p:nvPr/>
        </p:nvSpPr>
        <p:spPr>
          <a:xfrm>
            <a:off x="6720840" y="1920240"/>
            <a:ext cx="4830775" cy="438912"/>
          </a:xfrm>
          <a:prstGeom prst="rect">
            <a:avLst/>
          </a:prstGeom>
          <a:noFill/>
          <a:ln/>
        </p:spPr>
        <p:txBody>
          <a:bodyPr wrap="square" lIns="0" tIns="0" rIns="0" bIns="0" rtlCol="0" anchor="ctr"/>
          <a:lstStyle/>
          <a:p>
            <a:pPr marL="0" indent="0">
              <a:buNone/>
            </a:pPr>
            <a:r>
              <a:rPr lang="en-US" sz="1200" dirty="0">
                <a:solidFill>
                  <a:srgbClr val="14161A"/>
                </a:solidFill>
                <a:latin typeface="IBM Plex Sans" pitchFamily="34" charset="0"/>
                <a:ea typeface="IBM Plex Sans" pitchFamily="34" charset="-122"/>
                <a:cs typeface="IBM Plex Sans" pitchFamily="34" charset="-120"/>
              </a:rPr>
              <a:t>Data collection, cleaning, transformation, and integration</a:t>
            </a:r>
            <a:endParaRPr lang="en-US" sz="1200" dirty="0"/>
          </a:p>
        </p:txBody>
      </p:sp>
      <p:sp>
        <p:nvSpPr>
          <p:cNvPr id="14" name="Shape 12"/>
          <p:cNvSpPr/>
          <p:nvPr/>
        </p:nvSpPr>
        <p:spPr>
          <a:xfrm>
            <a:off x="6263640" y="2359152"/>
            <a:ext cx="5287975" cy="0"/>
          </a:xfrm>
          <a:prstGeom prst="line">
            <a:avLst/>
          </a:prstGeom>
          <a:noFill/>
          <a:ln w="9525">
            <a:solidFill>
              <a:srgbClr val="DCD8D0"/>
            </a:solidFill>
            <a:prstDash val="solid"/>
          </a:ln>
        </p:spPr>
        <p:txBody>
          <a:bodyPr/>
          <a:lstStyle/>
          <a:p>
            <a:endParaRPr lang="en-PK"/>
          </a:p>
        </p:txBody>
      </p:sp>
      <p:sp>
        <p:nvSpPr>
          <p:cNvPr id="15" name="Text 13"/>
          <p:cNvSpPr/>
          <p:nvPr/>
        </p:nvSpPr>
        <p:spPr>
          <a:xfrm>
            <a:off x="6263640" y="2359152"/>
            <a:ext cx="411480" cy="438912"/>
          </a:xfrm>
          <a:prstGeom prst="rect">
            <a:avLst/>
          </a:prstGeom>
          <a:noFill/>
          <a:ln/>
        </p:spPr>
        <p:txBody>
          <a:bodyPr wrap="square" lIns="0" tIns="0" rIns="0" bIns="0" rtlCol="0" anchor="ctr"/>
          <a:lstStyle/>
          <a:p>
            <a:pPr marL="0" indent="0">
              <a:buNone/>
            </a:pPr>
            <a:r>
              <a:rPr lang="en-US" sz="900" dirty="0">
                <a:solidFill>
                  <a:srgbClr val="8F5D0A"/>
                </a:solidFill>
                <a:latin typeface="IBM Plex Mono" pitchFamily="34" charset="0"/>
                <a:ea typeface="IBM Plex Mono" pitchFamily="34" charset="-122"/>
                <a:cs typeface="IBM Plex Mono" pitchFamily="34" charset="-120"/>
              </a:rPr>
              <a:t>02</a:t>
            </a:r>
            <a:endParaRPr lang="en-US" sz="900" dirty="0"/>
          </a:p>
        </p:txBody>
      </p:sp>
      <p:sp>
        <p:nvSpPr>
          <p:cNvPr id="16" name="Text 14"/>
          <p:cNvSpPr/>
          <p:nvPr/>
        </p:nvSpPr>
        <p:spPr>
          <a:xfrm>
            <a:off x="6720840" y="2359152"/>
            <a:ext cx="4830775" cy="438912"/>
          </a:xfrm>
          <a:prstGeom prst="rect">
            <a:avLst/>
          </a:prstGeom>
          <a:noFill/>
          <a:ln/>
        </p:spPr>
        <p:txBody>
          <a:bodyPr wrap="square" lIns="0" tIns="0" rIns="0" bIns="0" rtlCol="0" anchor="ctr"/>
          <a:lstStyle/>
          <a:p>
            <a:pPr marL="0" indent="0">
              <a:buNone/>
            </a:pPr>
            <a:r>
              <a:rPr lang="en-US" sz="1200" dirty="0">
                <a:solidFill>
                  <a:srgbClr val="14161A"/>
                </a:solidFill>
                <a:latin typeface="IBM Plex Sans" pitchFamily="34" charset="0"/>
                <a:ea typeface="IBM Plex Sans" pitchFamily="34" charset="-122"/>
                <a:cs typeface="IBM Plex Sans" pitchFamily="34" charset="-120"/>
              </a:rPr>
              <a:t>ETL and ELT pipelines for structured and unstructured data</a:t>
            </a:r>
            <a:endParaRPr lang="en-US" sz="1200" dirty="0"/>
          </a:p>
        </p:txBody>
      </p:sp>
      <p:sp>
        <p:nvSpPr>
          <p:cNvPr id="17" name="Shape 15"/>
          <p:cNvSpPr/>
          <p:nvPr/>
        </p:nvSpPr>
        <p:spPr>
          <a:xfrm>
            <a:off x="6263640" y="2798064"/>
            <a:ext cx="5287975" cy="0"/>
          </a:xfrm>
          <a:prstGeom prst="line">
            <a:avLst/>
          </a:prstGeom>
          <a:noFill/>
          <a:ln w="9525">
            <a:solidFill>
              <a:srgbClr val="DCD8D0"/>
            </a:solidFill>
            <a:prstDash val="solid"/>
          </a:ln>
        </p:spPr>
        <p:txBody>
          <a:bodyPr/>
          <a:lstStyle/>
          <a:p>
            <a:endParaRPr lang="en-PK"/>
          </a:p>
        </p:txBody>
      </p:sp>
      <p:sp>
        <p:nvSpPr>
          <p:cNvPr id="18" name="Text 16"/>
          <p:cNvSpPr/>
          <p:nvPr/>
        </p:nvSpPr>
        <p:spPr>
          <a:xfrm>
            <a:off x="6263640" y="2798064"/>
            <a:ext cx="411480" cy="438912"/>
          </a:xfrm>
          <a:prstGeom prst="rect">
            <a:avLst/>
          </a:prstGeom>
          <a:noFill/>
          <a:ln/>
        </p:spPr>
        <p:txBody>
          <a:bodyPr wrap="square" lIns="0" tIns="0" rIns="0" bIns="0" rtlCol="0" anchor="ctr"/>
          <a:lstStyle/>
          <a:p>
            <a:pPr marL="0" indent="0">
              <a:buNone/>
            </a:pPr>
            <a:r>
              <a:rPr lang="en-US" sz="900" dirty="0">
                <a:solidFill>
                  <a:srgbClr val="8F5D0A"/>
                </a:solidFill>
                <a:latin typeface="IBM Plex Mono" pitchFamily="34" charset="0"/>
                <a:ea typeface="IBM Plex Mono" pitchFamily="34" charset="-122"/>
                <a:cs typeface="IBM Plex Mono" pitchFamily="34" charset="-120"/>
              </a:rPr>
              <a:t>03</a:t>
            </a:r>
            <a:endParaRPr lang="en-US" sz="900" dirty="0"/>
          </a:p>
        </p:txBody>
      </p:sp>
      <p:sp>
        <p:nvSpPr>
          <p:cNvPr id="19" name="Text 17"/>
          <p:cNvSpPr/>
          <p:nvPr/>
        </p:nvSpPr>
        <p:spPr>
          <a:xfrm>
            <a:off x="6720840" y="2798064"/>
            <a:ext cx="4830775" cy="438912"/>
          </a:xfrm>
          <a:prstGeom prst="rect">
            <a:avLst/>
          </a:prstGeom>
          <a:noFill/>
          <a:ln/>
        </p:spPr>
        <p:txBody>
          <a:bodyPr wrap="square" lIns="0" tIns="0" rIns="0" bIns="0" rtlCol="0" anchor="ctr"/>
          <a:lstStyle/>
          <a:p>
            <a:pPr marL="0" indent="0">
              <a:buNone/>
            </a:pPr>
            <a:r>
              <a:rPr lang="en-US" sz="1200" dirty="0">
                <a:solidFill>
                  <a:srgbClr val="14161A"/>
                </a:solidFill>
                <a:latin typeface="IBM Plex Sans" pitchFamily="34" charset="0"/>
                <a:ea typeface="IBM Plex Sans" pitchFamily="34" charset="-122"/>
                <a:cs typeface="IBM Plex Sans" pitchFamily="34" charset="-120"/>
              </a:rPr>
              <a:t>Data warehouses, databases, and analytical data models</a:t>
            </a:r>
            <a:endParaRPr lang="en-US" sz="1200" dirty="0"/>
          </a:p>
        </p:txBody>
      </p:sp>
      <p:sp>
        <p:nvSpPr>
          <p:cNvPr id="20" name="Shape 18"/>
          <p:cNvSpPr/>
          <p:nvPr/>
        </p:nvSpPr>
        <p:spPr>
          <a:xfrm>
            <a:off x="6263640" y="3236976"/>
            <a:ext cx="5287975" cy="0"/>
          </a:xfrm>
          <a:prstGeom prst="line">
            <a:avLst/>
          </a:prstGeom>
          <a:noFill/>
          <a:ln w="9525">
            <a:solidFill>
              <a:srgbClr val="DCD8D0"/>
            </a:solidFill>
            <a:prstDash val="solid"/>
          </a:ln>
        </p:spPr>
        <p:txBody>
          <a:bodyPr/>
          <a:lstStyle/>
          <a:p>
            <a:endParaRPr lang="en-PK"/>
          </a:p>
        </p:txBody>
      </p:sp>
      <p:sp>
        <p:nvSpPr>
          <p:cNvPr id="21" name="Text 19"/>
          <p:cNvSpPr/>
          <p:nvPr/>
        </p:nvSpPr>
        <p:spPr>
          <a:xfrm>
            <a:off x="6263640" y="3236976"/>
            <a:ext cx="411480" cy="438912"/>
          </a:xfrm>
          <a:prstGeom prst="rect">
            <a:avLst/>
          </a:prstGeom>
          <a:noFill/>
          <a:ln/>
        </p:spPr>
        <p:txBody>
          <a:bodyPr wrap="square" lIns="0" tIns="0" rIns="0" bIns="0" rtlCol="0" anchor="ctr"/>
          <a:lstStyle/>
          <a:p>
            <a:pPr marL="0" indent="0">
              <a:buNone/>
            </a:pPr>
            <a:r>
              <a:rPr lang="en-US" sz="900" dirty="0">
                <a:solidFill>
                  <a:srgbClr val="8F5D0A"/>
                </a:solidFill>
                <a:latin typeface="IBM Plex Mono" pitchFamily="34" charset="0"/>
                <a:ea typeface="IBM Plex Mono" pitchFamily="34" charset="-122"/>
                <a:cs typeface="IBM Plex Mono" pitchFamily="34" charset="-120"/>
              </a:rPr>
              <a:t>04</a:t>
            </a:r>
            <a:endParaRPr lang="en-US" sz="900" dirty="0"/>
          </a:p>
        </p:txBody>
      </p:sp>
      <p:sp>
        <p:nvSpPr>
          <p:cNvPr id="22" name="Text 20"/>
          <p:cNvSpPr/>
          <p:nvPr/>
        </p:nvSpPr>
        <p:spPr>
          <a:xfrm>
            <a:off x="6720840" y="3236976"/>
            <a:ext cx="4830775" cy="438912"/>
          </a:xfrm>
          <a:prstGeom prst="rect">
            <a:avLst/>
          </a:prstGeom>
          <a:noFill/>
          <a:ln/>
        </p:spPr>
        <p:txBody>
          <a:bodyPr wrap="square" lIns="0" tIns="0" rIns="0" bIns="0" rtlCol="0" anchor="ctr"/>
          <a:lstStyle/>
          <a:p>
            <a:pPr marL="0" indent="0">
              <a:buNone/>
            </a:pPr>
            <a:r>
              <a:rPr lang="en-US" sz="1200" dirty="0">
                <a:solidFill>
                  <a:srgbClr val="14161A"/>
                </a:solidFill>
                <a:latin typeface="IBM Plex Sans" pitchFamily="34" charset="0"/>
                <a:ea typeface="IBM Plex Sans" pitchFamily="34" charset="-122"/>
                <a:cs typeface="IBM Plex Sans" pitchFamily="34" charset="-120"/>
              </a:rPr>
              <a:t>Business intelligence dashboards and management reporting</a:t>
            </a:r>
            <a:endParaRPr lang="en-US" sz="1200" dirty="0"/>
          </a:p>
        </p:txBody>
      </p:sp>
      <p:sp>
        <p:nvSpPr>
          <p:cNvPr id="23" name="Shape 21"/>
          <p:cNvSpPr/>
          <p:nvPr/>
        </p:nvSpPr>
        <p:spPr>
          <a:xfrm>
            <a:off x="6263640" y="3675888"/>
            <a:ext cx="5287975" cy="0"/>
          </a:xfrm>
          <a:prstGeom prst="line">
            <a:avLst/>
          </a:prstGeom>
          <a:noFill/>
          <a:ln w="9525">
            <a:solidFill>
              <a:srgbClr val="DCD8D0"/>
            </a:solidFill>
            <a:prstDash val="solid"/>
          </a:ln>
        </p:spPr>
        <p:txBody>
          <a:bodyPr/>
          <a:lstStyle/>
          <a:p>
            <a:endParaRPr lang="en-PK"/>
          </a:p>
        </p:txBody>
      </p:sp>
      <p:sp>
        <p:nvSpPr>
          <p:cNvPr id="24" name="Text 22"/>
          <p:cNvSpPr/>
          <p:nvPr/>
        </p:nvSpPr>
        <p:spPr>
          <a:xfrm>
            <a:off x="6263640" y="3675888"/>
            <a:ext cx="411480" cy="438912"/>
          </a:xfrm>
          <a:prstGeom prst="rect">
            <a:avLst/>
          </a:prstGeom>
          <a:noFill/>
          <a:ln/>
        </p:spPr>
        <p:txBody>
          <a:bodyPr wrap="square" lIns="0" tIns="0" rIns="0" bIns="0" rtlCol="0" anchor="ctr"/>
          <a:lstStyle/>
          <a:p>
            <a:pPr marL="0" indent="0">
              <a:buNone/>
            </a:pPr>
            <a:r>
              <a:rPr lang="en-US" sz="900" dirty="0">
                <a:solidFill>
                  <a:srgbClr val="8F5D0A"/>
                </a:solidFill>
                <a:latin typeface="IBM Plex Mono" pitchFamily="34" charset="0"/>
                <a:ea typeface="IBM Plex Mono" pitchFamily="34" charset="-122"/>
                <a:cs typeface="IBM Plex Mono" pitchFamily="34" charset="-120"/>
              </a:rPr>
              <a:t>05</a:t>
            </a:r>
            <a:endParaRPr lang="en-US" sz="900" dirty="0"/>
          </a:p>
        </p:txBody>
      </p:sp>
      <p:sp>
        <p:nvSpPr>
          <p:cNvPr id="25" name="Text 23"/>
          <p:cNvSpPr/>
          <p:nvPr/>
        </p:nvSpPr>
        <p:spPr>
          <a:xfrm>
            <a:off x="6720840" y="3675888"/>
            <a:ext cx="4830775" cy="438912"/>
          </a:xfrm>
          <a:prstGeom prst="rect">
            <a:avLst/>
          </a:prstGeom>
          <a:noFill/>
          <a:ln/>
        </p:spPr>
        <p:txBody>
          <a:bodyPr wrap="square" lIns="0" tIns="0" rIns="0" bIns="0" rtlCol="0" anchor="ctr"/>
          <a:lstStyle/>
          <a:p>
            <a:pPr marL="0" indent="0">
              <a:buNone/>
            </a:pPr>
            <a:r>
              <a:rPr lang="en-US" sz="1200" dirty="0">
                <a:solidFill>
                  <a:srgbClr val="14161A"/>
                </a:solidFill>
                <a:latin typeface="IBM Plex Sans" pitchFamily="34" charset="0"/>
                <a:ea typeface="IBM Plex Sans" pitchFamily="34" charset="-122"/>
                <a:cs typeface="IBM Plex Sans" pitchFamily="34" charset="-120"/>
              </a:rPr>
              <a:t>Data correlation, trend analysis, and performance measurement</a:t>
            </a:r>
            <a:endParaRPr lang="en-US" sz="1200" dirty="0"/>
          </a:p>
        </p:txBody>
      </p:sp>
      <p:sp>
        <p:nvSpPr>
          <p:cNvPr id="26" name="Shape 24"/>
          <p:cNvSpPr/>
          <p:nvPr/>
        </p:nvSpPr>
        <p:spPr>
          <a:xfrm>
            <a:off x="6263640" y="4114800"/>
            <a:ext cx="5287975" cy="0"/>
          </a:xfrm>
          <a:prstGeom prst="line">
            <a:avLst/>
          </a:prstGeom>
          <a:noFill/>
          <a:ln w="9525">
            <a:solidFill>
              <a:srgbClr val="DCD8D0"/>
            </a:solidFill>
            <a:prstDash val="solid"/>
          </a:ln>
        </p:spPr>
        <p:txBody>
          <a:bodyPr/>
          <a:lstStyle/>
          <a:p>
            <a:endParaRPr lang="en-PK"/>
          </a:p>
        </p:txBody>
      </p:sp>
      <p:sp>
        <p:nvSpPr>
          <p:cNvPr id="27" name="Text 25"/>
          <p:cNvSpPr/>
          <p:nvPr/>
        </p:nvSpPr>
        <p:spPr>
          <a:xfrm>
            <a:off x="6263640" y="4114800"/>
            <a:ext cx="411480" cy="438912"/>
          </a:xfrm>
          <a:prstGeom prst="rect">
            <a:avLst/>
          </a:prstGeom>
          <a:noFill/>
          <a:ln/>
        </p:spPr>
        <p:txBody>
          <a:bodyPr wrap="square" lIns="0" tIns="0" rIns="0" bIns="0" rtlCol="0" anchor="ctr"/>
          <a:lstStyle/>
          <a:p>
            <a:pPr marL="0" indent="0">
              <a:buNone/>
            </a:pPr>
            <a:r>
              <a:rPr lang="en-US" sz="900" dirty="0">
                <a:solidFill>
                  <a:srgbClr val="8F5D0A"/>
                </a:solidFill>
                <a:latin typeface="IBM Plex Mono" pitchFamily="34" charset="0"/>
                <a:ea typeface="IBM Plex Mono" pitchFamily="34" charset="-122"/>
                <a:cs typeface="IBM Plex Mono" pitchFamily="34" charset="-120"/>
              </a:rPr>
              <a:t>06</a:t>
            </a:r>
            <a:endParaRPr lang="en-US" sz="900" dirty="0"/>
          </a:p>
        </p:txBody>
      </p:sp>
      <p:sp>
        <p:nvSpPr>
          <p:cNvPr id="28" name="Text 26"/>
          <p:cNvSpPr/>
          <p:nvPr/>
        </p:nvSpPr>
        <p:spPr>
          <a:xfrm>
            <a:off x="6720840" y="4114800"/>
            <a:ext cx="4830775" cy="438912"/>
          </a:xfrm>
          <a:prstGeom prst="rect">
            <a:avLst/>
          </a:prstGeom>
          <a:noFill/>
          <a:ln/>
        </p:spPr>
        <p:txBody>
          <a:bodyPr wrap="square" lIns="0" tIns="0" rIns="0" bIns="0" rtlCol="0" anchor="ctr"/>
          <a:lstStyle/>
          <a:p>
            <a:pPr marL="0" indent="0">
              <a:buNone/>
            </a:pPr>
            <a:r>
              <a:rPr lang="en-US" sz="1200" dirty="0">
                <a:solidFill>
                  <a:srgbClr val="14161A"/>
                </a:solidFill>
                <a:latin typeface="IBM Plex Sans" pitchFamily="34" charset="0"/>
                <a:ea typeface="IBM Plex Sans" pitchFamily="34" charset="-122"/>
                <a:cs typeface="IBM Plex Sans" pitchFamily="34" charset="-120"/>
              </a:rPr>
              <a:t>Forecasting, classification, anomaly detection, and predictive models</a:t>
            </a:r>
            <a:endParaRPr lang="en-US" sz="1200" dirty="0"/>
          </a:p>
        </p:txBody>
      </p:sp>
      <p:sp>
        <p:nvSpPr>
          <p:cNvPr id="29" name="Shape 27"/>
          <p:cNvSpPr/>
          <p:nvPr/>
        </p:nvSpPr>
        <p:spPr>
          <a:xfrm>
            <a:off x="6263640" y="4553712"/>
            <a:ext cx="5287975" cy="0"/>
          </a:xfrm>
          <a:prstGeom prst="line">
            <a:avLst/>
          </a:prstGeom>
          <a:noFill/>
          <a:ln w="9525">
            <a:solidFill>
              <a:srgbClr val="DCD8D0"/>
            </a:solidFill>
            <a:prstDash val="solid"/>
          </a:ln>
        </p:spPr>
        <p:txBody>
          <a:bodyPr/>
          <a:lstStyle/>
          <a:p>
            <a:endParaRPr lang="en-PK"/>
          </a:p>
        </p:txBody>
      </p:sp>
      <p:sp>
        <p:nvSpPr>
          <p:cNvPr id="30" name="Text 28"/>
          <p:cNvSpPr/>
          <p:nvPr/>
        </p:nvSpPr>
        <p:spPr>
          <a:xfrm>
            <a:off x="6263640" y="4553712"/>
            <a:ext cx="411480" cy="438912"/>
          </a:xfrm>
          <a:prstGeom prst="rect">
            <a:avLst/>
          </a:prstGeom>
          <a:noFill/>
          <a:ln/>
        </p:spPr>
        <p:txBody>
          <a:bodyPr wrap="square" lIns="0" tIns="0" rIns="0" bIns="0" rtlCol="0" anchor="ctr"/>
          <a:lstStyle/>
          <a:p>
            <a:pPr marL="0" indent="0">
              <a:buNone/>
            </a:pPr>
            <a:r>
              <a:rPr lang="en-US" sz="900" dirty="0">
                <a:solidFill>
                  <a:srgbClr val="8F5D0A"/>
                </a:solidFill>
                <a:latin typeface="IBM Plex Mono" pitchFamily="34" charset="0"/>
                <a:ea typeface="IBM Plex Mono" pitchFamily="34" charset="-122"/>
                <a:cs typeface="IBM Plex Mono" pitchFamily="34" charset="-120"/>
              </a:rPr>
              <a:t>07</a:t>
            </a:r>
            <a:endParaRPr lang="en-US" sz="900" dirty="0"/>
          </a:p>
        </p:txBody>
      </p:sp>
      <p:sp>
        <p:nvSpPr>
          <p:cNvPr id="31" name="Text 29"/>
          <p:cNvSpPr/>
          <p:nvPr/>
        </p:nvSpPr>
        <p:spPr>
          <a:xfrm>
            <a:off x="6720840" y="4553712"/>
            <a:ext cx="4830775" cy="438912"/>
          </a:xfrm>
          <a:prstGeom prst="rect">
            <a:avLst/>
          </a:prstGeom>
          <a:noFill/>
          <a:ln/>
        </p:spPr>
        <p:txBody>
          <a:bodyPr wrap="square" lIns="0" tIns="0" rIns="0" bIns="0" rtlCol="0" anchor="ctr"/>
          <a:lstStyle/>
          <a:p>
            <a:pPr marL="0" indent="0">
              <a:buNone/>
            </a:pPr>
            <a:r>
              <a:rPr lang="en-US" sz="1200" dirty="0">
                <a:solidFill>
                  <a:srgbClr val="14161A"/>
                </a:solidFill>
                <a:latin typeface="IBM Plex Sans" pitchFamily="34" charset="0"/>
                <a:ea typeface="IBM Plex Sans" pitchFamily="34" charset="-122"/>
                <a:cs typeface="IBM Plex Sans" pitchFamily="34" charset="-120"/>
              </a:rPr>
              <a:t>Machine learning models and analytical automation</a:t>
            </a:r>
            <a:endParaRPr lang="en-US" sz="1200" dirty="0"/>
          </a:p>
        </p:txBody>
      </p:sp>
      <p:sp>
        <p:nvSpPr>
          <p:cNvPr id="32" name="Shape 30"/>
          <p:cNvSpPr/>
          <p:nvPr/>
        </p:nvSpPr>
        <p:spPr>
          <a:xfrm>
            <a:off x="6263640" y="4992624"/>
            <a:ext cx="5287975" cy="0"/>
          </a:xfrm>
          <a:prstGeom prst="line">
            <a:avLst/>
          </a:prstGeom>
          <a:noFill/>
          <a:ln w="9525">
            <a:solidFill>
              <a:srgbClr val="DCD8D0"/>
            </a:solidFill>
            <a:prstDash val="solid"/>
          </a:ln>
        </p:spPr>
        <p:txBody>
          <a:bodyPr/>
          <a:lstStyle/>
          <a:p>
            <a:endParaRPr lang="en-PK"/>
          </a:p>
        </p:txBody>
      </p:sp>
      <p:sp>
        <p:nvSpPr>
          <p:cNvPr id="33" name="Text 31"/>
          <p:cNvSpPr/>
          <p:nvPr/>
        </p:nvSpPr>
        <p:spPr>
          <a:xfrm>
            <a:off x="6263640" y="4992624"/>
            <a:ext cx="411480" cy="438912"/>
          </a:xfrm>
          <a:prstGeom prst="rect">
            <a:avLst/>
          </a:prstGeom>
          <a:noFill/>
          <a:ln/>
        </p:spPr>
        <p:txBody>
          <a:bodyPr wrap="square" lIns="0" tIns="0" rIns="0" bIns="0" rtlCol="0" anchor="ctr"/>
          <a:lstStyle/>
          <a:p>
            <a:pPr marL="0" indent="0">
              <a:buNone/>
            </a:pPr>
            <a:r>
              <a:rPr lang="en-US" sz="900" dirty="0">
                <a:solidFill>
                  <a:srgbClr val="8F5D0A"/>
                </a:solidFill>
                <a:latin typeface="IBM Plex Mono" pitchFamily="34" charset="0"/>
                <a:ea typeface="IBM Plex Mono" pitchFamily="34" charset="-122"/>
                <a:cs typeface="IBM Plex Mono" pitchFamily="34" charset="-120"/>
              </a:rPr>
              <a:t>08</a:t>
            </a:r>
            <a:endParaRPr lang="en-US" sz="900" dirty="0"/>
          </a:p>
        </p:txBody>
      </p:sp>
      <p:sp>
        <p:nvSpPr>
          <p:cNvPr id="34" name="Text 32"/>
          <p:cNvSpPr/>
          <p:nvPr/>
        </p:nvSpPr>
        <p:spPr>
          <a:xfrm>
            <a:off x="6720840" y="4992624"/>
            <a:ext cx="4830775" cy="438912"/>
          </a:xfrm>
          <a:prstGeom prst="rect">
            <a:avLst/>
          </a:prstGeom>
          <a:noFill/>
          <a:ln/>
        </p:spPr>
        <p:txBody>
          <a:bodyPr wrap="square" lIns="0" tIns="0" rIns="0" bIns="0" rtlCol="0" anchor="ctr"/>
          <a:lstStyle/>
          <a:p>
            <a:pPr marL="0" indent="0">
              <a:buNone/>
            </a:pPr>
            <a:r>
              <a:rPr lang="en-US" sz="1200" dirty="0">
                <a:solidFill>
                  <a:srgbClr val="14161A"/>
                </a:solidFill>
                <a:latin typeface="IBM Plex Sans" pitchFamily="34" charset="0"/>
                <a:ea typeface="IBM Plex Sans" pitchFamily="34" charset="-122"/>
                <a:cs typeface="IBM Plex Sans" pitchFamily="34" charset="-120"/>
              </a:rPr>
              <a:t>Data quality, validation, governance, and monitoring</a:t>
            </a:r>
            <a:endParaRPr lang="en-US" sz="1200" dirty="0"/>
          </a:p>
        </p:txBody>
      </p:sp>
      <p:sp>
        <p:nvSpPr>
          <p:cNvPr id="35" name="Shape 33"/>
          <p:cNvSpPr/>
          <p:nvPr/>
        </p:nvSpPr>
        <p:spPr>
          <a:xfrm>
            <a:off x="6263640" y="5431536"/>
            <a:ext cx="5287975" cy="0"/>
          </a:xfrm>
          <a:prstGeom prst="line">
            <a:avLst/>
          </a:prstGeom>
          <a:noFill/>
          <a:ln w="9525">
            <a:solidFill>
              <a:srgbClr val="DCD8D0"/>
            </a:solidFill>
            <a:prstDash val="solid"/>
          </a:ln>
        </p:spPr>
        <p:txBody>
          <a:bodyPr/>
          <a:lstStyle/>
          <a:p>
            <a:endParaRPr lang="en-PK"/>
          </a:p>
        </p:txBody>
      </p:sp>
      <p:sp>
        <p:nvSpPr>
          <p:cNvPr id="36" name="Text 34"/>
          <p:cNvSpPr/>
          <p:nvPr/>
        </p:nvSpPr>
        <p:spPr>
          <a:xfrm>
            <a:off x="6263640" y="5431536"/>
            <a:ext cx="411480" cy="438912"/>
          </a:xfrm>
          <a:prstGeom prst="rect">
            <a:avLst/>
          </a:prstGeom>
          <a:noFill/>
          <a:ln/>
        </p:spPr>
        <p:txBody>
          <a:bodyPr wrap="square" lIns="0" tIns="0" rIns="0" bIns="0" rtlCol="0" anchor="ctr"/>
          <a:lstStyle/>
          <a:p>
            <a:pPr marL="0" indent="0">
              <a:buNone/>
            </a:pPr>
            <a:r>
              <a:rPr lang="en-US" sz="900" dirty="0">
                <a:solidFill>
                  <a:srgbClr val="8F5D0A"/>
                </a:solidFill>
                <a:latin typeface="IBM Plex Mono" pitchFamily="34" charset="0"/>
                <a:ea typeface="IBM Plex Mono" pitchFamily="34" charset="-122"/>
                <a:cs typeface="IBM Plex Mono" pitchFamily="34" charset="-120"/>
              </a:rPr>
              <a:t>09</a:t>
            </a:r>
            <a:endParaRPr lang="en-US" sz="900" dirty="0"/>
          </a:p>
        </p:txBody>
      </p:sp>
      <p:sp>
        <p:nvSpPr>
          <p:cNvPr id="37" name="Text 35"/>
          <p:cNvSpPr/>
          <p:nvPr/>
        </p:nvSpPr>
        <p:spPr>
          <a:xfrm>
            <a:off x="6720840" y="5431536"/>
            <a:ext cx="4830775" cy="438912"/>
          </a:xfrm>
          <a:prstGeom prst="rect">
            <a:avLst/>
          </a:prstGeom>
          <a:noFill/>
          <a:ln/>
        </p:spPr>
        <p:txBody>
          <a:bodyPr wrap="square" lIns="0" tIns="0" rIns="0" bIns="0" rtlCol="0" anchor="ctr"/>
          <a:lstStyle/>
          <a:p>
            <a:pPr marL="0" indent="0">
              <a:buNone/>
            </a:pPr>
            <a:r>
              <a:rPr lang="en-US" sz="1200" dirty="0">
                <a:solidFill>
                  <a:srgbClr val="14161A"/>
                </a:solidFill>
                <a:latin typeface="IBM Plex Sans" pitchFamily="34" charset="0"/>
                <a:ea typeface="IBM Plex Sans" pitchFamily="34" charset="-122"/>
                <a:cs typeface="IBM Plex Sans" pitchFamily="34" charset="-120"/>
              </a:rPr>
              <a:t>Analytics APIs and data services for integration into applications</a:t>
            </a:r>
            <a:endParaRPr lang="en-US" sz="1200" dirty="0"/>
          </a:p>
        </p:txBody>
      </p:sp>
      <p:sp>
        <p:nvSpPr>
          <p:cNvPr id="38" name="Shape 36"/>
          <p:cNvSpPr/>
          <p:nvPr/>
        </p:nvSpPr>
        <p:spPr>
          <a:xfrm>
            <a:off x="6263640" y="5870448"/>
            <a:ext cx="5287975" cy="0"/>
          </a:xfrm>
          <a:prstGeom prst="line">
            <a:avLst/>
          </a:prstGeom>
          <a:noFill/>
          <a:ln w="9525">
            <a:solidFill>
              <a:srgbClr val="DCD8D0"/>
            </a:solidFill>
            <a:prstDash val="solid"/>
          </a:ln>
        </p:spPr>
        <p:txBody>
          <a:bodyPr/>
          <a:lstStyle/>
          <a:p>
            <a:endParaRPr lang="en-PK"/>
          </a:p>
        </p:txBody>
      </p:sp>
      <p:sp>
        <p:nvSpPr>
          <p:cNvPr id="39" name="Text 37"/>
          <p:cNvSpPr/>
          <p:nvPr/>
        </p:nvSpPr>
        <p:spPr>
          <a:xfrm>
            <a:off x="6263640" y="5870448"/>
            <a:ext cx="411480" cy="438912"/>
          </a:xfrm>
          <a:prstGeom prst="rect">
            <a:avLst/>
          </a:prstGeom>
          <a:noFill/>
          <a:ln/>
        </p:spPr>
        <p:txBody>
          <a:bodyPr wrap="square" lIns="0" tIns="0" rIns="0" bIns="0" rtlCol="0" anchor="ctr"/>
          <a:lstStyle/>
          <a:p>
            <a:pPr marL="0" indent="0">
              <a:buNone/>
            </a:pPr>
            <a:r>
              <a:rPr lang="en-US" sz="900" dirty="0">
                <a:solidFill>
                  <a:srgbClr val="8F5D0A"/>
                </a:solidFill>
                <a:latin typeface="IBM Plex Mono" pitchFamily="34" charset="0"/>
                <a:ea typeface="IBM Plex Mono" pitchFamily="34" charset="-122"/>
                <a:cs typeface="IBM Plex Mono" pitchFamily="34" charset="-120"/>
              </a:rPr>
              <a:t>10</a:t>
            </a:r>
            <a:endParaRPr lang="en-US" sz="900" dirty="0"/>
          </a:p>
        </p:txBody>
      </p:sp>
      <p:sp>
        <p:nvSpPr>
          <p:cNvPr id="40" name="Text 38"/>
          <p:cNvSpPr/>
          <p:nvPr/>
        </p:nvSpPr>
        <p:spPr>
          <a:xfrm>
            <a:off x="6720840" y="5870448"/>
            <a:ext cx="4830775" cy="438912"/>
          </a:xfrm>
          <a:prstGeom prst="rect">
            <a:avLst/>
          </a:prstGeom>
          <a:noFill/>
          <a:ln/>
        </p:spPr>
        <p:txBody>
          <a:bodyPr wrap="square" lIns="0" tIns="0" rIns="0" bIns="0" rtlCol="0" anchor="ctr"/>
          <a:lstStyle/>
          <a:p>
            <a:pPr marL="0" indent="0">
              <a:buNone/>
            </a:pPr>
            <a:r>
              <a:rPr lang="en-US" sz="1200" dirty="0">
                <a:solidFill>
                  <a:srgbClr val="14161A"/>
                </a:solidFill>
                <a:latin typeface="IBM Plex Sans" pitchFamily="34" charset="0"/>
                <a:ea typeface="IBM Plex Sans" pitchFamily="34" charset="-122"/>
                <a:cs typeface="IBM Plex Sans" pitchFamily="34" charset="-120"/>
              </a:rPr>
              <a:t>Turning operational data into measurable business insights</a:t>
            </a:r>
            <a:endParaRPr lang="en-US" sz="1200" dirty="0"/>
          </a:p>
        </p:txBody>
      </p:sp>
      <p:sp>
        <p:nvSpPr>
          <p:cNvPr id="41" name="Shape 39"/>
          <p:cNvSpPr/>
          <p:nvPr/>
        </p:nvSpPr>
        <p:spPr>
          <a:xfrm>
            <a:off x="6263640" y="6309360"/>
            <a:ext cx="5287975" cy="0"/>
          </a:xfrm>
          <a:prstGeom prst="line">
            <a:avLst/>
          </a:prstGeom>
          <a:noFill/>
          <a:ln w="9525">
            <a:solidFill>
              <a:srgbClr val="DCD8D0"/>
            </a:solidFill>
            <a:prstDash val="solid"/>
          </a:ln>
        </p:spPr>
        <p:txBody>
          <a:bodyPr/>
          <a:lstStyle/>
          <a:p>
            <a:endParaRPr lang="en-PK"/>
          </a:p>
        </p:txBody>
      </p:sp>
      <p:sp>
        <p:nvSpPr>
          <p:cNvPr id="42" name="Text 40"/>
          <p:cNvSpPr/>
          <p:nvPr/>
        </p:nvSpPr>
        <p:spPr>
          <a:xfrm>
            <a:off x="640080" y="6473952"/>
            <a:ext cx="6400800" cy="164592"/>
          </a:xfrm>
          <a:prstGeom prst="rect">
            <a:avLst/>
          </a:prstGeom>
          <a:noFill/>
          <a:ln/>
        </p:spPr>
        <p:txBody>
          <a:bodyPr wrap="square" lIns="0" tIns="0" rIns="0" bIns="0" rtlCol="0" anchor="t"/>
          <a:lstStyle/>
          <a:p>
            <a:pPr marL="0" indent="0">
              <a:buNone/>
            </a:pPr>
            <a:r>
              <a:rPr lang="en-US" sz="700" kern="0" spc="150" dirty="0">
                <a:solidFill>
                  <a:srgbClr val="6F6A5F"/>
                </a:solidFill>
                <a:latin typeface="IBM Plex Mono" pitchFamily="34" charset="0"/>
                <a:ea typeface="IBM Plex Mono" pitchFamily="34" charset="-122"/>
                <a:cs typeface="IBM Plex Mono" pitchFamily="34" charset="-120"/>
              </a:rPr>
              <a:t>BOLTER TECHNOLOGIES PRIVATE LIMITED  ·  COMPANY PROFILE</a:t>
            </a:r>
            <a:endParaRPr lang="en-US" sz="700" dirty="0"/>
          </a:p>
        </p:txBody>
      </p:sp>
      <p:sp>
        <p:nvSpPr>
          <p:cNvPr id="43" name="Text 41"/>
          <p:cNvSpPr/>
          <p:nvPr/>
        </p:nvSpPr>
        <p:spPr>
          <a:xfrm>
            <a:off x="9722815" y="6473952"/>
            <a:ext cx="1828800" cy="164592"/>
          </a:xfrm>
          <a:prstGeom prst="rect">
            <a:avLst/>
          </a:prstGeom>
          <a:noFill/>
          <a:ln/>
        </p:spPr>
        <p:txBody>
          <a:bodyPr wrap="square" lIns="0" tIns="0" rIns="0" bIns="0" rtlCol="0" anchor="t"/>
          <a:lstStyle/>
          <a:p>
            <a:pPr marL="0" indent="0" algn="r">
              <a:buNone/>
            </a:pPr>
            <a:r>
              <a:rPr lang="en-US" sz="700" kern="0" spc="150" dirty="0">
                <a:solidFill>
                  <a:srgbClr val="6F6A5F"/>
                </a:solidFill>
                <a:latin typeface="IBM Plex Mono" pitchFamily="34" charset="0"/>
                <a:ea typeface="IBM Plex Mono" pitchFamily="34" charset="-122"/>
                <a:cs typeface="IBM Plex Mono" pitchFamily="34" charset="-120"/>
              </a:rPr>
              <a:t>08 / 23</a:t>
            </a:r>
            <a:endParaRPr lang="en-US" sz="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A0B0C"/>
        </a:solidFill>
        <a:effectLst/>
      </p:bgPr>
    </p:bg>
    <p:spTree>
      <p:nvGrpSpPr>
        <p:cNvPr id="1" name=""/>
        <p:cNvGrpSpPr/>
        <p:nvPr/>
      </p:nvGrpSpPr>
      <p:grpSpPr>
        <a:xfrm>
          <a:off x="0" y="0"/>
          <a:ext cx="0" cy="0"/>
          <a:chOff x="0" y="0"/>
          <a:chExt cx="0" cy="0"/>
        </a:xfrm>
      </p:grpSpPr>
      <p:sp>
        <p:nvSpPr>
          <p:cNvPr id="2" name="Shape 0"/>
          <p:cNvSpPr/>
          <p:nvPr/>
        </p:nvSpPr>
        <p:spPr>
          <a:xfrm>
            <a:off x="640080" y="571500"/>
            <a:ext cx="219456" cy="32004"/>
          </a:xfrm>
          <a:prstGeom prst="rect">
            <a:avLst/>
          </a:prstGeom>
          <a:solidFill>
            <a:srgbClr val="E8A33D"/>
          </a:solidFill>
          <a:ln/>
        </p:spPr>
        <p:txBody>
          <a:bodyPr/>
          <a:lstStyle/>
          <a:p>
            <a:endParaRPr lang="en-PK"/>
          </a:p>
        </p:txBody>
      </p:sp>
      <p:sp>
        <p:nvSpPr>
          <p:cNvPr id="3" name="Text 1"/>
          <p:cNvSpPr/>
          <p:nvPr/>
        </p:nvSpPr>
        <p:spPr>
          <a:xfrm>
            <a:off x="969264" y="502920"/>
            <a:ext cx="8229600" cy="182880"/>
          </a:xfrm>
          <a:prstGeom prst="rect">
            <a:avLst/>
          </a:prstGeom>
          <a:noFill/>
          <a:ln/>
        </p:spPr>
        <p:txBody>
          <a:bodyPr wrap="square" lIns="0" tIns="0" rIns="0" bIns="0" rtlCol="0" anchor="t"/>
          <a:lstStyle/>
          <a:p>
            <a:pPr marL="0" indent="0">
              <a:buNone/>
            </a:pPr>
            <a:r>
              <a:rPr lang="en-US" sz="900" b="1" kern="0" spc="200" dirty="0">
                <a:solidFill>
                  <a:srgbClr val="E8A33D"/>
                </a:solidFill>
                <a:latin typeface="IBM Plex Mono" pitchFamily="34" charset="0"/>
                <a:ea typeface="IBM Plex Mono" pitchFamily="34" charset="-122"/>
                <a:cs typeface="IBM Plex Mono" pitchFamily="34" charset="-120"/>
              </a:rPr>
              <a:t>03  PRACTICE  ·  05 / 05</a:t>
            </a:r>
            <a:endParaRPr lang="en-US" sz="900" dirty="0"/>
          </a:p>
        </p:txBody>
      </p:sp>
      <p:sp>
        <p:nvSpPr>
          <p:cNvPr id="4" name="Text 2"/>
          <p:cNvSpPr/>
          <p:nvPr/>
        </p:nvSpPr>
        <p:spPr>
          <a:xfrm>
            <a:off x="640080" y="777240"/>
            <a:ext cx="5303520" cy="685800"/>
          </a:xfrm>
          <a:prstGeom prst="rect">
            <a:avLst/>
          </a:prstGeom>
          <a:noFill/>
          <a:ln/>
        </p:spPr>
        <p:txBody>
          <a:bodyPr wrap="square" lIns="0" tIns="0" rIns="0" bIns="0" rtlCol="0" anchor="t"/>
          <a:lstStyle/>
          <a:p>
            <a:pPr marL="0" indent="0">
              <a:buNone/>
            </a:pPr>
            <a:r>
              <a:rPr lang="en-US" sz="3400" b="1" dirty="0">
                <a:solidFill>
                  <a:srgbClr val="FFFFFF"/>
                </a:solidFill>
                <a:latin typeface="Space Grotesk" pitchFamily="34" charset="0"/>
                <a:ea typeface="Space Grotesk" pitchFamily="34" charset="-122"/>
                <a:cs typeface="Space Grotesk" pitchFamily="34" charset="-120"/>
              </a:rPr>
              <a:t>Cyber security</a:t>
            </a:r>
            <a:endParaRPr lang="en-US" sz="3400" dirty="0"/>
          </a:p>
        </p:txBody>
      </p:sp>
      <p:sp>
        <p:nvSpPr>
          <p:cNvPr id="5" name="Text 3"/>
          <p:cNvSpPr/>
          <p:nvPr/>
        </p:nvSpPr>
        <p:spPr>
          <a:xfrm>
            <a:off x="640080" y="1645920"/>
            <a:ext cx="5029200" cy="1645920"/>
          </a:xfrm>
          <a:prstGeom prst="rect">
            <a:avLst/>
          </a:prstGeom>
          <a:noFill/>
          <a:ln/>
        </p:spPr>
        <p:txBody>
          <a:bodyPr wrap="square" lIns="0" tIns="0" rIns="0" bIns="0" rtlCol="0" anchor="t"/>
          <a:lstStyle/>
          <a:p>
            <a:pPr marL="0" indent="0">
              <a:lnSpc>
                <a:spcPct val="130000"/>
              </a:lnSpc>
              <a:buNone/>
            </a:pPr>
            <a:r>
              <a:rPr lang="en-US" sz="1350" dirty="0">
                <a:solidFill>
                  <a:srgbClr val="FFFFFF"/>
                </a:solidFill>
                <a:latin typeface="IBM Plex Sans" pitchFamily="34" charset="0"/>
                <a:ea typeface="IBM Plex Sans" pitchFamily="34" charset="-122"/>
                <a:cs typeface="IBM Plex Sans" pitchFamily="34" charset="-120"/>
              </a:rPr>
              <a:t>We help you find and close the gaps before someone else does, from applications and infrastructure to the processes around them. That means real testing against real systems, monitoring that catches what matters, and platforms built for teams whose job is defence and compliance rather than product features.</a:t>
            </a:r>
            <a:endParaRPr lang="en-US" sz="1350" dirty="0"/>
          </a:p>
        </p:txBody>
      </p:sp>
      <p:sp>
        <p:nvSpPr>
          <p:cNvPr id="6" name="Text 4"/>
          <p:cNvSpPr/>
          <p:nvPr/>
        </p:nvSpPr>
        <p:spPr>
          <a:xfrm>
            <a:off x="640080" y="3429000"/>
            <a:ext cx="5029200" cy="182880"/>
          </a:xfrm>
          <a:prstGeom prst="rect">
            <a:avLst/>
          </a:prstGeom>
          <a:noFill/>
          <a:ln/>
        </p:spPr>
        <p:txBody>
          <a:bodyPr wrap="square" lIns="0" tIns="0" rIns="0" bIns="0" rtlCol="0" anchor="t"/>
          <a:lstStyle/>
          <a:p>
            <a:pPr marL="0" indent="0">
              <a:buNone/>
            </a:pPr>
            <a:r>
              <a:rPr lang="en-US" sz="800" kern="0" spc="150" dirty="0">
                <a:solidFill>
                  <a:srgbClr val="8B8D8F"/>
                </a:solidFill>
                <a:latin typeface="IBM Plex Mono" pitchFamily="34" charset="0"/>
                <a:ea typeface="IBM Plex Mono" pitchFamily="34" charset="-122"/>
                <a:cs typeface="IBM Plex Mono" pitchFamily="34" charset="-120"/>
              </a:rPr>
              <a:t>SELECTED WORK</a:t>
            </a:r>
            <a:endParaRPr lang="en-US" sz="800" dirty="0"/>
          </a:p>
        </p:txBody>
      </p:sp>
      <p:sp>
        <p:nvSpPr>
          <p:cNvPr id="7" name="Text 5"/>
          <p:cNvSpPr/>
          <p:nvPr/>
        </p:nvSpPr>
        <p:spPr>
          <a:xfrm>
            <a:off x="640080" y="3657600"/>
            <a:ext cx="5029200" cy="822960"/>
          </a:xfrm>
          <a:prstGeom prst="rect">
            <a:avLst/>
          </a:prstGeom>
          <a:noFill/>
          <a:ln/>
        </p:spPr>
        <p:txBody>
          <a:bodyPr wrap="square" lIns="0" tIns="0" rIns="0" bIns="0" rtlCol="0" anchor="t"/>
          <a:lstStyle/>
          <a:p>
            <a:pPr marL="0" indent="0">
              <a:lnSpc>
                <a:spcPct val="125000"/>
              </a:lnSpc>
              <a:buNone/>
            </a:pPr>
            <a:r>
              <a:rPr lang="en-US" sz="1250" b="1" dirty="0">
                <a:solidFill>
                  <a:srgbClr val="E8A33D"/>
                </a:solidFill>
                <a:latin typeface="Space Grotesk" pitchFamily="34" charset="0"/>
                <a:ea typeface="Space Grotesk" pitchFamily="34" charset="-122"/>
                <a:cs typeface="Space Grotesk" pitchFamily="34" charset="-120"/>
              </a:rPr>
              <a:t>Bolter SIEM</a:t>
            </a:r>
            <a:endParaRPr lang="en-US" sz="1250" dirty="0"/>
          </a:p>
          <a:p>
            <a:pPr marL="0" indent="0">
              <a:lnSpc>
                <a:spcPct val="125000"/>
              </a:lnSpc>
              <a:buNone/>
            </a:pPr>
            <a:r>
              <a:rPr lang="en-US" sz="1250" b="1" dirty="0">
                <a:solidFill>
                  <a:srgbClr val="E8A33D"/>
                </a:solidFill>
                <a:latin typeface="Space Grotesk" pitchFamily="34" charset="0"/>
                <a:ea typeface="Space Grotesk" pitchFamily="34" charset="-122"/>
                <a:cs typeface="Space Grotesk" pitchFamily="34" charset="-120"/>
              </a:rPr>
              <a:t>Enterprise Cyber Complaint &amp; Content Governance Dashboard</a:t>
            </a:r>
            <a:endParaRPr lang="en-US" sz="1250" dirty="0"/>
          </a:p>
          <a:p>
            <a:pPr marL="0" indent="0">
              <a:lnSpc>
                <a:spcPct val="125000"/>
              </a:lnSpc>
              <a:buNone/>
            </a:pPr>
            <a:r>
              <a:rPr lang="en-US" sz="1250" b="1" dirty="0">
                <a:solidFill>
                  <a:srgbClr val="E8A33D"/>
                </a:solidFill>
                <a:latin typeface="Space Grotesk" pitchFamily="34" charset="0"/>
                <a:ea typeface="Space Grotesk" pitchFamily="34" charset="-122"/>
                <a:cs typeface="Space Grotesk" pitchFamily="34" charset="-120"/>
              </a:rPr>
              <a:t>Threat intelligence and adversary tracking platform</a:t>
            </a:r>
            <a:endParaRPr lang="en-US" sz="1250" dirty="0"/>
          </a:p>
        </p:txBody>
      </p:sp>
      <p:sp>
        <p:nvSpPr>
          <p:cNvPr id="8" name="Text 6"/>
          <p:cNvSpPr/>
          <p:nvPr/>
        </p:nvSpPr>
        <p:spPr>
          <a:xfrm>
            <a:off x="640080" y="4892040"/>
            <a:ext cx="5029200" cy="182880"/>
          </a:xfrm>
          <a:prstGeom prst="rect">
            <a:avLst/>
          </a:prstGeom>
          <a:noFill/>
          <a:ln/>
        </p:spPr>
        <p:txBody>
          <a:bodyPr wrap="square" lIns="0" tIns="0" rIns="0" bIns="0" rtlCol="0" anchor="t"/>
          <a:lstStyle/>
          <a:p>
            <a:pPr marL="0" indent="0">
              <a:buNone/>
            </a:pPr>
            <a:r>
              <a:rPr lang="en-US" sz="800" kern="0" spc="150" dirty="0">
                <a:solidFill>
                  <a:srgbClr val="8B8D8F"/>
                </a:solidFill>
                <a:latin typeface="IBM Plex Mono" pitchFamily="34" charset="0"/>
                <a:ea typeface="IBM Plex Mono" pitchFamily="34" charset="-122"/>
                <a:cs typeface="IBM Plex Mono" pitchFamily="34" charset="-120"/>
              </a:rPr>
              <a:t>TYPICALLY BUILT WITH</a:t>
            </a:r>
            <a:endParaRPr lang="en-US" sz="800" dirty="0"/>
          </a:p>
        </p:txBody>
      </p:sp>
      <p:sp>
        <p:nvSpPr>
          <p:cNvPr id="9" name="Text 7"/>
          <p:cNvSpPr/>
          <p:nvPr/>
        </p:nvSpPr>
        <p:spPr>
          <a:xfrm>
            <a:off x="640080" y="5120640"/>
            <a:ext cx="5029200" cy="1188720"/>
          </a:xfrm>
          <a:prstGeom prst="rect">
            <a:avLst/>
          </a:prstGeom>
          <a:noFill/>
          <a:ln/>
        </p:spPr>
        <p:txBody>
          <a:bodyPr wrap="square" lIns="0" tIns="0" rIns="0" bIns="0" rtlCol="0" anchor="t"/>
          <a:lstStyle/>
          <a:p>
            <a:pPr marL="0" indent="0">
              <a:lnSpc>
                <a:spcPct val="135000"/>
              </a:lnSpc>
              <a:buNone/>
            </a:pPr>
            <a:r>
              <a:rPr lang="en-US" sz="850" dirty="0">
                <a:solidFill>
                  <a:srgbClr val="B6B7B8"/>
                </a:solidFill>
                <a:latin typeface="IBM Plex Mono" pitchFamily="34" charset="0"/>
                <a:ea typeface="IBM Plex Mono" pitchFamily="34" charset="-122"/>
                <a:cs typeface="IBM Plex Mono" pitchFamily="34" charset="-120"/>
              </a:rPr>
              <a:t>Python  ·  FastAPI  ·  TypeScript  ·  React  ·  PostgreSQL  ·  Elasticsearch  ·  MITRE ATT&amp;CK  ·  STIX/TAXII  ·  NIST NVD  ·  CISA KEV  ·  Docker  ·  AWS  ·  Azure  ·  Google Cloud</a:t>
            </a:r>
            <a:endParaRPr lang="en-US" sz="850" dirty="0"/>
          </a:p>
        </p:txBody>
      </p:sp>
      <p:sp>
        <p:nvSpPr>
          <p:cNvPr id="10" name="Text 8"/>
          <p:cNvSpPr/>
          <p:nvPr/>
        </p:nvSpPr>
        <p:spPr>
          <a:xfrm>
            <a:off x="6263640" y="1627632"/>
            <a:ext cx="5287975" cy="182880"/>
          </a:xfrm>
          <a:prstGeom prst="rect">
            <a:avLst/>
          </a:prstGeom>
          <a:noFill/>
          <a:ln/>
        </p:spPr>
        <p:txBody>
          <a:bodyPr wrap="square" lIns="0" tIns="0" rIns="0" bIns="0" rtlCol="0" anchor="t"/>
          <a:lstStyle/>
          <a:p>
            <a:pPr marL="0" indent="0">
              <a:buNone/>
            </a:pPr>
            <a:r>
              <a:rPr lang="en-US" sz="800" kern="0" spc="150" dirty="0">
                <a:solidFill>
                  <a:srgbClr val="8B8D8F"/>
                </a:solidFill>
                <a:latin typeface="IBM Plex Mono" pitchFamily="34" charset="0"/>
                <a:ea typeface="IBM Plex Mono" pitchFamily="34" charset="-122"/>
                <a:cs typeface="IBM Plex Mono" pitchFamily="34" charset="-120"/>
              </a:rPr>
              <a:t>WHAT IT INCLUDES</a:t>
            </a:r>
            <a:endParaRPr lang="en-US" sz="800" dirty="0"/>
          </a:p>
        </p:txBody>
      </p:sp>
      <p:sp>
        <p:nvSpPr>
          <p:cNvPr id="11" name="Shape 9"/>
          <p:cNvSpPr/>
          <p:nvPr/>
        </p:nvSpPr>
        <p:spPr>
          <a:xfrm>
            <a:off x="6263640" y="1920240"/>
            <a:ext cx="5287975" cy="0"/>
          </a:xfrm>
          <a:prstGeom prst="line">
            <a:avLst/>
          </a:prstGeom>
          <a:noFill/>
          <a:ln w="9525">
            <a:solidFill>
              <a:srgbClr val="2E3033"/>
            </a:solidFill>
            <a:prstDash val="solid"/>
          </a:ln>
        </p:spPr>
        <p:txBody>
          <a:bodyPr/>
          <a:lstStyle/>
          <a:p>
            <a:endParaRPr lang="en-PK"/>
          </a:p>
        </p:txBody>
      </p:sp>
      <p:sp>
        <p:nvSpPr>
          <p:cNvPr id="12" name="Text 10"/>
          <p:cNvSpPr/>
          <p:nvPr/>
        </p:nvSpPr>
        <p:spPr>
          <a:xfrm>
            <a:off x="6263640" y="1920240"/>
            <a:ext cx="411480" cy="566928"/>
          </a:xfrm>
          <a:prstGeom prst="rect">
            <a:avLst/>
          </a:prstGeom>
          <a:noFill/>
          <a:ln/>
        </p:spPr>
        <p:txBody>
          <a:bodyPr wrap="square" lIns="0" tIns="0" rIns="0" bIns="0" rtlCol="0" anchor="ctr"/>
          <a:lstStyle/>
          <a:p>
            <a:pPr marL="0" indent="0">
              <a:buNone/>
            </a:pPr>
            <a:r>
              <a:rPr lang="en-US" sz="900" dirty="0">
                <a:solidFill>
                  <a:srgbClr val="E8A33D"/>
                </a:solidFill>
                <a:latin typeface="IBM Plex Mono" pitchFamily="34" charset="0"/>
                <a:ea typeface="IBM Plex Mono" pitchFamily="34" charset="-122"/>
                <a:cs typeface="IBM Plex Mono" pitchFamily="34" charset="-120"/>
              </a:rPr>
              <a:t>01</a:t>
            </a:r>
            <a:endParaRPr lang="en-US" sz="900" dirty="0"/>
          </a:p>
        </p:txBody>
      </p:sp>
      <p:sp>
        <p:nvSpPr>
          <p:cNvPr id="13" name="Text 11"/>
          <p:cNvSpPr/>
          <p:nvPr/>
        </p:nvSpPr>
        <p:spPr>
          <a:xfrm>
            <a:off x="6720840" y="1920240"/>
            <a:ext cx="4830775" cy="566928"/>
          </a:xfrm>
          <a:prstGeom prst="rect">
            <a:avLst/>
          </a:prstGeom>
          <a:noFill/>
          <a:ln/>
        </p:spPr>
        <p:txBody>
          <a:bodyPr wrap="square" lIns="0" tIns="0" rIns="0" bIns="0" rtlCol="0" anchor="ctr"/>
          <a:lstStyle/>
          <a:p>
            <a:pPr marL="0" indent="0">
              <a:buNone/>
            </a:pPr>
            <a:r>
              <a:rPr lang="en-US" sz="1200" dirty="0">
                <a:solidFill>
                  <a:srgbClr val="FFFFFF"/>
                </a:solidFill>
                <a:latin typeface="IBM Plex Sans" pitchFamily="34" charset="0"/>
                <a:ea typeface="IBM Plex Sans" pitchFamily="34" charset="-122"/>
                <a:cs typeface="IBM Plex Sans" pitchFamily="34" charset="-120"/>
              </a:rPr>
              <a:t>Penetration testing and vulnerability assessment for applications and infrastructure</a:t>
            </a:r>
            <a:endParaRPr lang="en-US" sz="1200" dirty="0"/>
          </a:p>
        </p:txBody>
      </p:sp>
      <p:sp>
        <p:nvSpPr>
          <p:cNvPr id="14" name="Shape 12"/>
          <p:cNvSpPr/>
          <p:nvPr/>
        </p:nvSpPr>
        <p:spPr>
          <a:xfrm>
            <a:off x="6263640" y="2487168"/>
            <a:ext cx="5287975" cy="0"/>
          </a:xfrm>
          <a:prstGeom prst="line">
            <a:avLst/>
          </a:prstGeom>
          <a:noFill/>
          <a:ln w="9525">
            <a:solidFill>
              <a:srgbClr val="2E3033"/>
            </a:solidFill>
            <a:prstDash val="solid"/>
          </a:ln>
        </p:spPr>
        <p:txBody>
          <a:bodyPr/>
          <a:lstStyle/>
          <a:p>
            <a:endParaRPr lang="en-PK"/>
          </a:p>
        </p:txBody>
      </p:sp>
      <p:sp>
        <p:nvSpPr>
          <p:cNvPr id="15" name="Text 13"/>
          <p:cNvSpPr/>
          <p:nvPr/>
        </p:nvSpPr>
        <p:spPr>
          <a:xfrm>
            <a:off x="6263640" y="2487168"/>
            <a:ext cx="411480" cy="566928"/>
          </a:xfrm>
          <a:prstGeom prst="rect">
            <a:avLst/>
          </a:prstGeom>
          <a:noFill/>
          <a:ln/>
        </p:spPr>
        <p:txBody>
          <a:bodyPr wrap="square" lIns="0" tIns="0" rIns="0" bIns="0" rtlCol="0" anchor="ctr"/>
          <a:lstStyle/>
          <a:p>
            <a:pPr marL="0" indent="0">
              <a:buNone/>
            </a:pPr>
            <a:r>
              <a:rPr lang="en-US" sz="900" dirty="0">
                <a:solidFill>
                  <a:srgbClr val="E8A33D"/>
                </a:solidFill>
                <a:latin typeface="IBM Plex Mono" pitchFamily="34" charset="0"/>
                <a:ea typeface="IBM Plex Mono" pitchFamily="34" charset="-122"/>
                <a:cs typeface="IBM Plex Mono" pitchFamily="34" charset="-120"/>
              </a:rPr>
              <a:t>02</a:t>
            </a:r>
            <a:endParaRPr lang="en-US" sz="900" dirty="0"/>
          </a:p>
        </p:txBody>
      </p:sp>
      <p:sp>
        <p:nvSpPr>
          <p:cNvPr id="16" name="Text 14"/>
          <p:cNvSpPr/>
          <p:nvPr/>
        </p:nvSpPr>
        <p:spPr>
          <a:xfrm>
            <a:off x="6720840" y="2487168"/>
            <a:ext cx="4830775" cy="566928"/>
          </a:xfrm>
          <a:prstGeom prst="rect">
            <a:avLst/>
          </a:prstGeom>
          <a:noFill/>
          <a:ln/>
        </p:spPr>
        <p:txBody>
          <a:bodyPr wrap="square" lIns="0" tIns="0" rIns="0" bIns="0" rtlCol="0" anchor="ctr"/>
          <a:lstStyle/>
          <a:p>
            <a:pPr marL="0" indent="0">
              <a:buNone/>
            </a:pPr>
            <a:r>
              <a:rPr lang="en-US" sz="1200" dirty="0">
                <a:solidFill>
                  <a:srgbClr val="FFFFFF"/>
                </a:solidFill>
                <a:latin typeface="IBM Plex Sans" pitchFamily="34" charset="0"/>
                <a:ea typeface="IBM Plex Sans" pitchFamily="34" charset="-122"/>
                <a:cs typeface="IBM Plex Sans" pitchFamily="34" charset="-120"/>
              </a:rPr>
              <a:t>Threat intelligence, adversary tracking, and vulnerability data platforms</a:t>
            </a:r>
            <a:endParaRPr lang="en-US" sz="1200" dirty="0"/>
          </a:p>
        </p:txBody>
      </p:sp>
      <p:sp>
        <p:nvSpPr>
          <p:cNvPr id="17" name="Shape 15"/>
          <p:cNvSpPr/>
          <p:nvPr/>
        </p:nvSpPr>
        <p:spPr>
          <a:xfrm>
            <a:off x="6263640" y="3054096"/>
            <a:ext cx="5287975" cy="0"/>
          </a:xfrm>
          <a:prstGeom prst="line">
            <a:avLst/>
          </a:prstGeom>
          <a:noFill/>
          <a:ln w="9525">
            <a:solidFill>
              <a:srgbClr val="2E3033"/>
            </a:solidFill>
            <a:prstDash val="solid"/>
          </a:ln>
        </p:spPr>
        <p:txBody>
          <a:bodyPr/>
          <a:lstStyle/>
          <a:p>
            <a:endParaRPr lang="en-PK"/>
          </a:p>
        </p:txBody>
      </p:sp>
      <p:sp>
        <p:nvSpPr>
          <p:cNvPr id="18" name="Text 16"/>
          <p:cNvSpPr/>
          <p:nvPr/>
        </p:nvSpPr>
        <p:spPr>
          <a:xfrm>
            <a:off x="6263640" y="3054096"/>
            <a:ext cx="411480" cy="566928"/>
          </a:xfrm>
          <a:prstGeom prst="rect">
            <a:avLst/>
          </a:prstGeom>
          <a:noFill/>
          <a:ln/>
        </p:spPr>
        <p:txBody>
          <a:bodyPr wrap="square" lIns="0" tIns="0" rIns="0" bIns="0" rtlCol="0" anchor="ctr"/>
          <a:lstStyle/>
          <a:p>
            <a:pPr marL="0" indent="0">
              <a:buNone/>
            </a:pPr>
            <a:r>
              <a:rPr lang="en-US" sz="900" dirty="0">
                <a:solidFill>
                  <a:srgbClr val="E8A33D"/>
                </a:solidFill>
                <a:latin typeface="IBM Plex Mono" pitchFamily="34" charset="0"/>
                <a:ea typeface="IBM Plex Mono" pitchFamily="34" charset="-122"/>
                <a:cs typeface="IBM Plex Mono" pitchFamily="34" charset="-120"/>
              </a:rPr>
              <a:t>03</a:t>
            </a:r>
            <a:endParaRPr lang="en-US" sz="900" dirty="0"/>
          </a:p>
        </p:txBody>
      </p:sp>
      <p:sp>
        <p:nvSpPr>
          <p:cNvPr id="19" name="Text 17"/>
          <p:cNvSpPr/>
          <p:nvPr/>
        </p:nvSpPr>
        <p:spPr>
          <a:xfrm>
            <a:off x="6720840" y="3054096"/>
            <a:ext cx="4830775" cy="566928"/>
          </a:xfrm>
          <a:prstGeom prst="rect">
            <a:avLst/>
          </a:prstGeom>
          <a:noFill/>
          <a:ln/>
        </p:spPr>
        <p:txBody>
          <a:bodyPr wrap="square" lIns="0" tIns="0" rIns="0" bIns="0" rtlCol="0" anchor="ctr"/>
          <a:lstStyle/>
          <a:p>
            <a:pPr marL="0" indent="0">
              <a:buNone/>
            </a:pPr>
            <a:r>
              <a:rPr lang="en-US" sz="1200" dirty="0">
                <a:solidFill>
                  <a:srgbClr val="FFFFFF"/>
                </a:solidFill>
                <a:latin typeface="IBM Plex Sans" pitchFamily="34" charset="0"/>
                <a:ea typeface="IBM Plex Sans" pitchFamily="34" charset="-122"/>
                <a:cs typeface="IBM Plex Sans" pitchFamily="34" charset="-120"/>
              </a:rPr>
              <a:t>SIEM, log correlation, and user and entity behaviour analytics</a:t>
            </a:r>
            <a:endParaRPr lang="en-US" sz="1200" dirty="0"/>
          </a:p>
        </p:txBody>
      </p:sp>
      <p:sp>
        <p:nvSpPr>
          <p:cNvPr id="20" name="Shape 18"/>
          <p:cNvSpPr/>
          <p:nvPr/>
        </p:nvSpPr>
        <p:spPr>
          <a:xfrm>
            <a:off x="6263640" y="3621024"/>
            <a:ext cx="5287975" cy="0"/>
          </a:xfrm>
          <a:prstGeom prst="line">
            <a:avLst/>
          </a:prstGeom>
          <a:noFill/>
          <a:ln w="9525">
            <a:solidFill>
              <a:srgbClr val="2E3033"/>
            </a:solidFill>
            <a:prstDash val="solid"/>
          </a:ln>
        </p:spPr>
        <p:txBody>
          <a:bodyPr/>
          <a:lstStyle/>
          <a:p>
            <a:endParaRPr lang="en-PK"/>
          </a:p>
        </p:txBody>
      </p:sp>
      <p:sp>
        <p:nvSpPr>
          <p:cNvPr id="21" name="Text 19"/>
          <p:cNvSpPr/>
          <p:nvPr/>
        </p:nvSpPr>
        <p:spPr>
          <a:xfrm>
            <a:off x="6263640" y="3621024"/>
            <a:ext cx="411480" cy="566928"/>
          </a:xfrm>
          <a:prstGeom prst="rect">
            <a:avLst/>
          </a:prstGeom>
          <a:noFill/>
          <a:ln/>
        </p:spPr>
        <p:txBody>
          <a:bodyPr wrap="square" lIns="0" tIns="0" rIns="0" bIns="0" rtlCol="0" anchor="ctr"/>
          <a:lstStyle/>
          <a:p>
            <a:pPr marL="0" indent="0">
              <a:buNone/>
            </a:pPr>
            <a:r>
              <a:rPr lang="en-US" sz="900" dirty="0">
                <a:solidFill>
                  <a:srgbClr val="E8A33D"/>
                </a:solidFill>
                <a:latin typeface="IBM Plex Mono" pitchFamily="34" charset="0"/>
                <a:ea typeface="IBM Plex Mono" pitchFamily="34" charset="-122"/>
                <a:cs typeface="IBM Plex Mono" pitchFamily="34" charset="-120"/>
              </a:rPr>
              <a:t>04</a:t>
            </a:r>
            <a:endParaRPr lang="en-US" sz="900" dirty="0"/>
          </a:p>
        </p:txBody>
      </p:sp>
      <p:sp>
        <p:nvSpPr>
          <p:cNvPr id="22" name="Text 20"/>
          <p:cNvSpPr/>
          <p:nvPr/>
        </p:nvSpPr>
        <p:spPr>
          <a:xfrm>
            <a:off x="6720840" y="3621024"/>
            <a:ext cx="4830775" cy="566928"/>
          </a:xfrm>
          <a:prstGeom prst="rect">
            <a:avLst/>
          </a:prstGeom>
          <a:noFill/>
          <a:ln/>
        </p:spPr>
        <p:txBody>
          <a:bodyPr wrap="square" lIns="0" tIns="0" rIns="0" bIns="0" rtlCol="0" anchor="ctr"/>
          <a:lstStyle/>
          <a:p>
            <a:pPr marL="0" indent="0">
              <a:buNone/>
            </a:pPr>
            <a:r>
              <a:rPr lang="en-US" sz="1200" dirty="0">
                <a:solidFill>
                  <a:srgbClr val="FFFFFF"/>
                </a:solidFill>
                <a:latin typeface="IBM Plex Sans" pitchFamily="34" charset="0"/>
                <a:ea typeface="IBM Plex Sans" pitchFamily="34" charset="-122"/>
                <a:cs typeface="IBM Plex Sans" pitchFamily="34" charset="-120"/>
              </a:rPr>
              <a:t>OSINT, domain and asset intelligence for attack-surface visibility</a:t>
            </a:r>
            <a:endParaRPr lang="en-US" sz="1200" dirty="0"/>
          </a:p>
        </p:txBody>
      </p:sp>
      <p:sp>
        <p:nvSpPr>
          <p:cNvPr id="23" name="Shape 21"/>
          <p:cNvSpPr/>
          <p:nvPr/>
        </p:nvSpPr>
        <p:spPr>
          <a:xfrm>
            <a:off x="6263640" y="4187952"/>
            <a:ext cx="5287975" cy="0"/>
          </a:xfrm>
          <a:prstGeom prst="line">
            <a:avLst/>
          </a:prstGeom>
          <a:noFill/>
          <a:ln w="9525">
            <a:solidFill>
              <a:srgbClr val="2E3033"/>
            </a:solidFill>
            <a:prstDash val="solid"/>
          </a:ln>
        </p:spPr>
        <p:txBody>
          <a:bodyPr/>
          <a:lstStyle/>
          <a:p>
            <a:endParaRPr lang="en-PK"/>
          </a:p>
        </p:txBody>
      </p:sp>
      <p:sp>
        <p:nvSpPr>
          <p:cNvPr id="24" name="Text 22"/>
          <p:cNvSpPr/>
          <p:nvPr/>
        </p:nvSpPr>
        <p:spPr>
          <a:xfrm>
            <a:off x="6263640" y="4187952"/>
            <a:ext cx="411480" cy="566928"/>
          </a:xfrm>
          <a:prstGeom prst="rect">
            <a:avLst/>
          </a:prstGeom>
          <a:noFill/>
          <a:ln/>
        </p:spPr>
        <p:txBody>
          <a:bodyPr wrap="square" lIns="0" tIns="0" rIns="0" bIns="0" rtlCol="0" anchor="ctr"/>
          <a:lstStyle/>
          <a:p>
            <a:pPr marL="0" indent="0">
              <a:buNone/>
            </a:pPr>
            <a:r>
              <a:rPr lang="en-US" sz="900" dirty="0">
                <a:solidFill>
                  <a:srgbClr val="E8A33D"/>
                </a:solidFill>
                <a:latin typeface="IBM Plex Mono" pitchFamily="34" charset="0"/>
                <a:ea typeface="IBM Plex Mono" pitchFamily="34" charset="-122"/>
                <a:cs typeface="IBM Plex Mono" pitchFamily="34" charset="-120"/>
              </a:rPr>
              <a:t>05</a:t>
            </a:r>
            <a:endParaRPr lang="en-US" sz="900" dirty="0"/>
          </a:p>
        </p:txBody>
      </p:sp>
      <p:sp>
        <p:nvSpPr>
          <p:cNvPr id="25" name="Text 23"/>
          <p:cNvSpPr/>
          <p:nvPr/>
        </p:nvSpPr>
        <p:spPr>
          <a:xfrm>
            <a:off x="6720840" y="4187952"/>
            <a:ext cx="4830775" cy="566928"/>
          </a:xfrm>
          <a:prstGeom prst="rect">
            <a:avLst/>
          </a:prstGeom>
          <a:noFill/>
          <a:ln/>
        </p:spPr>
        <p:txBody>
          <a:bodyPr wrap="square" lIns="0" tIns="0" rIns="0" bIns="0" rtlCol="0" anchor="ctr"/>
          <a:lstStyle/>
          <a:p>
            <a:pPr marL="0" indent="0">
              <a:buNone/>
            </a:pPr>
            <a:r>
              <a:rPr lang="en-US" sz="1200" dirty="0">
                <a:solidFill>
                  <a:srgbClr val="FFFFFF"/>
                </a:solidFill>
                <a:latin typeface="IBM Plex Sans" pitchFamily="34" charset="0"/>
                <a:ea typeface="IBM Plex Sans" pitchFamily="34" charset="-122"/>
                <a:cs typeface="IBM Plex Sans" pitchFamily="34" charset="-120"/>
              </a:rPr>
              <a:t>Cyber regulatory, compliance, and complaint governance platforms</a:t>
            </a:r>
            <a:endParaRPr lang="en-US" sz="1200" dirty="0"/>
          </a:p>
        </p:txBody>
      </p:sp>
      <p:sp>
        <p:nvSpPr>
          <p:cNvPr id="26" name="Shape 24"/>
          <p:cNvSpPr/>
          <p:nvPr/>
        </p:nvSpPr>
        <p:spPr>
          <a:xfrm>
            <a:off x="6263640" y="4754880"/>
            <a:ext cx="5287975" cy="0"/>
          </a:xfrm>
          <a:prstGeom prst="line">
            <a:avLst/>
          </a:prstGeom>
          <a:noFill/>
          <a:ln w="9525">
            <a:solidFill>
              <a:srgbClr val="2E3033"/>
            </a:solidFill>
            <a:prstDash val="solid"/>
          </a:ln>
        </p:spPr>
        <p:txBody>
          <a:bodyPr/>
          <a:lstStyle/>
          <a:p>
            <a:endParaRPr lang="en-PK"/>
          </a:p>
        </p:txBody>
      </p:sp>
      <p:sp>
        <p:nvSpPr>
          <p:cNvPr id="27" name="Text 25"/>
          <p:cNvSpPr/>
          <p:nvPr/>
        </p:nvSpPr>
        <p:spPr>
          <a:xfrm>
            <a:off x="6263640" y="4754880"/>
            <a:ext cx="411480" cy="566928"/>
          </a:xfrm>
          <a:prstGeom prst="rect">
            <a:avLst/>
          </a:prstGeom>
          <a:noFill/>
          <a:ln/>
        </p:spPr>
        <p:txBody>
          <a:bodyPr wrap="square" lIns="0" tIns="0" rIns="0" bIns="0" rtlCol="0" anchor="ctr"/>
          <a:lstStyle/>
          <a:p>
            <a:pPr marL="0" indent="0">
              <a:buNone/>
            </a:pPr>
            <a:r>
              <a:rPr lang="en-US" sz="900" dirty="0">
                <a:solidFill>
                  <a:srgbClr val="E8A33D"/>
                </a:solidFill>
                <a:latin typeface="IBM Plex Mono" pitchFamily="34" charset="0"/>
                <a:ea typeface="IBM Plex Mono" pitchFamily="34" charset="-122"/>
                <a:cs typeface="IBM Plex Mono" pitchFamily="34" charset="-120"/>
              </a:rPr>
              <a:t>06</a:t>
            </a:r>
            <a:endParaRPr lang="en-US" sz="900" dirty="0"/>
          </a:p>
        </p:txBody>
      </p:sp>
      <p:sp>
        <p:nvSpPr>
          <p:cNvPr id="28" name="Text 26"/>
          <p:cNvSpPr/>
          <p:nvPr/>
        </p:nvSpPr>
        <p:spPr>
          <a:xfrm>
            <a:off x="6720840" y="4754880"/>
            <a:ext cx="4830775" cy="566928"/>
          </a:xfrm>
          <a:prstGeom prst="rect">
            <a:avLst/>
          </a:prstGeom>
          <a:noFill/>
          <a:ln/>
        </p:spPr>
        <p:txBody>
          <a:bodyPr wrap="square" lIns="0" tIns="0" rIns="0" bIns="0" rtlCol="0" anchor="ctr"/>
          <a:lstStyle/>
          <a:p>
            <a:pPr marL="0" indent="0">
              <a:buNone/>
            </a:pPr>
            <a:r>
              <a:rPr lang="en-US" sz="1200" dirty="0">
                <a:solidFill>
                  <a:srgbClr val="FFFFFF"/>
                </a:solidFill>
                <a:latin typeface="IBM Plex Sans" pitchFamily="34" charset="0"/>
                <a:ea typeface="IBM Plex Sans" pitchFamily="34" charset="-122"/>
                <a:cs typeface="IBM Plex Sans" pitchFamily="34" charset="-120"/>
              </a:rPr>
              <a:t>Secure-by-design application development and code review</a:t>
            </a:r>
            <a:endParaRPr lang="en-US" sz="1200" dirty="0"/>
          </a:p>
        </p:txBody>
      </p:sp>
      <p:sp>
        <p:nvSpPr>
          <p:cNvPr id="29" name="Shape 27"/>
          <p:cNvSpPr/>
          <p:nvPr/>
        </p:nvSpPr>
        <p:spPr>
          <a:xfrm>
            <a:off x="6263640" y="5321808"/>
            <a:ext cx="5287975" cy="0"/>
          </a:xfrm>
          <a:prstGeom prst="line">
            <a:avLst/>
          </a:prstGeom>
          <a:noFill/>
          <a:ln w="9525">
            <a:solidFill>
              <a:srgbClr val="2E3033"/>
            </a:solidFill>
            <a:prstDash val="solid"/>
          </a:ln>
        </p:spPr>
        <p:txBody>
          <a:bodyPr/>
          <a:lstStyle/>
          <a:p>
            <a:endParaRPr lang="en-PK"/>
          </a:p>
        </p:txBody>
      </p:sp>
      <p:sp>
        <p:nvSpPr>
          <p:cNvPr id="30" name="Text 28"/>
          <p:cNvSpPr/>
          <p:nvPr/>
        </p:nvSpPr>
        <p:spPr>
          <a:xfrm>
            <a:off x="6263640" y="5321808"/>
            <a:ext cx="411480" cy="566928"/>
          </a:xfrm>
          <a:prstGeom prst="rect">
            <a:avLst/>
          </a:prstGeom>
          <a:noFill/>
          <a:ln/>
        </p:spPr>
        <p:txBody>
          <a:bodyPr wrap="square" lIns="0" tIns="0" rIns="0" bIns="0" rtlCol="0" anchor="ctr"/>
          <a:lstStyle/>
          <a:p>
            <a:pPr marL="0" indent="0">
              <a:buNone/>
            </a:pPr>
            <a:r>
              <a:rPr lang="en-US" sz="900" dirty="0">
                <a:solidFill>
                  <a:srgbClr val="E8A33D"/>
                </a:solidFill>
                <a:latin typeface="IBM Plex Mono" pitchFamily="34" charset="0"/>
                <a:ea typeface="IBM Plex Mono" pitchFamily="34" charset="-122"/>
                <a:cs typeface="IBM Plex Mono" pitchFamily="34" charset="-120"/>
              </a:rPr>
              <a:t>07</a:t>
            </a:r>
            <a:endParaRPr lang="en-US" sz="900" dirty="0"/>
          </a:p>
        </p:txBody>
      </p:sp>
      <p:sp>
        <p:nvSpPr>
          <p:cNvPr id="31" name="Text 29"/>
          <p:cNvSpPr/>
          <p:nvPr/>
        </p:nvSpPr>
        <p:spPr>
          <a:xfrm>
            <a:off x="6720840" y="5321808"/>
            <a:ext cx="4830775" cy="566928"/>
          </a:xfrm>
          <a:prstGeom prst="rect">
            <a:avLst/>
          </a:prstGeom>
          <a:noFill/>
          <a:ln/>
        </p:spPr>
        <p:txBody>
          <a:bodyPr wrap="square" lIns="0" tIns="0" rIns="0" bIns="0" rtlCol="0" anchor="ctr"/>
          <a:lstStyle/>
          <a:p>
            <a:pPr marL="0" indent="0">
              <a:buNone/>
            </a:pPr>
            <a:r>
              <a:rPr lang="en-US" sz="1200" dirty="0">
                <a:solidFill>
                  <a:srgbClr val="FFFFFF"/>
                </a:solidFill>
                <a:latin typeface="IBM Plex Sans" pitchFamily="34" charset="0"/>
                <a:ea typeface="IBM Plex Sans" pitchFamily="34" charset="-122"/>
                <a:cs typeface="IBM Plex Sans" pitchFamily="34" charset="-120"/>
              </a:rPr>
              <a:t>Incident response tooling, audit trails, and reporting</a:t>
            </a:r>
            <a:endParaRPr lang="en-US" sz="1200" dirty="0"/>
          </a:p>
        </p:txBody>
      </p:sp>
      <p:sp>
        <p:nvSpPr>
          <p:cNvPr id="32" name="Shape 30"/>
          <p:cNvSpPr/>
          <p:nvPr/>
        </p:nvSpPr>
        <p:spPr>
          <a:xfrm>
            <a:off x="6263640" y="5888736"/>
            <a:ext cx="5287975" cy="0"/>
          </a:xfrm>
          <a:prstGeom prst="line">
            <a:avLst/>
          </a:prstGeom>
          <a:noFill/>
          <a:ln w="9525">
            <a:solidFill>
              <a:srgbClr val="2E3033"/>
            </a:solidFill>
            <a:prstDash val="solid"/>
          </a:ln>
        </p:spPr>
        <p:txBody>
          <a:bodyPr/>
          <a:lstStyle/>
          <a:p>
            <a:endParaRPr lang="en-PK"/>
          </a:p>
        </p:txBody>
      </p:sp>
      <p:sp>
        <p:nvSpPr>
          <p:cNvPr id="33" name="Text 31"/>
          <p:cNvSpPr/>
          <p:nvPr/>
        </p:nvSpPr>
        <p:spPr>
          <a:xfrm>
            <a:off x="640080" y="6473952"/>
            <a:ext cx="6400800" cy="164592"/>
          </a:xfrm>
          <a:prstGeom prst="rect">
            <a:avLst/>
          </a:prstGeom>
          <a:noFill/>
          <a:ln/>
        </p:spPr>
        <p:txBody>
          <a:bodyPr wrap="square" lIns="0" tIns="0" rIns="0" bIns="0" rtlCol="0" anchor="t"/>
          <a:lstStyle/>
          <a:p>
            <a:pPr marL="0" indent="0">
              <a:buNone/>
            </a:pPr>
            <a:r>
              <a:rPr lang="en-US" sz="700" kern="0" spc="150" dirty="0">
                <a:solidFill>
                  <a:srgbClr val="8B8D8F"/>
                </a:solidFill>
                <a:latin typeface="IBM Plex Mono" pitchFamily="34" charset="0"/>
                <a:ea typeface="IBM Plex Mono" pitchFamily="34" charset="-122"/>
                <a:cs typeface="IBM Plex Mono" pitchFamily="34" charset="-120"/>
              </a:rPr>
              <a:t>BOLTER TECHNOLOGIES PRIVATE LIMITED  ·  COMPANY PROFILE</a:t>
            </a:r>
            <a:endParaRPr lang="en-US" sz="700" dirty="0"/>
          </a:p>
        </p:txBody>
      </p:sp>
      <p:sp>
        <p:nvSpPr>
          <p:cNvPr id="34" name="Text 32"/>
          <p:cNvSpPr/>
          <p:nvPr/>
        </p:nvSpPr>
        <p:spPr>
          <a:xfrm>
            <a:off x="9722815" y="6473952"/>
            <a:ext cx="1828800" cy="164592"/>
          </a:xfrm>
          <a:prstGeom prst="rect">
            <a:avLst/>
          </a:prstGeom>
          <a:noFill/>
          <a:ln/>
        </p:spPr>
        <p:txBody>
          <a:bodyPr wrap="square" lIns="0" tIns="0" rIns="0" bIns="0" rtlCol="0" anchor="t"/>
          <a:lstStyle/>
          <a:p>
            <a:pPr marL="0" indent="0" algn="r">
              <a:buNone/>
            </a:pPr>
            <a:r>
              <a:rPr lang="en-US" sz="700" kern="0" spc="150" dirty="0">
                <a:solidFill>
                  <a:srgbClr val="8B8D8F"/>
                </a:solidFill>
                <a:latin typeface="IBM Plex Mono" pitchFamily="34" charset="0"/>
                <a:ea typeface="IBM Plex Mono" pitchFamily="34" charset="-122"/>
                <a:cs typeface="IBM Plex Mono" pitchFamily="34" charset="-120"/>
              </a:rPr>
              <a:t>09 / 23</a:t>
            </a:r>
            <a:endParaRPr lang="en-US" sz="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3F1ED"/>
        </a:solidFill>
        <a:effectLst/>
      </p:bgPr>
    </p:bg>
    <p:spTree>
      <p:nvGrpSpPr>
        <p:cNvPr id="1" name=""/>
        <p:cNvGrpSpPr/>
        <p:nvPr/>
      </p:nvGrpSpPr>
      <p:grpSpPr>
        <a:xfrm>
          <a:off x="0" y="0"/>
          <a:ext cx="0" cy="0"/>
          <a:chOff x="0" y="0"/>
          <a:chExt cx="0" cy="0"/>
        </a:xfrm>
      </p:grpSpPr>
      <p:sp>
        <p:nvSpPr>
          <p:cNvPr id="2" name="Shape 0"/>
          <p:cNvSpPr/>
          <p:nvPr/>
        </p:nvSpPr>
        <p:spPr>
          <a:xfrm>
            <a:off x="640080" y="571500"/>
            <a:ext cx="219456" cy="32004"/>
          </a:xfrm>
          <a:prstGeom prst="rect">
            <a:avLst/>
          </a:prstGeom>
          <a:solidFill>
            <a:srgbClr val="8F5D0A"/>
          </a:solidFill>
          <a:ln/>
        </p:spPr>
        <p:txBody>
          <a:bodyPr/>
          <a:lstStyle/>
          <a:p>
            <a:endParaRPr lang="en-PK"/>
          </a:p>
        </p:txBody>
      </p:sp>
      <p:sp>
        <p:nvSpPr>
          <p:cNvPr id="3" name="Text 1"/>
          <p:cNvSpPr/>
          <p:nvPr/>
        </p:nvSpPr>
        <p:spPr>
          <a:xfrm>
            <a:off x="969264" y="502920"/>
            <a:ext cx="8229600" cy="182880"/>
          </a:xfrm>
          <a:prstGeom prst="rect">
            <a:avLst/>
          </a:prstGeom>
          <a:noFill/>
          <a:ln/>
        </p:spPr>
        <p:txBody>
          <a:bodyPr wrap="square" lIns="0" tIns="0" rIns="0" bIns="0" rtlCol="0" anchor="t"/>
          <a:lstStyle/>
          <a:p>
            <a:pPr marL="0" indent="0">
              <a:buNone/>
            </a:pPr>
            <a:r>
              <a:rPr lang="en-US" sz="900" b="1" kern="0" spc="200" dirty="0">
                <a:solidFill>
                  <a:srgbClr val="8F5D0A"/>
                </a:solidFill>
                <a:latin typeface="IBM Plex Mono" pitchFamily="34" charset="0"/>
                <a:ea typeface="IBM Plex Mono" pitchFamily="34" charset="-122"/>
                <a:cs typeface="IBM Plex Mono" pitchFamily="34" charset="-120"/>
              </a:rPr>
              <a:t>04  METHOD</a:t>
            </a:r>
            <a:endParaRPr lang="en-US" sz="900" dirty="0"/>
          </a:p>
        </p:txBody>
      </p:sp>
      <p:sp>
        <p:nvSpPr>
          <p:cNvPr id="4" name="Text 2"/>
          <p:cNvSpPr/>
          <p:nvPr/>
        </p:nvSpPr>
        <p:spPr>
          <a:xfrm>
            <a:off x="640080" y="777240"/>
            <a:ext cx="10911535" cy="685800"/>
          </a:xfrm>
          <a:prstGeom prst="rect">
            <a:avLst/>
          </a:prstGeom>
          <a:noFill/>
          <a:ln/>
        </p:spPr>
        <p:txBody>
          <a:bodyPr wrap="square" lIns="0" tIns="0" rIns="0" bIns="0" rtlCol="0" anchor="t"/>
          <a:lstStyle/>
          <a:p>
            <a:pPr marL="0" indent="0">
              <a:buNone/>
            </a:pPr>
            <a:r>
              <a:rPr lang="en-US" sz="3400" b="1" dirty="0">
                <a:solidFill>
                  <a:srgbClr val="14161A"/>
                </a:solidFill>
                <a:latin typeface="Space Grotesk" pitchFamily="34" charset="0"/>
                <a:ea typeface="Space Grotesk" pitchFamily="34" charset="-122"/>
                <a:cs typeface="Space Grotesk" pitchFamily="34" charset="-120"/>
              </a:rPr>
              <a:t>How we work</a:t>
            </a:r>
            <a:endParaRPr lang="en-US" sz="3400" dirty="0"/>
          </a:p>
        </p:txBody>
      </p:sp>
      <p:sp>
        <p:nvSpPr>
          <p:cNvPr id="5" name="Shape 3"/>
          <p:cNvSpPr/>
          <p:nvPr/>
        </p:nvSpPr>
        <p:spPr>
          <a:xfrm>
            <a:off x="640080" y="1828800"/>
            <a:ext cx="10911535" cy="0"/>
          </a:xfrm>
          <a:prstGeom prst="line">
            <a:avLst/>
          </a:prstGeom>
          <a:noFill/>
          <a:ln w="9525">
            <a:solidFill>
              <a:srgbClr val="DCD8D0"/>
            </a:solidFill>
            <a:prstDash val="solid"/>
          </a:ln>
        </p:spPr>
        <p:txBody>
          <a:bodyPr/>
          <a:lstStyle/>
          <a:p>
            <a:endParaRPr lang="en-PK"/>
          </a:p>
        </p:txBody>
      </p:sp>
      <p:sp>
        <p:nvSpPr>
          <p:cNvPr id="6" name="Shape 4"/>
          <p:cNvSpPr/>
          <p:nvPr/>
        </p:nvSpPr>
        <p:spPr>
          <a:xfrm>
            <a:off x="639166" y="1755648"/>
            <a:ext cx="146304" cy="146304"/>
          </a:xfrm>
          <a:prstGeom prst="ellipse">
            <a:avLst/>
          </a:prstGeom>
          <a:solidFill>
            <a:srgbClr val="8F5D0A"/>
          </a:solidFill>
          <a:ln w="38100">
            <a:solidFill>
              <a:srgbClr val="F3F1ED"/>
            </a:solidFill>
            <a:prstDash val="solid"/>
          </a:ln>
        </p:spPr>
        <p:txBody>
          <a:bodyPr/>
          <a:lstStyle/>
          <a:p>
            <a:endParaRPr lang="en-PK"/>
          </a:p>
        </p:txBody>
      </p:sp>
      <p:sp>
        <p:nvSpPr>
          <p:cNvPr id="7" name="Text 5"/>
          <p:cNvSpPr/>
          <p:nvPr/>
        </p:nvSpPr>
        <p:spPr>
          <a:xfrm>
            <a:off x="640080" y="2148840"/>
            <a:ext cx="2453564" cy="731520"/>
          </a:xfrm>
          <a:prstGeom prst="rect">
            <a:avLst/>
          </a:prstGeom>
          <a:noFill/>
          <a:ln/>
        </p:spPr>
        <p:txBody>
          <a:bodyPr wrap="square" lIns="0" tIns="0" rIns="0" bIns="0" rtlCol="0" anchor="t"/>
          <a:lstStyle/>
          <a:p>
            <a:pPr marL="0" indent="0">
              <a:buNone/>
            </a:pPr>
            <a:r>
              <a:rPr lang="en-US" sz="4800" b="1" dirty="0">
                <a:solidFill>
                  <a:srgbClr val="8F5D0A"/>
                </a:solidFill>
                <a:latin typeface="Space Grotesk" pitchFamily="34" charset="0"/>
                <a:ea typeface="Space Grotesk" pitchFamily="34" charset="-122"/>
                <a:cs typeface="Space Grotesk" pitchFamily="34" charset="-120"/>
              </a:rPr>
              <a:t>01</a:t>
            </a:r>
            <a:endParaRPr lang="en-US" sz="4800" dirty="0"/>
          </a:p>
        </p:txBody>
      </p:sp>
      <p:sp>
        <p:nvSpPr>
          <p:cNvPr id="8" name="Text 6"/>
          <p:cNvSpPr/>
          <p:nvPr/>
        </p:nvSpPr>
        <p:spPr>
          <a:xfrm>
            <a:off x="640080" y="2971800"/>
            <a:ext cx="2453564" cy="731520"/>
          </a:xfrm>
          <a:prstGeom prst="rect">
            <a:avLst/>
          </a:prstGeom>
          <a:noFill/>
          <a:ln/>
        </p:spPr>
        <p:txBody>
          <a:bodyPr wrap="square" lIns="0" tIns="0" rIns="0" bIns="0" rtlCol="0" anchor="t"/>
          <a:lstStyle/>
          <a:p>
            <a:pPr marL="0" indent="0">
              <a:buNone/>
            </a:pPr>
            <a:r>
              <a:rPr lang="en-US" sz="2000" b="1" dirty="0">
                <a:solidFill>
                  <a:srgbClr val="14161A"/>
                </a:solidFill>
                <a:latin typeface="Space Grotesk" pitchFamily="34" charset="0"/>
                <a:ea typeface="Space Grotesk" pitchFamily="34" charset="-122"/>
                <a:cs typeface="Space Grotesk" pitchFamily="34" charset="-120"/>
              </a:rPr>
              <a:t>Discovery</a:t>
            </a:r>
            <a:endParaRPr lang="en-US" sz="2000" dirty="0"/>
          </a:p>
        </p:txBody>
      </p:sp>
      <p:sp>
        <p:nvSpPr>
          <p:cNvPr id="9" name="Text 7"/>
          <p:cNvSpPr/>
          <p:nvPr/>
        </p:nvSpPr>
        <p:spPr>
          <a:xfrm>
            <a:off x="640080" y="3749040"/>
            <a:ext cx="2453564" cy="2377440"/>
          </a:xfrm>
          <a:prstGeom prst="rect">
            <a:avLst/>
          </a:prstGeom>
          <a:noFill/>
          <a:ln/>
        </p:spPr>
        <p:txBody>
          <a:bodyPr wrap="square" lIns="0" tIns="0" rIns="0" bIns="0" rtlCol="0" anchor="t"/>
          <a:lstStyle/>
          <a:p>
            <a:pPr marL="0" indent="0">
              <a:lnSpc>
                <a:spcPct val="130000"/>
              </a:lnSpc>
              <a:buNone/>
            </a:pPr>
            <a:r>
              <a:rPr lang="en-US" sz="1200" dirty="0">
                <a:solidFill>
                  <a:srgbClr val="5B6066"/>
                </a:solidFill>
                <a:latin typeface="IBM Plex Sans" pitchFamily="34" charset="0"/>
                <a:ea typeface="IBM Plex Sans" pitchFamily="34" charset="-122"/>
                <a:cs typeface="IBM Plex Sans" pitchFamily="34" charset="-120"/>
              </a:rPr>
              <a:t>We start by understanding what you are trying to achieve and how the work happens today. For larger or more complex projects, we map the process, identify the real requirements, and work out the right technical approach before development begins.</a:t>
            </a:r>
            <a:endParaRPr lang="en-US" sz="1200" dirty="0"/>
          </a:p>
        </p:txBody>
      </p:sp>
      <p:sp>
        <p:nvSpPr>
          <p:cNvPr id="10" name="Shape 8"/>
          <p:cNvSpPr/>
          <p:nvPr/>
        </p:nvSpPr>
        <p:spPr>
          <a:xfrm>
            <a:off x="3458489" y="1755648"/>
            <a:ext cx="146304" cy="146304"/>
          </a:xfrm>
          <a:prstGeom prst="ellipse">
            <a:avLst/>
          </a:prstGeom>
          <a:solidFill>
            <a:srgbClr val="8F5D0A"/>
          </a:solidFill>
          <a:ln w="38100">
            <a:solidFill>
              <a:srgbClr val="F3F1ED"/>
            </a:solidFill>
            <a:prstDash val="solid"/>
          </a:ln>
        </p:spPr>
        <p:txBody>
          <a:bodyPr/>
          <a:lstStyle/>
          <a:p>
            <a:endParaRPr lang="en-PK"/>
          </a:p>
        </p:txBody>
      </p:sp>
      <p:sp>
        <p:nvSpPr>
          <p:cNvPr id="11" name="Text 9"/>
          <p:cNvSpPr/>
          <p:nvPr/>
        </p:nvSpPr>
        <p:spPr>
          <a:xfrm>
            <a:off x="3459404" y="2148840"/>
            <a:ext cx="2453564" cy="731520"/>
          </a:xfrm>
          <a:prstGeom prst="rect">
            <a:avLst/>
          </a:prstGeom>
          <a:noFill/>
          <a:ln/>
        </p:spPr>
        <p:txBody>
          <a:bodyPr wrap="square" lIns="0" tIns="0" rIns="0" bIns="0" rtlCol="0" anchor="t"/>
          <a:lstStyle/>
          <a:p>
            <a:pPr marL="0" indent="0">
              <a:buNone/>
            </a:pPr>
            <a:r>
              <a:rPr lang="en-US" sz="4800" b="1" dirty="0">
                <a:solidFill>
                  <a:srgbClr val="8F5D0A"/>
                </a:solidFill>
                <a:latin typeface="Space Grotesk" pitchFamily="34" charset="0"/>
                <a:ea typeface="Space Grotesk" pitchFamily="34" charset="-122"/>
                <a:cs typeface="Space Grotesk" pitchFamily="34" charset="-120"/>
              </a:rPr>
              <a:t>02</a:t>
            </a:r>
            <a:endParaRPr lang="en-US" sz="4800" dirty="0"/>
          </a:p>
        </p:txBody>
      </p:sp>
      <p:sp>
        <p:nvSpPr>
          <p:cNvPr id="12" name="Text 10"/>
          <p:cNvSpPr/>
          <p:nvPr/>
        </p:nvSpPr>
        <p:spPr>
          <a:xfrm>
            <a:off x="3459404" y="2971800"/>
            <a:ext cx="2453564" cy="731520"/>
          </a:xfrm>
          <a:prstGeom prst="rect">
            <a:avLst/>
          </a:prstGeom>
          <a:noFill/>
          <a:ln/>
        </p:spPr>
        <p:txBody>
          <a:bodyPr wrap="square" lIns="0" tIns="0" rIns="0" bIns="0" rtlCol="0" anchor="t"/>
          <a:lstStyle/>
          <a:p>
            <a:pPr marL="0" indent="0">
              <a:buNone/>
            </a:pPr>
            <a:r>
              <a:rPr lang="en-US" sz="2000" b="1" dirty="0">
                <a:solidFill>
                  <a:srgbClr val="14161A"/>
                </a:solidFill>
                <a:latin typeface="Space Grotesk" pitchFamily="34" charset="0"/>
                <a:ea typeface="Space Grotesk" pitchFamily="34" charset="-122"/>
                <a:cs typeface="Space Grotesk" pitchFamily="34" charset="-120"/>
              </a:rPr>
              <a:t>Plan &amp; Scope</a:t>
            </a:r>
            <a:endParaRPr lang="en-US" sz="2000" dirty="0"/>
          </a:p>
        </p:txBody>
      </p:sp>
      <p:sp>
        <p:nvSpPr>
          <p:cNvPr id="13" name="Text 11"/>
          <p:cNvSpPr/>
          <p:nvPr/>
        </p:nvSpPr>
        <p:spPr>
          <a:xfrm>
            <a:off x="3459404" y="3749040"/>
            <a:ext cx="2453564" cy="2377440"/>
          </a:xfrm>
          <a:prstGeom prst="rect">
            <a:avLst/>
          </a:prstGeom>
          <a:noFill/>
          <a:ln/>
        </p:spPr>
        <p:txBody>
          <a:bodyPr wrap="square" lIns="0" tIns="0" rIns="0" bIns="0" rtlCol="0" anchor="t"/>
          <a:lstStyle/>
          <a:p>
            <a:pPr marL="0" indent="0">
              <a:lnSpc>
                <a:spcPct val="130000"/>
              </a:lnSpc>
              <a:buNone/>
            </a:pPr>
            <a:r>
              <a:rPr lang="en-US" sz="1200" dirty="0">
                <a:solidFill>
                  <a:srgbClr val="5B6066"/>
                </a:solidFill>
                <a:latin typeface="IBM Plex Sans" pitchFamily="34" charset="0"/>
                <a:ea typeface="IBM Plex Sans" pitchFamily="34" charset="-122"/>
                <a:cs typeface="IBM Plex Sans" pitchFamily="34" charset="-120"/>
              </a:rPr>
              <a:t>We turn the requirements into a clear plan with defined deliverables, timelines, and pricing. For phased projects, each phase has an agreed scope and cost, with assumptions and uncertainties made clear from the start.</a:t>
            </a:r>
            <a:endParaRPr lang="en-US" sz="1200" dirty="0"/>
          </a:p>
        </p:txBody>
      </p:sp>
      <p:sp>
        <p:nvSpPr>
          <p:cNvPr id="14" name="Shape 12"/>
          <p:cNvSpPr/>
          <p:nvPr/>
        </p:nvSpPr>
        <p:spPr>
          <a:xfrm>
            <a:off x="6277813" y="1755648"/>
            <a:ext cx="146304" cy="146304"/>
          </a:xfrm>
          <a:prstGeom prst="ellipse">
            <a:avLst/>
          </a:prstGeom>
          <a:solidFill>
            <a:srgbClr val="8F5D0A"/>
          </a:solidFill>
          <a:ln w="38100">
            <a:solidFill>
              <a:srgbClr val="F3F1ED"/>
            </a:solidFill>
            <a:prstDash val="solid"/>
          </a:ln>
        </p:spPr>
        <p:txBody>
          <a:bodyPr/>
          <a:lstStyle/>
          <a:p>
            <a:endParaRPr lang="en-PK"/>
          </a:p>
        </p:txBody>
      </p:sp>
      <p:sp>
        <p:nvSpPr>
          <p:cNvPr id="15" name="Text 13"/>
          <p:cNvSpPr/>
          <p:nvPr/>
        </p:nvSpPr>
        <p:spPr>
          <a:xfrm>
            <a:off x="6278728" y="2148840"/>
            <a:ext cx="2453564" cy="731520"/>
          </a:xfrm>
          <a:prstGeom prst="rect">
            <a:avLst/>
          </a:prstGeom>
          <a:noFill/>
          <a:ln/>
        </p:spPr>
        <p:txBody>
          <a:bodyPr wrap="square" lIns="0" tIns="0" rIns="0" bIns="0" rtlCol="0" anchor="t"/>
          <a:lstStyle/>
          <a:p>
            <a:pPr marL="0" indent="0">
              <a:buNone/>
            </a:pPr>
            <a:r>
              <a:rPr lang="en-US" sz="4800" b="1" dirty="0">
                <a:solidFill>
                  <a:srgbClr val="8F5D0A"/>
                </a:solidFill>
                <a:latin typeface="Space Grotesk" pitchFamily="34" charset="0"/>
                <a:ea typeface="Space Grotesk" pitchFamily="34" charset="-122"/>
                <a:cs typeface="Space Grotesk" pitchFamily="34" charset="-120"/>
              </a:rPr>
              <a:t>03</a:t>
            </a:r>
            <a:endParaRPr lang="en-US" sz="4800" dirty="0"/>
          </a:p>
        </p:txBody>
      </p:sp>
      <p:sp>
        <p:nvSpPr>
          <p:cNvPr id="16" name="Text 14"/>
          <p:cNvSpPr/>
          <p:nvPr/>
        </p:nvSpPr>
        <p:spPr>
          <a:xfrm>
            <a:off x="6278728" y="2971800"/>
            <a:ext cx="2453564" cy="731520"/>
          </a:xfrm>
          <a:prstGeom prst="rect">
            <a:avLst/>
          </a:prstGeom>
          <a:noFill/>
          <a:ln/>
        </p:spPr>
        <p:txBody>
          <a:bodyPr wrap="square" lIns="0" tIns="0" rIns="0" bIns="0" rtlCol="0" anchor="t"/>
          <a:lstStyle/>
          <a:p>
            <a:pPr marL="0" indent="0">
              <a:buNone/>
            </a:pPr>
            <a:r>
              <a:rPr lang="en-US" sz="2000" b="1" dirty="0">
                <a:solidFill>
                  <a:srgbClr val="14161A"/>
                </a:solidFill>
                <a:latin typeface="Space Grotesk" pitchFamily="34" charset="0"/>
                <a:ea typeface="Space Grotesk" pitchFamily="34" charset="-122"/>
                <a:cs typeface="Space Grotesk" pitchFamily="34" charset="-120"/>
              </a:rPr>
              <a:t>Build &amp; Deliver</a:t>
            </a:r>
            <a:endParaRPr lang="en-US" sz="2000" dirty="0"/>
          </a:p>
        </p:txBody>
      </p:sp>
      <p:sp>
        <p:nvSpPr>
          <p:cNvPr id="17" name="Text 15"/>
          <p:cNvSpPr/>
          <p:nvPr/>
        </p:nvSpPr>
        <p:spPr>
          <a:xfrm>
            <a:off x="6278728" y="3749040"/>
            <a:ext cx="2453564" cy="2377440"/>
          </a:xfrm>
          <a:prstGeom prst="rect">
            <a:avLst/>
          </a:prstGeom>
          <a:noFill/>
          <a:ln/>
        </p:spPr>
        <p:txBody>
          <a:bodyPr wrap="square" lIns="0" tIns="0" rIns="0" bIns="0" rtlCol="0" anchor="t"/>
          <a:lstStyle/>
          <a:p>
            <a:pPr marL="0" indent="0">
              <a:lnSpc>
                <a:spcPct val="130000"/>
              </a:lnSpc>
              <a:buNone/>
            </a:pPr>
            <a:r>
              <a:rPr lang="en-US" sz="1200" dirty="0">
                <a:solidFill>
                  <a:srgbClr val="5B6066"/>
                </a:solidFill>
                <a:latin typeface="IBM Plex Sans" pitchFamily="34" charset="0"/>
                <a:ea typeface="IBM Plex Sans" pitchFamily="34" charset="-122"/>
                <a:cs typeface="IBM Plex Sans" pitchFamily="34" charset="-120"/>
              </a:rPr>
              <a:t>We build the solution in practical stages and show you working progress along the way. You stay involved throughout the process, so feedback can be addressed early rather than waiting until everything is finished.</a:t>
            </a:r>
            <a:endParaRPr lang="en-US" sz="1200" dirty="0"/>
          </a:p>
        </p:txBody>
      </p:sp>
      <p:sp>
        <p:nvSpPr>
          <p:cNvPr id="18" name="Shape 16"/>
          <p:cNvSpPr/>
          <p:nvPr/>
        </p:nvSpPr>
        <p:spPr>
          <a:xfrm>
            <a:off x="9097137" y="1755648"/>
            <a:ext cx="146304" cy="146304"/>
          </a:xfrm>
          <a:prstGeom prst="ellipse">
            <a:avLst/>
          </a:prstGeom>
          <a:solidFill>
            <a:srgbClr val="8F5D0A"/>
          </a:solidFill>
          <a:ln w="38100">
            <a:solidFill>
              <a:srgbClr val="F3F1ED"/>
            </a:solidFill>
            <a:prstDash val="solid"/>
          </a:ln>
        </p:spPr>
        <p:txBody>
          <a:bodyPr/>
          <a:lstStyle/>
          <a:p>
            <a:endParaRPr lang="en-PK"/>
          </a:p>
        </p:txBody>
      </p:sp>
      <p:sp>
        <p:nvSpPr>
          <p:cNvPr id="19" name="Text 17"/>
          <p:cNvSpPr/>
          <p:nvPr/>
        </p:nvSpPr>
        <p:spPr>
          <a:xfrm>
            <a:off x="9098051" y="2148840"/>
            <a:ext cx="2453564" cy="731520"/>
          </a:xfrm>
          <a:prstGeom prst="rect">
            <a:avLst/>
          </a:prstGeom>
          <a:noFill/>
          <a:ln/>
        </p:spPr>
        <p:txBody>
          <a:bodyPr wrap="square" lIns="0" tIns="0" rIns="0" bIns="0" rtlCol="0" anchor="t"/>
          <a:lstStyle/>
          <a:p>
            <a:pPr marL="0" indent="0">
              <a:buNone/>
            </a:pPr>
            <a:r>
              <a:rPr lang="en-US" sz="4800" b="1" dirty="0">
                <a:solidFill>
                  <a:srgbClr val="8F5D0A"/>
                </a:solidFill>
                <a:latin typeface="Space Grotesk" pitchFamily="34" charset="0"/>
                <a:ea typeface="Space Grotesk" pitchFamily="34" charset="-122"/>
                <a:cs typeface="Space Grotesk" pitchFamily="34" charset="-120"/>
              </a:rPr>
              <a:t>04</a:t>
            </a:r>
            <a:endParaRPr lang="en-US" sz="4800" dirty="0"/>
          </a:p>
        </p:txBody>
      </p:sp>
      <p:sp>
        <p:nvSpPr>
          <p:cNvPr id="20" name="Text 18"/>
          <p:cNvSpPr/>
          <p:nvPr/>
        </p:nvSpPr>
        <p:spPr>
          <a:xfrm>
            <a:off x="9098051" y="2971800"/>
            <a:ext cx="2453564" cy="731520"/>
          </a:xfrm>
          <a:prstGeom prst="rect">
            <a:avLst/>
          </a:prstGeom>
          <a:noFill/>
          <a:ln/>
        </p:spPr>
        <p:txBody>
          <a:bodyPr wrap="square" lIns="0" tIns="0" rIns="0" bIns="0" rtlCol="0" anchor="t"/>
          <a:lstStyle/>
          <a:p>
            <a:pPr marL="0" indent="0">
              <a:buNone/>
            </a:pPr>
            <a:r>
              <a:rPr lang="en-US" sz="2000" b="1" dirty="0">
                <a:solidFill>
                  <a:srgbClr val="14161A"/>
                </a:solidFill>
                <a:latin typeface="Space Grotesk" pitchFamily="34" charset="0"/>
                <a:ea typeface="Space Grotesk" pitchFamily="34" charset="-122"/>
                <a:cs typeface="Space Grotesk" pitchFamily="34" charset="-120"/>
              </a:rPr>
              <a:t>Handover &amp; Support</a:t>
            </a:r>
            <a:endParaRPr lang="en-US" sz="2000" dirty="0"/>
          </a:p>
        </p:txBody>
      </p:sp>
      <p:sp>
        <p:nvSpPr>
          <p:cNvPr id="21" name="Text 19"/>
          <p:cNvSpPr/>
          <p:nvPr/>
        </p:nvSpPr>
        <p:spPr>
          <a:xfrm>
            <a:off x="9098051" y="3749040"/>
            <a:ext cx="2453564" cy="2377440"/>
          </a:xfrm>
          <a:prstGeom prst="rect">
            <a:avLst/>
          </a:prstGeom>
          <a:noFill/>
          <a:ln/>
        </p:spPr>
        <p:txBody>
          <a:bodyPr wrap="square" lIns="0" tIns="0" rIns="0" bIns="0" rtlCol="0" anchor="t"/>
          <a:lstStyle/>
          <a:p>
            <a:pPr marL="0" indent="0">
              <a:lnSpc>
                <a:spcPct val="130000"/>
              </a:lnSpc>
              <a:buNone/>
            </a:pPr>
            <a:r>
              <a:rPr lang="en-US" sz="1200" dirty="0">
                <a:solidFill>
                  <a:srgbClr val="5B6066"/>
                </a:solidFill>
                <a:latin typeface="IBM Plex Sans" pitchFamily="34" charset="0"/>
                <a:ea typeface="IBM Plex Sans" pitchFamily="34" charset="-122"/>
                <a:cs typeface="IBM Plex Sans" pitchFamily="34" charset="-120"/>
              </a:rPr>
              <a:t>Once the project is delivered, we provide the necessary documentation, access, and handover so your team can use and manage the solution confidently. If you need ongoing maintenance, improvements, automation, analytics, or technical support, we can continue through an ongoing support arrangement.</a:t>
            </a:r>
            <a:endParaRPr lang="en-US" sz="1200" dirty="0"/>
          </a:p>
        </p:txBody>
      </p:sp>
      <p:sp>
        <p:nvSpPr>
          <p:cNvPr id="22" name="Text 20"/>
          <p:cNvSpPr/>
          <p:nvPr/>
        </p:nvSpPr>
        <p:spPr>
          <a:xfrm>
            <a:off x="640080" y="6473952"/>
            <a:ext cx="6400800" cy="164592"/>
          </a:xfrm>
          <a:prstGeom prst="rect">
            <a:avLst/>
          </a:prstGeom>
          <a:noFill/>
          <a:ln/>
        </p:spPr>
        <p:txBody>
          <a:bodyPr wrap="square" lIns="0" tIns="0" rIns="0" bIns="0" rtlCol="0" anchor="t"/>
          <a:lstStyle/>
          <a:p>
            <a:pPr marL="0" indent="0">
              <a:buNone/>
            </a:pPr>
            <a:r>
              <a:rPr lang="en-US" sz="700" kern="0" spc="150" dirty="0">
                <a:solidFill>
                  <a:srgbClr val="6F6A5F"/>
                </a:solidFill>
                <a:latin typeface="IBM Plex Mono" pitchFamily="34" charset="0"/>
                <a:ea typeface="IBM Plex Mono" pitchFamily="34" charset="-122"/>
                <a:cs typeface="IBM Plex Mono" pitchFamily="34" charset="-120"/>
              </a:rPr>
              <a:t>BOLTER TECHNOLOGIES PRIVATE LIMITED  ·  COMPANY PROFILE</a:t>
            </a:r>
            <a:endParaRPr lang="en-US" sz="700" dirty="0"/>
          </a:p>
        </p:txBody>
      </p:sp>
      <p:sp>
        <p:nvSpPr>
          <p:cNvPr id="23" name="Text 21"/>
          <p:cNvSpPr/>
          <p:nvPr/>
        </p:nvSpPr>
        <p:spPr>
          <a:xfrm>
            <a:off x="9722815" y="6473952"/>
            <a:ext cx="1828800" cy="164592"/>
          </a:xfrm>
          <a:prstGeom prst="rect">
            <a:avLst/>
          </a:prstGeom>
          <a:noFill/>
          <a:ln/>
        </p:spPr>
        <p:txBody>
          <a:bodyPr wrap="square" lIns="0" tIns="0" rIns="0" bIns="0" rtlCol="0" anchor="t"/>
          <a:lstStyle/>
          <a:p>
            <a:pPr marL="0" indent="0" algn="r">
              <a:buNone/>
            </a:pPr>
            <a:r>
              <a:rPr lang="en-US" sz="700" kern="0" spc="150" dirty="0">
                <a:solidFill>
                  <a:srgbClr val="6F6A5F"/>
                </a:solidFill>
                <a:latin typeface="IBM Plex Mono" pitchFamily="34" charset="0"/>
                <a:ea typeface="IBM Plex Mono" pitchFamily="34" charset="-122"/>
                <a:cs typeface="IBM Plex Mono" pitchFamily="34" charset="-120"/>
              </a:rPr>
              <a:t>10 / 23</a:t>
            </a:r>
            <a:endParaRPr lang="en-US" sz="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A0B0C"/>
        </a:solidFill>
        <a:effectLst/>
      </p:bgPr>
    </p:bg>
    <p:spTree>
      <p:nvGrpSpPr>
        <p:cNvPr id="1" name=""/>
        <p:cNvGrpSpPr/>
        <p:nvPr/>
      </p:nvGrpSpPr>
      <p:grpSpPr>
        <a:xfrm>
          <a:off x="0" y="0"/>
          <a:ext cx="0" cy="0"/>
          <a:chOff x="0" y="0"/>
          <a:chExt cx="0" cy="0"/>
        </a:xfrm>
      </p:grpSpPr>
      <p:sp>
        <p:nvSpPr>
          <p:cNvPr id="2" name="Shape 0"/>
          <p:cNvSpPr/>
          <p:nvPr/>
        </p:nvSpPr>
        <p:spPr>
          <a:xfrm>
            <a:off x="640080" y="571500"/>
            <a:ext cx="219456" cy="32004"/>
          </a:xfrm>
          <a:prstGeom prst="rect">
            <a:avLst/>
          </a:prstGeom>
          <a:solidFill>
            <a:srgbClr val="E8A33D"/>
          </a:solidFill>
          <a:ln/>
        </p:spPr>
        <p:txBody>
          <a:bodyPr/>
          <a:lstStyle/>
          <a:p>
            <a:endParaRPr lang="en-PK"/>
          </a:p>
        </p:txBody>
      </p:sp>
      <p:sp>
        <p:nvSpPr>
          <p:cNvPr id="3" name="Text 1"/>
          <p:cNvSpPr/>
          <p:nvPr/>
        </p:nvSpPr>
        <p:spPr>
          <a:xfrm>
            <a:off x="969264" y="502920"/>
            <a:ext cx="8229600" cy="182880"/>
          </a:xfrm>
          <a:prstGeom prst="rect">
            <a:avLst/>
          </a:prstGeom>
          <a:noFill/>
          <a:ln/>
        </p:spPr>
        <p:txBody>
          <a:bodyPr wrap="square" lIns="0" tIns="0" rIns="0" bIns="0" rtlCol="0" anchor="t"/>
          <a:lstStyle/>
          <a:p>
            <a:pPr marL="0" indent="0">
              <a:buNone/>
            </a:pPr>
            <a:r>
              <a:rPr lang="en-US" sz="900" b="1" kern="0" spc="200" dirty="0">
                <a:solidFill>
                  <a:srgbClr val="E8A33D"/>
                </a:solidFill>
                <a:latin typeface="IBM Plex Mono" pitchFamily="34" charset="0"/>
                <a:ea typeface="IBM Plex Mono" pitchFamily="34" charset="-122"/>
                <a:cs typeface="IBM Plex Mono" pitchFamily="34" charset="-120"/>
              </a:rPr>
              <a:t>04  ENGAGEMENT MODELS</a:t>
            </a:r>
            <a:endParaRPr lang="en-US" sz="900" dirty="0"/>
          </a:p>
        </p:txBody>
      </p:sp>
      <p:sp>
        <p:nvSpPr>
          <p:cNvPr id="4" name="Text 2"/>
          <p:cNvSpPr/>
          <p:nvPr/>
        </p:nvSpPr>
        <p:spPr>
          <a:xfrm>
            <a:off x="640080" y="777240"/>
            <a:ext cx="10911535" cy="685800"/>
          </a:xfrm>
          <a:prstGeom prst="rect">
            <a:avLst/>
          </a:prstGeom>
          <a:noFill/>
          <a:ln/>
        </p:spPr>
        <p:txBody>
          <a:bodyPr wrap="square" lIns="0" tIns="0" rIns="0" bIns="0" rtlCol="0" anchor="t"/>
          <a:lstStyle/>
          <a:p>
            <a:pPr marL="0" indent="0">
              <a:buNone/>
            </a:pPr>
            <a:r>
              <a:rPr lang="en-US" sz="3400" b="1" dirty="0">
                <a:solidFill>
                  <a:srgbClr val="FFFFFF"/>
                </a:solidFill>
                <a:latin typeface="Space Grotesk" pitchFamily="34" charset="0"/>
                <a:ea typeface="Space Grotesk" pitchFamily="34" charset="-122"/>
                <a:cs typeface="Space Grotesk" pitchFamily="34" charset="-120"/>
              </a:rPr>
              <a:t>How you can engage us</a:t>
            </a:r>
            <a:endParaRPr lang="en-US" sz="3400" dirty="0"/>
          </a:p>
        </p:txBody>
      </p:sp>
      <p:sp>
        <p:nvSpPr>
          <p:cNvPr id="5" name="Shape 3"/>
          <p:cNvSpPr/>
          <p:nvPr/>
        </p:nvSpPr>
        <p:spPr>
          <a:xfrm>
            <a:off x="640080" y="1691640"/>
            <a:ext cx="3454298" cy="4617720"/>
          </a:xfrm>
          <a:prstGeom prst="roundRect">
            <a:avLst>
              <a:gd name="adj" fmla="val 1588"/>
            </a:avLst>
          </a:prstGeom>
          <a:solidFill>
            <a:srgbClr val="0A0B0C"/>
          </a:solidFill>
          <a:ln w="9525">
            <a:solidFill>
              <a:srgbClr val="2E3033"/>
            </a:solidFill>
            <a:prstDash val="solid"/>
          </a:ln>
        </p:spPr>
        <p:txBody>
          <a:bodyPr/>
          <a:lstStyle/>
          <a:p>
            <a:endParaRPr lang="en-PK"/>
          </a:p>
        </p:txBody>
      </p:sp>
      <p:sp>
        <p:nvSpPr>
          <p:cNvPr id="6" name="Text 4"/>
          <p:cNvSpPr/>
          <p:nvPr/>
        </p:nvSpPr>
        <p:spPr>
          <a:xfrm>
            <a:off x="932688" y="1984248"/>
            <a:ext cx="2869082" cy="182880"/>
          </a:xfrm>
          <a:prstGeom prst="rect">
            <a:avLst/>
          </a:prstGeom>
          <a:noFill/>
          <a:ln/>
        </p:spPr>
        <p:txBody>
          <a:bodyPr wrap="square" lIns="0" tIns="0" rIns="0" bIns="0" rtlCol="0" anchor="t"/>
          <a:lstStyle/>
          <a:p>
            <a:pPr marL="0" indent="0">
              <a:buNone/>
            </a:pPr>
            <a:r>
              <a:rPr lang="en-US" sz="850" b="1" kern="0" spc="150" dirty="0">
                <a:solidFill>
                  <a:srgbClr val="E8A33D"/>
                </a:solidFill>
                <a:latin typeface="IBM Plex Mono" pitchFamily="34" charset="0"/>
                <a:ea typeface="IBM Plex Mono" pitchFamily="34" charset="-122"/>
                <a:cs typeface="IBM Plex Mono" pitchFamily="34" charset="-120"/>
              </a:rPr>
              <a:t>START YOUR JOURNEY HERE</a:t>
            </a:r>
            <a:endParaRPr lang="en-US" sz="850" dirty="0"/>
          </a:p>
        </p:txBody>
      </p:sp>
      <p:sp>
        <p:nvSpPr>
          <p:cNvPr id="7" name="Text 5"/>
          <p:cNvSpPr/>
          <p:nvPr/>
        </p:nvSpPr>
        <p:spPr>
          <a:xfrm>
            <a:off x="932688" y="2240280"/>
            <a:ext cx="2869082" cy="822960"/>
          </a:xfrm>
          <a:prstGeom prst="rect">
            <a:avLst/>
          </a:prstGeom>
          <a:noFill/>
          <a:ln/>
        </p:spPr>
        <p:txBody>
          <a:bodyPr wrap="square" lIns="0" tIns="0" rIns="0" bIns="0" rtlCol="0" anchor="t"/>
          <a:lstStyle/>
          <a:p>
            <a:pPr marL="0" indent="0">
              <a:buNone/>
            </a:pPr>
            <a:r>
              <a:rPr lang="en-US" sz="2400" b="1" dirty="0">
                <a:solidFill>
                  <a:srgbClr val="FFFFFF"/>
                </a:solidFill>
                <a:latin typeface="Space Grotesk" pitchFamily="34" charset="0"/>
                <a:ea typeface="Space Grotesk" pitchFamily="34" charset="-122"/>
                <a:cs typeface="Space Grotesk" pitchFamily="34" charset="-120"/>
              </a:rPr>
              <a:t>Discovery &amp; Planning</a:t>
            </a:r>
            <a:endParaRPr lang="en-US" sz="2400" dirty="0"/>
          </a:p>
        </p:txBody>
      </p:sp>
      <p:sp>
        <p:nvSpPr>
          <p:cNvPr id="8" name="Text 6"/>
          <p:cNvSpPr/>
          <p:nvPr/>
        </p:nvSpPr>
        <p:spPr>
          <a:xfrm>
            <a:off x="932688" y="3108960"/>
            <a:ext cx="2869082" cy="2560320"/>
          </a:xfrm>
          <a:prstGeom prst="rect">
            <a:avLst/>
          </a:prstGeom>
          <a:noFill/>
          <a:ln/>
        </p:spPr>
        <p:txBody>
          <a:bodyPr wrap="square" lIns="0" tIns="0" rIns="0" bIns="0" rtlCol="0" anchor="t"/>
          <a:lstStyle/>
          <a:p>
            <a:pPr marL="0" indent="0">
              <a:lnSpc>
                <a:spcPct val="125000"/>
              </a:lnSpc>
              <a:buNone/>
            </a:pPr>
            <a:r>
              <a:rPr lang="en-US" sz="1100" dirty="0">
                <a:solidFill>
                  <a:srgbClr val="B6B7B8"/>
                </a:solidFill>
                <a:latin typeface="IBM Plex Sans" pitchFamily="34" charset="0"/>
                <a:ea typeface="IBM Plex Sans" pitchFamily="34" charset="-122"/>
                <a:cs typeface="IBM Plex Sans" pitchFamily="34" charset="-120"/>
              </a:rPr>
              <a:t>Not sure where to start, or have an idea that needs to be shaped into a practical solution? We work with you to understand the problem, define what needs to be built, identify the right technology and approach, and create a clear plan for execution. This is ideal for larger or more complex projects where getting the direction right before development can save time and cost.</a:t>
            </a:r>
            <a:endParaRPr lang="en-US" sz="1100" dirty="0"/>
          </a:p>
        </p:txBody>
      </p:sp>
      <p:sp>
        <p:nvSpPr>
          <p:cNvPr id="9" name="Shape 7"/>
          <p:cNvSpPr/>
          <p:nvPr/>
        </p:nvSpPr>
        <p:spPr>
          <a:xfrm>
            <a:off x="932688" y="5440680"/>
            <a:ext cx="2869082" cy="0"/>
          </a:xfrm>
          <a:prstGeom prst="line">
            <a:avLst/>
          </a:prstGeom>
          <a:noFill/>
          <a:ln w="9525">
            <a:solidFill>
              <a:srgbClr val="2E3033"/>
            </a:solidFill>
            <a:prstDash val="solid"/>
          </a:ln>
        </p:spPr>
        <p:txBody>
          <a:bodyPr/>
          <a:lstStyle/>
          <a:p>
            <a:endParaRPr lang="en-PK"/>
          </a:p>
        </p:txBody>
      </p:sp>
      <p:sp>
        <p:nvSpPr>
          <p:cNvPr id="10" name="Text 8"/>
          <p:cNvSpPr/>
          <p:nvPr/>
        </p:nvSpPr>
        <p:spPr>
          <a:xfrm>
            <a:off x="932688" y="5550408"/>
            <a:ext cx="2869082" cy="182880"/>
          </a:xfrm>
          <a:prstGeom prst="rect">
            <a:avLst/>
          </a:prstGeom>
          <a:noFill/>
          <a:ln/>
        </p:spPr>
        <p:txBody>
          <a:bodyPr wrap="square" lIns="0" tIns="0" rIns="0" bIns="0" rtlCol="0" anchor="t"/>
          <a:lstStyle/>
          <a:p>
            <a:pPr marL="0" indent="0">
              <a:buNone/>
            </a:pPr>
            <a:r>
              <a:rPr lang="en-US" sz="800" kern="0" spc="150" dirty="0">
                <a:solidFill>
                  <a:srgbClr val="8B8D8F"/>
                </a:solidFill>
                <a:latin typeface="IBM Plex Mono" pitchFamily="34" charset="0"/>
                <a:ea typeface="IBM Plex Mono" pitchFamily="34" charset="-122"/>
                <a:cs typeface="IBM Plex Mono" pitchFamily="34" charset="-120"/>
              </a:rPr>
              <a:t>TERMS</a:t>
            </a:r>
            <a:endParaRPr lang="en-US" sz="800" dirty="0"/>
          </a:p>
        </p:txBody>
      </p:sp>
      <p:sp>
        <p:nvSpPr>
          <p:cNvPr id="11" name="Text 9"/>
          <p:cNvSpPr/>
          <p:nvPr/>
        </p:nvSpPr>
        <p:spPr>
          <a:xfrm>
            <a:off x="932688" y="5760720"/>
            <a:ext cx="2869082" cy="457200"/>
          </a:xfrm>
          <a:prstGeom prst="rect">
            <a:avLst/>
          </a:prstGeom>
          <a:noFill/>
          <a:ln/>
        </p:spPr>
        <p:txBody>
          <a:bodyPr wrap="square" lIns="0" tIns="0" rIns="0" bIns="0" rtlCol="0" anchor="t"/>
          <a:lstStyle/>
          <a:p>
            <a:pPr marL="0" indent="0">
              <a:buNone/>
            </a:pPr>
            <a:r>
              <a:rPr lang="en-US" sz="1100" dirty="0">
                <a:solidFill>
                  <a:srgbClr val="FFFFFF"/>
                </a:solidFill>
                <a:latin typeface="IBM Plex Sans" pitchFamily="34" charset="0"/>
                <a:ea typeface="IBM Plex Sans" pitchFamily="34" charset="-122"/>
                <a:cs typeface="IBM Plex Sans" pitchFamily="34" charset="-120"/>
              </a:rPr>
              <a:t>Typically 1–2 weeks, priced according to project requirements.</a:t>
            </a:r>
            <a:endParaRPr lang="en-US" sz="1100" dirty="0"/>
          </a:p>
        </p:txBody>
      </p:sp>
      <p:sp>
        <p:nvSpPr>
          <p:cNvPr id="12" name="Shape 10"/>
          <p:cNvSpPr/>
          <p:nvPr/>
        </p:nvSpPr>
        <p:spPr>
          <a:xfrm>
            <a:off x="4368698" y="1691640"/>
            <a:ext cx="3454298" cy="4617720"/>
          </a:xfrm>
          <a:prstGeom prst="roundRect">
            <a:avLst>
              <a:gd name="adj" fmla="val 1588"/>
            </a:avLst>
          </a:prstGeom>
          <a:solidFill>
            <a:srgbClr val="0E1011"/>
          </a:solidFill>
          <a:ln w="15875">
            <a:solidFill>
              <a:srgbClr val="E8A33D"/>
            </a:solidFill>
            <a:prstDash val="solid"/>
          </a:ln>
        </p:spPr>
        <p:txBody>
          <a:bodyPr/>
          <a:lstStyle/>
          <a:p>
            <a:endParaRPr lang="en-PK"/>
          </a:p>
        </p:txBody>
      </p:sp>
      <p:sp>
        <p:nvSpPr>
          <p:cNvPr id="13" name="Text 11"/>
          <p:cNvSpPr/>
          <p:nvPr/>
        </p:nvSpPr>
        <p:spPr>
          <a:xfrm>
            <a:off x="4661306" y="1984248"/>
            <a:ext cx="2869082" cy="182880"/>
          </a:xfrm>
          <a:prstGeom prst="rect">
            <a:avLst/>
          </a:prstGeom>
          <a:noFill/>
          <a:ln/>
        </p:spPr>
        <p:txBody>
          <a:bodyPr wrap="square" lIns="0" tIns="0" rIns="0" bIns="0" rtlCol="0" anchor="t"/>
          <a:lstStyle/>
          <a:p>
            <a:pPr marL="0" indent="0">
              <a:buNone/>
            </a:pPr>
            <a:r>
              <a:rPr lang="en-US" sz="850" b="1" kern="0" spc="150" dirty="0">
                <a:solidFill>
                  <a:srgbClr val="E8A33D"/>
                </a:solidFill>
                <a:latin typeface="IBM Plex Mono" pitchFamily="34" charset="0"/>
                <a:ea typeface="IBM Plex Mono" pitchFamily="34" charset="-122"/>
                <a:cs typeface="IBM Plex Mono" pitchFamily="34" charset="-120"/>
              </a:rPr>
              <a:t>MOST COMMON</a:t>
            </a:r>
            <a:endParaRPr lang="en-US" sz="850" dirty="0"/>
          </a:p>
        </p:txBody>
      </p:sp>
      <p:sp>
        <p:nvSpPr>
          <p:cNvPr id="14" name="Text 12"/>
          <p:cNvSpPr/>
          <p:nvPr/>
        </p:nvSpPr>
        <p:spPr>
          <a:xfrm>
            <a:off x="4661306" y="2240280"/>
            <a:ext cx="2869082" cy="457200"/>
          </a:xfrm>
          <a:prstGeom prst="rect">
            <a:avLst/>
          </a:prstGeom>
          <a:noFill/>
          <a:ln/>
        </p:spPr>
        <p:txBody>
          <a:bodyPr wrap="square" lIns="0" tIns="0" rIns="0" bIns="0" rtlCol="0" anchor="t"/>
          <a:lstStyle/>
          <a:p>
            <a:pPr marL="0" indent="0">
              <a:buNone/>
            </a:pPr>
            <a:r>
              <a:rPr lang="en-US" sz="2400" b="1" dirty="0">
                <a:solidFill>
                  <a:srgbClr val="FFFFFF"/>
                </a:solidFill>
                <a:latin typeface="Space Grotesk" pitchFamily="34" charset="0"/>
                <a:ea typeface="Space Grotesk" pitchFamily="34" charset="-122"/>
                <a:cs typeface="Space Grotesk" pitchFamily="34" charset="-120"/>
              </a:rPr>
              <a:t>Build &amp; Deliver</a:t>
            </a:r>
            <a:endParaRPr lang="en-US" sz="2400" dirty="0"/>
          </a:p>
        </p:txBody>
      </p:sp>
      <p:sp>
        <p:nvSpPr>
          <p:cNvPr id="15" name="Text 13"/>
          <p:cNvSpPr/>
          <p:nvPr/>
        </p:nvSpPr>
        <p:spPr>
          <a:xfrm>
            <a:off x="4661306" y="2834640"/>
            <a:ext cx="2869082" cy="2560320"/>
          </a:xfrm>
          <a:prstGeom prst="rect">
            <a:avLst/>
          </a:prstGeom>
          <a:noFill/>
          <a:ln/>
        </p:spPr>
        <p:txBody>
          <a:bodyPr wrap="square" lIns="0" tIns="0" rIns="0" bIns="0" rtlCol="0" anchor="t"/>
          <a:lstStyle/>
          <a:p>
            <a:pPr marL="0" indent="0">
              <a:lnSpc>
                <a:spcPct val="125000"/>
              </a:lnSpc>
              <a:buNone/>
            </a:pPr>
            <a:r>
              <a:rPr lang="en-US" sz="1100" dirty="0">
                <a:solidFill>
                  <a:srgbClr val="B6B7B8"/>
                </a:solidFill>
                <a:latin typeface="IBM Plex Sans" pitchFamily="34" charset="0"/>
                <a:ea typeface="IBM Plex Sans" pitchFamily="34" charset="-122"/>
                <a:cs typeface="IBM Plex Sans" pitchFamily="34" charset="-120"/>
              </a:rPr>
              <a:t>From a small task that simply needs to get done to a complete software, AI automation, or data analytics solution, we build what your business needs and take it through to delivery. We work in clear phases with defined deliverables, keeping you involved throughout development while handling the technical work from start to finish. This is the right fit when you have a project that needs to be built, improved, automated, or brought to life.</a:t>
            </a:r>
            <a:endParaRPr lang="en-US" sz="1100" dirty="0"/>
          </a:p>
        </p:txBody>
      </p:sp>
      <p:sp>
        <p:nvSpPr>
          <p:cNvPr id="16" name="Shape 14"/>
          <p:cNvSpPr/>
          <p:nvPr/>
        </p:nvSpPr>
        <p:spPr>
          <a:xfrm>
            <a:off x="4661306" y="5440680"/>
            <a:ext cx="2869082" cy="0"/>
          </a:xfrm>
          <a:prstGeom prst="line">
            <a:avLst/>
          </a:prstGeom>
          <a:noFill/>
          <a:ln w="9525">
            <a:solidFill>
              <a:srgbClr val="2E3033"/>
            </a:solidFill>
            <a:prstDash val="solid"/>
          </a:ln>
        </p:spPr>
        <p:txBody>
          <a:bodyPr/>
          <a:lstStyle/>
          <a:p>
            <a:endParaRPr lang="en-PK"/>
          </a:p>
        </p:txBody>
      </p:sp>
      <p:sp>
        <p:nvSpPr>
          <p:cNvPr id="17" name="Text 15"/>
          <p:cNvSpPr/>
          <p:nvPr/>
        </p:nvSpPr>
        <p:spPr>
          <a:xfrm>
            <a:off x="4661306" y="5550408"/>
            <a:ext cx="2869082" cy="182880"/>
          </a:xfrm>
          <a:prstGeom prst="rect">
            <a:avLst/>
          </a:prstGeom>
          <a:noFill/>
          <a:ln/>
        </p:spPr>
        <p:txBody>
          <a:bodyPr wrap="square" lIns="0" tIns="0" rIns="0" bIns="0" rtlCol="0" anchor="t"/>
          <a:lstStyle/>
          <a:p>
            <a:pPr marL="0" indent="0">
              <a:buNone/>
            </a:pPr>
            <a:r>
              <a:rPr lang="en-US" sz="800" kern="0" spc="150" dirty="0">
                <a:solidFill>
                  <a:srgbClr val="8B8D8F"/>
                </a:solidFill>
                <a:latin typeface="IBM Plex Mono" pitchFamily="34" charset="0"/>
                <a:ea typeface="IBM Plex Mono" pitchFamily="34" charset="-122"/>
                <a:cs typeface="IBM Plex Mono" pitchFamily="34" charset="-120"/>
              </a:rPr>
              <a:t>TERMS</a:t>
            </a:r>
            <a:endParaRPr lang="en-US" sz="800" dirty="0"/>
          </a:p>
        </p:txBody>
      </p:sp>
      <p:sp>
        <p:nvSpPr>
          <p:cNvPr id="18" name="Text 16"/>
          <p:cNvSpPr/>
          <p:nvPr/>
        </p:nvSpPr>
        <p:spPr>
          <a:xfrm>
            <a:off x="4661306" y="5760720"/>
            <a:ext cx="2869082" cy="457200"/>
          </a:xfrm>
          <a:prstGeom prst="rect">
            <a:avLst/>
          </a:prstGeom>
          <a:noFill/>
          <a:ln/>
        </p:spPr>
        <p:txBody>
          <a:bodyPr wrap="square" lIns="0" tIns="0" rIns="0" bIns="0" rtlCol="0" anchor="t"/>
          <a:lstStyle/>
          <a:p>
            <a:pPr marL="0" indent="0">
              <a:buNone/>
            </a:pPr>
            <a:r>
              <a:rPr lang="en-US" sz="1100" dirty="0">
                <a:solidFill>
                  <a:srgbClr val="FFFFFF"/>
                </a:solidFill>
                <a:latin typeface="IBM Plex Sans" pitchFamily="34" charset="0"/>
                <a:ea typeface="IBM Plex Sans" pitchFamily="34" charset="-122"/>
                <a:cs typeface="IBM Plex Sans" pitchFamily="34" charset="-120"/>
              </a:rPr>
              <a:t>Priced per project, with larger engagements structured into clear delivery phases.</a:t>
            </a:r>
            <a:endParaRPr lang="en-US" sz="1100" dirty="0"/>
          </a:p>
        </p:txBody>
      </p:sp>
      <p:sp>
        <p:nvSpPr>
          <p:cNvPr id="19" name="Shape 17"/>
          <p:cNvSpPr/>
          <p:nvPr/>
        </p:nvSpPr>
        <p:spPr>
          <a:xfrm>
            <a:off x="8097317" y="1691640"/>
            <a:ext cx="3454298" cy="4617720"/>
          </a:xfrm>
          <a:prstGeom prst="roundRect">
            <a:avLst>
              <a:gd name="adj" fmla="val 1588"/>
            </a:avLst>
          </a:prstGeom>
          <a:solidFill>
            <a:srgbClr val="0A0B0C"/>
          </a:solidFill>
          <a:ln w="9525">
            <a:solidFill>
              <a:srgbClr val="2E3033"/>
            </a:solidFill>
            <a:prstDash val="solid"/>
          </a:ln>
        </p:spPr>
        <p:txBody>
          <a:bodyPr/>
          <a:lstStyle/>
          <a:p>
            <a:endParaRPr lang="en-PK"/>
          </a:p>
        </p:txBody>
      </p:sp>
      <p:sp>
        <p:nvSpPr>
          <p:cNvPr id="20" name="Text 18"/>
          <p:cNvSpPr/>
          <p:nvPr/>
        </p:nvSpPr>
        <p:spPr>
          <a:xfrm>
            <a:off x="8389925" y="1984248"/>
            <a:ext cx="2869082" cy="182880"/>
          </a:xfrm>
          <a:prstGeom prst="rect">
            <a:avLst/>
          </a:prstGeom>
          <a:noFill/>
          <a:ln/>
        </p:spPr>
        <p:txBody>
          <a:bodyPr wrap="square" lIns="0" tIns="0" rIns="0" bIns="0" rtlCol="0" anchor="t"/>
          <a:lstStyle/>
          <a:p>
            <a:pPr marL="0" indent="0">
              <a:buNone/>
            </a:pPr>
            <a:r>
              <a:rPr lang="en-US" sz="850" b="1" kern="0" spc="150" dirty="0">
                <a:solidFill>
                  <a:srgbClr val="E8A33D"/>
                </a:solidFill>
                <a:latin typeface="IBM Plex Mono" pitchFamily="34" charset="0"/>
                <a:ea typeface="IBM Plex Mono" pitchFamily="34" charset="-122"/>
                <a:cs typeface="IBM Plex Mono" pitchFamily="34" charset="-120"/>
              </a:rPr>
              <a:t>AFTER LAUNCH</a:t>
            </a:r>
            <a:endParaRPr lang="en-US" sz="850" dirty="0"/>
          </a:p>
        </p:txBody>
      </p:sp>
      <p:sp>
        <p:nvSpPr>
          <p:cNvPr id="21" name="Text 19"/>
          <p:cNvSpPr/>
          <p:nvPr/>
        </p:nvSpPr>
        <p:spPr>
          <a:xfrm>
            <a:off x="8389925" y="2240280"/>
            <a:ext cx="2869082" cy="457200"/>
          </a:xfrm>
          <a:prstGeom prst="rect">
            <a:avLst/>
          </a:prstGeom>
          <a:noFill/>
          <a:ln/>
        </p:spPr>
        <p:txBody>
          <a:bodyPr wrap="square" lIns="0" tIns="0" rIns="0" bIns="0" rtlCol="0" anchor="t"/>
          <a:lstStyle/>
          <a:p>
            <a:pPr marL="0" indent="0">
              <a:buNone/>
            </a:pPr>
            <a:r>
              <a:rPr lang="en-US" sz="2400" b="1" dirty="0">
                <a:solidFill>
                  <a:srgbClr val="FFFFFF"/>
                </a:solidFill>
                <a:latin typeface="Space Grotesk" pitchFamily="34" charset="0"/>
                <a:ea typeface="Space Grotesk" pitchFamily="34" charset="-122"/>
                <a:cs typeface="Space Grotesk" pitchFamily="34" charset="-120"/>
              </a:rPr>
              <a:t>Ongoing Support</a:t>
            </a:r>
            <a:endParaRPr lang="en-US" sz="2400" dirty="0"/>
          </a:p>
        </p:txBody>
      </p:sp>
      <p:sp>
        <p:nvSpPr>
          <p:cNvPr id="22" name="Text 20"/>
          <p:cNvSpPr/>
          <p:nvPr/>
        </p:nvSpPr>
        <p:spPr>
          <a:xfrm>
            <a:off x="8389925" y="2834640"/>
            <a:ext cx="2869082" cy="2560320"/>
          </a:xfrm>
          <a:prstGeom prst="rect">
            <a:avLst/>
          </a:prstGeom>
          <a:noFill/>
          <a:ln/>
        </p:spPr>
        <p:txBody>
          <a:bodyPr wrap="square" lIns="0" tIns="0" rIns="0" bIns="0" rtlCol="0" anchor="t"/>
          <a:lstStyle/>
          <a:p>
            <a:pPr marL="0" indent="0">
              <a:lnSpc>
                <a:spcPct val="125000"/>
              </a:lnSpc>
              <a:buNone/>
            </a:pPr>
            <a:r>
              <a:rPr lang="en-US" sz="1100" dirty="0">
                <a:solidFill>
                  <a:srgbClr val="B6B7B8"/>
                </a:solidFill>
                <a:latin typeface="IBM Plex Sans" pitchFamily="34" charset="0"/>
                <a:ea typeface="IBM Plex Sans" pitchFamily="34" charset="-122"/>
                <a:cs typeface="IBM Plex Sans" pitchFamily="34" charset="-120"/>
              </a:rPr>
              <a:t>Some solutions need more than a one-time delivery. We stay involved to maintain, improve, monitor, automate, and support your digital systems over time, whether that means ongoing software development, AI automation, data analytics, digital marketing, or operational support. This is ideal for businesses that need a reliable technology partner without building a full in-house team.</a:t>
            </a:r>
            <a:endParaRPr lang="en-US" sz="1100" dirty="0"/>
          </a:p>
        </p:txBody>
      </p:sp>
      <p:sp>
        <p:nvSpPr>
          <p:cNvPr id="23" name="Shape 21"/>
          <p:cNvSpPr/>
          <p:nvPr/>
        </p:nvSpPr>
        <p:spPr>
          <a:xfrm>
            <a:off x="8389925" y="5440680"/>
            <a:ext cx="2869082" cy="0"/>
          </a:xfrm>
          <a:prstGeom prst="line">
            <a:avLst/>
          </a:prstGeom>
          <a:noFill/>
          <a:ln w="9525">
            <a:solidFill>
              <a:srgbClr val="2E3033"/>
            </a:solidFill>
            <a:prstDash val="solid"/>
          </a:ln>
        </p:spPr>
        <p:txBody>
          <a:bodyPr/>
          <a:lstStyle/>
          <a:p>
            <a:endParaRPr lang="en-PK"/>
          </a:p>
        </p:txBody>
      </p:sp>
      <p:sp>
        <p:nvSpPr>
          <p:cNvPr id="24" name="Text 22"/>
          <p:cNvSpPr/>
          <p:nvPr/>
        </p:nvSpPr>
        <p:spPr>
          <a:xfrm>
            <a:off x="8389925" y="5550408"/>
            <a:ext cx="2869082" cy="182880"/>
          </a:xfrm>
          <a:prstGeom prst="rect">
            <a:avLst/>
          </a:prstGeom>
          <a:noFill/>
          <a:ln/>
        </p:spPr>
        <p:txBody>
          <a:bodyPr wrap="square" lIns="0" tIns="0" rIns="0" bIns="0" rtlCol="0" anchor="t"/>
          <a:lstStyle/>
          <a:p>
            <a:pPr marL="0" indent="0">
              <a:buNone/>
            </a:pPr>
            <a:r>
              <a:rPr lang="en-US" sz="800" kern="0" spc="150" dirty="0">
                <a:solidFill>
                  <a:srgbClr val="8B8D8F"/>
                </a:solidFill>
                <a:latin typeface="IBM Plex Mono" pitchFamily="34" charset="0"/>
                <a:ea typeface="IBM Plex Mono" pitchFamily="34" charset="-122"/>
                <a:cs typeface="IBM Plex Mono" pitchFamily="34" charset="-120"/>
              </a:rPr>
              <a:t>TERMS</a:t>
            </a:r>
            <a:endParaRPr lang="en-US" sz="800" dirty="0"/>
          </a:p>
        </p:txBody>
      </p:sp>
      <p:sp>
        <p:nvSpPr>
          <p:cNvPr id="25" name="Text 23"/>
          <p:cNvSpPr/>
          <p:nvPr/>
        </p:nvSpPr>
        <p:spPr>
          <a:xfrm>
            <a:off x="8389925" y="5760720"/>
            <a:ext cx="2869082" cy="457200"/>
          </a:xfrm>
          <a:prstGeom prst="rect">
            <a:avLst/>
          </a:prstGeom>
          <a:noFill/>
          <a:ln/>
        </p:spPr>
        <p:txBody>
          <a:bodyPr wrap="square" lIns="0" tIns="0" rIns="0" bIns="0" rtlCol="0" anchor="t"/>
          <a:lstStyle/>
          <a:p>
            <a:pPr marL="0" indent="0">
              <a:buNone/>
            </a:pPr>
            <a:r>
              <a:rPr lang="en-US" sz="1100" dirty="0">
                <a:solidFill>
                  <a:srgbClr val="FFFFFF"/>
                </a:solidFill>
                <a:latin typeface="IBM Plex Sans" pitchFamily="34" charset="0"/>
                <a:ea typeface="IBM Plex Sans" pitchFamily="34" charset="-122"/>
                <a:cs typeface="IBM Plex Sans" pitchFamily="34" charset="-120"/>
              </a:rPr>
              <a:t>Monthly retainer, with scope and support level agreed based on ongoing requirements.</a:t>
            </a:r>
            <a:endParaRPr lang="en-US" sz="1100" dirty="0"/>
          </a:p>
        </p:txBody>
      </p:sp>
      <p:sp>
        <p:nvSpPr>
          <p:cNvPr id="26" name="Text 24"/>
          <p:cNvSpPr/>
          <p:nvPr/>
        </p:nvSpPr>
        <p:spPr>
          <a:xfrm>
            <a:off x="640080" y="6473952"/>
            <a:ext cx="6400800" cy="164592"/>
          </a:xfrm>
          <a:prstGeom prst="rect">
            <a:avLst/>
          </a:prstGeom>
          <a:noFill/>
          <a:ln/>
        </p:spPr>
        <p:txBody>
          <a:bodyPr wrap="square" lIns="0" tIns="0" rIns="0" bIns="0" rtlCol="0" anchor="t"/>
          <a:lstStyle/>
          <a:p>
            <a:pPr marL="0" indent="0">
              <a:buNone/>
            </a:pPr>
            <a:r>
              <a:rPr lang="en-US" sz="700" kern="0" spc="150" dirty="0">
                <a:solidFill>
                  <a:srgbClr val="8B8D8F"/>
                </a:solidFill>
                <a:latin typeface="IBM Plex Mono" pitchFamily="34" charset="0"/>
                <a:ea typeface="IBM Plex Mono" pitchFamily="34" charset="-122"/>
                <a:cs typeface="IBM Plex Mono" pitchFamily="34" charset="-120"/>
              </a:rPr>
              <a:t>BOLTER TECHNOLOGIES PRIVATE LIMITED  ·  COMPANY PROFILE</a:t>
            </a:r>
            <a:endParaRPr lang="en-US" sz="700" dirty="0"/>
          </a:p>
        </p:txBody>
      </p:sp>
      <p:sp>
        <p:nvSpPr>
          <p:cNvPr id="27" name="Text 25"/>
          <p:cNvSpPr/>
          <p:nvPr/>
        </p:nvSpPr>
        <p:spPr>
          <a:xfrm>
            <a:off x="9722815" y="6473952"/>
            <a:ext cx="1828800" cy="164592"/>
          </a:xfrm>
          <a:prstGeom prst="rect">
            <a:avLst/>
          </a:prstGeom>
          <a:noFill/>
          <a:ln/>
        </p:spPr>
        <p:txBody>
          <a:bodyPr wrap="square" lIns="0" tIns="0" rIns="0" bIns="0" rtlCol="0" anchor="t"/>
          <a:lstStyle/>
          <a:p>
            <a:pPr marL="0" indent="0" algn="r">
              <a:buNone/>
            </a:pPr>
            <a:r>
              <a:rPr lang="en-US" sz="700" kern="0" spc="150" dirty="0">
                <a:solidFill>
                  <a:srgbClr val="8B8D8F"/>
                </a:solidFill>
                <a:latin typeface="IBM Plex Mono" pitchFamily="34" charset="0"/>
                <a:ea typeface="IBM Plex Mono" pitchFamily="34" charset="-122"/>
                <a:cs typeface="IBM Plex Mono" pitchFamily="34" charset="-120"/>
              </a:rPr>
              <a:t>11 / 23</a:t>
            </a:r>
            <a:endParaRPr lang="en-US" sz="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3F1ED"/>
        </a:solidFill>
        <a:effectLst/>
      </p:bgPr>
    </p:bg>
    <p:spTree>
      <p:nvGrpSpPr>
        <p:cNvPr id="1" name=""/>
        <p:cNvGrpSpPr/>
        <p:nvPr/>
      </p:nvGrpSpPr>
      <p:grpSpPr>
        <a:xfrm>
          <a:off x="0" y="0"/>
          <a:ext cx="0" cy="0"/>
          <a:chOff x="0" y="0"/>
          <a:chExt cx="0" cy="0"/>
        </a:xfrm>
      </p:grpSpPr>
      <p:sp>
        <p:nvSpPr>
          <p:cNvPr id="2" name="Shape 0"/>
          <p:cNvSpPr/>
          <p:nvPr/>
        </p:nvSpPr>
        <p:spPr>
          <a:xfrm>
            <a:off x="640080" y="571500"/>
            <a:ext cx="219456" cy="32004"/>
          </a:xfrm>
          <a:prstGeom prst="rect">
            <a:avLst/>
          </a:prstGeom>
          <a:solidFill>
            <a:srgbClr val="8F5D0A"/>
          </a:solidFill>
          <a:ln/>
        </p:spPr>
        <p:txBody>
          <a:bodyPr/>
          <a:lstStyle/>
          <a:p>
            <a:endParaRPr lang="en-PK"/>
          </a:p>
        </p:txBody>
      </p:sp>
      <p:sp>
        <p:nvSpPr>
          <p:cNvPr id="3" name="Text 1"/>
          <p:cNvSpPr/>
          <p:nvPr/>
        </p:nvSpPr>
        <p:spPr>
          <a:xfrm>
            <a:off x="969264" y="502920"/>
            <a:ext cx="8229600" cy="182880"/>
          </a:xfrm>
          <a:prstGeom prst="rect">
            <a:avLst/>
          </a:prstGeom>
          <a:noFill/>
          <a:ln/>
        </p:spPr>
        <p:txBody>
          <a:bodyPr wrap="square" lIns="0" tIns="0" rIns="0" bIns="0" rtlCol="0" anchor="t"/>
          <a:lstStyle/>
          <a:p>
            <a:pPr marL="0" indent="0">
              <a:buNone/>
            </a:pPr>
            <a:r>
              <a:rPr lang="en-US" sz="900" b="1" kern="0" spc="200" dirty="0">
                <a:solidFill>
                  <a:srgbClr val="8F5D0A"/>
                </a:solidFill>
                <a:latin typeface="IBM Plex Mono" pitchFamily="34" charset="0"/>
                <a:ea typeface="IBM Plex Mono" pitchFamily="34" charset="-122"/>
                <a:cs typeface="IBM Plex Mono" pitchFamily="34" charset="-120"/>
              </a:rPr>
              <a:t>05  SELECTED WORK</a:t>
            </a:r>
            <a:endParaRPr lang="en-US" sz="900" dirty="0"/>
          </a:p>
        </p:txBody>
      </p:sp>
      <p:sp>
        <p:nvSpPr>
          <p:cNvPr id="4" name="Text 2"/>
          <p:cNvSpPr/>
          <p:nvPr/>
        </p:nvSpPr>
        <p:spPr>
          <a:xfrm>
            <a:off x="640080" y="777240"/>
            <a:ext cx="10911535" cy="685800"/>
          </a:xfrm>
          <a:prstGeom prst="rect">
            <a:avLst/>
          </a:prstGeom>
          <a:noFill/>
          <a:ln/>
        </p:spPr>
        <p:txBody>
          <a:bodyPr wrap="square" lIns="0" tIns="0" rIns="0" bIns="0" rtlCol="0" anchor="t"/>
          <a:lstStyle/>
          <a:p>
            <a:pPr marL="0" indent="0">
              <a:buNone/>
            </a:pPr>
            <a:r>
              <a:rPr lang="en-US" sz="3400" b="1" dirty="0">
                <a:solidFill>
                  <a:srgbClr val="14161A"/>
                </a:solidFill>
                <a:latin typeface="Space Grotesk" pitchFamily="34" charset="0"/>
                <a:ea typeface="Space Grotesk" pitchFamily="34" charset="-122"/>
                <a:cs typeface="Space Grotesk" pitchFamily="34" charset="-120"/>
              </a:rPr>
              <a:t>Selected work</a:t>
            </a:r>
            <a:endParaRPr lang="en-US" sz="3400" dirty="0"/>
          </a:p>
        </p:txBody>
      </p:sp>
      <p:sp>
        <p:nvSpPr>
          <p:cNvPr id="5" name="Text 3"/>
          <p:cNvSpPr/>
          <p:nvPr/>
        </p:nvSpPr>
        <p:spPr>
          <a:xfrm>
            <a:off x="594360" y="1554480"/>
            <a:ext cx="4114800" cy="1920240"/>
          </a:xfrm>
          <a:prstGeom prst="rect">
            <a:avLst/>
          </a:prstGeom>
          <a:noFill/>
          <a:ln/>
        </p:spPr>
        <p:txBody>
          <a:bodyPr wrap="square" lIns="0" tIns="0" rIns="0" bIns="0" rtlCol="0" anchor="t"/>
          <a:lstStyle/>
          <a:p>
            <a:pPr marL="0" indent="0">
              <a:buNone/>
            </a:pPr>
            <a:r>
              <a:rPr lang="en-US" sz="15000" b="1" dirty="0">
                <a:solidFill>
                  <a:srgbClr val="8F5D0A"/>
                </a:solidFill>
                <a:latin typeface="Space Grotesk" pitchFamily="34" charset="0"/>
                <a:ea typeface="Space Grotesk" pitchFamily="34" charset="-122"/>
                <a:cs typeface="Space Grotesk" pitchFamily="34" charset="-120"/>
              </a:rPr>
              <a:t>14</a:t>
            </a:r>
            <a:endParaRPr lang="en-US" sz="15000" dirty="0"/>
          </a:p>
        </p:txBody>
      </p:sp>
      <p:sp>
        <p:nvSpPr>
          <p:cNvPr id="6" name="Text 4"/>
          <p:cNvSpPr/>
          <p:nvPr/>
        </p:nvSpPr>
        <p:spPr>
          <a:xfrm>
            <a:off x="640080" y="3520440"/>
            <a:ext cx="4023360" cy="365760"/>
          </a:xfrm>
          <a:prstGeom prst="rect">
            <a:avLst/>
          </a:prstGeom>
          <a:noFill/>
          <a:ln/>
        </p:spPr>
        <p:txBody>
          <a:bodyPr wrap="square" lIns="0" tIns="0" rIns="0" bIns="0" rtlCol="0" anchor="t"/>
          <a:lstStyle/>
          <a:p>
            <a:pPr marL="0" indent="0">
              <a:buNone/>
            </a:pPr>
            <a:r>
              <a:rPr lang="en-US" sz="1600" dirty="0">
                <a:solidFill>
                  <a:srgbClr val="14161A"/>
                </a:solidFill>
                <a:latin typeface="IBM Plex Sans" pitchFamily="34" charset="0"/>
                <a:ea typeface="IBM Plex Sans" pitchFamily="34" charset="-122"/>
                <a:cs typeface="IBM Plex Sans" pitchFamily="34" charset="-120"/>
              </a:rPr>
              <a:t>Projects in the portfolio</a:t>
            </a:r>
            <a:endParaRPr lang="en-US" sz="1600" dirty="0"/>
          </a:p>
        </p:txBody>
      </p:sp>
      <p:sp>
        <p:nvSpPr>
          <p:cNvPr id="7" name="Text 5"/>
          <p:cNvSpPr/>
          <p:nvPr/>
        </p:nvSpPr>
        <p:spPr>
          <a:xfrm>
            <a:off x="640080" y="4023360"/>
            <a:ext cx="3840480" cy="640080"/>
          </a:xfrm>
          <a:prstGeom prst="rect">
            <a:avLst/>
          </a:prstGeom>
          <a:noFill/>
          <a:ln/>
        </p:spPr>
        <p:txBody>
          <a:bodyPr wrap="square" lIns="0" tIns="0" rIns="0" bIns="0" rtlCol="0" anchor="t"/>
          <a:lstStyle/>
          <a:p>
            <a:pPr marL="0" indent="0">
              <a:lnSpc>
                <a:spcPct val="125000"/>
              </a:lnSpc>
              <a:buNone/>
            </a:pPr>
            <a:r>
              <a:rPr lang="en-US" sz="1200" dirty="0">
                <a:solidFill>
                  <a:srgbClr val="5B6066"/>
                </a:solidFill>
                <a:latin typeface="IBM Plex Sans" pitchFamily="34" charset="0"/>
                <a:ea typeface="IBM Plex Sans" pitchFamily="34" charset="-122"/>
                <a:cs typeface="IBM Plex Sans" pitchFamily="34" charset="-120"/>
              </a:rPr>
              <a:t>The 6 featured engagements follow. The complete portfolio closes the section.</a:t>
            </a:r>
            <a:endParaRPr lang="en-US" sz="1200" dirty="0"/>
          </a:p>
        </p:txBody>
      </p:sp>
      <p:sp>
        <p:nvSpPr>
          <p:cNvPr id="8" name="Text 6"/>
          <p:cNvSpPr/>
          <p:nvPr/>
        </p:nvSpPr>
        <p:spPr>
          <a:xfrm>
            <a:off x="5257800" y="1554480"/>
            <a:ext cx="6293815" cy="182880"/>
          </a:xfrm>
          <a:prstGeom prst="rect">
            <a:avLst/>
          </a:prstGeom>
          <a:noFill/>
          <a:ln/>
        </p:spPr>
        <p:txBody>
          <a:bodyPr wrap="square" lIns="0" tIns="0" rIns="0" bIns="0" rtlCol="0" anchor="t"/>
          <a:lstStyle/>
          <a:p>
            <a:pPr marL="0" indent="0">
              <a:buNone/>
            </a:pPr>
            <a:r>
              <a:rPr lang="en-US" sz="800" kern="0" spc="150" dirty="0">
                <a:solidFill>
                  <a:srgbClr val="6F6A5F"/>
                </a:solidFill>
                <a:latin typeface="IBM Plex Mono" pitchFamily="34" charset="0"/>
                <a:ea typeface="IBM Plex Mono" pitchFamily="34" charset="-122"/>
                <a:cs typeface="IBM Plex Mono" pitchFamily="34" charset="-120"/>
              </a:rPr>
              <a:t>SECTORS DELIVERED INTO</a:t>
            </a:r>
            <a:endParaRPr lang="en-US" sz="800" dirty="0"/>
          </a:p>
        </p:txBody>
      </p:sp>
      <p:sp>
        <p:nvSpPr>
          <p:cNvPr id="9" name="Shape 7"/>
          <p:cNvSpPr/>
          <p:nvPr/>
        </p:nvSpPr>
        <p:spPr>
          <a:xfrm>
            <a:off x="5257800" y="1783080"/>
            <a:ext cx="2964028" cy="0"/>
          </a:xfrm>
          <a:prstGeom prst="line">
            <a:avLst/>
          </a:prstGeom>
          <a:noFill/>
          <a:ln w="9525">
            <a:solidFill>
              <a:srgbClr val="DCD8D0"/>
            </a:solidFill>
            <a:prstDash val="solid"/>
          </a:ln>
        </p:spPr>
        <p:txBody>
          <a:bodyPr/>
          <a:lstStyle/>
          <a:p>
            <a:endParaRPr lang="en-PK"/>
          </a:p>
        </p:txBody>
      </p:sp>
      <p:sp>
        <p:nvSpPr>
          <p:cNvPr id="10" name="Text 8"/>
          <p:cNvSpPr/>
          <p:nvPr/>
        </p:nvSpPr>
        <p:spPr>
          <a:xfrm>
            <a:off x="5257800" y="1783080"/>
            <a:ext cx="2964028" cy="646611"/>
          </a:xfrm>
          <a:prstGeom prst="rect">
            <a:avLst/>
          </a:prstGeom>
          <a:noFill/>
          <a:ln/>
        </p:spPr>
        <p:txBody>
          <a:bodyPr wrap="square" lIns="0" tIns="0" rIns="0" bIns="0" rtlCol="0" anchor="ctr"/>
          <a:lstStyle/>
          <a:p>
            <a:pPr marL="0" indent="0">
              <a:buNone/>
            </a:pPr>
            <a:r>
              <a:rPr lang="en-US" sz="1200" dirty="0">
                <a:solidFill>
                  <a:srgbClr val="14161A"/>
                </a:solidFill>
                <a:latin typeface="IBM Plex Sans" pitchFamily="34" charset="0"/>
                <a:ea typeface="IBM Plex Sans" pitchFamily="34" charset="-122"/>
                <a:cs typeface="IBM Plex Sans" pitchFamily="34" charset="-120"/>
              </a:rPr>
              <a:t>Government and critical infrastructure</a:t>
            </a:r>
            <a:endParaRPr lang="en-US" sz="1200" dirty="0"/>
          </a:p>
        </p:txBody>
      </p:sp>
      <p:sp>
        <p:nvSpPr>
          <p:cNvPr id="11" name="Shape 9"/>
          <p:cNvSpPr/>
          <p:nvPr/>
        </p:nvSpPr>
        <p:spPr>
          <a:xfrm>
            <a:off x="8587588" y="1783080"/>
            <a:ext cx="2964028" cy="0"/>
          </a:xfrm>
          <a:prstGeom prst="line">
            <a:avLst/>
          </a:prstGeom>
          <a:noFill/>
          <a:ln w="9525">
            <a:solidFill>
              <a:srgbClr val="DCD8D0"/>
            </a:solidFill>
            <a:prstDash val="solid"/>
          </a:ln>
        </p:spPr>
        <p:txBody>
          <a:bodyPr/>
          <a:lstStyle/>
          <a:p>
            <a:endParaRPr lang="en-PK"/>
          </a:p>
        </p:txBody>
      </p:sp>
      <p:sp>
        <p:nvSpPr>
          <p:cNvPr id="12" name="Text 10"/>
          <p:cNvSpPr/>
          <p:nvPr/>
        </p:nvSpPr>
        <p:spPr>
          <a:xfrm>
            <a:off x="8587588" y="1783080"/>
            <a:ext cx="2964028" cy="646611"/>
          </a:xfrm>
          <a:prstGeom prst="rect">
            <a:avLst/>
          </a:prstGeom>
          <a:noFill/>
          <a:ln/>
        </p:spPr>
        <p:txBody>
          <a:bodyPr wrap="square" lIns="0" tIns="0" rIns="0" bIns="0" rtlCol="0" anchor="ctr"/>
          <a:lstStyle/>
          <a:p>
            <a:pPr marL="0" indent="0">
              <a:buNone/>
            </a:pPr>
            <a:r>
              <a:rPr lang="en-US" sz="1200" dirty="0">
                <a:solidFill>
                  <a:srgbClr val="14161A"/>
                </a:solidFill>
                <a:latin typeface="IBM Plex Sans" pitchFamily="34" charset="0"/>
                <a:ea typeface="IBM Plex Sans" pitchFamily="34" charset="-122"/>
                <a:cs typeface="IBM Plex Sans" pitchFamily="34" charset="-120"/>
              </a:rPr>
              <a:t>Cybersecurity and enterprise infrastructure</a:t>
            </a:r>
            <a:endParaRPr lang="en-US" sz="1200" dirty="0"/>
          </a:p>
        </p:txBody>
      </p:sp>
      <p:sp>
        <p:nvSpPr>
          <p:cNvPr id="13" name="Shape 11"/>
          <p:cNvSpPr/>
          <p:nvPr/>
        </p:nvSpPr>
        <p:spPr>
          <a:xfrm>
            <a:off x="5257800" y="2429691"/>
            <a:ext cx="2964028" cy="0"/>
          </a:xfrm>
          <a:prstGeom prst="line">
            <a:avLst/>
          </a:prstGeom>
          <a:noFill/>
          <a:ln w="9525">
            <a:solidFill>
              <a:srgbClr val="DCD8D0"/>
            </a:solidFill>
            <a:prstDash val="solid"/>
          </a:ln>
        </p:spPr>
        <p:txBody>
          <a:bodyPr/>
          <a:lstStyle/>
          <a:p>
            <a:endParaRPr lang="en-PK"/>
          </a:p>
        </p:txBody>
      </p:sp>
      <p:sp>
        <p:nvSpPr>
          <p:cNvPr id="14" name="Text 12"/>
          <p:cNvSpPr/>
          <p:nvPr/>
        </p:nvSpPr>
        <p:spPr>
          <a:xfrm>
            <a:off x="5257800" y="2429691"/>
            <a:ext cx="2964028" cy="646611"/>
          </a:xfrm>
          <a:prstGeom prst="rect">
            <a:avLst/>
          </a:prstGeom>
          <a:noFill/>
          <a:ln/>
        </p:spPr>
        <p:txBody>
          <a:bodyPr wrap="square" lIns="0" tIns="0" rIns="0" bIns="0" rtlCol="0" anchor="ctr"/>
          <a:lstStyle/>
          <a:p>
            <a:pPr marL="0" indent="0">
              <a:buNone/>
            </a:pPr>
            <a:r>
              <a:rPr lang="en-US" sz="1200" dirty="0">
                <a:solidFill>
                  <a:srgbClr val="14161A"/>
                </a:solidFill>
                <a:latin typeface="IBM Plex Sans" pitchFamily="34" charset="0"/>
                <a:ea typeface="IBM Plex Sans" pitchFamily="34" charset="-122"/>
                <a:cs typeface="IBM Plex Sans" pitchFamily="34" charset="-120"/>
              </a:rPr>
              <a:t>Energy and property management</a:t>
            </a:r>
            <a:endParaRPr lang="en-US" sz="1200" dirty="0"/>
          </a:p>
        </p:txBody>
      </p:sp>
      <p:sp>
        <p:nvSpPr>
          <p:cNvPr id="15" name="Shape 13"/>
          <p:cNvSpPr/>
          <p:nvPr/>
        </p:nvSpPr>
        <p:spPr>
          <a:xfrm>
            <a:off x="8587588" y="2429691"/>
            <a:ext cx="2964028" cy="0"/>
          </a:xfrm>
          <a:prstGeom prst="line">
            <a:avLst/>
          </a:prstGeom>
          <a:noFill/>
          <a:ln w="9525">
            <a:solidFill>
              <a:srgbClr val="DCD8D0"/>
            </a:solidFill>
            <a:prstDash val="solid"/>
          </a:ln>
        </p:spPr>
        <p:txBody>
          <a:bodyPr/>
          <a:lstStyle/>
          <a:p>
            <a:endParaRPr lang="en-PK"/>
          </a:p>
        </p:txBody>
      </p:sp>
      <p:sp>
        <p:nvSpPr>
          <p:cNvPr id="16" name="Text 14"/>
          <p:cNvSpPr/>
          <p:nvPr/>
        </p:nvSpPr>
        <p:spPr>
          <a:xfrm>
            <a:off x="8587588" y="2429691"/>
            <a:ext cx="2964028" cy="646611"/>
          </a:xfrm>
          <a:prstGeom prst="rect">
            <a:avLst/>
          </a:prstGeom>
          <a:noFill/>
          <a:ln/>
        </p:spPr>
        <p:txBody>
          <a:bodyPr wrap="square" lIns="0" tIns="0" rIns="0" bIns="0" rtlCol="0" anchor="ctr"/>
          <a:lstStyle/>
          <a:p>
            <a:pPr marL="0" indent="0">
              <a:buNone/>
            </a:pPr>
            <a:r>
              <a:rPr lang="en-US" sz="1200" dirty="0">
                <a:solidFill>
                  <a:srgbClr val="14161A"/>
                </a:solidFill>
                <a:latin typeface="IBM Plex Sans" pitchFamily="34" charset="0"/>
                <a:ea typeface="IBM Plex Sans" pitchFamily="34" charset="-122"/>
                <a:cs typeface="IBM Plex Sans" pitchFamily="34" charset="-120"/>
              </a:rPr>
              <a:t>Government and public sector communications</a:t>
            </a:r>
            <a:endParaRPr lang="en-US" sz="1200" dirty="0"/>
          </a:p>
        </p:txBody>
      </p:sp>
      <p:sp>
        <p:nvSpPr>
          <p:cNvPr id="17" name="Shape 15"/>
          <p:cNvSpPr/>
          <p:nvPr/>
        </p:nvSpPr>
        <p:spPr>
          <a:xfrm>
            <a:off x="5257800" y="3076303"/>
            <a:ext cx="2964028" cy="0"/>
          </a:xfrm>
          <a:prstGeom prst="line">
            <a:avLst/>
          </a:prstGeom>
          <a:noFill/>
          <a:ln w="9525">
            <a:solidFill>
              <a:srgbClr val="DCD8D0"/>
            </a:solidFill>
            <a:prstDash val="solid"/>
          </a:ln>
        </p:spPr>
        <p:txBody>
          <a:bodyPr/>
          <a:lstStyle/>
          <a:p>
            <a:endParaRPr lang="en-PK"/>
          </a:p>
        </p:txBody>
      </p:sp>
      <p:sp>
        <p:nvSpPr>
          <p:cNvPr id="18" name="Text 16"/>
          <p:cNvSpPr/>
          <p:nvPr/>
        </p:nvSpPr>
        <p:spPr>
          <a:xfrm>
            <a:off x="5257800" y="3076303"/>
            <a:ext cx="2964028" cy="646611"/>
          </a:xfrm>
          <a:prstGeom prst="rect">
            <a:avLst/>
          </a:prstGeom>
          <a:noFill/>
          <a:ln/>
        </p:spPr>
        <p:txBody>
          <a:bodyPr wrap="square" lIns="0" tIns="0" rIns="0" bIns="0" rtlCol="0" anchor="ctr"/>
          <a:lstStyle/>
          <a:p>
            <a:pPr marL="0" indent="0">
              <a:buNone/>
            </a:pPr>
            <a:r>
              <a:rPr lang="en-US" sz="1200" dirty="0">
                <a:solidFill>
                  <a:srgbClr val="14161A"/>
                </a:solidFill>
                <a:latin typeface="IBM Plex Sans" pitchFamily="34" charset="0"/>
                <a:ea typeface="IBM Plex Sans" pitchFamily="34" charset="-122"/>
                <a:cs typeface="IBM Plex Sans" pitchFamily="34" charset="-120"/>
              </a:rPr>
              <a:t>Telecommunications &amp; Cyber Regulatory Governance</a:t>
            </a:r>
            <a:endParaRPr lang="en-US" sz="1200" dirty="0"/>
          </a:p>
        </p:txBody>
      </p:sp>
      <p:sp>
        <p:nvSpPr>
          <p:cNvPr id="19" name="Shape 17"/>
          <p:cNvSpPr/>
          <p:nvPr/>
        </p:nvSpPr>
        <p:spPr>
          <a:xfrm>
            <a:off x="8587588" y="3076303"/>
            <a:ext cx="2964028" cy="0"/>
          </a:xfrm>
          <a:prstGeom prst="line">
            <a:avLst/>
          </a:prstGeom>
          <a:noFill/>
          <a:ln w="9525">
            <a:solidFill>
              <a:srgbClr val="DCD8D0"/>
            </a:solidFill>
            <a:prstDash val="solid"/>
          </a:ln>
        </p:spPr>
        <p:txBody>
          <a:bodyPr/>
          <a:lstStyle/>
          <a:p>
            <a:endParaRPr lang="en-PK"/>
          </a:p>
        </p:txBody>
      </p:sp>
      <p:sp>
        <p:nvSpPr>
          <p:cNvPr id="20" name="Text 18"/>
          <p:cNvSpPr/>
          <p:nvPr/>
        </p:nvSpPr>
        <p:spPr>
          <a:xfrm>
            <a:off x="8587588" y="3076303"/>
            <a:ext cx="2964028" cy="646611"/>
          </a:xfrm>
          <a:prstGeom prst="rect">
            <a:avLst/>
          </a:prstGeom>
          <a:noFill/>
          <a:ln/>
        </p:spPr>
        <p:txBody>
          <a:bodyPr wrap="square" lIns="0" tIns="0" rIns="0" bIns="0" rtlCol="0" anchor="ctr"/>
          <a:lstStyle/>
          <a:p>
            <a:pPr marL="0" indent="0">
              <a:buNone/>
            </a:pPr>
            <a:r>
              <a:rPr lang="en-US" sz="1200" dirty="0">
                <a:solidFill>
                  <a:srgbClr val="14161A"/>
                </a:solidFill>
                <a:latin typeface="IBM Plex Sans" pitchFamily="34" charset="0"/>
                <a:ea typeface="IBM Plex Sans" pitchFamily="34" charset="-122"/>
                <a:cs typeface="IBM Plex Sans" pitchFamily="34" charset="-120"/>
              </a:rPr>
              <a:t>Telecommunications</a:t>
            </a:r>
            <a:endParaRPr lang="en-US" sz="1200" dirty="0"/>
          </a:p>
        </p:txBody>
      </p:sp>
      <p:sp>
        <p:nvSpPr>
          <p:cNvPr id="21" name="Shape 19"/>
          <p:cNvSpPr/>
          <p:nvPr/>
        </p:nvSpPr>
        <p:spPr>
          <a:xfrm>
            <a:off x="5257800" y="3722914"/>
            <a:ext cx="2964028" cy="0"/>
          </a:xfrm>
          <a:prstGeom prst="line">
            <a:avLst/>
          </a:prstGeom>
          <a:noFill/>
          <a:ln w="9525">
            <a:solidFill>
              <a:srgbClr val="DCD8D0"/>
            </a:solidFill>
            <a:prstDash val="solid"/>
          </a:ln>
        </p:spPr>
        <p:txBody>
          <a:bodyPr/>
          <a:lstStyle/>
          <a:p>
            <a:endParaRPr lang="en-PK"/>
          </a:p>
        </p:txBody>
      </p:sp>
      <p:sp>
        <p:nvSpPr>
          <p:cNvPr id="22" name="Text 20"/>
          <p:cNvSpPr/>
          <p:nvPr/>
        </p:nvSpPr>
        <p:spPr>
          <a:xfrm>
            <a:off x="5257800" y="3722914"/>
            <a:ext cx="2964028" cy="646611"/>
          </a:xfrm>
          <a:prstGeom prst="rect">
            <a:avLst/>
          </a:prstGeom>
          <a:noFill/>
          <a:ln/>
        </p:spPr>
        <p:txBody>
          <a:bodyPr wrap="square" lIns="0" tIns="0" rIns="0" bIns="0" rtlCol="0" anchor="ctr"/>
          <a:lstStyle/>
          <a:p>
            <a:pPr marL="0" indent="0">
              <a:buNone/>
            </a:pPr>
            <a:r>
              <a:rPr lang="en-US" sz="1200" dirty="0">
                <a:solidFill>
                  <a:srgbClr val="14161A"/>
                </a:solidFill>
                <a:latin typeface="IBM Plex Sans" pitchFamily="34" charset="0"/>
                <a:ea typeface="IBM Plex Sans" pitchFamily="34" charset="-122"/>
                <a:cs typeface="IBM Plex Sans" pitchFamily="34" charset="-120"/>
              </a:rPr>
              <a:t>Cybersecurity and defence</a:t>
            </a:r>
            <a:endParaRPr lang="en-US" sz="1200" dirty="0"/>
          </a:p>
        </p:txBody>
      </p:sp>
      <p:sp>
        <p:nvSpPr>
          <p:cNvPr id="23" name="Shape 21"/>
          <p:cNvSpPr/>
          <p:nvPr/>
        </p:nvSpPr>
        <p:spPr>
          <a:xfrm>
            <a:off x="8587588" y="3722914"/>
            <a:ext cx="2964028" cy="0"/>
          </a:xfrm>
          <a:prstGeom prst="line">
            <a:avLst/>
          </a:prstGeom>
          <a:noFill/>
          <a:ln w="9525">
            <a:solidFill>
              <a:srgbClr val="DCD8D0"/>
            </a:solidFill>
            <a:prstDash val="solid"/>
          </a:ln>
        </p:spPr>
        <p:txBody>
          <a:bodyPr/>
          <a:lstStyle/>
          <a:p>
            <a:endParaRPr lang="en-PK"/>
          </a:p>
        </p:txBody>
      </p:sp>
      <p:sp>
        <p:nvSpPr>
          <p:cNvPr id="24" name="Text 22"/>
          <p:cNvSpPr/>
          <p:nvPr/>
        </p:nvSpPr>
        <p:spPr>
          <a:xfrm>
            <a:off x="8587588" y="3722914"/>
            <a:ext cx="2964028" cy="646611"/>
          </a:xfrm>
          <a:prstGeom prst="rect">
            <a:avLst/>
          </a:prstGeom>
          <a:noFill/>
          <a:ln/>
        </p:spPr>
        <p:txBody>
          <a:bodyPr wrap="square" lIns="0" tIns="0" rIns="0" bIns="0" rtlCol="0" anchor="ctr"/>
          <a:lstStyle/>
          <a:p>
            <a:pPr marL="0" indent="0">
              <a:buNone/>
            </a:pPr>
            <a:r>
              <a:rPr lang="en-US" sz="1200" dirty="0">
                <a:solidFill>
                  <a:srgbClr val="14161A"/>
                </a:solidFill>
                <a:latin typeface="IBM Plex Sans" pitchFamily="34" charset="0"/>
                <a:ea typeface="IBM Plex Sans" pitchFamily="34" charset="-122"/>
                <a:cs typeface="IBM Plex Sans" pitchFamily="34" charset="-120"/>
              </a:rPr>
              <a:t>Data intelligence and analytics</a:t>
            </a:r>
            <a:endParaRPr lang="en-US" sz="1200" dirty="0"/>
          </a:p>
        </p:txBody>
      </p:sp>
      <p:sp>
        <p:nvSpPr>
          <p:cNvPr id="25" name="Shape 23"/>
          <p:cNvSpPr/>
          <p:nvPr/>
        </p:nvSpPr>
        <p:spPr>
          <a:xfrm>
            <a:off x="5257800" y="4369526"/>
            <a:ext cx="2964028" cy="0"/>
          </a:xfrm>
          <a:prstGeom prst="line">
            <a:avLst/>
          </a:prstGeom>
          <a:noFill/>
          <a:ln w="9525">
            <a:solidFill>
              <a:srgbClr val="DCD8D0"/>
            </a:solidFill>
            <a:prstDash val="solid"/>
          </a:ln>
        </p:spPr>
        <p:txBody>
          <a:bodyPr/>
          <a:lstStyle/>
          <a:p>
            <a:endParaRPr lang="en-PK"/>
          </a:p>
        </p:txBody>
      </p:sp>
      <p:sp>
        <p:nvSpPr>
          <p:cNvPr id="26" name="Text 24"/>
          <p:cNvSpPr/>
          <p:nvPr/>
        </p:nvSpPr>
        <p:spPr>
          <a:xfrm>
            <a:off x="5257800" y="4369526"/>
            <a:ext cx="2964028" cy="646611"/>
          </a:xfrm>
          <a:prstGeom prst="rect">
            <a:avLst/>
          </a:prstGeom>
          <a:noFill/>
          <a:ln/>
        </p:spPr>
        <p:txBody>
          <a:bodyPr wrap="square" lIns="0" tIns="0" rIns="0" bIns="0" rtlCol="0" anchor="ctr"/>
          <a:lstStyle/>
          <a:p>
            <a:pPr marL="0" indent="0">
              <a:buNone/>
            </a:pPr>
            <a:r>
              <a:rPr lang="en-US" sz="1200" dirty="0">
                <a:solidFill>
                  <a:srgbClr val="14161A"/>
                </a:solidFill>
                <a:latin typeface="IBM Plex Sans" pitchFamily="34" charset="0"/>
                <a:ea typeface="IBM Plex Sans" pitchFamily="34" charset="-122"/>
                <a:cs typeface="IBM Plex Sans" pitchFamily="34" charset="-120"/>
              </a:rPr>
              <a:t>Public sector cybersecurity</a:t>
            </a:r>
            <a:endParaRPr lang="en-US" sz="1200" dirty="0"/>
          </a:p>
        </p:txBody>
      </p:sp>
      <p:sp>
        <p:nvSpPr>
          <p:cNvPr id="27" name="Shape 25"/>
          <p:cNvSpPr/>
          <p:nvPr/>
        </p:nvSpPr>
        <p:spPr>
          <a:xfrm>
            <a:off x="8587588" y="4369526"/>
            <a:ext cx="2964028" cy="0"/>
          </a:xfrm>
          <a:prstGeom prst="line">
            <a:avLst/>
          </a:prstGeom>
          <a:noFill/>
          <a:ln w="9525">
            <a:solidFill>
              <a:srgbClr val="DCD8D0"/>
            </a:solidFill>
            <a:prstDash val="solid"/>
          </a:ln>
        </p:spPr>
        <p:txBody>
          <a:bodyPr/>
          <a:lstStyle/>
          <a:p>
            <a:endParaRPr lang="en-PK"/>
          </a:p>
        </p:txBody>
      </p:sp>
      <p:sp>
        <p:nvSpPr>
          <p:cNvPr id="28" name="Text 26"/>
          <p:cNvSpPr/>
          <p:nvPr/>
        </p:nvSpPr>
        <p:spPr>
          <a:xfrm>
            <a:off x="8587588" y="4369526"/>
            <a:ext cx="2964028" cy="646611"/>
          </a:xfrm>
          <a:prstGeom prst="rect">
            <a:avLst/>
          </a:prstGeom>
          <a:noFill/>
          <a:ln/>
        </p:spPr>
        <p:txBody>
          <a:bodyPr wrap="square" lIns="0" tIns="0" rIns="0" bIns="0" rtlCol="0" anchor="ctr"/>
          <a:lstStyle/>
          <a:p>
            <a:pPr marL="0" indent="0">
              <a:buNone/>
            </a:pPr>
            <a:r>
              <a:rPr lang="en-US" sz="1200" dirty="0">
                <a:solidFill>
                  <a:srgbClr val="14161A"/>
                </a:solidFill>
                <a:latin typeface="IBM Plex Sans" pitchFamily="34" charset="0"/>
                <a:ea typeface="IBM Plex Sans" pitchFamily="34" charset="-122"/>
                <a:cs typeface="IBM Plex Sans" pitchFamily="34" charset="-120"/>
              </a:rPr>
              <a:t>Fintech and personal investment</a:t>
            </a:r>
            <a:endParaRPr lang="en-US" sz="1200" dirty="0"/>
          </a:p>
        </p:txBody>
      </p:sp>
      <p:sp>
        <p:nvSpPr>
          <p:cNvPr id="29" name="Shape 27"/>
          <p:cNvSpPr/>
          <p:nvPr/>
        </p:nvSpPr>
        <p:spPr>
          <a:xfrm>
            <a:off x="5257800" y="5016137"/>
            <a:ext cx="2964028" cy="0"/>
          </a:xfrm>
          <a:prstGeom prst="line">
            <a:avLst/>
          </a:prstGeom>
          <a:noFill/>
          <a:ln w="9525">
            <a:solidFill>
              <a:srgbClr val="DCD8D0"/>
            </a:solidFill>
            <a:prstDash val="solid"/>
          </a:ln>
        </p:spPr>
        <p:txBody>
          <a:bodyPr/>
          <a:lstStyle/>
          <a:p>
            <a:endParaRPr lang="en-PK"/>
          </a:p>
        </p:txBody>
      </p:sp>
      <p:sp>
        <p:nvSpPr>
          <p:cNvPr id="30" name="Text 28"/>
          <p:cNvSpPr/>
          <p:nvPr/>
        </p:nvSpPr>
        <p:spPr>
          <a:xfrm>
            <a:off x="5257800" y="5016137"/>
            <a:ext cx="2964028" cy="646611"/>
          </a:xfrm>
          <a:prstGeom prst="rect">
            <a:avLst/>
          </a:prstGeom>
          <a:noFill/>
          <a:ln/>
        </p:spPr>
        <p:txBody>
          <a:bodyPr wrap="square" lIns="0" tIns="0" rIns="0" bIns="0" rtlCol="0" anchor="ctr"/>
          <a:lstStyle/>
          <a:p>
            <a:pPr marL="0" indent="0">
              <a:buNone/>
            </a:pPr>
            <a:r>
              <a:rPr lang="en-US" sz="1200" dirty="0">
                <a:solidFill>
                  <a:srgbClr val="14161A"/>
                </a:solidFill>
                <a:latin typeface="IBM Plex Sans" pitchFamily="34" charset="0"/>
                <a:ea typeface="IBM Plex Sans" pitchFamily="34" charset="-122"/>
                <a:cs typeface="IBM Plex Sans" pitchFamily="34" charset="-120"/>
              </a:rPr>
              <a:t>Digital Media, Publishing &amp; Broadcast Telecommunications</a:t>
            </a:r>
            <a:endParaRPr lang="en-US" sz="1200" dirty="0"/>
          </a:p>
        </p:txBody>
      </p:sp>
      <p:sp>
        <p:nvSpPr>
          <p:cNvPr id="31" name="Shape 29"/>
          <p:cNvSpPr/>
          <p:nvPr/>
        </p:nvSpPr>
        <p:spPr>
          <a:xfrm>
            <a:off x="8587588" y="5016137"/>
            <a:ext cx="2964028" cy="0"/>
          </a:xfrm>
          <a:prstGeom prst="line">
            <a:avLst/>
          </a:prstGeom>
          <a:noFill/>
          <a:ln w="9525">
            <a:solidFill>
              <a:srgbClr val="DCD8D0"/>
            </a:solidFill>
            <a:prstDash val="solid"/>
          </a:ln>
        </p:spPr>
        <p:txBody>
          <a:bodyPr/>
          <a:lstStyle/>
          <a:p>
            <a:endParaRPr lang="en-PK"/>
          </a:p>
        </p:txBody>
      </p:sp>
      <p:sp>
        <p:nvSpPr>
          <p:cNvPr id="32" name="Text 30"/>
          <p:cNvSpPr/>
          <p:nvPr/>
        </p:nvSpPr>
        <p:spPr>
          <a:xfrm>
            <a:off x="8587588" y="5016137"/>
            <a:ext cx="2964028" cy="646611"/>
          </a:xfrm>
          <a:prstGeom prst="rect">
            <a:avLst/>
          </a:prstGeom>
          <a:noFill/>
          <a:ln/>
        </p:spPr>
        <p:txBody>
          <a:bodyPr wrap="square" lIns="0" tIns="0" rIns="0" bIns="0" rtlCol="0" anchor="ctr"/>
          <a:lstStyle/>
          <a:p>
            <a:pPr marL="0" indent="0">
              <a:buNone/>
            </a:pPr>
            <a:r>
              <a:rPr lang="en-US" sz="1200" dirty="0">
                <a:solidFill>
                  <a:srgbClr val="14161A"/>
                </a:solidFill>
                <a:latin typeface="IBM Plex Sans" pitchFamily="34" charset="0"/>
                <a:ea typeface="IBM Plex Sans" pitchFamily="34" charset="-122"/>
                <a:cs typeface="IBM Plex Sans" pitchFamily="34" charset="-120"/>
              </a:rPr>
              <a:t>Healthcare and medical imaging</a:t>
            </a:r>
            <a:endParaRPr lang="en-US" sz="1200" dirty="0"/>
          </a:p>
        </p:txBody>
      </p:sp>
      <p:sp>
        <p:nvSpPr>
          <p:cNvPr id="33" name="Shape 31"/>
          <p:cNvSpPr/>
          <p:nvPr/>
        </p:nvSpPr>
        <p:spPr>
          <a:xfrm>
            <a:off x="5257800" y="5662749"/>
            <a:ext cx="2964028" cy="0"/>
          </a:xfrm>
          <a:prstGeom prst="line">
            <a:avLst/>
          </a:prstGeom>
          <a:noFill/>
          <a:ln w="9525">
            <a:solidFill>
              <a:srgbClr val="DCD8D0"/>
            </a:solidFill>
            <a:prstDash val="solid"/>
          </a:ln>
        </p:spPr>
        <p:txBody>
          <a:bodyPr/>
          <a:lstStyle/>
          <a:p>
            <a:endParaRPr lang="en-PK"/>
          </a:p>
        </p:txBody>
      </p:sp>
      <p:sp>
        <p:nvSpPr>
          <p:cNvPr id="34" name="Text 32"/>
          <p:cNvSpPr/>
          <p:nvPr/>
        </p:nvSpPr>
        <p:spPr>
          <a:xfrm>
            <a:off x="5257800" y="5662749"/>
            <a:ext cx="2964028" cy="646611"/>
          </a:xfrm>
          <a:prstGeom prst="rect">
            <a:avLst/>
          </a:prstGeom>
          <a:noFill/>
          <a:ln/>
        </p:spPr>
        <p:txBody>
          <a:bodyPr wrap="square" lIns="0" tIns="0" rIns="0" bIns="0" rtlCol="0" anchor="ctr"/>
          <a:lstStyle/>
          <a:p>
            <a:pPr marL="0" indent="0">
              <a:buNone/>
            </a:pPr>
            <a:r>
              <a:rPr lang="en-US" sz="1200" dirty="0">
                <a:solidFill>
                  <a:srgbClr val="14161A"/>
                </a:solidFill>
                <a:latin typeface="IBM Plex Sans" pitchFamily="34" charset="0"/>
                <a:ea typeface="IBM Plex Sans" pitchFamily="34" charset="-122"/>
                <a:cs typeface="IBM Plex Sans" pitchFamily="34" charset="-120"/>
              </a:rPr>
              <a:t>Digital publishing</a:t>
            </a:r>
            <a:endParaRPr lang="en-US" sz="1200" dirty="0"/>
          </a:p>
        </p:txBody>
      </p:sp>
      <p:sp>
        <p:nvSpPr>
          <p:cNvPr id="35" name="Shape 33"/>
          <p:cNvSpPr/>
          <p:nvPr/>
        </p:nvSpPr>
        <p:spPr>
          <a:xfrm>
            <a:off x="8587588" y="5662749"/>
            <a:ext cx="2964028" cy="0"/>
          </a:xfrm>
          <a:prstGeom prst="line">
            <a:avLst/>
          </a:prstGeom>
          <a:noFill/>
          <a:ln w="9525">
            <a:solidFill>
              <a:srgbClr val="DCD8D0"/>
            </a:solidFill>
            <a:prstDash val="solid"/>
          </a:ln>
        </p:spPr>
        <p:txBody>
          <a:bodyPr/>
          <a:lstStyle/>
          <a:p>
            <a:endParaRPr lang="en-PK"/>
          </a:p>
        </p:txBody>
      </p:sp>
      <p:sp>
        <p:nvSpPr>
          <p:cNvPr id="36" name="Text 34"/>
          <p:cNvSpPr/>
          <p:nvPr/>
        </p:nvSpPr>
        <p:spPr>
          <a:xfrm>
            <a:off x="8587588" y="5662749"/>
            <a:ext cx="2964028" cy="646611"/>
          </a:xfrm>
          <a:prstGeom prst="rect">
            <a:avLst/>
          </a:prstGeom>
          <a:noFill/>
          <a:ln/>
        </p:spPr>
        <p:txBody>
          <a:bodyPr wrap="square" lIns="0" tIns="0" rIns="0" bIns="0" rtlCol="0" anchor="ctr"/>
          <a:lstStyle/>
          <a:p>
            <a:pPr marL="0" indent="0">
              <a:buNone/>
            </a:pPr>
            <a:r>
              <a:rPr lang="en-US" sz="1200" dirty="0">
                <a:solidFill>
                  <a:srgbClr val="14161A"/>
                </a:solidFill>
                <a:latin typeface="IBM Plex Sans" pitchFamily="34" charset="0"/>
                <a:ea typeface="IBM Plex Sans" pitchFamily="34" charset="-122"/>
                <a:cs typeface="IBM Plex Sans" pitchFamily="34" charset="-120"/>
              </a:rPr>
              <a:t>Open-Source Intelligence (OSINT) &amp; Cybersecurity Analytics</a:t>
            </a:r>
            <a:endParaRPr lang="en-US" sz="1200" dirty="0"/>
          </a:p>
        </p:txBody>
      </p:sp>
      <p:sp>
        <p:nvSpPr>
          <p:cNvPr id="37" name="Text 35"/>
          <p:cNvSpPr/>
          <p:nvPr/>
        </p:nvSpPr>
        <p:spPr>
          <a:xfrm>
            <a:off x="640080" y="6473952"/>
            <a:ext cx="6400800" cy="164592"/>
          </a:xfrm>
          <a:prstGeom prst="rect">
            <a:avLst/>
          </a:prstGeom>
          <a:noFill/>
          <a:ln/>
        </p:spPr>
        <p:txBody>
          <a:bodyPr wrap="square" lIns="0" tIns="0" rIns="0" bIns="0" rtlCol="0" anchor="t"/>
          <a:lstStyle/>
          <a:p>
            <a:pPr marL="0" indent="0">
              <a:buNone/>
            </a:pPr>
            <a:r>
              <a:rPr lang="en-US" sz="700" kern="0" spc="150" dirty="0">
                <a:solidFill>
                  <a:srgbClr val="6F6A5F"/>
                </a:solidFill>
                <a:latin typeface="IBM Plex Mono" pitchFamily="34" charset="0"/>
                <a:ea typeface="IBM Plex Mono" pitchFamily="34" charset="-122"/>
                <a:cs typeface="IBM Plex Mono" pitchFamily="34" charset="-120"/>
              </a:rPr>
              <a:t>BOLTER TECHNOLOGIES PRIVATE LIMITED  ·  COMPANY PROFILE</a:t>
            </a:r>
            <a:endParaRPr lang="en-US" sz="700" dirty="0"/>
          </a:p>
        </p:txBody>
      </p:sp>
      <p:sp>
        <p:nvSpPr>
          <p:cNvPr id="38" name="Text 36"/>
          <p:cNvSpPr/>
          <p:nvPr/>
        </p:nvSpPr>
        <p:spPr>
          <a:xfrm>
            <a:off x="9722815" y="6473952"/>
            <a:ext cx="1828800" cy="164592"/>
          </a:xfrm>
          <a:prstGeom prst="rect">
            <a:avLst/>
          </a:prstGeom>
          <a:noFill/>
          <a:ln/>
        </p:spPr>
        <p:txBody>
          <a:bodyPr wrap="square" lIns="0" tIns="0" rIns="0" bIns="0" rtlCol="0" anchor="t"/>
          <a:lstStyle/>
          <a:p>
            <a:pPr marL="0" indent="0" algn="r">
              <a:buNone/>
            </a:pPr>
            <a:r>
              <a:rPr lang="en-US" sz="700" kern="0" spc="150" dirty="0">
                <a:solidFill>
                  <a:srgbClr val="6F6A5F"/>
                </a:solidFill>
                <a:latin typeface="IBM Plex Mono" pitchFamily="34" charset="0"/>
                <a:ea typeface="IBM Plex Mono" pitchFamily="34" charset="-122"/>
                <a:cs typeface="IBM Plex Mono" pitchFamily="34" charset="-120"/>
              </a:rPr>
              <a:t>12 / 23</a:t>
            </a:r>
            <a:endParaRPr lang="en-US" sz="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A0B0C"/>
        </a:solidFill>
        <a:effectLst/>
      </p:bgPr>
    </p:bg>
    <p:spTree>
      <p:nvGrpSpPr>
        <p:cNvPr id="1" name=""/>
        <p:cNvGrpSpPr/>
        <p:nvPr/>
      </p:nvGrpSpPr>
      <p:grpSpPr>
        <a:xfrm>
          <a:off x="0" y="0"/>
          <a:ext cx="0" cy="0"/>
          <a:chOff x="0" y="0"/>
          <a:chExt cx="0" cy="0"/>
        </a:xfrm>
      </p:grpSpPr>
      <p:sp>
        <p:nvSpPr>
          <p:cNvPr id="2" name="Shape 0"/>
          <p:cNvSpPr/>
          <p:nvPr/>
        </p:nvSpPr>
        <p:spPr>
          <a:xfrm>
            <a:off x="640080" y="571500"/>
            <a:ext cx="219456" cy="32004"/>
          </a:xfrm>
          <a:prstGeom prst="rect">
            <a:avLst/>
          </a:prstGeom>
          <a:solidFill>
            <a:srgbClr val="E8A33D"/>
          </a:solidFill>
          <a:ln/>
        </p:spPr>
        <p:txBody>
          <a:bodyPr/>
          <a:lstStyle/>
          <a:p>
            <a:endParaRPr lang="en-PK"/>
          </a:p>
        </p:txBody>
      </p:sp>
      <p:sp>
        <p:nvSpPr>
          <p:cNvPr id="3" name="Text 1"/>
          <p:cNvSpPr/>
          <p:nvPr/>
        </p:nvSpPr>
        <p:spPr>
          <a:xfrm>
            <a:off x="969264" y="502920"/>
            <a:ext cx="8229600" cy="182880"/>
          </a:xfrm>
          <a:prstGeom prst="rect">
            <a:avLst/>
          </a:prstGeom>
          <a:noFill/>
          <a:ln/>
        </p:spPr>
        <p:txBody>
          <a:bodyPr wrap="square" lIns="0" tIns="0" rIns="0" bIns="0" rtlCol="0" anchor="t"/>
          <a:lstStyle/>
          <a:p>
            <a:pPr marL="0" indent="0">
              <a:buNone/>
            </a:pPr>
            <a:r>
              <a:rPr lang="en-US" sz="900" b="1" kern="0" spc="200" dirty="0">
                <a:solidFill>
                  <a:srgbClr val="E8A33D"/>
                </a:solidFill>
                <a:latin typeface="IBM Plex Mono" pitchFamily="34" charset="0"/>
                <a:ea typeface="IBM Plex Mono" pitchFamily="34" charset="-122"/>
                <a:cs typeface="IBM Plex Mono" pitchFamily="34" charset="-120"/>
              </a:rPr>
              <a:t>05  SELECTED WORK  ·  01 / 06  ·  AI</a:t>
            </a:r>
            <a:endParaRPr lang="en-US" sz="900" dirty="0"/>
          </a:p>
        </p:txBody>
      </p:sp>
      <p:sp>
        <p:nvSpPr>
          <p:cNvPr id="4" name="Text 2"/>
          <p:cNvSpPr/>
          <p:nvPr/>
        </p:nvSpPr>
        <p:spPr>
          <a:xfrm>
            <a:off x="640080" y="777240"/>
            <a:ext cx="5120640" cy="548640"/>
          </a:xfrm>
          <a:prstGeom prst="rect">
            <a:avLst/>
          </a:prstGeom>
          <a:noFill/>
          <a:ln/>
        </p:spPr>
        <p:txBody>
          <a:bodyPr wrap="square" lIns="0" tIns="0" rIns="0" bIns="0" rtlCol="0" anchor="t"/>
          <a:lstStyle/>
          <a:p>
            <a:pPr marL="0" indent="0">
              <a:lnSpc>
                <a:spcPct val="95000"/>
              </a:lnSpc>
              <a:buNone/>
            </a:pPr>
            <a:r>
              <a:rPr lang="en-US" sz="3200" b="1" dirty="0">
                <a:solidFill>
                  <a:srgbClr val="FFFFFF"/>
                </a:solidFill>
                <a:latin typeface="Space Grotesk" pitchFamily="34" charset="0"/>
                <a:ea typeface="Space Grotesk" pitchFamily="34" charset="-122"/>
                <a:cs typeface="Space Grotesk" pitchFamily="34" charset="-120"/>
              </a:rPr>
              <a:t>Cortex Strike</a:t>
            </a:r>
            <a:endParaRPr lang="en-US" sz="3200" dirty="0"/>
          </a:p>
        </p:txBody>
      </p:sp>
      <p:sp>
        <p:nvSpPr>
          <p:cNvPr id="5" name="Text 3"/>
          <p:cNvSpPr/>
          <p:nvPr/>
        </p:nvSpPr>
        <p:spPr>
          <a:xfrm>
            <a:off x="640080" y="1371600"/>
            <a:ext cx="5120640" cy="320040"/>
          </a:xfrm>
          <a:prstGeom prst="rect">
            <a:avLst/>
          </a:prstGeom>
          <a:noFill/>
          <a:ln/>
        </p:spPr>
        <p:txBody>
          <a:bodyPr wrap="square" lIns="0" tIns="0" rIns="0" bIns="0" rtlCol="0" anchor="t"/>
          <a:lstStyle/>
          <a:p>
            <a:pPr marL="0" indent="0">
              <a:buNone/>
            </a:pPr>
            <a:r>
              <a:rPr lang="en-US" sz="1500" dirty="0">
                <a:solidFill>
                  <a:srgbClr val="B6B7B8"/>
                </a:solidFill>
                <a:latin typeface="IBM Plex Sans" pitchFamily="34" charset="0"/>
                <a:ea typeface="IBM Plex Sans" pitchFamily="34" charset="-122"/>
                <a:cs typeface="IBM Plex Sans" pitchFamily="34" charset="-120"/>
              </a:rPr>
              <a:t>Autonomous penetration testing agent</a:t>
            </a:r>
            <a:endParaRPr lang="en-US" sz="1500" dirty="0"/>
          </a:p>
        </p:txBody>
      </p:sp>
      <p:sp>
        <p:nvSpPr>
          <p:cNvPr id="6" name="Shape 4"/>
          <p:cNvSpPr/>
          <p:nvPr/>
        </p:nvSpPr>
        <p:spPr>
          <a:xfrm>
            <a:off x="640080" y="1874520"/>
            <a:ext cx="5120640" cy="0"/>
          </a:xfrm>
          <a:prstGeom prst="line">
            <a:avLst/>
          </a:prstGeom>
          <a:noFill/>
          <a:ln w="9525">
            <a:solidFill>
              <a:srgbClr val="2E3033"/>
            </a:solidFill>
            <a:prstDash val="solid"/>
          </a:ln>
        </p:spPr>
        <p:txBody>
          <a:bodyPr/>
          <a:lstStyle/>
          <a:p>
            <a:endParaRPr lang="en-PK"/>
          </a:p>
        </p:txBody>
      </p:sp>
      <p:sp>
        <p:nvSpPr>
          <p:cNvPr id="7" name="Text 5"/>
          <p:cNvSpPr/>
          <p:nvPr/>
        </p:nvSpPr>
        <p:spPr>
          <a:xfrm>
            <a:off x="640080" y="1984248"/>
            <a:ext cx="5120640" cy="182880"/>
          </a:xfrm>
          <a:prstGeom prst="rect">
            <a:avLst/>
          </a:prstGeom>
          <a:noFill/>
          <a:ln/>
        </p:spPr>
        <p:txBody>
          <a:bodyPr wrap="square" lIns="0" tIns="0" rIns="0" bIns="0" rtlCol="0" anchor="t"/>
          <a:lstStyle/>
          <a:p>
            <a:pPr marL="0" indent="0">
              <a:buNone/>
            </a:pPr>
            <a:r>
              <a:rPr lang="en-US" sz="800" kern="0" spc="150" dirty="0">
                <a:solidFill>
                  <a:srgbClr val="8B8D8F"/>
                </a:solidFill>
                <a:latin typeface="IBM Plex Mono" pitchFamily="34" charset="0"/>
                <a:ea typeface="IBM Plex Mono" pitchFamily="34" charset="-122"/>
                <a:cs typeface="IBM Plex Mono" pitchFamily="34" charset="-120"/>
              </a:rPr>
              <a:t>CLIENT</a:t>
            </a:r>
            <a:endParaRPr lang="en-US" sz="800" dirty="0"/>
          </a:p>
        </p:txBody>
      </p:sp>
      <p:sp>
        <p:nvSpPr>
          <p:cNvPr id="8" name="Text 6"/>
          <p:cNvSpPr/>
          <p:nvPr/>
        </p:nvSpPr>
        <p:spPr>
          <a:xfrm>
            <a:off x="640080" y="2185416"/>
            <a:ext cx="5120640" cy="237744"/>
          </a:xfrm>
          <a:prstGeom prst="rect">
            <a:avLst/>
          </a:prstGeom>
          <a:noFill/>
          <a:ln/>
        </p:spPr>
        <p:txBody>
          <a:bodyPr wrap="square" lIns="0" tIns="0" rIns="0" bIns="0" rtlCol="0" anchor="t"/>
          <a:lstStyle/>
          <a:p>
            <a:pPr marL="0" indent="0">
              <a:buNone/>
            </a:pPr>
            <a:r>
              <a:rPr lang="en-US" sz="1150" dirty="0">
                <a:solidFill>
                  <a:srgbClr val="FFFFFF"/>
                </a:solidFill>
                <a:latin typeface="IBM Plex Sans" pitchFamily="34" charset="0"/>
                <a:ea typeface="IBM Plex Sans" pitchFamily="34" charset="-122"/>
                <a:cs typeface="IBM Plex Sans" pitchFamily="34" charset="-120"/>
              </a:rPr>
              <a:t>Government and critical infrastructure — name withheld</a:t>
            </a:r>
            <a:endParaRPr lang="en-US" sz="1150" dirty="0"/>
          </a:p>
        </p:txBody>
      </p:sp>
      <p:sp>
        <p:nvSpPr>
          <p:cNvPr id="9" name="Shape 7"/>
          <p:cNvSpPr/>
          <p:nvPr/>
        </p:nvSpPr>
        <p:spPr>
          <a:xfrm>
            <a:off x="640080" y="2514600"/>
            <a:ext cx="5120640" cy="0"/>
          </a:xfrm>
          <a:prstGeom prst="line">
            <a:avLst/>
          </a:prstGeom>
          <a:noFill/>
          <a:ln w="9525">
            <a:solidFill>
              <a:srgbClr val="2E3033"/>
            </a:solidFill>
            <a:prstDash val="solid"/>
          </a:ln>
        </p:spPr>
        <p:txBody>
          <a:bodyPr/>
          <a:lstStyle/>
          <a:p>
            <a:endParaRPr lang="en-PK"/>
          </a:p>
        </p:txBody>
      </p:sp>
      <p:sp>
        <p:nvSpPr>
          <p:cNvPr id="10" name="Text 8"/>
          <p:cNvSpPr/>
          <p:nvPr/>
        </p:nvSpPr>
        <p:spPr>
          <a:xfrm>
            <a:off x="640080" y="2624328"/>
            <a:ext cx="1706880" cy="182880"/>
          </a:xfrm>
          <a:prstGeom prst="rect">
            <a:avLst/>
          </a:prstGeom>
          <a:noFill/>
          <a:ln/>
        </p:spPr>
        <p:txBody>
          <a:bodyPr wrap="square" lIns="0" tIns="0" rIns="0" bIns="0" rtlCol="0" anchor="t"/>
          <a:lstStyle/>
          <a:p>
            <a:pPr marL="0" indent="0">
              <a:buNone/>
            </a:pPr>
            <a:r>
              <a:rPr lang="en-US" sz="800" kern="0" spc="150" dirty="0">
                <a:solidFill>
                  <a:srgbClr val="8B8D8F"/>
                </a:solidFill>
                <a:latin typeface="IBM Plex Mono" pitchFamily="34" charset="0"/>
                <a:ea typeface="IBM Plex Mono" pitchFamily="34" charset="-122"/>
                <a:cs typeface="IBM Plex Mono" pitchFamily="34" charset="-120"/>
              </a:rPr>
              <a:t>YEAR</a:t>
            </a:r>
            <a:endParaRPr lang="en-US" sz="800" dirty="0"/>
          </a:p>
        </p:txBody>
      </p:sp>
      <p:sp>
        <p:nvSpPr>
          <p:cNvPr id="11" name="Text 9"/>
          <p:cNvSpPr/>
          <p:nvPr/>
        </p:nvSpPr>
        <p:spPr>
          <a:xfrm>
            <a:off x="640080" y="2825496"/>
            <a:ext cx="1706880" cy="237744"/>
          </a:xfrm>
          <a:prstGeom prst="rect">
            <a:avLst/>
          </a:prstGeom>
          <a:noFill/>
          <a:ln/>
        </p:spPr>
        <p:txBody>
          <a:bodyPr wrap="square" lIns="0" tIns="0" rIns="0" bIns="0" rtlCol="0" anchor="t"/>
          <a:lstStyle/>
          <a:p>
            <a:pPr marL="0" indent="0">
              <a:buNone/>
            </a:pPr>
            <a:r>
              <a:rPr lang="en-US" sz="1150" dirty="0">
                <a:solidFill>
                  <a:srgbClr val="FFFFFF"/>
                </a:solidFill>
                <a:latin typeface="IBM Plex Sans" pitchFamily="34" charset="0"/>
                <a:ea typeface="IBM Plex Sans" pitchFamily="34" charset="-122"/>
                <a:cs typeface="IBM Plex Sans" pitchFamily="34" charset="-120"/>
              </a:rPr>
              <a:t>2026</a:t>
            </a:r>
            <a:endParaRPr lang="en-US" sz="1150" dirty="0"/>
          </a:p>
        </p:txBody>
      </p:sp>
      <p:sp>
        <p:nvSpPr>
          <p:cNvPr id="12" name="Text 10"/>
          <p:cNvSpPr/>
          <p:nvPr/>
        </p:nvSpPr>
        <p:spPr>
          <a:xfrm>
            <a:off x="2346960" y="2624328"/>
            <a:ext cx="1706880" cy="182880"/>
          </a:xfrm>
          <a:prstGeom prst="rect">
            <a:avLst/>
          </a:prstGeom>
          <a:noFill/>
          <a:ln/>
        </p:spPr>
        <p:txBody>
          <a:bodyPr wrap="square" lIns="0" tIns="0" rIns="0" bIns="0" rtlCol="0" anchor="t"/>
          <a:lstStyle/>
          <a:p>
            <a:pPr marL="0" indent="0">
              <a:buNone/>
            </a:pPr>
            <a:r>
              <a:rPr lang="en-US" sz="800" kern="0" spc="150" dirty="0">
                <a:solidFill>
                  <a:srgbClr val="8B8D8F"/>
                </a:solidFill>
                <a:latin typeface="IBM Plex Mono" pitchFamily="34" charset="0"/>
                <a:ea typeface="IBM Plex Mono" pitchFamily="34" charset="-122"/>
                <a:cs typeface="IBM Plex Mono" pitchFamily="34" charset="-120"/>
              </a:rPr>
              <a:t>DURATION</a:t>
            </a:r>
            <a:endParaRPr lang="en-US" sz="800" dirty="0"/>
          </a:p>
        </p:txBody>
      </p:sp>
      <p:sp>
        <p:nvSpPr>
          <p:cNvPr id="13" name="Text 11"/>
          <p:cNvSpPr/>
          <p:nvPr/>
        </p:nvSpPr>
        <p:spPr>
          <a:xfrm>
            <a:off x="2346960" y="2825496"/>
            <a:ext cx="1706880" cy="237744"/>
          </a:xfrm>
          <a:prstGeom prst="rect">
            <a:avLst/>
          </a:prstGeom>
          <a:noFill/>
          <a:ln/>
        </p:spPr>
        <p:txBody>
          <a:bodyPr wrap="square" lIns="0" tIns="0" rIns="0" bIns="0" rtlCol="0" anchor="t"/>
          <a:lstStyle/>
          <a:p>
            <a:pPr marL="0" indent="0">
              <a:buNone/>
            </a:pPr>
            <a:r>
              <a:rPr lang="en-US" sz="1150" dirty="0">
                <a:solidFill>
                  <a:srgbClr val="FFFFFF"/>
                </a:solidFill>
                <a:latin typeface="IBM Plex Sans" pitchFamily="34" charset="0"/>
                <a:ea typeface="IBM Plex Sans" pitchFamily="34" charset="-122"/>
                <a:cs typeface="IBM Plex Sans" pitchFamily="34" charset="-120"/>
              </a:rPr>
              <a:t>1 year</a:t>
            </a:r>
            <a:endParaRPr lang="en-US" sz="1150" dirty="0"/>
          </a:p>
        </p:txBody>
      </p:sp>
      <p:sp>
        <p:nvSpPr>
          <p:cNvPr id="14" name="Text 12"/>
          <p:cNvSpPr/>
          <p:nvPr/>
        </p:nvSpPr>
        <p:spPr>
          <a:xfrm>
            <a:off x="4053840" y="2624328"/>
            <a:ext cx="1706880" cy="182880"/>
          </a:xfrm>
          <a:prstGeom prst="rect">
            <a:avLst/>
          </a:prstGeom>
          <a:noFill/>
          <a:ln/>
        </p:spPr>
        <p:txBody>
          <a:bodyPr wrap="square" lIns="0" tIns="0" rIns="0" bIns="0" rtlCol="0" anchor="t"/>
          <a:lstStyle/>
          <a:p>
            <a:pPr marL="0" indent="0">
              <a:buNone/>
            </a:pPr>
            <a:r>
              <a:rPr lang="en-US" sz="800" kern="0" spc="150" dirty="0">
                <a:solidFill>
                  <a:srgbClr val="8B8D8F"/>
                </a:solidFill>
                <a:latin typeface="IBM Plex Mono" pitchFamily="34" charset="0"/>
                <a:ea typeface="IBM Plex Mono" pitchFamily="34" charset="-122"/>
                <a:cs typeface="IBM Plex Mono" pitchFamily="34" charset="-120"/>
              </a:rPr>
              <a:t>STATUS</a:t>
            </a:r>
            <a:endParaRPr lang="en-US" sz="800" dirty="0"/>
          </a:p>
        </p:txBody>
      </p:sp>
      <p:sp>
        <p:nvSpPr>
          <p:cNvPr id="15" name="Text 13"/>
          <p:cNvSpPr/>
          <p:nvPr/>
        </p:nvSpPr>
        <p:spPr>
          <a:xfrm>
            <a:off x="4053840" y="2825496"/>
            <a:ext cx="1706880" cy="237744"/>
          </a:xfrm>
          <a:prstGeom prst="rect">
            <a:avLst/>
          </a:prstGeom>
          <a:noFill/>
          <a:ln/>
        </p:spPr>
        <p:txBody>
          <a:bodyPr wrap="square" lIns="0" tIns="0" rIns="0" bIns="0" rtlCol="0" anchor="t"/>
          <a:lstStyle/>
          <a:p>
            <a:pPr marL="0" indent="0">
              <a:buNone/>
            </a:pPr>
            <a:r>
              <a:rPr lang="en-US" sz="1150" dirty="0">
                <a:solidFill>
                  <a:srgbClr val="FFFFFF"/>
                </a:solidFill>
                <a:latin typeface="IBM Plex Sans" pitchFamily="34" charset="0"/>
                <a:ea typeface="IBM Plex Sans" pitchFamily="34" charset="-122"/>
                <a:cs typeface="IBM Plex Sans" pitchFamily="34" charset="-120"/>
              </a:rPr>
              <a:t>Delivered</a:t>
            </a:r>
            <a:endParaRPr lang="en-US" sz="1150" dirty="0"/>
          </a:p>
        </p:txBody>
      </p:sp>
      <p:sp>
        <p:nvSpPr>
          <p:cNvPr id="16" name="Shape 14"/>
          <p:cNvSpPr/>
          <p:nvPr/>
        </p:nvSpPr>
        <p:spPr>
          <a:xfrm>
            <a:off x="640080" y="3154680"/>
            <a:ext cx="5120640" cy="0"/>
          </a:xfrm>
          <a:prstGeom prst="line">
            <a:avLst/>
          </a:prstGeom>
          <a:noFill/>
          <a:ln w="9525">
            <a:solidFill>
              <a:srgbClr val="2E3033"/>
            </a:solidFill>
            <a:prstDash val="solid"/>
          </a:ln>
        </p:spPr>
        <p:txBody>
          <a:bodyPr/>
          <a:lstStyle/>
          <a:p>
            <a:endParaRPr lang="en-PK"/>
          </a:p>
        </p:txBody>
      </p:sp>
      <p:sp>
        <p:nvSpPr>
          <p:cNvPr id="17" name="Text 15"/>
          <p:cNvSpPr/>
          <p:nvPr/>
        </p:nvSpPr>
        <p:spPr>
          <a:xfrm>
            <a:off x="640080" y="3337560"/>
            <a:ext cx="5120640" cy="1143000"/>
          </a:xfrm>
          <a:prstGeom prst="rect">
            <a:avLst/>
          </a:prstGeom>
          <a:noFill/>
          <a:ln/>
        </p:spPr>
        <p:txBody>
          <a:bodyPr wrap="square" lIns="0" tIns="0" rIns="0" bIns="0" rtlCol="0" anchor="t"/>
          <a:lstStyle/>
          <a:p>
            <a:pPr marL="0" indent="0">
              <a:lnSpc>
                <a:spcPct val="125000"/>
              </a:lnSpc>
              <a:buNone/>
            </a:pPr>
            <a:r>
              <a:rPr lang="en-US" sz="1250" dirty="0">
                <a:solidFill>
                  <a:srgbClr val="FFFFFF"/>
                </a:solidFill>
                <a:latin typeface="IBM Plex Sans" pitchFamily="34" charset="0"/>
                <a:ea typeface="IBM Plex Sans" pitchFamily="34" charset="-122"/>
                <a:cs typeface="IBM Plex Sans" pitchFamily="34" charset="-120"/>
              </a:rPr>
              <a:t>An AI agent that plans and runs real, multi-tool penetration tests through one conversation, keeping a full audit trail of every scan, finding and report.</a:t>
            </a:r>
            <a:endParaRPr lang="en-US" sz="1250" dirty="0"/>
          </a:p>
        </p:txBody>
      </p:sp>
      <p:sp>
        <p:nvSpPr>
          <p:cNvPr id="18" name="Shape 16"/>
          <p:cNvSpPr/>
          <p:nvPr/>
        </p:nvSpPr>
        <p:spPr>
          <a:xfrm>
            <a:off x="640080" y="4572000"/>
            <a:ext cx="2377440" cy="0"/>
          </a:xfrm>
          <a:prstGeom prst="line">
            <a:avLst/>
          </a:prstGeom>
          <a:noFill/>
          <a:ln w="9525">
            <a:solidFill>
              <a:srgbClr val="2E3033"/>
            </a:solidFill>
            <a:prstDash val="solid"/>
          </a:ln>
        </p:spPr>
        <p:txBody>
          <a:bodyPr/>
          <a:lstStyle/>
          <a:p>
            <a:endParaRPr lang="en-PK"/>
          </a:p>
        </p:txBody>
      </p:sp>
      <p:sp>
        <p:nvSpPr>
          <p:cNvPr id="19" name="Text 17"/>
          <p:cNvSpPr/>
          <p:nvPr/>
        </p:nvSpPr>
        <p:spPr>
          <a:xfrm>
            <a:off x="640080" y="4663440"/>
            <a:ext cx="2377440" cy="384048"/>
          </a:xfrm>
          <a:prstGeom prst="rect">
            <a:avLst/>
          </a:prstGeom>
          <a:noFill/>
          <a:ln/>
        </p:spPr>
        <p:txBody>
          <a:bodyPr wrap="square" lIns="0" tIns="0" rIns="0" bIns="0" rtlCol="0" anchor="t"/>
          <a:lstStyle/>
          <a:p>
            <a:pPr marL="0" indent="0">
              <a:buNone/>
            </a:pPr>
            <a:r>
              <a:rPr lang="en-US" sz="2200" b="1" dirty="0">
                <a:solidFill>
                  <a:srgbClr val="E8A33D"/>
                </a:solidFill>
                <a:latin typeface="Space Grotesk" pitchFamily="34" charset="0"/>
                <a:ea typeface="Space Grotesk" pitchFamily="34" charset="-122"/>
                <a:cs typeface="Space Grotesk" pitchFamily="34" charset="-120"/>
              </a:rPr>
              <a:t>90+</a:t>
            </a:r>
            <a:endParaRPr lang="en-US" sz="2200" dirty="0"/>
          </a:p>
        </p:txBody>
      </p:sp>
      <p:sp>
        <p:nvSpPr>
          <p:cNvPr id="20" name="Text 18"/>
          <p:cNvSpPr/>
          <p:nvPr/>
        </p:nvSpPr>
        <p:spPr>
          <a:xfrm>
            <a:off x="640080" y="5047488"/>
            <a:ext cx="2331720" cy="384048"/>
          </a:xfrm>
          <a:prstGeom prst="rect">
            <a:avLst/>
          </a:prstGeom>
          <a:noFill/>
          <a:ln/>
        </p:spPr>
        <p:txBody>
          <a:bodyPr wrap="square" lIns="0" tIns="0" rIns="0" bIns="0" rtlCol="0" anchor="t"/>
          <a:lstStyle/>
          <a:p>
            <a:pPr marL="0" indent="0">
              <a:lnSpc>
                <a:spcPct val="110000"/>
              </a:lnSpc>
              <a:buNone/>
            </a:pPr>
            <a:r>
              <a:rPr lang="en-US" sz="900" dirty="0">
                <a:solidFill>
                  <a:srgbClr val="B6B7B8"/>
                </a:solidFill>
                <a:latin typeface="IBM Plex Sans" pitchFamily="34" charset="0"/>
                <a:ea typeface="IBM Plex Sans" pitchFamily="34" charset="-122"/>
                <a:cs typeface="IBM Plex Sans" pitchFamily="34" charset="-120"/>
              </a:rPr>
              <a:t>security tools an operator can run through one AI-guided conversation</a:t>
            </a:r>
            <a:endParaRPr lang="en-US" sz="900" dirty="0"/>
          </a:p>
        </p:txBody>
      </p:sp>
      <p:sp>
        <p:nvSpPr>
          <p:cNvPr id="21" name="Shape 19"/>
          <p:cNvSpPr/>
          <p:nvPr/>
        </p:nvSpPr>
        <p:spPr>
          <a:xfrm>
            <a:off x="3200400" y="4572000"/>
            <a:ext cx="2377440" cy="0"/>
          </a:xfrm>
          <a:prstGeom prst="line">
            <a:avLst/>
          </a:prstGeom>
          <a:noFill/>
          <a:ln w="9525">
            <a:solidFill>
              <a:srgbClr val="2E3033"/>
            </a:solidFill>
            <a:prstDash val="solid"/>
          </a:ln>
        </p:spPr>
        <p:txBody>
          <a:bodyPr/>
          <a:lstStyle/>
          <a:p>
            <a:endParaRPr lang="en-PK"/>
          </a:p>
        </p:txBody>
      </p:sp>
      <p:sp>
        <p:nvSpPr>
          <p:cNvPr id="22" name="Text 20"/>
          <p:cNvSpPr/>
          <p:nvPr/>
        </p:nvSpPr>
        <p:spPr>
          <a:xfrm>
            <a:off x="3200400" y="4663440"/>
            <a:ext cx="2377440" cy="384048"/>
          </a:xfrm>
          <a:prstGeom prst="rect">
            <a:avLst/>
          </a:prstGeom>
          <a:noFill/>
          <a:ln/>
        </p:spPr>
        <p:txBody>
          <a:bodyPr wrap="square" lIns="0" tIns="0" rIns="0" bIns="0" rtlCol="0" anchor="t"/>
          <a:lstStyle/>
          <a:p>
            <a:pPr marL="0" indent="0">
              <a:buNone/>
            </a:pPr>
            <a:r>
              <a:rPr lang="en-US" sz="2200" b="1" dirty="0">
                <a:solidFill>
                  <a:srgbClr val="E8A33D"/>
                </a:solidFill>
                <a:latin typeface="Space Grotesk" pitchFamily="34" charset="0"/>
                <a:ea typeface="Space Grotesk" pitchFamily="34" charset="-122"/>
                <a:cs typeface="Space Grotesk" pitchFamily="34" charset="-120"/>
              </a:rPr>
              <a:t>24+ hrs</a:t>
            </a:r>
            <a:endParaRPr lang="en-US" sz="2200" dirty="0"/>
          </a:p>
        </p:txBody>
      </p:sp>
      <p:sp>
        <p:nvSpPr>
          <p:cNvPr id="23" name="Text 21"/>
          <p:cNvSpPr/>
          <p:nvPr/>
        </p:nvSpPr>
        <p:spPr>
          <a:xfrm>
            <a:off x="3200400" y="5047488"/>
            <a:ext cx="2331720" cy="384048"/>
          </a:xfrm>
          <a:prstGeom prst="rect">
            <a:avLst/>
          </a:prstGeom>
          <a:noFill/>
          <a:ln/>
        </p:spPr>
        <p:txBody>
          <a:bodyPr wrap="square" lIns="0" tIns="0" rIns="0" bIns="0" rtlCol="0" anchor="t"/>
          <a:lstStyle/>
          <a:p>
            <a:pPr marL="0" indent="0">
              <a:lnSpc>
                <a:spcPct val="110000"/>
              </a:lnSpc>
              <a:buNone/>
            </a:pPr>
            <a:r>
              <a:rPr lang="en-US" sz="900" dirty="0">
                <a:solidFill>
                  <a:srgbClr val="B6B7B8"/>
                </a:solidFill>
                <a:latin typeface="IBM Plex Sans" pitchFamily="34" charset="0"/>
                <a:ea typeface="IBM Plex Sans" pitchFamily="34" charset="-122"/>
                <a:cs typeface="IBM Plex Sans" pitchFamily="34" charset="-120"/>
              </a:rPr>
              <a:t>longest autonomous assessment run without operator intervention</a:t>
            </a:r>
            <a:endParaRPr lang="en-US" sz="900" dirty="0"/>
          </a:p>
        </p:txBody>
      </p:sp>
      <p:sp>
        <p:nvSpPr>
          <p:cNvPr id="24" name="Shape 22"/>
          <p:cNvSpPr/>
          <p:nvPr/>
        </p:nvSpPr>
        <p:spPr>
          <a:xfrm>
            <a:off x="640080" y="5440680"/>
            <a:ext cx="2377440" cy="0"/>
          </a:xfrm>
          <a:prstGeom prst="line">
            <a:avLst/>
          </a:prstGeom>
          <a:noFill/>
          <a:ln w="9525">
            <a:solidFill>
              <a:srgbClr val="2E3033"/>
            </a:solidFill>
            <a:prstDash val="solid"/>
          </a:ln>
        </p:spPr>
        <p:txBody>
          <a:bodyPr/>
          <a:lstStyle/>
          <a:p>
            <a:endParaRPr lang="en-PK"/>
          </a:p>
        </p:txBody>
      </p:sp>
      <p:sp>
        <p:nvSpPr>
          <p:cNvPr id="25" name="Text 23"/>
          <p:cNvSpPr/>
          <p:nvPr/>
        </p:nvSpPr>
        <p:spPr>
          <a:xfrm>
            <a:off x="640080" y="5532120"/>
            <a:ext cx="2377440" cy="384048"/>
          </a:xfrm>
          <a:prstGeom prst="rect">
            <a:avLst/>
          </a:prstGeom>
          <a:noFill/>
          <a:ln/>
        </p:spPr>
        <p:txBody>
          <a:bodyPr wrap="square" lIns="0" tIns="0" rIns="0" bIns="0" rtlCol="0" anchor="t"/>
          <a:lstStyle/>
          <a:p>
            <a:pPr marL="0" indent="0">
              <a:buNone/>
            </a:pPr>
            <a:r>
              <a:rPr lang="en-US" sz="2200" b="1" dirty="0">
                <a:solidFill>
                  <a:srgbClr val="E8A33D"/>
                </a:solidFill>
                <a:latin typeface="Space Grotesk" pitchFamily="34" charset="0"/>
                <a:ea typeface="Space Grotesk" pitchFamily="34" charset="-122"/>
                <a:cs typeface="Space Grotesk" pitchFamily="34" charset="-120"/>
              </a:rPr>
              <a:t>~20%</a:t>
            </a:r>
            <a:endParaRPr lang="en-US" sz="2200" dirty="0"/>
          </a:p>
        </p:txBody>
      </p:sp>
      <p:sp>
        <p:nvSpPr>
          <p:cNvPr id="26" name="Text 24"/>
          <p:cNvSpPr/>
          <p:nvPr/>
        </p:nvSpPr>
        <p:spPr>
          <a:xfrm>
            <a:off x="640080" y="5916168"/>
            <a:ext cx="2331720" cy="384048"/>
          </a:xfrm>
          <a:prstGeom prst="rect">
            <a:avLst/>
          </a:prstGeom>
          <a:noFill/>
          <a:ln/>
        </p:spPr>
        <p:txBody>
          <a:bodyPr wrap="square" lIns="0" tIns="0" rIns="0" bIns="0" rtlCol="0" anchor="t"/>
          <a:lstStyle/>
          <a:p>
            <a:pPr marL="0" indent="0">
              <a:lnSpc>
                <a:spcPct val="110000"/>
              </a:lnSpc>
              <a:buNone/>
            </a:pPr>
            <a:r>
              <a:rPr lang="en-US" sz="900" dirty="0">
                <a:solidFill>
                  <a:srgbClr val="B6B7B8"/>
                </a:solidFill>
                <a:latin typeface="IBM Plex Sans" pitchFamily="34" charset="0"/>
                <a:ea typeface="IBM Plex Sans" pitchFamily="34" charset="-122"/>
                <a:cs typeface="IBM Plex Sans" pitchFamily="34" charset="-120"/>
              </a:rPr>
              <a:t>better results than the same tools driven by hand</a:t>
            </a:r>
            <a:endParaRPr lang="en-US" sz="900" dirty="0"/>
          </a:p>
        </p:txBody>
      </p:sp>
      <p:pic>
        <p:nvPicPr>
          <p:cNvPr id="27" name="Image 0" descr="X:\code\personal\boltertech.com\public\work\cortex-strike\localhost_10102_login.png"/>
          <p:cNvPicPr>
            <a:picLocks noChangeAspect="1"/>
          </p:cNvPicPr>
          <p:nvPr/>
        </p:nvPicPr>
        <p:blipFill>
          <a:blip r:embed="rId3"/>
          <a:stretch>
            <a:fillRect/>
          </a:stretch>
        </p:blipFill>
        <p:spPr>
          <a:xfrm>
            <a:off x="6263640" y="502920"/>
            <a:ext cx="5287975" cy="2974486"/>
          </a:xfrm>
          <a:prstGeom prst="rect">
            <a:avLst/>
          </a:prstGeom>
        </p:spPr>
      </p:pic>
      <p:sp>
        <p:nvSpPr>
          <p:cNvPr id="28" name="Shape 25"/>
          <p:cNvSpPr/>
          <p:nvPr/>
        </p:nvSpPr>
        <p:spPr>
          <a:xfrm>
            <a:off x="6263640" y="502920"/>
            <a:ext cx="5287975" cy="2974486"/>
          </a:xfrm>
          <a:prstGeom prst="rect">
            <a:avLst/>
          </a:prstGeom>
          <a:ln w="9525">
            <a:solidFill>
              <a:srgbClr val="2E3033"/>
            </a:solidFill>
            <a:prstDash val="solid"/>
          </a:ln>
        </p:spPr>
        <p:txBody>
          <a:bodyPr/>
          <a:lstStyle/>
          <a:p>
            <a:endParaRPr lang="en-PK"/>
          </a:p>
        </p:txBody>
      </p:sp>
      <p:sp>
        <p:nvSpPr>
          <p:cNvPr id="29" name="Text 26"/>
          <p:cNvSpPr/>
          <p:nvPr/>
        </p:nvSpPr>
        <p:spPr>
          <a:xfrm>
            <a:off x="6263640" y="3843166"/>
            <a:ext cx="3367735" cy="365760"/>
          </a:xfrm>
          <a:prstGeom prst="rect">
            <a:avLst/>
          </a:prstGeom>
          <a:noFill/>
          <a:ln/>
        </p:spPr>
        <p:txBody>
          <a:bodyPr wrap="square" lIns="0" tIns="0" rIns="0" bIns="0" rtlCol="0" anchor="t"/>
          <a:lstStyle/>
          <a:p>
            <a:pPr marL="0" indent="0">
              <a:buNone/>
            </a:pPr>
            <a:r>
              <a:rPr lang="en-US" sz="750" kern="0" spc="100" dirty="0">
                <a:solidFill>
                  <a:srgbClr val="8B8D8F"/>
                </a:solidFill>
                <a:latin typeface="IBM Plex Mono" pitchFamily="34" charset="0"/>
                <a:ea typeface="IBM Plex Mono" pitchFamily="34" charset="-122"/>
                <a:cs typeface="IBM Plex Mono" pitchFamily="34" charset="-120"/>
              </a:rPr>
              <a:t>OPERATOR MANUAL EFFORT PER FULL ASSESSMENT (HOURS)</a:t>
            </a:r>
            <a:endParaRPr lang="en-US" sz="750" dirty="0"/>
          </a:p>
        </p:txBody>
      </p:sp>
      <p:sp>
        <p:nvSpPr>
          <p:cNvPr id="30" name="Text 27"/>
          <p:cNvSpPr/>
          <p:nvPr/>
        </p:nvSpPr>
        <p:spPr>
          <a:xfrm>
            <a:off x="9768535" y="3824878"/>
            <a:ext cx="1005840" cy="219456"/>
          </a:xfrm>
          <a:prstGeom prst="rect">
            <a:avLst/>
          </a:prstGeom>
          <a:noFill/>
          <a:ln/>
        </p:spPr>
        <p:txBody>
          <a:bodyPr wrap="square" lIns="0" tIns="0" rIns="0" bIns="0" rtlCol="0" anchor="ctr"/>
          <a:lstStyle/>
          <a:p>
            <a:pPr marL="0" indent="0" algn="r">
              <a:buNone/>
            </a:pPr>
            <a:r>
              <a:rPr lang="en-US" sz="900" dirty="0">
                <a:solidFill>
                  <a:srgbClr val="B6B7B8"/>
                </a:solidFill>
                <a:latin typeface="IBM Plex Mono" pitchFamily="34" charset="0"/>
                <a:ea typeface="IBM Plex Mono" pitchFamily="34" charset="-122"/>
                <a:cs typeface="IBM Plex Mono" pitchFamily="34" charset="-120"/>
              </a:rPr>
              <a:t>96 → 12</a:t>
            </a:r>
            <a:endParaRPr lang="en-US" sz="900" dirty="0"/>
          </a:p>
        </p:txBody>
      </p:sp>
      <p:sp>
        <p:nvSpPr>
          <p:cNvPr id="31" name="Text 28"/>
          <p:cNvSpPr/>
          <p:nvPr/>
        </p:nvSpPr>
        <p:spPr>
          <a:xfrm>
            <a:off x="10865815" y="3824878"/>
            <a:ext cx="685800" cy="219456"/>
          </a:xfrm>
          <a:prstGeom prst="roundRect">
            <a:avLst>
              <a:gd name="adj" fmla="val 16667"/>
            </a:avLst>
          </a:prstGeom>
          <a:solidFill>
            <a:srgbClr val="2A1F0D"/>
          </a:solidFill>
          <a:ln w="6350">
            <a:solidFill>
              <a:srgbClr val="E8A33D"/>
            </a:solidFill>
          </a:ln>
        </p:spPr>
        <p:txBody>
          <a:bodyPr wrap="square" lIns="0" tIns="0" rIns="0" bIns="0" rtlCol="0" anchor="ctr"/>
          <a:lstStyle/>
          <a:p>
            <a:pPr marL="0" indent="0" algn="ctr">
              <a:buNone/>
            </a:pPr>
            <a:r>
              <a:rPr lang="en-US" sz="900" b="1" dirty="0">
                <a:solidFill>
                  <a:srgbClr val="E8A33D"/>
                </a:solidFill>
                <a:latin typeface="IBM Plex Mono" pitchFamily="34" charset="0"/>
                <a:ea typeface="IBM Plex Mono" pitchFamily="34" charset="-122"/>
                <a:cs typeface="IBM Plex Mono" pitchFamily="34" charset="-120"/>
              </a:rPr>
              <a:t>-87%</a:t>
            </a:r>
            <a:endParaRPr lang="en-US" sz="900" dirty="0"/>
          </a:p>
        </p:txBody>
      </p:sp>
      <p:graphicFrame>
        <p:nvGraphicFramePr>
          <p:cNvPr id="32" name="Chart 0"/>
          <p:cNvGraphicFramePr/>
          <p:nvPr/>
        </p:nvGraphicFramePr>
        <p:xfrm>
          <a:off x="6190488" y="4227214"/>
          <a:ext cx="5434279" cy="2082146"/>
        </p:xfrm>
        <a:graphic>
          <a:graphicData uri="http://schemas.openxmlformats.org/drawingml/2006/chart">
            <c:chart xmlns:c="http://schemas.openxmlformats.org/drawingml/2006/chart" xmlns:r="http://schemas.openxmlformats.org/officeDocument/2006/relationships" r:id="rId4"/>
          </a:graphicData>
        </a:graphic>
      </p:graphicFrame>
      <p:sp>
        <p:nvSpPr>
          <p:cNvPr id="33" name="Text 29"/>
          <p:cNvSpPr/>
          <p:nvPr/>
        </p:nvSpPr>
        <p:spPr>
          <a:xfrm>
            <a:off x="640080" y="6473952"/>
            <a:ext cx="6400800" cy="164592"/>
          </a:xfrm>
          <a:prstGeom prst="rect">
            <a:avLst/>
          </a:prstGeom>
          <a:noFill/>
          <a:ln/>
        </p:spPr>
        <p:txBody>
          <a:bodyPr wrap="square" lIns="0" tIns="0" rIns="0" bIns="0" rtlCol="0" anchor="t"/>
          <a:lstStyle/>
          <a:p>
            <a:pPr marL="0" indent="0">
              <a:buNone/>
            </a:pPr>
            <a:r>
              <a:rPr lang="en-US" sz="700" kern="0" spc="150" dirty="0">
                <a:solidFill>
                  <a:srgbClr val="8B8D8F"/>
                </a:solidFill>
                <a:latin typeface="IBM Plex Mono" pitchFamily="34" charset="0"/>
                <a:ea typeface="IBM Plex Mono" pitchFamily="34" charset="-122"/>
                <a:cs typeface="IBM Plex Mono" pitchFamily="34" charset="-120"/>
              </a:rPr>
              <a:t>BOLTER TECHNOLOGIES PRIVATE LIMITED  ·  COMPANY PROFILE</a:t>
            </a:r>
            <a:endParaRPr lang="en-US" sz="700" dirty="0"/>
          </a:p>
        </p:txBody>
      </p:sp>
      <p:sp>
        <p:nvSpPr>
          <p:cNvPr id="34" name="Text 30"/>
          <p:cNvSpPr/>
          <p:nvPr/>
        </p:nvSpPr>
        <p:spPr>
          <a:xfrm>
            <a:off x="9722815" y="6473952"/>
            <a:ext cx="1828800" cy="164592"/>
          </a:xfrm>
          <a:prstGeom prst="rect">
            <a:avLst/>
          </a:prstGeom>
          <a:noFill/>
          <a:ln/>
        </p:spPr>
        <p:txBody>
          <a:bodyPr wrap="square" lIns="0" tIns="0" rIns="0" bIns="0" rtlCol="0" anchor="t"/>
          <a:lstStyle/>
          <a:p>
            <a:pPr marL="0" indent="0" algn="r">
              <a:buNone/>
            </a:pPr>
            <a:r>
              <a:rPr lang="en-US" sz="700" kern="0" spc="150" dirty="0">
                <a:solidFill>
                  <a:srgbClr val="8B8D8F"/>
                </a:solidFill>
                <a:latin typeface="IBM Plex Mono" pitchFamily="34" charset="0"/>
                <a:ea typeface="IBM Plex Mono" pitchFamily="34" charset="-122"/>
                <a:cs typeface="IBM Plex Mono" pitchFamily="34" charset="-120"/>
              </a:rPr>
              <a:t>13 / 23</a:t>
            </a:r>
            <a:endParaRPr lang="en-US" sz="7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3F1ED"/>
        </a:solidFill>
        <a:effectLst/>
      </p:bgPr>
    </p:bg>
    <p:spTree>
      <p:nvGrpSpPr>
        <p:cNvPr id="1" name=""/>
        <p:cNvGrpSpPr/>
        <p:nvPr/>
      </p:nvGrpSpPr>
      <p:grpSpPr>
        <a:xfrm>
          <a:off x="0" y="0"/>
          <a:ext cx="0" cy="0"/>
          <a:chOff x="0" y="0"/>
          <a:chExt cx="0" cy="0"/>
        </a:xfrm>
      </p:grpSpPr>
      <p:sp>
        <p:nvSpPr>
          <p:cNvPr id="2" name="Shape 0"/>
          <p:cNvSpPr/>
          <p:nvPr/>
        </p:nvSpPr>
        <p:spPr>
          <a:xfrm>
            <a:off x="640080" y="571500"/>
            <a:ext cx="219456" cy="32004"/>
          </a:xfrm>
          <a:prstGeom prst="rect">
            <a:avLst/>
          </a:prstGeom>
          <a:solidFill>
            <a:srgbClr val="8F5D0A"/>
          </a:solidFill>
          <a:ln/>
        </p:spPr>
        <p:txBody>
          <a:bodyPr/>
          <a:lstStyle/>
          <a:p>
            <a:endParaRPr lang="en-PK"/>
          </a:p>
        </p:txBody>
      </p:sp>
      <p:sp>
        <p:nvSpPr>
          <p:cNvPr id="3" name="Text 1"/>
          <p:cNvSpPr/>
          <p:nvPr/>
        </p:nvSpPr>
        <p:spPr>
          <a:xfrm>
            <a:off x="969264" y="502920"/>
            <a:ext cx="8229600" cy="182880"/>
          </a:xfrm>
          <a:prstGeom prst="rect">
            <a:avLst/>
          </a:prstGeom>
          <a:noFill/>
          <a:ln/>
        </p:spPr>
        <p:txBody>
          <a:bodyPr wrap="square" lIns="0" tIns="0" rIns="0" bIns="0" rtlCol="0" anchor="t"/>
          <a:lstStyle/>
          <a:p>
            <a:pPr marL="0" indent="0">
              <a:buNone/>
            </a:pPr>
            <a:r>
              <a:rPr lang="en-US" sz="900" b="1" kern="0" spc="200" dirty="0">
                <a:solidFill>
                  <a:srgbClr val="8F5D0A"/>
                </a:solidFill>
                <a:latin typeface="IBM Plex Mono" pitchFamily="34" charset="0"/>
                <a:ea typeface="IBM Plex Mono" pitchFamily="34" charset="-122"/>
                <a:cs typeface="IBM Plex Mono" pitchFamily="34" charset="-120"/>
              </a:rPr>
              <a:t>05  SELECTED WORK  ·  02 / 06  ·  CYBER SECURITY</a:t>
            </a:r>
            <a:endParaRPr lang="en-US" sz="900" dirty="0"/>
          </a:p>
        </p:txBody>
      </p:sp>
      <p:sp>
        <p:nvSpPr>
          <p:cNvPr id="4" name="Text 2"/>
          <p:cNvSpPr/>
          <p:nvPr/>
        </p:nvSpPr>
        <p:spPr>
          <a:xfrm>
            <a:off x="640080" y="777240"/>
            <a:ext cx="5120640" cy="548640"/>
          </a:xfrm>
          <a:prstGeom prst="rect">
            <a:avLst/>
          </a:prstGeom>
          <a:noFill/>
          <a:ln/>
        </p:spPr>
        <p:txBody>
          <a:bodyPr wrap="square" lIns="0" tIns="0" rIns="0" bIns="0" rtlCol="0" anchor="t"/>
          <a:lstStyle/>
          <a:p>
            <a:pPr marL="0" indent="0">
              <a:lnSpc>
                <a:spcPct val="95000"/>
              </a:lnSpc>
              <a:buNone/>
            </a:pPr>
            <a:r>
              <a:rPr lang="en-US" sz="3200" b="1" dirty="0">
                <a:solidFill>
                  <a:srgbClr val="14161A"/>
                </a:solidFill>
                <a:latin typeface="Space Grotesk" pitchFamily="34" charset="0"/>
                <a:ea typeface="Space Grotesk" pitchFamily="34" charset="-122"/>
                <a:cs typeface="Space Grotesk" pitchFamily="34" charset="-120"/>
              </a:rPr>
              <a:t>Bolter SIEM</a:t>
            </a:r>
            <a:endParaRPr lang="en-US" sz="3200" dirty="0"/>
          </a:p>
        </p:txBody>
      </p:sp>
      <p:sp>
        <p:nvSpPr>
          <p:cNvPr id="5" name="Text 3"/>
          <p:cNvSpPr/>
          <p:nvPr/>
        </p:nvSpPr>
        <p:spPr>
          <a:xfrm>
            <a:off x="640080" y="1371600"/>
            <a:ext cx="5120640" cy="320040"/>
          </a:xfrm>
          <a:prstGeom prst="rect">
            <a:avLst/>
          </a:prstGeom>
          <a:noFill/>
          <a:ln/>
        </p:spPr>
        <p:txBody>
          <a:bodyPr wrap="square" lIns="0" tIns="0" rIns="0" bIns="0" rtlCol="0" anchor="t"/>
          <a:lstStyle/>
          <a:p>
            <a:pPr marL="0" indent="0">
              <a:buNone/>
            </a:pPr>
            <a:r>
              <a:rPr lang="en-US" sz="1500" dirty="0">
                <a:solidFill>
                  <a:srgbClr val="5B6066"/>
                </a:solidFill>
                <a:latin typeface="IBM Plex Sans" pitchFamily="34" charset="0"/>
                <a:ea typeface="IBM Plex Sans" pitchFamily="34" charset="-122"/>
                <a:cs typeface="IBM Plex Sans" pitchFamily="34" charset="-120"/>
              </a:rPr>
              <a:t>SOC monitoring and UEBA analytics</a:t>
            </a:r>
            <a:endParaRPr lang="en-US" sz="1500" dirty="0"/>
          </a:p>
        </p:txBody>
      </p:sp>
      <p:sp>
        <p:nvSpPr>
          <p:cNvPr id="6" name="Shape 4"/>
          <p:cNvSpPr/>
          <p:nvPr/>
        </p:nvSpPr>
        <p:spPr>
          <a:xfrm>
            <a:off x="640080" y="1874520"/>
            <a:ext cx="5120640" cy="0"/>
          </a:xfrm>
          <a:prstGeom prst="line">
            <a:avLst/>
          </a:prstGeom>
          <a:noFill/>
          <a:ln w="9525">
            <a:solidFill>
              <a:srgbClr val="DCD8D0"/>
            </a:solidFill>
            <a:prstDash val="solid"/>
          </a:ln>
        </p:spPr>
        <p:txBody>
          <a:bodyPr/>
          <a:lstStyle/>
          <a:p>
            <a:endParaRPr lang="en-PK"/>
          </a:p>
        </p:txBody>
      </p:sp>
      <p:sp>
        <p:nvSpPr>
          <p:cNvPr id="7" name="Text 5"/>
          <p:cNvSpPr/>
          <p:nvPr/>
        </p:nvSpPr>
        <p:spPr>
          <a:xfrm>
            <a:off x="640080" y="1984248"/>
            <a:ext cx="5120640" cy="182880"/>
          </a:xfrm>
          <a:prstGeom prst="rect">
            <a:avLst/>
          </a:prstGeom>
          <a:noFill/>
          <a:ln/>
        </p:spPr>
        <p:txBody>
          <a:bodyPr wrap="square" lIns="0" tIns="0" rIns="0" bIns="0" rtlCol="0" anchor="t"/>
          <a:lstStyle/>
          <a:p>
            <a:pPr marL="0" indent="0">
              <a:buNone/>
            </a:pPr>
            <a:r>
              <a:rPr lang="en-US" sz="800" kern="0" spc="150" dirty="0">
                <a:solidFill>
                  <a:srgbClr val="6F6A5F"/>
                </a:solidFill>
                <a:latin typeface="IBM Plex Mono" pitchFamily="34" charset="0"/>
                <a:ea typeface="IBM Plex Mono" pitchFamily="34" charset="-122"/>
                <a:cs typeface="IBM Plex Mono" pitchFamily="34" charset="-120"/>
              </a:rPr>
              <a:t>CLIENT</a:t>
            </a:r>
            <a:endParaRPr lang="en-US" sz="800" dirty="0"/>
          </a:p>
        </p:txBody>
      </p:sp>
      <p:sp>
        <p:nvSpPr>
          <p:cNvPr id="8" name="Text 6"/>
          <p:cNvSpPr/>
          <p:nvPr/>
        </p:nvSpPr>
        <p:spPr>
          <a:xfrm>
            <a:off x="640080" y="2185416"/>
            <a:ext cx="5120640" cy="237744"/>
          </a:xfrm>
          <a:prstGeom prst="rect">
            <a:avLst/>
          </a:prstGeom>
          <a:noFill/>
          <a:ln/>
        </p:spPr>
        <p:txBody>
          <a:bodyPr wrap="square" lIns="0" tIns="0" rIns="0" bIns="0" rtlCol="0" anchor="t"/>
          <a:lstStyle/>
          <a:p>
            <a:pPr marL="0" indent="0">
              <a:buNone/>
            </a:pPr>
            <a:r>
              <a:rPr lang="en-US" sz="1150" dirty="0">
                <a:solidFill>
                  <a:srgbClr val="14161A"/>
                </a:solidFill>
                <a:latin typeface="IBM Plex Sans" pitchFamily="34" charset="0"/>
                <a:ea typeface="IBM Plex Sans" pitchFamily="34" charset="-122"/>
                <a:cs typeface="IBM Plex Sans" pitchFamily="34" charset="-120"/>
              </a:rPr>
              <a:t>In-house product</a:t>
            </a:r>
            <a:endParaRPr lang="en-US" sz="1150" dirty="0"/>
          </a:p>
        </p:txBody>
      </p:sp>
      <p:sp>
        <p:nvSpPr>
          <p:cNvPr id="9" name="Shape 7"/>
          <p:cNvSpPr/>
          <p:nvPr/>
        </p:nvSpPr>
        <p:spPr>
          <a:xfrm>
            <a:off x="640080" y="2514600"/>
            <a:ext cx="5120640" cy="0"/>
          </a:xfrm>
          <a:prstGeom prst="line">
            <a:avLst/>
          </a:prstGeom>
          <a:noFill/>
          <a:ln w="9525">
            <a:solidFill>
              <a:srgbClr val="DCD8D0"/>
            </a:solidFill>
            <a:prstDash val="solid"/>
          </a:ln>
        </p:spPr>
        <p:txBody>
          <a:bodyPr/>
          <a:lstStyle/>
          <a:p>
            <a:endParaRPr lang="en-PK"/>
          </a:p>
        </p:txBody>
      </p:sp>
      <p:sp>
        <p:nvSpPr>
          <p:cNvPr id="10" name="Text 8"/>
          <p:cNvSpPr/>
          <p:nvPr/>
        </p:nvSpPr>
        <p:spPr>
          <a:xfrm>
            <a:off x="640080" y="2624328"/>
            <a:ext cx="1706880" cy="182880"/>
          </a:xfrm>
          <a:prstGeom prst="rect">
            <a:avLst/>
          </a:prstGeom>
          <a:noFill/>
          <a:ln/>
        </p:spPr>
        <p:txBody>
          <a:bodyPr wrap="square" lIns="0" tIns="0" rIns="0" bIns="0" rtlCol="0" anchor="t"/>
          <a:lstStyle/>
          <a:p>
            <a:pPr marL="0" indent="0">
              <a:buNone/>
            </a:pPr>
            <a:r>
              <a:rPr lang="en-US" sz="800" kern="0" spc="150" dirty="0">
                <a:solidFill>
                  <a:srgbClr val="6F6A5F"/>
                </a:solidFill>
                <a:latin typeface="IBM Plex Mono" pitchFamily="34" charset="0"/>
                <a:ea typeface="IBM Plex Mono" pitchFamily="34" charset="-122"/>
                <a:cs typeface="IBM Plex Mono" pitchFamily="34" charset="-120"/>
              </a:rPr>
              <a:t>YEAR</a:t>
            </a:r>
            <a:endParaRPr lang="en-US" sz="800" dirty="0"/>
          </a:p>
        </p:txBody>
      </p:sp>
      <p:sp>
        <p:nvSpPr>
          <p:cNvPr id="11" name="Text 9"/>
          <p:cNvSpPr/>
          <p:nvPr/>
        </p:nvSpPr>
        <p:spPr>
          <a:xfrm>
            <a:off x="640080" y="2825496"/>
            <a:ext cx="1706880" cy="237744"/>
          </a:xfrm>
          <a:prstGeom prst="rect">
            <a:avLst/>
          </a:prstGeom>
          <a:noFill/>
          <a:ln/>
        </p:spPr>
        <p:txBody>
          <a:bodyPr wrap="square" lIns="0" tIns="0" rIns="0" bIns="0" rtlCol="0" anchor="t"/>
          <a:lstStyle/>
          <a:p>
            <a:pPr marL="0" indent="0">
              <a:buNone/>
            </a:pPr>
            <a:r>
              <a:rPr lang="en-US" sz="1150" dirty="0">
                <a:solidFill>
                  <a:srgbClr val="14161A"/>
                </a:solidFill>
                <a:latin typeface="IBM Plex Sans" pitchFamily="34" charset="0"/>
                <a:ea typeface="IBM Plex Sans" pitchFamily="34" charset="-122"/>
                <a:cs typeface="IBM Plex Sans" pitchFamily="34" charset="-120"/>
              </a:rPr>
              <a:t>2025</a:t>
            </a:r>
            <a:endParaRPr lang="en-US" sz="1150" dirty="0"/>
          </a:p>
        </p:txBody>
      </p:sp>
      <p:sp>
        <p:nvSpPr>
          <p:cNvPr id="12" name="Text 10"/>
          <p:cNvSpPr/>
          <p:nvPr/>
        </p:nvSpPr>
        <p:spPr>
          <a:xfrm>
            <a:off x="2346960" y="2624328"/>
            <a:ext cx="1706880" cy="182880"/>
          </a:xfrm>
          <a:prstGeom prst="rect">
            <a:avLst/>
          </a:prstGeom>
          <a:noFill/>
          <a:ln/>
        </p:spPr>
        <p:txBody>
          <a:bodyPr wrap="square" lIns="0" tIns="0" rIns="0" bIns="0" rtlCol="0" anchor="t"/>
          <a:lstStyle/>
          <a:p>
            <a:pPr marL="0" indent="0">
              <a:buNone/>
            </a:pPr>
            <a:r>
              <a:rPr lang="en-US" sz="800" kern="0" spc="150" dirty="0">
                <a:solidFill>
                  <a:srgbClr val="6F6A5F"/>
                </a:solidFill>
                <a:latin typeface="IBM Plex Mono" pitchFamily="34" charset="0"/>
                <a:ea typeface="IBM Plex Mono" pitchFamily="34" charset="-122"/>
                <a:cs typeface="IBM Plex Mono" pitchFamily="34" charset="-120"/>
              </a:rPr>
              <a:t>DURATION</a:t>
            </a:r>
            <a:endParaRPr lang="en-US" sz="800" dirty="0"/>
          </a:p>
        </p:txBody>
      </p:sp>
      <p:sp>
        <p:nvSpPr>
          <p:cNvPr id="13" name="Text 11"/>
          <p:cNvSpPr/>
          <p:nvPr/>
        </p:nvSpPr>
        <p:spPr>
          <a:xfrm>
            <a:off x="2346960" y="2825496"/>
            <a:ext cx="1706880" cy="237744"/>
          </a:xfrm>
          <a:prstGeom prst="rect">
            <a:avLst/>
          </a:prstGeom>
          <a:noFill/>
          <a:ln/>
        </p:spPr>
        <p:txBody>
          <a:bodyPr wrap="square" lIns="0" tIns="0" rIns="0" bIns="0" rtlCol="0" anchor="t"/>
          <a:lstStyle/>
          <a:p>
            <a:pPr marL="0" indent="0">
              <a:buNone/>
            </a:pPr>
            <a:r>
              <a:rPr lang="en-US" sz="1150" dirty="0">
                <a:solidFill>
                  <a:srgbClr val="14161A"/>
                </a:solidFill>
                <a:latin typeface="IBM Plex Sans" pitchFamily="34" charset="0"/>
                <a:ea typeface="IBM Plex Sans" pitchFamily="34" charset="-122"/>
                <a:cs typeface="IBM Plex Sans" pitchFamily="34" charset="-120"/>
              </a:rPr>
              <a:t>8 months</a:t>
            </a:r>
            <a:endParaRPr lang="en-US" sz="1150" dirty="0"/>
          </a:p>
        </p:txBody>
      </p:sp>
      <p:sp>
        <p:nvSpPr>
          <p:cNvPr id="14" name="Text 12"/>
          <p:cNvSpPr/>
          <p:nvPr/>
        </p:nvSpPr>
        <p:spPr>
          <a:xfrm>
            <a:off x="4053840" y="2624328"/>
            <a:ext cx="1706880" cy="182880"/>
          </a:xfrm>
          <a:prstGeom prst="rect">
            <a:avLst/>
          </a:prstGeom>
          <a:noFill/>
          <a:ln/>
        </p:spPr>
        <p:txBody>
          <a:bodyPr wrap="square" lIns="0" tIns="0" rIns="0" bIns="0" rtlCol="0" anchor="t"/>
          <a:lstStyle/>
          <a:p>
            <a:pPr marL="0" indent="0">
              <a:buNone/>
            </a:pPr>
            <a:r>
              <a:rPr lang="en-US" sz="800" kern="0" spc="150" dirty="0">
                <a:solidFill>
                  <a:srgbClr val="6F6A5F"/>
                </a:solidFill>
                <a:latin typeface="IBM Plex Mono" pitchFamily="34" charset="0"/>
                <a:ea typeface="IBM Plex Mono" pitchFamily="34" charset="-122"/>
                <a:cs typeface="IBM Plex Mono" pitchFamily="34" charset="-120"/>
              </a:rPr>
              <a:t>STATUS</a:t>
            </a:r>
            <a:endParaRPr lang="en-US" sz="800" dirty="0"/>
          </a:p>
        </p:txBody>
      </p:sp>
      <p:sp>
        <p:nvSpPr>
          <p:cNvPr id="15" name="Text 13"/>
          <p:cNvSpPr/>
          <p:nvPr/>
        </p:nvSpPr>
        <p:spPr>
          <a:xfrm>
            <a:off x="4053840" y="2825496"/>
            <a:ext cx="1706880" cy="237744"/>
          </a:xfrm>
          <a:prstGeom prst="rect">
            <a:avLst/>
          </a:prstGeom>
          <a:noFill/>
          <a:ln/>
        </p:spPr>
        <p:txBody>
          <a:bodyPr wrap="square" lIns="0" tIns="0" rIns="0" bIns="0" rtlCol="0" anchor="t"/>
          <a:lstStyle/>
          <a:p>
            <a:pPr marL="0" indent="0">
              <a:buNone/>
            </a:pPr>
            <a:r>
              <a:rPr lang="en-US" sz="1150" dirty="0">
                <a:solidFill>
                  <a:srgbClr val="14161A"/>
                </a:solidFill>
                <a:latin typeface="IBM Plex Sans" pitchFamily="34" charset="0"/>
                <a:ea typeface="IBM Plex Sans" pitchFamily="34" charset="-122"/>
                <a:cs typeface="IBM Plex Sans" pitchFamily="34" charset="-120"/>
              </a:rPr>
              <a:t>Delivered</a:t>
            </a:r>
            <a:endParaRPr lang="en-US" sz="1150" dirty="0"/>
          </a:p>
        </p:txBody>
      </p:sp>
      <p:sp>
        <p:nvSpPr>
          <p:cNvPr id="16" name="Shape 14"/>
          <p:cNvSpPr/>
          <p:nvPr/>
        </p:nvSpPr>
        <p:spPr>
          <a:xfrm>
            <a:off x="640080" y="3154680"/>
            <a:ext cx="5120640" cy="0"/>
          </a:xfrm>
          <a:prstGeom prst="line">
            <a:avLst/>
          </a:prstGeom>
          <a:noFill/>
          <a:ln w="9525">
            <a:solidFill>
              <a:srgbClr val="DCD8D0"/>
            </a:solidFill>
            <a:prstDash val="solid"/>
          </a:ln>
        </p:spPr>
        <p:txBody>
          <a:bodyPr/>
          <a:lstStyle/>
          <a:p>
            <a:endParaRPr lang="en-PK"/>
          </a:p>
        </p:txBody>
      </p:sp>
      <p:sp>
        <p:nvSpPr>
          <p:cNvPr id="17" name="Text 15"/>
          <p:cNvSpPr/>
          <p:nvPr/>
        </p:nvSpPr>
        <p:spPr>
          <a:xfrm>
            <a:off x="640080" y="3337560"/>
            <a:ext cx="5120640" cy="1143000"/>
          </a:xfrm>
          <a:prstGeom prst="rect">
            <a:avLst/>
          </a:prstGeom>
          <a:noFill/>
          <a:ln/>
        </p:spPr>
        <p:txBody>
          <a:bodyPr wrap="square" lIns="0" tIns="0" rIns="0" bIns="0" rtlCol="0" anchor="t"/>
          <a:lstStyle/>
          <a:p>
            <a:pPr marL="0" indent="0">
              <a:lnSpc>
                <a:spcPct val="125000"/>
              </a:lnSpc>
              <a:buNone/>
            </a:pPr>
            <a:r>
              <a:rPr lang="en-US" sz="1250" dirty="0">
                <a:solidFill>
                  <a:srgbClr val="14161A"/>
                </a:solidFill>
                <a:latin typeface="IBM Plex Sans" pitchFamily="34" charset="0"/>
                <a:ea typeface="IBM Plex Sans" pitchFamily="34" charset="-122"/>
                <a:cs typeface="IBM Plex Sans" pitchFamily="34" charset="-120"/>
              </a:rPr>
              <a:t>A SIEM and UEBA platform that correlates millions of events per second from Elasticsearch, unifies fragmented device identities, and cuts SOC analyst triage time.</a:t>
            </a:r>
            <a:endParaRPr lang="en-US" sz="1250" dirty="0"/>
          </a:p>
        </p:txBody>
      </p:sp>
      <p:sp>
        <p:nvSpPr>
          <p:cNvPr id="18" name="Shape 16"/>
          <p:cNvSpPr/>
          <p:nvPr/>
        </p:nvSpPr>
        <p:spPr>
          <a:xfrm>
            <a:off x="640080" y="4572000"/>
            <a:ext cx="2377440" cy="0"/>
          </a:xfrm>
          <a:prstGeom prst="line">
            <a:avLst/>
          </a:prstGeom>
          <a:noFill/>
          <a:ln w="9525">
            <a:solidFill>
              <a:srgbClr val="DCD8D0"/>
            </a:solidFill>
            <a:prstDash val="solid"/>
          </a:ln>
        </p:spPr>
        <p:txBody>
          <a:bodyPr/>
          <a:lstStyle/>
          <a:p>
            <a:endParaRPr lang="en-PK"/>
          </a:p>
        </p:txBody>
      </p:sp>
      <p:sp>
        <p:nvSpPr>
          <p:cNvPr id="19" name="Text 17"/>
          <p:cNvSpPr/>
          <p:nvPr/>
        </p:nvSpPr>
        <p:spPr>
          <a:xfrm>
            <a:off x="640080" y="4663440"/>
            <a:ext cx="2377440" cy="384048"/>
          </a:xfrm>
          <a:prstGeom prst="rect">
            <a:avLst/>
          </a:prstGeom>
          <a:noFill/>
          <a:ln/>
        </p:spPr>
        <p:txBody>
          <a:bodyPr wrap="square" lIns="0" tIns="0" rIns="0" bIns="0" rtlCol="0" anchor="t"/>
          <a:lstStyle/>
          <a:p>
            <a:pPr marL="0" indent="0">
              <a:buNone/>
            </a:pPr>
            <a:r>
              <a:rPr lang="en-US" sz="2200" b="1" dirty="0">
                <a:solidFill>
                  <a:srgbClr val="8F5D0A"/>
                </a:solidFill>
                <a:latin typeface="Space Grotesk" pitchFamily="34" charset="0"/>
                <a:ea typeface="Space Grotesk" pitchFamily="34" charset="-122"/>
                <a:cs typeface="Space Grotesk" pitchFamily="34" charset="-120"/>
              </a:rPr>
              <a:t>1,000,000+</a:t>
            </a:r>
            <a:endParaRPr lang="en-US" sz="2200" dirty="0"/>
          </a:p>
        </p:txBody>
      </p:sp>
      <p:sp>
        <p:nvSpPr>
          <p:cNvPr id="20" name="Text 18"/>
          <p:cNvSpPr/>
          <p:nvPr/>
        </p:nvSpPr>
        <p:spPr>
          <a:xfrm>
            <a:off x="640080" y="5047488"/>
            <a:ext cx="2331720" cy="384048"/>
          </a:xfrm>
          <a:prstGeom prst="rect">
            <a:avLst/>
          </a:prstGeom>
          <a:noFill/>
          <a:ln/>
        </p:spPr>
        <p:txBody>
          <a:bodyPr wrap="square" lIns="0" tIns="0" rIns="0" bIns="0" rtlCol="0" anchor="t"/>
          <a:lstStyle/>
          <a:p>
            <a:pPr marL="0" indent="0">
              <a:lnSpc>
                <a:spcPct val="110000"/>
              </a:lnSpc>
              <a:buNone/>
            </a:pPr>
            <a:r>
              <a:rPr lang="en-US" sz="900" dirty="0">
                <a:solidFill>
                  <a:srgbClr val="5B6066"/>
                </a:solidFill>
                <a:latin typeface="IBM Plex Sans" pitchFamily="34" charset="0"/>
                <a:ea typeface="IBM Plex Sans" pitchFamily="34" charset="-122"/>
                <a:cs typeface="IBM Plex Sans" pitchFamily="34" charset="-120"/>
              </a:rPr>
              <a:t>security events indexed and queryable per second</a:t>
            </a:r>
            <a:endParaRPr lang="en-US" sz="900" dirty="0"/>
          </a:p>
        </p:txBody>
      </p:sp>
      <p:sp>
        <p:nvSpPr>
          <p:cNvPr id="21" name="Shape 19"/>
          <p:cNvSpPr/>
          <p:nvPr/>
        </p:nvSpPr>
        <p:spPr>
          <a:xfrm>
            <a:off x="3200400" y="4572000"/>
            <a:ext cx="2377440" cy="0"/>
          </a:xfrm>
          <a:prstGeom prst="line">
            <a:avLst/>
          </a:prstGeom>
          <a:noFill/>
          <a:ln w="9525">
            <a:solidFill>
              <a:srgbClr val="DCD8D0"/>
            </a:solidFill>
            <a:prstDash val="solid"/>
          </a:ln>
        </p:spPr>
        <p:txBody>
          <a:bodyPr/>
          <a:lstStyle/>
          <a:p>
            <a:endParaRPr lang="en-PK"/>
          </a:p>
        </p:txBody>
      </p:sp>
      <p:sp>
        <p:nvSpPr>
          <p:cNvPr id="22" name="Text 20"/>
          <p:cNvSpPr/>
          <p:nvPr/>
        </p:nvSpPr>
        <p:spPr>
          <a:xfrm>
            <a:off x="3200400" y="4663440"/>
            <a:ext cx="2377440" cy="384048"/>
          </a:xfrm>
          <a:prstGeom prst="rect">
            <a:avLst/>
          </a:prstGeom>
          <a:noFill/>
          <a:ln/>
        </p:spPr>
        <p:txBody>
          <a:bodyPr wrap="square" lIns="0" tIns="0" rIns="0" bIns="0" rtlCol="0" anchor="t"/>
          <a:lstStyle/>
          <a:p>
            <a:pPr marL="0" indent="0">
              <a:buNone/>
            </a:pPr>
            <a:r>
              <a:rPr lang="en-US" sz="2200" b="1" dirty="0">
                <a:solidFill>
                  <a:srgbClr val="8F5D0A"/>
                </a:solidFill>
                <a:latin typeface="Space Grotesk" pitchFamily="34" charset="0"/>
                <a:ea typeface="Space Grotesk" pitchFamily="34" charset="-122"/>
                <a:cs typeface="Space Grotesk" pitchFamily="34" charset="-120"/>
              </a:rPr>
              <a:t>~65%</a:t>
            </a:r>
            <a:endParaRPr lang="en-US" sz="2200" dirty="0"/>
          </a:p>
        </p:txBody>
      </p:sp>
      <p:sp>
        <p:nvSpPr>
          <p:cNvPr id="23" name="Text 21"/>
          <p:cNvSpPr/>
          <p:nvPr/>
        </p:nvSpPr>
        <p:spPr>
          <a:xfrm>
            <a:off x="3200400" y="5047488"/>
            <a:ext cx="2331720" cy="384048"/>
          </a:xfrm>
          <a:prstGeom prst="rect">
            <a:avLst/>
          </a:prstGeom>
          <a:noFill/>
          <a:ln/>
        </p:spPr>
        <p:txBody>
          <a:bodyPr wrap="square" lIns="0" tIns="0" rIns="0" bIns="0" rtlCol="0" anchor="t"/>
          <a:lstStyle/>
          <a:p>
            <a:pPr marL="0" indent="0">
              <a:lnSpc>
                <a:spcPct val="110000"/>
              </a:lnSpc>
              <a:buNone/>
            </a:pPr>
            <a:r>
              <a:rPr lang="en-US" sz="900" dirty="0">
                <a:solidFill>
                  <a:srgbClr val="5B6066"/>
                </a:solidFill>
                <a:latin typeface="IBM Plex Sans" pitchFamily="34" charset="0"/>
                <a:ea typeface="IBM Plex Sans" pitchFamily="34" charset="-122"/>
                <a:cs typeface="IBM Plex Sans" pitchFamily="34" charset="-120"/>
              </a:rPr>
              <a:t>reduction in mean time to detect via live detection streams</a:t>
            </a:r>
            <a:endParaRPr lang="en-US" sz="900" dirty="0"/>
          </a:p>
        </p:txBody>
      </p:sp>
      <p:sp>
        <p:nvSpPr>
          <p:cNvPr id="24" name="Shape 22"/>
          <p:cNvSpPr/>
          <p:nvPr/>
        </p:nvSpPr>
        <p:spPr>
          <a:xfrm>
            <a:off x="640080" y="5440680"/>
            <a:ext cx="2377440" cy="0"/>
          </a:xfrm>
          <a:prstGeom prst="line">
            <a:avLst/>
          </a:prstGeom>
          <a:noFill/>
          <a:ln w="9525">
            <a:solidFill>
              <a:srgbClr val="DCD8D0"/>
            </a:solidFill>
            <a:prstDash val="solid"/>
          </a:ln>
        </p:spPr>
        <p:txBody>
          <a:bodyPr/>
          <a:lstStyle/>
          <a:p>
            <a:endParaRPr lang="en-PK"/>
          </a:p>
        </p:txBody>
      </p:sp>
      <p:sp>
        <p:nvSpPr>
          <p:cNvPr id="25" name="Text 23"/>
          <p:cNvSpPr/>
          <p:nvPr/>
        </p:nvSpPr>
        <p:spPr>
          <a:xfrm>
            <a:off x="640080" y="5532120"/>
            <a:ext cx="2377440" cy="384048"/>
          </a:xfrm>
          <a:prstGeom prst="rect">
            <a:avLst/>
          </a:prstGeom>
          <a:noFill/>
          <a:ln/>
        </p:spPr>
        <p:txBody>
          <a:bodyPr wrap="square" lIns="0" tIns="0" rIns="0" bIns="0" rtlCol="0" anchor="t"/>
          <a:lstStyle/>
          <a:p>
            <a:pPr marL="0" indent="0">
              <a:buNone/>
            </a:pPr>
            <a:r>
              <a:rPr lang="en-US" sz="2200" b="1" dirty="0">
                <a:solidFill>
                  <a:srgbClr val="8F5D0A"/>
                </a:solidFill>
                <a:latin typeface="Space Grotesk" pitchFamily="34" charset="0"/>
                <a:ea typeface="Space Grotesk" pitchFamily="34" charset="-122"/>
                <a:cs typeface="Space Grotesk" pitchFamily="34" charset="-120"/>
              </a:rPr>
              <a:t>100%</a:t>
            </a:r>
            <a:endParaRPr lang="en-US" sz="2200" dirty="0"/>
          </a:p>
        </p:txBody>
      </p:sp>
      <p:sp>
        <p:nvSpPr>
          <p:cNvPr id="26" name="Text 24"/>
          <p:cNvSpPr/>
          <p:nvPr/>
        </p:nvSpPr>
        <p:spPr>
          <a:xfrm>
            <a:off x="640080" y="5916168"/>
            <a:ext cx="2331720" cy="384048"/>
          </a:xfrm>
          <a:prstGeom prst="rect">
            <a:avLst/>
          </a:prstGeom>
          <a:noFill/>
          <a:ln/>
        </p:spPr>
        <p:txBody>
          <a:bodyPr wrap="square" lIns="0" tIns="0" rIns="0" bIns="0" rtlCol="0" anchor="t"/>
          <a:lstStyle/>
          <a:p>
            <a:pPr marL="0" indent="0">
              <a:lnSpc>
                <a:spcPct val="110000"/>
              </a:lnSpc>
              <a:buNone/>
            </a:pPr>
            <a:r>
              <a:rPr lang="en-US" sz="900" dirty="0">
                <a:solidFill>
                  <a:srgbClr val="5B6066"/>
                </a:solidFill>
                <a:latin typeface="IBM Plex Sans" pitchFamily="34" charset="0"/>
                <a:ea typeface="IBM Plex Sans" pitchFamily="34" charset="-122"/>
                <a:cs typeface="IBM Plex Sans" pitchFamily="34" charset="-120"/>
              </a:rPr>
              <a:t>device identity unification across multi-agent telemetry sources</a:t>
            </a:r>
            <a:endParaRPr lang="en-US" sz="900" dirty="0"/>
          </a:p>
        </p:txBody>
      </p:sp>
      <p:sp>
        <p:nvSpPr>
          <p:cNvPr id="27" name="Text 25"/>
          <p:cNvSpPr/>
          <p:nvPr/>
        </p:nvSpPr>
        <p:spPr>
          <a:xfrm>
            <a:off x="6263640" y="548640"/>
            <a:ext cx="3367735" cy="365760"/>
          </a:xfrm>
          <a:prstGeom prst="rect">
            <a:avLst/>
          </a:prstGeom>
          <a:noFill/>
          <a:ln/>
        </p:spPr>
        <p:txBody>
          <a:bodyPr wrap="square" lIns="0" tIns="0" rIns="0" bIns="0" rtlCol="0" anchor="t"/>
          <a:lstStyle/>
          <a:p>
            <a:pPr marL="0" indent="0">
              <a:buNone/>
            </a:pPr>
            <a:r>
              <a:rPr lang="en-US" sz="750" kern="0" spc="100" dirty="0">
                <a:solidFill>
                  <a:srgbClr val="6F6A5F"/>
                </a:solidFill>
                <a:latin typeface="IBM Plex Mono" pitchFamily="34" charset="0"/>
                <a:ea typeface="IBM Plex Mono" pitchFamily="34" charset="-122"/>
                <a:cs typeface="IBM Plex Mono" pitchFamily="34" charset="-120"/>
              </a:rPr>
              <a:t>MEAN TIME TO INVESTIGATE INCIDENT (MINUTES)</a:t>
            </a:r>
            <a:endParaRPr lang="en-US" sz="750" dirty="0"/>
          </a:p>
        </p:txBody>
      </p:sp>
      <p:sp>
        <p:nvSpPr>
          <p:cNvPr id="28" name="Text 26"/>
          <p:cNvSpPr/>
          <p:nvPr/>
        </p:nvSpPr>
        <p:spPr>
          <a:xfrm>
            <a:off x="9768535" y="530352"/>
            <a:ext cx="1005840" cy="219456"/>
          </a:xfrm>
          <a:prstGeom prst="rect">
            <a:avLst/>
          </a:prstGeom>
          <a:noFill/>
          <a:ln/>
        </p:spPr>
        <p:txBody>
          <a:bodyPr wrap="square" lIns="0" tIns="0" rIns="0" bIns="0" rtlCol="0" anchor="ctr"/>
          <a:lstStyle/>
          <a:p>
            <a:pPr marL="0" indent="0" algn="r">
              <a:buNone/>
            </a:pPr>
            <a:r>
              <a:rPr lang="en-US" sz="900" dirty="0">
                <a:solidFill>
                  <a:srgbClr val="5B6066"/>
                </a:solidFill>
                <a:latin typeface="IBM Plex Mono" pitchFamily="34" charset="0"/>
                <a:ea typeface="IBM Plex Mono" pitchFamily="34" charset="-122"/>
                <a:cs typeface="IBM Plex Mono" pitchFamily="34" charset="-120"/>
              </a:rPr>
              <a:t>88 → 19</a:t>
            </a:r>
            <a:endParaRPr lang="en-US" sz="900" dirty="0"/>
          </a:p>
        </p:txBody>
      </p:sp>
      <p:sp>
        <p:nvSpPr>
          <p:cNvPr id="29" name="Text 27"/>
          <p:cNvSpPr/>
          <p:nvPr/>
        </p:nvSpPr>
        <p:spPr>
          <a:xfrm>
            <a:off x="10865815" y="530352"/>
            <a:ext cx="685800" cy="219456"/>
          </a:xfrm>
          <a:prstGeom prst="roundRect">
            <a:avLst>
              <a:gd name="adj" fmla="val 16667"/>
            </a:avLst>
          </a:prstGeom>
          <a:solidFill>
            <a:srgbClr val="F0E2C8"/>
          </a:solidFill>
          <a:ln w="6350">
            <a:solidFill>
              <a:srgbClr val="8F5D0A"/>
            </a:solidFill>
          </a:ln>
        </p:spPr>
        <p:txBody>
          <a:bodyPr wrap="square" lIns="0" tIns="0" rIns="0" bIns="0" rtlCol="0" anchor="ctr"/>
          <a:lstStyle/>
          <a:p>
            <a:pPr marL="0" indent="0" algn="ctr">
              <a:buNone/>
            </a:pPr>
            <a:r>
              <a:rPr lang="en-US" sz="900" b="1" dirty="0">
                <a:solidFill>
                  <a:srgbClr val="8F5D0A"/>
                </a:solidFill>
                <a:latin typeface="IBM Plex Mono" pitchFamily="34" charset="0"/>
                <a:ea typeface="IBM Plex Mono" pitchFamily="34" charset="-122"/>
                <a:cs typeface="IBM Plex Mono" pitchFamily="34" charset="-120"/>
              </a:rPr>
              <a:t>-78%</a:t>
            </a:r>
            <a:endParaRPr lang="en-US" sz="900" dirty="0"/>
          </a:p>
        </p:txBody>
      </p:sp>
      <p:graphicFrame>
        <p:nvGraphicFramePr>
          <p:cNvPr id="30" name="Chart 0"/>
          <p:cNvGraphicFramePr/>
          <p:nvPr/>
        </p:nvGraphicFramePr>
        <p:xfrm>
          <a:off x="6190488" y="932688"/>
          <a:ext cx="5434279" cy="3364992"/>
        </p:xfrm>
        <a:graphic>
          <a:graphicData uri="http://schemas.openxmlformats.org/drawingml/2006/chart">
            <c:chart xmlns:c="http://schemas.openxmlformats.org/drawingml/2006/chart" xmlns:r="http://schemas.openxmlformats.org/officeDocument/2006/relationships" r:id="rId3"/>
          </a:graphicData>
        </a:graphic>
      </p:graphicFrame>
      <p:sp>
        <p:nvSpPr>
          <p:cNvPr id="31" name="Text 28"/>
          <p:cNvSpPr/>
          <p:nvPr/>
        </p:nvSpPr>
        <p:spPr>
          <a:xfrm>
            <a:off x="6263640" y="4709160"/>
            <a:ext cx="5287975" cy="182880"/>
          </a:xfrm>
          <a:prstGeom prst="rect">
            <a:avLst/>
          </a:prstGeom>
          <a:noFill/>
          <a:ln/>
        </p:spPr>
        <p:txBody>
          <a:bodyPr wrap="square" lIns="0" tIns="0" rIns="0" bIns="0" rtlCol="0" anchor="t"/>
          <a:lstStyle/>
          <a:p>
            <a:pPr marL="0" indent="0">
              <a:buNone/>
            </a:pPr>
            <a:r>
              <a:rPr lang="en-US" sz="800" kern="0" spc="150" dirty="0">
                <a:solidFill>
                  <a:srgbClr val="6F6A5F"/>
                </a:solidFill>
                <a:latin typeface="IBM Plex Mono" pitchFamily="34" charset="0"/>
                <a:ea typeface="IBM Plex Mono" pitchFamily="34" charset="-122"/>
                <a:cs typeface="IBM Plex Mono" pitchFamily="34" charset="-120"/>
              </a:rPr>
              <a:t>STACK</a:t>
            </a:r>
            <a:endParaRPr lang="en-US" sz="800" dirty="0"/>
          </a:p>
        </p:txBody>
      </p:sp>
      <p:sp>
        <p:nvSpPr>
          <p:cNvPr id="32" name="Text 29"/>
          <p:cNvSpPr/>
          <p:nvPr/>
        </p:nvSpPr>
        <p:spPr>
          <a:xfrm>
            <a:off x="6263640" y="4983480"/>
            <a:ext cx="867156" cy="246888"/>
          </a:xfrm>
          <a:prstGeom prst="roundRect">
            <a:avLst>
              <a:gd name="adj" fmla="val 14815"/>
            </a:avLst>
          </a:prstGeom>
          <a:solidFill>
            <a:srgbClr val="FFFFFF"/>
          </a:solidFill>
          <a:ln w="9525">
            <a:solidFill>
              <a:srgbClr val="DCD8D0"/>
            </a:solidFill>
          </a:ln>
        </p:spPr>
        <p:txBody>
          <a:bodyPr wrap="square" lIns="0" tIns="0" rIns="0" bIns="0" rtlCol="0" anchor="ctr"/>
          <a:lstStyle/>
          <a:p>
            <a:pPr marL="0" indent="0" algn="ctr">
              <a:buNone/>
            </a:pPr>
            <a:r>
              <a:rPr lang="en-US" sz="850" dirty="0">
                <a:solidFill>
                  <a:srgbClr val="5B6066"/>
                </a:solidFill>
                <a:latin typeface="IBM Plex Mono" pitchFamily="34" charset="0"/>
                <a:ea typeface="IBM Plex Mono" pitchFamily="34" charset="-122"/>
                <a:cs typeface="IBM Plex Mono" pitchFamily="34" charset="-120"/>
              </a:rPr>
              <a:t>Next.js 16</a:t>
            </a:r>
            <a:endParaRPr lang="en-US" sz="850" dirty="0"/>
          </a:p>
        </p:txBody>
      </p:sp>
      <p:sp>
        <p:nvSpPr>
          <p:cNvPr id="33" name="Text 30"/>
          <p:cNvSpPr/>
          <p:nvPr/>
        </p:nvSpPr>
        <p:spPr>
          <a:xfrm>
            <a:off x="7203948" y="4983480"/>
            <a:ext cx="737616" cy="246888"/>
          </a:xfrm>
          <a:prstGeom prst="roundRect">
            <a:avLst>
              <a:gd name="adj" fmla="val 14815"/>
            </a:avLst>
          </a:prstGeom>
          <a:solidFill>
            <a:srgbClr val="FFFFFF"/>
          </a:solidFill>
          <a:ln w="9525">
            <a:solidFill>
              <a:srgbClr val="DCD8D0"/>
            </a:solidFill>
          </a:ln>
        </p:spPr>
        <p:txBody>
          <a:bodyPr wrap="square" lIns="0" tIns="0" rIns="0" bIns="0" rtlCol="0" anchor="ctr"/>
          <a:lstStyle/>
          <a:p>
            <a:pPr marL="0" indent="0" algn="ctr">
              <a:buNone/>
            </a:pPr>
            <a:r>
              <a:rPr lang="en-US" sz="850" dirty="0">
                <a:solidFill>
                  <a:srgbClr val="5B6066"/>
                </a:solidFill>
                <a:latin typeface="IBM Plex Mono" pitchFamily="34" charset="0"/>
                <a:ea typeface="IBM Plex Mono" pitchFamily="34" charset="-122"/>
                <a:cs typeface="IBM Plex Mono" pitchFamily="34" charset="-120"/>
              </a:rPr>
              <a:t>React 19</a:t>
            </a:r>
            <a:endParaRPr lang="en-US" sz="850" dirty="0"/>
          </a:p>
        </p:txBody>
      </p:sp>
      <p:sp>
        <p:nvSpPr>
          <p:cNvPr id="34" name="Text 31"/>
          <p:cNvSpPr/>
          <p:nvPr/>
        </p:nvSpPr>
        <p:spPr>
          <a:xfrm>
            <a:off x="8014716" y="4983480"/>
            <a:ext cx="867156" cy="246888"/>
          </a:xfrm>
          <a:prstGeom prst="roundRect">
            <a:avLst>
              <a:gd name="adj" fmla="val 14815"/>
            </a:avLst>
          </a:prstGeom>
          <a:solidFill>
            <a:srgbClr val="FFFFFF"/>
          </a:solidFill>
          <a:ln w="9525">
            <a:solidFill>
              <a:srgbClr val="DCD8D0"/>
            </a:solidFill>
          </a:ln>
        </p:spPr>
        <p:txBody>
          <a:bodyPr wrap="square" lIns="0" tIns="0" rIns="0" bIns="0" rtlCol="0" anchor="ctr"/>
          <a:lstStyle/>
          <a:p>
            <a:pPr marL="0" indent="0" algn="ctr">
              <a:buNone/>
            </a:pPr>
            <a:r>
              <a:rPr lang="en-US" sz="850" dirty="0">
                <a:solidFill>
                  <a:srgbClr val="5B6066"/>
                </a:solidFill>
                <a:latin typeface="IBM Plex Mono" pitchFamily="34" charset="0"/>
                <a:ea typeface="IBM Plex Mono" pitchFamily="34" charset="-122"/>
                <a:cs typeface="IBM Plex Mono" pitchFamily="34" charset="-120"/>
              </a:rPr>
              <a:t>TypeScript</a:t>
            </a:r>
            <a:endParaRPr lang="en-US" sz="850" dirty="0"/>
          </a:p>
        </p:txBody>
      </p:sp>
      <p:sp>
        <p:nvSpPr>
          <p:cNvPr id="35" name="Text 32"/>
          <p:cNvSpPr/>
          <p:nvPr/>
        </p:nvSpPr>
        <p:spPr>
          <a:xfrm>
            <a:off x="8955024" y="4983480"/>
            <a:ext cx="996696" cy="246888"/>
          </a:xfrm>
          <a:prstGeom prst="roundRect">
            <a:avLst>
              <a:gd name="adj" fmla="val 14815"/>
            </a:avLst>
          </a:prstGeom>
          <a:solidFill>
            <a:srgbClr val="FFFFFF"/>
          </a:solidFill>
          <a:ln w="9525">
            <a:solidFill>
              <a:srgbClr val="DCD8D0"/>
            </a:solidFill>
          </a:ln>
        </p:spPr>
        <p:txBody>
          <a:bodyPr wrap="square" lIns="0" tIns="0" rIns="0" bIns="0" rtlCol="0" anchor="ctr"/>
          <a:lstStyle/>
          <a:p>
            <a:pPr marL="0" indent="0" algn="ctr">
              <a:buNone/>
            </a:pPr>
            <a:r>
              <a:rPr lang="en-US" sz="850" dirty="0">
                <a:solidFill>
                  <a:srgbClr val="5B6066"/>
                </a:solidFill>
                <a:latin typeface="IBM Plex Mono" pitchFamily="34" charset="0"/>
                <a:ea typeface="IBM Plex Mono" pitchFamily="34" charset="-122"/>
                <a:cs typeface="IBM Plex Mono" pitchFamily="34" charset="-120"/>
              </a:rPr>
              <a:t>Tailwind CSS</a:t>
            </a:r>
            <a:endParaRPr lang="en-US" sz="850" dirty="0"/>
          </a:p>
        </p:txBody>
      </p:sp>
      <p:sp>
        <p:nvSpPr>
          <p:cNvPr id="36" name="Text 33"/>
          <p:cNvSpPr/>
          <p:nvPr/>
        </p:nvSpPr>
        <p:spPr>
          <a:xfrm>
            <a:off x="10024872" y="4983480"/>
            <a:ext cx="737616" cy="246888"/>
          </a:xfrm>
          <a:prstGeom prst="roundRect">
            <a:avLst>
              <a:gd name="adj" fmla="val 14815"/>
            </a:avLst>
          </a:prstGeom>
          <a:solidFill>
            <a:srgbClr val="FFFFFF"/>
          </a:solidFill>
          <a:ln w="9525">
            <a:solidFill>
              <a:srgbClr val="DCD8D0"/>
            </a:solidFill>
          </a:ln>
        </p:spPr>
        <p:txBody>
          <a:bodyPr wrap="square" lIns="0" tIns="0" rIns="0" bIns="0" rtlCol="0" anchor="ctr"/>
          <a:lstStyle/>
          <a:p>
            <a:pPr marL="0" indent="0" algn="ctr">
              <a:buNone/>
            </a:pPr>
            <a:r>
              <a:rPr lang="en-US" sz="850" dirty="0">
                <a:solidFill>
                  <a:srgbClr val="5B6066"/>
                </a:solidFill>
                <a:latin typeface="IBM Plex Mono" pitchFamily="34" charset="0"/>
                <a:ea typeface="IBM Plex Mono" pitchFamily="34" charset="-122"/>
                <a:cs typeface="IBM Plex Mono" pitchFamily="34" charset="-120"/>
              </a:rPr>
              <a:t>Recharts</a:t>
            </a:r>
            <a:endParaRPr lang="en-US" sz="850" dirty="0"/>
          </a:p>
        </p:txBody>
      </p:sp>
      <p:sp>
        <p:nvSpPr>
          <p:cNvPr id="37" name="Text 34"/>
          <p:cNvSpPr/>
          <p:nvPr/>
        </p:nvSpPr>
        <p:spPr>
          <a:xfrm>
            <a:off x="6263640" y="5303520"/>
            <a:ext cx="1061466" cy="246888"/>
          </a:xfrm>
          <a:prstGeom prst="roundRect">
            <a:avLst>
              <a:gd name="adj" fmla="val 14815"/>
            </a:avLst>
          </a:prstGeom>
          <a:solidFill>
            <a:srgbClr val="FFFFFF"/>
          </a:solidFill>
          <a:ln w="9525">
            <a:solidFill>
              <a:srgbClr val="DCD8D0"/>
            </a:solidFill>
          </a:ln>
        </p:spPr>
        <p:txBody>
          <a:bodyPr wrap="square" lIns="0" tIns="0" rIns="0" bIns="0" rtlCol="0" anchor="ctr"/>
          <a:lstStyle/>
          <a:p>
            <a:pPr marL="0" indent="0" algn="ctr">
              <a:buNone/>
            </a:pPr>
            <a:r>
              <a:rPr lang="en-US" sz="850" dirty="0">
                <a:solidFill>
                  <a:srgbClr val="5B6066"/>
                </a:solidFill>
                <a:latin typeface="IBM Plex Mono" pitchFamily="34" charset="0"/>
                <a:ea typeface="IBM Plex Mono" pitchFamily="34" charset="-122"/>
                <a:cs typeface="IBM Plex Mono" pitchFamily="34" charset="-120"/>
              </a:rPr>
              <a:t>Elasticsearch</a:t>
            </a:r>
            <a:endParaRPr lang="en-US" sz="850" dirty="0"/>
          </a:p>
        </p:txBody>
      </p:sp>
      <p:sp>
        <p:nvSpPr>
          <p:cNvPr id="38" name="Text 35"/>
          <p:cNvSpPr/>
          <p:nvPr/>
        </p:nvSpPr>
        <p:spPr>
          <a:xfrm>
            <a:off x="7398258" y="5303520"/>
            <a:ext cx="672846" cy="246888"/>
          </a:xfrm>
          <a:prstGeom prst="roundRect">
            <a:avLst>
              <a:gd name="adj" fmla="val 14815"/>
            </a:avLst>
          </a:prstGeom>
          <a:solidFill>
            <a:srgbClr val="FFFFFF"/>
          </a:solidFill>
          <a:ln w="9525">
            <a:solidFill>
              <a:srgbClr val="DCD8D0"/>
            </a:solidFill>
          </a:ln>
        </p:spPr>
        <p:txBody>
          <a:bodyPr wrap="square" lIns="0" tIns="0" rIns="0" bIns="0" rtlCol="0" anchor="ctr"/>
          <a:lstStyle/>
          <a:p>
            <a:pPr marL="0" indent="0" algn="ctr">
              <a:buNone/>
            </a:pPr>
            <a:r>
              <a:rPr lang="en-US" sz="850" dirty="0">
                <a:solidFill>
                  <a:srgbClr val="5B6066"/>
                </a:solidFill>
                <a:latin typeface="IBM Plex Mono" pitchFamily="34" charset="0"/>
                <a:ea typeface="IBM Plex Mono" pitchFamily="34" charset="-122"/>
                <a:cs typeface="IBM Plex Mono" pitchFamily="34" charset="-120"/>
              </a:rPr>
              <a:t>MySQL 8</a:t>
            </a:r>
            <a:endParaRPr lang="en-US" sz="850" dirty="0"/>
          </a:p>
        </p:txBody>
      </p:sp>
      <p:sp>
        <p:nvSpPr>
          <p:cNvPr id="39" name="Text 36"/>
          <p:cNvSpPr/>
          <p:nvPr/>
        </p:nvSpPr>
        <p:spPr>
          <a:xfrm>
            <a:off x="8144256" y="5303520"/>
            <a:ext cx="608076" cy="246888"/>
          </a:xfrm>
          <a:prstGeom prst="roundRect">
            <a:avLst>
              <a:gd name="adj" fmla="val 14815"/>
            </a:avLst>
          </a:prstGeom>
          <a:solidFill>
            <a:srgbClr val="FFFFFF"/>
          </a:solidFill>
          <a:ln w="9525">
            <a:solidFill>
              <a:srgbClr val="DCD8D0"/>
            </a:solidFill>
          </a:ln>
        </p:spPr>
        <p:txBody>
          <a:bodyPr wrap="square" lIns="0" tIns="0" rIns="0" bIns="0" rtlCol="0" anchor="ctr"/>
          <a:lstStyle/>
          <a:p>
            <a:pPr marL="0" indent="0" algn="ctr">
              <a:buNone/>
            </a:pPr>
            <a:r>
              <a:rPr lang="en-US" sz="850" dirty="0">
                <a:solidFill>
                  <a:srgbClr val="5B6066"/>
                </a:solidFill>
                <a:latin typeface="IBM Plex Mono" pitchFamily="34" charset="0"/>
                <a:ea typeface="IBM Plex Mono" pitchFamily="34" charset="-122"/>
                <a:cs typeface="IBM Plex Mono" pitchFamily="34" charset="-120"/>
              </a:rPr>
              <a:t>Docker</a:t>
            </a:r>
            <a:endParaRPr lang="en-US" sz="850" dirty="0"/>
          </a:p>
        </p:txBody>
      </p:sp>
      <p:sp>
        <p:nvSpPr>
          <p:cNvPr id="40" name="Text 37"/>
          <p:cNvSpPr/>
          <p:nvPr/>
        </p:nvSpPr>
        <p:spPr>
          <a:xfrm>
            <a:off x="640080" y="6473952"/>
            <a:ext cx="6400800" cy="164592"/>
          </a:xfrm>
          <a:prstGeom prst="rect">
            <a:avLst/>
          </a:prstGeom>
          <a:noFill/>
          <a:ln/>
        </p:spPr>
        <p:txBody>
          <a:bodyPr wrap="square" lIns="0" tIns="0" rIns="0" bIns="0" rtlCol="0" anchor="t"/>
          <a:lstStyle/>
          <a:p>
            <a:pPr marL="0" indent="0">
              <a:buNone/>
            </a:pPr>
            <a:r>
              <a:rPr lang="en-US" sz="700" kern="0" spc="150" dirty="0">
                <a:solidFill>
                  <a:srgbClr val="6F6A5F"/>
                </a:solidFill>
                <a:latin typeface="IBM Plex Mono" pitchFamily="34" charset="0"/>
                <a:ea typeface="IBM Plex Mono" pitchFamily="34" charset="-122"/>
                <a:cs typeface="IBM Plex Mono" pitchFamily="34" charset="-120"/>
              </a:rPr>
              <a:t>BOLTER TECHNOLOGIES PRIVATE LIMITED  ·  COMPANY PROFILE</a:t>
            </a:r>
            <a:endParaRPr lang="en-US" sz="700" dirty="0"/>
          </a:p>
        </p:txBody>
      </p:sp>
      <p:sp>
        <p:nvSpPr>
          <p:cNvPr id="41" name="Text 38"/>
          <p:cNvSpPr/>
          <p:nvPr/>
        </p:nvSpPr>
        <p:spPr>
          <a:xfrm>
            <a:off x="9722815" y="6473952"/>
            <a:ext cx="1828800" cy="164592"/>
          </a:xfrm>
          <a:prstGeom prst="rect">
            <a:avLst/>
          </a:prstGeom>
          <a:noFill/>
          <a:ln/>
        </p:spPr>
        <p:txBody>
          <a:bodyPr wrap="square" lIns="0" tIns="0" rIns="0" bIns="0" rtlCol="0" anchor="t"/>
          <a:lstStyle/>
          <a:p>
            <a:pPr marL="0" indent="0" algn="r">
              <a:buNone/>
            </a:pPr>
            <a:r>
              <a:rPr lang="en-US" sz="700" kern="0" spc="150" dirty="0">
                <a:solidFill>
                  <a:srgbClr val="6F6A5F"/>
                </a:solidFill>
                <a:latin typeface="IBM Plex Mono" pitchFamily="34" charset="0"/>
                <a:ea typeface="IBM Plex Mono" pitchFamily="34" charset="-122"/>
                <a:cs typeface="IBM Plex Mono" pitchFamily="34" charset="-120"/>
              </a:rPr>
              <a:t>14 / 23</a:t>
            </a:r>
            <a:endParaRPr lang="en-US" sz="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A0B0C"/>
        </a:solidFill>
        <a:effectLst/>
      </p:bgPr>
    </p:bg>
    <p:spTree>
      <p:nvGrpSpPr>
        <p:cNvPr id="1" name=""/>
        <p:cNvGrpSpPr/>
        <p:nvPr/>
      </p:nvGrpSpPr>
      <p:grpSpPr>
        <a:xfrm>
          <a:off x="0" y="0"/>
          <a:ext cx="0" cy="0"/>
          <a:chOff x="0" y="0"/>
          <a:chExt cx="0" cy="0"/>
        </a:xfrm>
      </p:grpSpPr>
      <p:sp>
        <p:nvSpPr>
          <p:cNvPr id="2" name="Shape 0"/>
          <p:cNvSpPr/>
          <p:nvPr/>
        </p:nvSpPr>
        <p:spPr>
          <a:xfrm>
            <a:off x="640080" y="571500"/>
            <a:ext cx="219456" cy="32004"/>
          </a:xfrm>
          <a:prstGeom prst="rect">
            <a:avLst/>
          </a:prstGeom>
          <a:solidFill>
            <a:srgbClr val="E8A33D"/>
          </a:solidFill>
          <a:ln/>
        </p:spPr>
        <p:txBody>
          <a:bodyPr/>
          <a:lstStyle/>
          <a:p>
            <a:endParaRPr lang="en-PK"/>
          </a:p>
        </p:txBody>
      </p:sp>
      <p:sp>
        <p:nvSpPr>
          <p:cNvPr id="3" name="Text 1"/>
          <p:cNvSpPr/>
          <p:nvPr/>
        </p:nvSpPr>
        <p:spPr>
          <a:xfrm>
            <a:off x="969264" y="502920"/>
            <a:ext cx="8229600" cy="182880"/>
          </a:xfrm>
          <a:prstGeom prst="rect">
            <a:avLst/>
          </a:prstGeom>
          <a:noFill/>
          <a:ln/>
        </p:spPr>
        <p:txBody>
          <a:bodyPr wrap="square" lIns="0" tIns="0" rIns="0" bIns="0" rtlCol="0" anchor="t"/>
          <a:lstStyle/>
          <a:p>
            <a:pPr marL="0" indent="0">
              <a:buNone/>
            </a:pPr>
            <a:r>
              <a:rPr lang="en-US" sz="900" b="1" kern="0" spc="200" dirty="0">
                <a:solidFill>
                  <a:srgbClr val="E8A33D"/>
                </a:solidFill>
                <a:latin typeface="IBM Plex Mono" pitchFamily="34" charset="0"/>
                <a:ea typeface="IBM Plex Mono" pitchFamily="34" charset="-122"/>
                <a:cs typeface="IBM Plex Mono" pitchFamily="34" charset="-120"/>
              </a:rPr>
              <a:t>05  SELECTED WORK  ·  03 / 06  ·  AUTOMATION</a:t>
            </a:r>
            <a:endParaRPr lang="en-US" sz="900" dirty="0"/>
          </a:p>
        </p:txBody>
      </p:sp>
      <p:sp>
        <p:nvSpPr>
          <p:cNvPr id="4" name="Text 2"/>
          <p:cNvSpPr/>
          <p:nvPr/>
        </p:nvSpPr>
        <p:spPr>
          <a:xfrm>
            <a:off x="640080" y="777240"/>
            <a:ext cx="5120640" cy="548640"/>
          </a:xfrm>
          <a:prstGeom prst="rect">
            <a:avLst/>
          </a:prstGeom>
          <a:noFill/>
          <a:ln/>
        </p:spPr>
        <p:txBody>
          <a:bodyPr wrap="square" lIns="0" tIns="0" rIns="0" bIns="0" rtlCol="0" anchor="t"/>
          <a:lstStyle/>
          <a:p>
            <a:pPr marL="0" indent="0">
              <a:lnSpc>
                <a:spcPct val="95000"/>
              </a:lnSpc>
              <a:buNone/>
            </a:pPr>
            <a:r>
              <a:rPr lang="en-US" sz="3200" b="1" dirty="0">
                <a:solidFill>
                  <a:srgbClr val="FFFFFF"/>
                </a:solidFill>
                <a:latin typeface="Space Grotesk" pitchFamily="34" charset="0"/>
                <a:ea typeface="Space Grotesk" pitchFamily="34" charset="-122"/>
                <a:cs typeface="Space Grotesk" pitchFamily="34" charset="-120"/>
              </a:rPr>
              <a:t>Current by Logmate</a:t>
            </a:r>
            <a:endParaRPr lang="en-US" sz="3200" dirty="0"/>
          </a:p>
        </p:txBody>
      </p:sp>
      <p:sp>
        <p:nvSpPr>
          <p:cNvPr id="5" name="Text 3"/>
          <p:cNvSpPr/>
          <p:nvPr/>
        </p:nvSpPr>
        <p:spPr>
          <a:xfrm>
            <a:off x="640080" y="1371600"/>
            <a:ext cx="5120640" cy="320040"/>
          </a:xfrm>
          <a:prstGeom prst="rect">
            <a:avLst/>
          </a:prstGeom>
          <a:noFill/>
          <a:ln/>
        </p:spPr>
        <p:txBody>
          <a:bodyPr wrap="square" lIns="0" tIns="0" rIns="0" bIns="0" rtlCol="0" anchor="t"/>
          <a:lstStyle/>
          <a:p>
            <a:pPr marL="0" indent="0">
              <a:buNone/>
            </a:pPr>
            <a:r>
              <a:rPr lang="en-US" sz="1500" dirty="0">
                <a:solidFill>
                  <a:srgbClr val="B6B7B8"/>
                </a:solidFill>
                <a:latin typeface="IBM Plex Sans" pitchFamily="34" charset="0"/>
                <a:ea typeface="IBM Plex Sans" pitchFamily="34" charset="-122"/>
                <a:cs typeface="IBM Plex Sans" pitchFamily="34" charset="-120"/>
              </a:rPr>
              <a:t>Billing and recovery platform</a:t>
            </a:r>
            <a:endParaRPr lang="en-US" sz="1500" dirty="0"/>
          </a:p>
        </p:txBody>
      </p:sp>
      <p:sp>
        <p:nvSpPr>
          <p:cNvPr id="6" name="Shape 4"/>
          <p:cNvSpPr/>
          <p:nvPr/>
        </p:nvSpPr>
        <p:spPr>
          <a:xfrm>
            <a:off x="640080" y="1874520"/>
            <a:ext cx="5120640" cy="0"/>
          </a:xfrm>
          <a:prstGeom prst="line">
            <a:avLst/>
          </a:prstGeom>
          <a:noFill/>
          <a:ln w="9525">
            <a:solidFill>
              <a:srgbClr val="2E3033"/>
            </a:solidFill>
            <a:prstDash val="solid"/>
          </a:ln>
        </p:spPr>
        <p:txBody>
          <a:bodyPr/>
          <a:lstStyle/>
          <a:p>
            <a:endParaRPr lang="en-PK"/>
          </a:p>
        </p:txBody>
      </p:sp>
      <p:sp>
        <p:nvSpPr>
          <p:cNvPr id="7" name="Text 5"/>
          <p:cNvSpPr/>
          <p:nvPr/>
        </p:nvSpPr>
        <p:spPr>
          <a:xfrm>
            <a:off x="640080" y="1984248"/>
            <a:ext cx="5120640" cy="182880"/>
          </a:xfrm>
          <a:prstGeom prst="rect">
            <a:avLst/>
          </a:prstGeom>
          <a:noFill/>
          <a:ln/>
        </p:spPr>
        <p:txBody>
          <a:bodyPr wrap="square" lIns="0" tIns="0" rIns="0" bIns="0" rtlCol="0" anchor="t"/>
          <a:lstStyle/>
          <a:p>
            <a:pPr marL="0" indent="0">
              <a:buNone/>
            </a:pPr>
            <a:r>
              <a:rPr lang="en-US" sz="800" kern="0" spc="150" dirty="0">
                <a:solidFill>
                  <a:srgbClr val="8B8D8F"/>
                </a:solidFill>
                <a:latin typeface="IBM Plex Mono" pitchFamily="34" charset="0"/>
                <a:ea typeface="IBM Plex Mono" pitchFamily="34" charset="-122"/>
                <a:cs typeface="IBM Plex Mono" pitchFamily="34" charset="-120"/>
              </a:rPr>
              <a:t>CLIENT</a:t>
            </a:r>
            <a:endParaRPr lang="en-US" sz="800" dirty="0"/>
          </a:p>
        </p:txBody>
      </p:sp>
      <p:sp>
        <p:nvSpPr>
          <p:cNvPr id="8" name="Text 6"/>
          <p:cNvSpPr/>
          <p:nvPr/>
        </p:nvSpPr>
        <p:spPr>
          <a:xfrm>
            <a:off x="640080" y="2185416"/>
            <a:ext cx="5120640" cy="237744"/>
          </a:xfrm>
          <a:prstGeom prst="rect">
            <a:avLst/>
          </a:prstGeom>
          <a:noFill/>
          <a:ln/>
        </p:spPr>
        <p:txBody>
          <a:bodyPr wrap="square" lIns="0" tIns="0" rIns="0" bIns="0" rtlCol="0" anchor="t"/>
          <a:lstStyle/>
          <a:p>
            <a:pPr marL="0" indent="0">
              <a:buNone/>
            </a:pPr>
            <a:r>
              <a:rPr lang="en-US" sz="1150" dirty="0">
                <a:solidFill>
                  <a:srgbClr val="FFFFFF"/>
                </a:solidFill>
                <a:latin typeface="IBM Plex Sans" pitchFamily="34" charset="0"/>
                <a:ea typeface="IBM Plex Sans" pitchFamily="34" charset="-122"/>
                <a:cs typeface="IBM Plex Sans" pitchFamily="34" charset="-120"/>
              </a:rPr>
              <a:t>Logmate Engineering and Services Private Limited</a:t>
            </a:r>
            <a:endParaRPr lang="en-US" sz="1150" dirty="0"/>
          </a:p>
        </p:txBody>
      </p:sp>
      <p:sp>
        <p:nvSpPr>
          <p:cNvPr id="9" name="Shape 7"/>
          <p:cNvSpPr/>
          <p:nvPr/>
        </p:nvSpPr>
        <p:spPr>
          <a:xfrm>
            <a:off x="640080" y="2514600"/>
            <a:ext cx="5120640" cy="0"/>
          </a:xfrm>
          <a:prstGeom prst="line">
            <a:avLst/>
          </a:prstGeom>
          <a:noFill/>
          <a:ln w="9525">
            <a:solidFill>
              <a:srgbClr val="2E3033"/>
            </a:solidFill>
            <a:prstDash val="solid"/>
          </a:ln>
        </p:spPr>
        <p:txBody>
          <a:bodyPr/>
          <a:lstStyle/>
          <a:p>
            <a:endParaRPr lang="en-PK"/>
          </a:p>
        </p:txBody>
      </p:sp>
      <p:sp>
        <p:nvSpPr>
          <p:cNvPr id="10" name="Text 8"/>
          <p:cNvSpPr/>
          <p:nvPr/>
        </p:nvSpPr>
        <p:spPr>
          <a:xfrm>
            <a:off x="640080" y="2624328"/>
            <a:ext cx="1706880" cy="182880"/>
          </a:xfrm>
          <a:prstGeom prst="rect">
            <a:avLst/>
          </a:prstGeom>
          <a:noFill/>
          <a:ln/>
        </p:spPr>
        <p:txBody>
          <a:bodyPr wrap="square" lIns="0" tIns="0" rIns="0" bIns="0" rtlCol="0" anchor="t"/>
          <a:lstStyle/>
          <a:p>
            <a:pPr marL="0" indent="0">
              <a:buNone/>
            </a:pPr>
            <a:r>
              <a:rPr lang="en-US" sz="800" kern="0" spc="150" dirty="0">
                <a:solidFill>
                  <a:srgbClr val="8B8D8F"/>
                </a:solidFill>
                <a:latin typeface="IBM Plex Mono" pitchFamily="34" charset="0"/>
                <a:ea typeface="IBM Plex Mono" pitchFamily="34" charset="-122"/>
                <a:cs typeface="IBM Plex Mono" pitchFamily="34" charset="-120"/>
              </a:rPr>
              <a:t>YEAR</a:t>
            </a:r>
            <a:endParaRPr lang="en-US" sz="800" dirty="0"/>
          </a:p>
        </p:txBody>
      </p:sp>
      <p:sp>
        <p:nvSpPr>
          <p:cNvPr id="11" name="Text 9"/>
          <p:cNvSpPr/>
          <p:nvPr/>
        </p:nvSpPr>
        <p:spPr>
          <a:xfrm>
            <a:off x="640080" y="2825496"/>
            <a:ext cx="1706880" cy="237744"/>
          </a:xfrm>
          <a:prstGeom prst="rect">
            <a:avLst/>
          </a:prstGeom>
          <a:noFill/>
          <a:ln/>
        </p:spPr>
        <p:txBody>
          <a:bodyPr wrap="square" lIns="0" tIns="0" rIns="0" bIns="0" rtlCol="0" anchor="t"/>
          <a:lstStyle/>
          <a:p>
            <a:pPr marL="0" indent="0">
              <a:buNone/>
            </a:pPr>
            <a:r>
              <a:rPr lang="en-US" sz="1150" dirty="0">
                <a:solidFill>
                  <a:srgbClr val="FFFFFF"/>
                </a:solidFill>
                <a:latin typeface="IBM Plex Sans" pitchFamily="34" charset="0"/>
                <a:ea typeface="IBM Plex Sans" pitchFamily="34" charset="-122"/>
                <a:cs typeface="IBM Plex Sans" pitchFamily="34" charset="-120"/>
              </a:rPr>
              <a:t>2026</a:t>
            </a:r>
            <a:endParaRPr lang="en-US" sz="1150" dirty="0"/>
          </a:p>
        </p:txBody>
      </p:sp>
      <p:sp>
        <p:nvSpPr>
          <p:cNvPr id="12" name="Text 10"/>
          <p:cNvSpPr/>
          <p:nvPr/>
        </p:nvSpPr>
        <p:spPr>
          <a:xfrm>
            <a:off x="2346960" y="2624328"/>
            <a:ext cx="1706880" cy="182880"/>
          </a:xfrm>
          <a:prstGeom prst="rect">
            <a:avLst/>
          </a:prstGeom>
          <a:noFill/>
          <a:ln/>
        </p:spPr>
        <p:txBody>
          <a:bodyPr wrap="square" lIns="0" tIns="0" rIns="0" bIns="0" rtlCol="0" anchor="t"/>
          <a:lstStyle/>
          <a:p>
            <a:pPr marL="0" indent="0">
              <a:buNone/>
            </a:pPr>
            <a:r>
              <a:rPr lang="en-US" sz="800" kern="0" spc="150" dirty="0">
                <a:solidFill>
                  <a:srgbClr val="8B8D8F"/>
                </a:solidFill>
                <a:latin typeface="IBM Plex Mono" pitchFamily="34" charset="0"/>
                <a:ea typeface="IBM Plex Mono" pitchFamily="34" charset="-122"/>
                <a:cs typeface="IBM Plex Mono" pitchFamily="34" charset="-120"/>
              </a:rPr>
              <a:t>DURATION</a:t>
            </a:r>
            <a:endParaRPr lang="en-US" sz="800" dirty="0"/>
          </a:p>
        </p:txBody>
      </p:sp>
      <p:sp>
        <p:nvSpPr>
          <p:cNvPr id="13" name="Text 11"/>
          <p:cNvSpPr/>
          <p:nvPr/>
        </p:nvSpPr>
        <p:spPr>
          <a:xfrm>
            <a:off x="2346960" y="2825496"/>
            <a:ext cx="1706880" cy="237744"/>
          </a:xfrm>
          <a:prstGeom prst="rect">
            <a:avLst/>
          </a:prstGeom>
          <a:noFill/>
          <a:ln/>
        </p:spPr>
        <p:txBody>
          <a:bodyPr wrap="square" lIns="0" tIns="0" rIns="0" bIns="0" rtlCol="0" anchor="t"/>
          <a:lstStyle/>
          <a:p>
            <a:pPr marL="0" indent="0">
              <a:buNone/>
            </a:pPr>
            <a:r>
              <a:rPr lang="en-US" sz="1150" dirty="0">
                <a:solidFill>
                  <a:srgbClr val="FFFFFF"/>
                </a:solidFill>
                <a:latin typeface="IBM Plex Sans" pitchFamily="34" charset="0"/>
                <a:ea typeface="IBM Plex Sans" pitchFamily="34" charset="-122"/>
                <a:cs typeface="IBM Plex Sans" pitchFamily="34" charset="-120"/>
              </a:rPr>
              <a:t>13 weeks</a:t>
            </a:r>
            <a:endParaRPr lang="en-US" sz="1150" dirty="0"/>
          </a:p>
        </p:txBody>
      </p:sp>
      <p:sp>
        <p:nvSpPr>
          <p:cNvPr id="14" name="Text 12"/>
          <p:cNvSpPr/>
          <p:nvPr/>
        </p:nvSpPr>
        <p:spPr>
          <a:xfrm>
            <a:off x="4053840" y="2624328"/>
            <a:ext cx="1706880" cy="182880"/>
          </a:xfrm>
          <a:prstGeom prst="rect">
            <a:avLst/>
          </a:prstGeom>
          <a:noFill/>
          <a:ln/>
        </p:spPr>
        <p:txBody>
          <a:bodyPr wrap="square" lIns="0" tIns="0" rIns="0" bIns="0" rtlCol="0" anchor="t"/>
          <a:lstStyle/>
          <a:p>
            <a:pPr marL="0" indent="0">
              <a:buNone/>
            </a:pPr>
            <a:r>
              <a:rPr lang="en-US" sz="800" kern="0" spc="150" dirty="0">
                <a:solidFill>
                  <a:srgbClr val="8B8D8F"/>
                </a:solidFill>
                <a:latin typeface="IBM Plex Mono" pitchFamily="34" charset="0"/>
                <a:ea typeface="IBM Plex Mono" pitchFamily="34" charset="-122"/>
                <a:cs typeface="IBM Plex Mono" pitchFamily="34" charset="-120"/>
              </a:rPr>
              <a:t>STATUS</a:t>
            </a:r>
            <a:endParaRPr lang="en-US" sz="800" dirty="0"/>
          </a:p>
        </p:txBody>
      </p:sp>
      <p:sp>
        <p:nvSpPr>
          <p:cNvPr id="15" name="Text 13"/>
          <p:cNvSpPr/>
          <p:nvPr/>
        </p:nvSpPr>
        <p:spPr>
          <a:xfrm>
            <a:off x="4053840" y="2825496"/>
            <a:ext cx="1706880" cy="237744"/>
          </a:xfrm>
          <a:prstGeom prst="rect">
            <a:avLst/>
          </a:prstGeom>
          <a:noFill/>
          <a:ln/>
        </p:spPr>
        <p:txBody>
          <a:bodyPr wrap="square" lIns="0" tIns="0" rIns="0" bIns="0" rtlCol="0" anchor="t"/>
          <a:lstStyle/>
          <a:p>
            <a:pPr marL="0" indent="0">
              <a:buNone/>
            </a:pPr>
            <a:r>
              <a:rPr lang="en-US" sz="1150" dirty="0">
                <a:solidFill>
                  <a:srgbClr val="FFFFFF"/>
                </a:solidFill>
                <a:latin typeface="IBM Plex Sans" pitchFamily="34" charset="0"/>
                <a:ea typeface="IBM Plex Sans" pitchFamily="34" charset="-122"/>
                <a:cs typeface="IBM Plex Sans" pitchFamily="34" charset="-120"/>
              </a:rPr>
              <a:t>Ongoing</a:t>
            </a:r>
            <a:endParaRPr lang="en-US" sz="1150" dirty="0"/>
          </a:p>
        </p:txBody>
      </p:sp>
      <p:sp>
        <p:nvSpPr>
          <p:cNvPr id="16" name="Shape 14"/>
          <p:cNvSpPr/>
          <p:nvPr/>
        </p:nvSpPr>
        <p:spPr>
          <a:xfrm>
            <a:off x="640080" y="3154680"/>
            <a:ext cx="5120640" cy="0"/>
          </a:xfrm>
          <a:prstGeom prst="line">
            <a:avLst/>
          </a:prstGeom>
          <a:noFill/>
          <a:ln w="9525">
            <a:solidFill>
              <a:srgbClr val="2E3033"/>
            </a:solidFill>
            <a:prstDash val="solid"/>
          </a:ln>
        </p:spPr>
        <p:txBody>
          <a:bodyPr/>
          <a:lstStyle/>
          <a:p>
            <a:endParaRPr lang="en-PK"/>
          </a:p>
        </p:txBody>
      </p:sp>
      <p:sp>
        <p:nvSpPr>
          <p:cNvPr id="17" name="Text 15"/>
          <p:cNvSpPr/>
          <p:nvPr/>
        </p:nvSpPr>
        <p:spPr>
          <a:xfrm>
            <a:off x="640080" y="3337560"/>
            <a:ext cx="5120640" cy="1143000"/>
          </a:xfrm>
          <a:prstGeom prst="rect">
            <a:avLst/>
          </a:prstGeom>
          <a:noFill/>
          <a:ln/>
        </p:spPr>
        <p:txBody>
          <a:bodyPr wrap="square" lIns="0" tIns="0" rIns="0" bIns="0" rtlCol="0" anchor="t"/>
          <a:lstStyle/>
          <a:p>
            <a:pPr marL="0" indent="0">
              <a:lnSpc>
                <a:spcPct val="125000"/>
              </a:lnSpc>
              <a:buNone/>
            </a:pPr>
            <a:r>
              <a:rPr lang="en-US" sz="1250" dirty="0">
                <a:solidFill>
                  <a:srgbClr val="FFFFFF"/>
                </a:solidFill>
                <a:latin typeface="IBM Plex Sans" pitchFamily="34" charset="0"/>
                <a:ea typeface="IBM Plex Sans" pitchFamily="34" charset="-122"/>
                <a:cs typeface="IBM Plex Sans" pitchFamily="34" charset="-120"/>
              </a:rPr>
              <a:t>An automated electricity billing and payment-recovery platform for a multi-site commercial mall, handling tiered billing, invoicing, multi-channel delivery and bank reconciliation for 250+ tenants.</a:t>
            </a:r>
            <a:endParaRPr lang="en-US" sz="1250" dirty="0"/>
          </a:p>
        </p:txBody>
      </p:sp>
      <p:sp>
        <p:nvSpPr>
          <p:cNvPr id="18" name="Shape 16"/>
          <p:cNvSpPr/>
          <p:nvPr/>
        </p:nvSpPr>
        <p:spPr>
          <a:xfrm>
            <a:off x="640080" y="4572000"/>
            <a:ext cx="2377440" cy="0"/>
          </a:xfrm>
          <a:prstGeom prst="line">
            <a:avLst/>
          </a:prstGeom>
          <a:noFill/>
          <a:ln w="9525">
            <a:solidFill>
              <a:srgbClr val="2E3033"/>
            </a:solidFill>
            <a:prstDash val="solid"/>
          </a:ln>
        </p:spPr>
        <p:txBody>
          <a:bodyPr/>
          <a:lstStyle/>
          <a:p>
            <a:endParaRPr lang="en-PK"/>
          </a:p>
        </p:txBody>
      </p:sp>
      <p:sp>
        <p:nvSpPr>
          <p:cNvPr id="19" name="Text 17"/>
          <p:cNvSpPr/>
          <p:nvPr/>
        </p:nvSpPr>
        <p:spPr>
          <a:xfrm>
            <a:off x="640080" y="4663440"/>
            <a:ext cx="2377440" cy="384048"/>
          </a:xfrm>
          <a:prstGeom prst="rect">
            <a:avLst/>
          </a:prstGeom>
          <a:noFill/>
          <a:ln/>
        </p:spPr>
        <p:txBody>
          <a:bodyPr wrap="square" lIns="0" tIns="0" rIns="0" bIns="0" rtlCol="0" anchor="t"/>
          <a:lstStyle/>
          <a:p>
            <a:pPr marL="0" indent="0">
              <a:buNone/>
            </a:pPr>
            <a:r>
              <a:rPr lang="en-US" sz="2200" b="1" dirty="0">
                <a:solidFill>
                  <a:srgbClr val="E8A33D"/>
                </a:solidFill>
                <a:latin typeface="Space Grotesk" pitchFamily="34" charset="0"/>
                <a:ea typeface="Space Grotesk" pitchFamily="34" charset="-122"/>
                <a:cs typeface="Space Grotesk" pitchFamily="34" charset="-120"/>
              </a:rPr>
              <a:t>250+</a:t>
            </a:r>
            <a:endParaRPr lang="en-US" sz="2200" dirty="0"/>
          </a:p>
        </p:txBody>
      </p:sp>
      <p:sp>
        <p:nvSpPr>
          <p:cNvPr id="20" name="Text 18"/>
          <p:cNvSpPr/>
          <p:nvPr/>
        </p:nvSpPr>
        <p:spPr>
          <a:xfrm>
            <a:off x="640080" y="5047488"/>
            <a:ext cx="2331720" cy="384048"/>
          </a:xfrm>
          <a:prstGeom prst="rect">
            <a:avLst/>
          </a:prstGeom>
          <a:noFill/>
          <a:ln/>
        </p:spPr>
        <p:txBody>
          <a:bodyPr wrap="square" lIns="0" tIns="0" rIns="0" bIns="0" rtlCol="0" anchor="t"/>
          <a:lstStyle/>
          <a:p>
            <a:pPr marL="0" indent="0">
              <a:lnSpc>
                <a:spcPct val="110000"/>
              </a:lnSpc>
              <a:buNone/>
            </a:pPr>
            <a:r>
              <a:rPr lang="en-US" sz="900" dirty="0">
                <a:solidFill>
                  <a:srgbClr val="B6B7B8"/>
                </a:solidFill>
                <a:latin typeface="IBM Plex Sans" pitchFamily="34" charset="0"/>
                <a:ea typeface="IBM Plex Sans" pitchFamily="34" charset="-122"/>
                <a:cs typeface="IBM Plex Sans" pitchFamily="34" charset="-120"/>
              </a:rPr>
              <a:t>tenant accounts billed automatically every month</a:t>
            </a:r>
            <a:endParaRPr lang="en-US" sz="900" dirty="0"/>
          </a:p>
        </p:txBody>
      </p:sp>
      <p:sp>
        <p:nvSpPr>
          <p:cNvPr id="21" name="Shape 19"/>
          <p:cNvSpPr/>
          <p:nvPr/>
        </p:nvSpPr>
        <p:spPr>
          <a:xfrm>
            <a:off x="3200400" y="4572000"/>
            <a:ext cx="2377440" cy="0"/>
          </a:xfrm>
          <a:prstGeom prst="line">
            <a:avLst/>
          </a:prstGeom>
          <a:noFill/>
          <a:ln w="9525">
            <a:solidFill>
              <a:srgbClr val="2E3033"/>
            </a:solidFill>
            <a:prstDash val="solid"/>
          </a:ln>
        </p:spPr>
        <p:txBody>
          <a:bodyPr/>
          <a:lstStyle/>
          <a:p>
            <a:endParaRPr lang="en-PK"/>
          </a:p>
        </p:txBody>
      </p:sp>
      <p:sp>
        <p:nvSpPr>
          <p:cNvPr id="22" name="Text 20"/>
          <p:cNvSpPr/>
          <p:nvPr/>
        </p:nvSpPr>
        <p:spPr>
          <a:xfrm>
            <a:off x="3200400" y="4663440"/>
            <a:ext cx="2377440" cy="384048"/>
          </a:xfrm>
          <a:prstGeom prst="rect">
            <a:avLst/>
          </a:prstGeom>
          <a:noFill/>
          <a:ln/>
        </p:spPr>
        <p:txBody>
          <a:bodyPr wrap="square" lIns="0" tIns="0" rIns="0" bIns="0" rtlCol="0" anchor="t"/>
          <a:lstStyle/>
          <a:p>
            <a:pPr marL="0" indent="0">
              <a:buNone/>
            </a:pPr>
            <a:r>
              <a:rPr lang="en-US" sz="2200" b="1" dirty="0">
                <a:solidFill>
                  <a:srgbClr val="E8A33D"/>
                </a:solidFill>
                <a:latin typeface="Space Grotesk" pitchFamily="34" charset="0"/>
                <a:ea typeface="Space Grotesk" pitchFamily="34" charset="-122"/>
                <a:cs typeface="Space Grotesk" pitchFamily="34" charset="-120"/>
              </a:rPr>
              <a:t>100%</a:t>
            </a:r>
            <a:endParaRPr lang="en-US" sz="2200" dirty="0"/>
          </a:p>
        </p:txBody>
      </p:sp>
      <p:sp>
        <p:nvSpPr>
          <p:cNvPr id="23" name="Text 21"/>
          <p:cNvSpPr/>
          <p:nvPr/>
        </p:nvSpPr>
        <p:spPr>
          <a:xfrm>
            <a:off x="3200400" y="5047488"/>
            <a:ext cx="2331720" cy="384048"/>
          </a:xfrm>
          <a:prstGeom prst="rect">
            <a:avLst/>
          </a:prstGeom>
          <a:noFill/>
          <a:ln/>
        </p:spPr>
        <p:txBody>
          <a:bodyPr wrap="square" lIns="0" tIns="0" rIns="0" bIns="0" rtlCol="0" anchor="t"/>
          <a:lstStyle/>
          <a:p>
            <a:pPr marL="0" indent="0">
              <a:lnSpc>
                <a:spcPct val="110000"/>
              </a:lnSpc>
              <a:buNone/>
            </a:pPr>
            <a:r>
              <a:rPr lang="en-US" sz="900" dirty="0">
                <a:solidFill>
                  <a:srgbClr val="B6B7B8"/>
                </a:solidFill>
                <a:latin typeface="IBM Plex Sans" pitchFamily="34" charset="0"/>
                <a:ea typeface="IBM Plex Sans" pitchFamily="34" charset="-122"/>
                <a:cs typeface="IBM Plex Sans" pitchFamily="34" charset="-120"/>
              </a:rPr>
              <a:t>of bills calculated, generated and delivered without manual entry</a:t>
            </a:r>
            <a:endParaRPr lang="en-US" sz="900" dirty="0"/>
          </a:p>
        </p:txBody>
      </p:sp>
      <p:sp>
        <p:nvSpPr>
          <p:cNvPr id="24" name="Shape 22"/>
          <p:cNvSpPr/>
          <p:nvPr/>
        </p:nvSpPr>
        <p:spPr>
          <a:xfrm>
            <a:off x="640080" y="5440680"/>
            <a:ext cx="2377440" cy="0"/>
          </a:xfrm>
          <a:prstGeom prst="line">
            <a:avLst/>
          </a:prstGeom>
          <a:noFill/>
          <a:ln w="9525">
            <a:solidFill>
              <a:srgbClr val="2E3033"/>
            </a:solidFill>
            <a:prstDash val="solid"/>
          </a:ln>
        </p:spPr>
        <p:txBody>
          <a:bodyPr/>
          <a:lstStyle/>
          <a:p>
            <a:endParaRPr lang="en-PK"/>
          </a:p>
        </p:txBody>
      </p:sp>
      <p:sp>
        <p:nvSpPr>
          <p:cNvPr id="25" name="Text 23"/>
          <p:cNvSpPr/>
          <p:nvPr/>
        </p:nvSpPr>
        <p:spPr>
          <a:xfrm>
            <a:off x="640080" y="5532120"/>
            <a:ext cx="2377440" cy="384048"/>
          </a:xfrm>
          <a:prstGeom prst="rect">
            <a:avLst/>
          </a:prstGeom>
          <a:noFill/>
          <a:ln/>
        </p:spPr>
        <p:txBody>
          <a:bodyPr wrap="square" lIns="0" tIns="0" rIns="0" bIns="0" rtlCol="0" anchor="t"/>
          <a:lstStyle/>
          <a:p>
            <a:pPr marL="0" indent="0">
              <a:buNone/>
            </a:pPr>
            <a:r>
              <a:rPr lang="en-US" sz="2200" b="1" dirty="0">
                <a:solidFill>
                  <a:srgbClr val="E8A33D"/>
                </a:solidFill>
                <a:latin typeface="Space Grotesk" pitchFamily="34" charset="0"/>
                <a:ea typeface="Space Grotesk" pitchFamily="34" charset="-122"/>
                <a:cs typeface="Space Grotesk" pitchFamily="34" charset="-120"/>
              </a:rPr>
              <a:t>~70%</a:t>
            </a:r>
            <a:endParaRPr lang="en-US" sz="2200" dirty="0"/>
          </a:p>
        </p:txBody>
      </p:sp>
      <p:sp>
        <p:nvSpPr>
          <p:cNvPr id="26" name="Text 24"/>
          <p:cNvSpPr/>
          <p:nvPr/>
        </p:nvSpPr>
        <p:spPr>
          <a:xfrm>
            <a:off x="640080" y="5916168"/>
            <a:ext cx="2331720" cy="384048"/>
          </a:xfrm>
          <a:prstGeom prst="rect">
            <a:avLst/>
          </a:prstGeom>
          <a:noFill/>
          <a:ln/>
        </p:spPr>
        <p:txBody>
          <a:bodyPr wrap="square" lIns="0" tIns="0" rIns="0" bIns="0" rtlCol="0" anchor="t"/>
          <a:lstStyle/>
          <a:p>
            <a:pPr marL="0" indent="0">
              <a:lnSpc>
                <a:spcPct val="110000"/>
              </a:lnSpc>
              <a:buNone/>
            </a:pPr>
            <a:r>
              <a:rPr lang="en-US" sz="900" dirty="0">
                <a:solidFill>
                  <a:srgbClr val="B6B7B8"/>
                </a:solidFill>
                <a:latin typeface="IBM Plex Sans" pitchFamily="34" charset="0"/>
                <a:ea typeface="IBM Plex Sans" pitchFamily="34" charset="-122"/>
                <a:cs typeface="IBM Plex Sans" pitchFamily="34" charset="-120"/>
              </a:rPr>
              <a:t>less manual effort spent on billing and reconciliation</a:t>
            </a:r>
            <a:endParaRPr lang="en-US" sz="900" dirty="0"/>
          </a:p>
        </p:txBody>
      </p:sp>
      <p:sp>
        <p:nvSpPr>
          <p:cNvPr id="27" name="Shape 25"/>
          <p:cNvSpPr/>
          <p:nvPr/>
        </p:nvSpPr>
        <p:spPr>
          <a:xfrm>
            <a:off x="3200400" y="5440680"/>
            <a:ext cx="2377440" cy="0"/>
          </a:xfrm>
          <a:prstGeom prst="line">
            <a:avLst/>
          </a:prstGeom>
          <a:noFill/>
          <a:ln w="9525">
            <a:solidFill>
              <a:srgbClr val="2E3033"/>
            </a:solidFill>
            <a:prstDash val="solid"/>
          </a:ln>
        </p:spPr>
        <p:txBody>
          <a:bodyPr/>
          <a:lstStyle/>
          <a:p>
            <a:endParaRPr lang="en-PK"/>
          </a:p>
        </p:txBody>
      </p:sp>
      <p:sp>
        <p:nvSpPr>
          <p:cNvPr id="28" name="Text 26"/>
          <p:cNvSpPr/>
          <p:nvPr/>
        </p:nvSpPr>
        <p:spPr>
          <a:xfrm>
            <a:off x="3200400" y="5532120"/>
            <a:ext cx="2377440" cy="384048"/>
          </a:xfrm>
          <a:prstGeom prst="rect">
            <a:avLst/>
          </a:prstGeom>
          <a:noFill/>
          <a:ln/>
        </p:spPr>
        <p:txBody>
          <a:bodyPr wrap="square" lIns="0" tIns="0" rIns="0" bIns="0" rtlCol="0" anchor="t"/>
          <a:lstStyle/>
          <a:p>
            <a:pPr marL="0" indent="0">
              <a:buNone/>
            </a:pPr>
            <a:r>
              <a:rPr lang="en-US" sz="2200" b="1" dirty="0">
                <a:solidFill>
                  <a:srgbClr val="E8A33D"/>
                </a:solidFill>
                <a:latin typeface="Space Grotesk" pitchFamily="34" charset="0"/>
                <a:ea typeface="Space Grotesk" pitchFamily="34" charset="-122"/>
                <a:cs typeface="Space Grotesk" pitchFamily="34" charset="-120"/>
              </a:rPr>
              <a:t>24/7</a:t>
            </a:r>
            <a:endParaRPr lang="en-US" sz="2200" dirty="0"/>
          </a:p>
        </p:txBody>
      </p:sp>
      <p:sp>
        <p:nvSpPr>
          <p:cNvPr id="29" name="Text 27"/>
          <p:cNvSpPr/>
          <p:nvPr/>
        </p:nvSpPr>
        <p:spPr>
          <a:xfrm>
            <a:off x="3200400" y="5916168"/>
            <a:ext cx="2331720" cy="384048"/>
          </a:xfrm>
          <a:prstGeom prst="rect">
            <a:avLst/>
          </a:prstGeom>
          <a:noFill/>
          <a:ln/>
        </p:spPr>
        <p:txBody>
          <a:bodyPr wrap="square" lIns="0" tIns="0" rIns="0" bIns="0" rtlCol="0" anchor="t"/>
          <a:lstStyle/>
          <a:p>
            <a:pPr marL="0" indent="0">
              <a:lnSpc>
                <a:spcPct val="110000"/>
              </a:lnSpc>
              <a:buNone/>
            </a:pPr>
            <a:r>
              <a:rPr lang="en-US" sz="900" dirty="0">
                <a:solidFill>
                  <a:srgbClr val="B6B7B8"/>
                </a:solidFill>
                <a:latin typeface="IBM Plex Sans" pitchFamily="34" charset="0"/>
                <a:ea typeface="IBM Plex Sans" pitchFamily="34" charset="-122"/>
                <a:cs typeface="IBM Plex Sans" pitchFamily="34" charset="-120"/>
              </a:rPr>
              <a:t>automated bank payment reconciliation</a:t>
            </a:r>
            <a:endParaRPr lang="en-US" sz="900" dirty="0"/>
          </a:p>
        </p:txBody>
      </p:sp>
      <p:pic>
        <p:nvPicPr>
          <p:cNvPr id="30" name="Image 0" descr="X:\code\personal\boltertech.com\public\work\current-by-logmate\current-admin-dashboard.png"/>
          <p:cNvPicPr>
            <a:picLocks noChangeAspect="1"/>
          </p:cNvPicPr>
          <p:nvPr/>
        </p:nvPicPr>
        <p:blipFill>
          <a:blip r:embed="rId3"/>
          <a:stretch>
            <a:fillRect/>
          </a:stretch>
        </p:blipFill>
        <p:spPr>
          <a:xfrm>
            <a:off x="6263640" y="502920"/>
            <a:ext cx="5287975" cy="2974486"/>
          </a:xfrm>
          <a:prstGeom prst="rect">
            <a:avLst/>
          </a:prstGeom>
        </p:spPr>
      </p:pic>
      <p:sp>
        <p:nvSpPr>
          <p:cNvPr id="31" name="Shape 28"/>
          <p:cNvSpPr/>
          <p:nvPr/>
        </p:nvSpPr>
        <p:spPr>
          <a:xfrm>
            <a:off x="6263640" y="502920"/>
            <a:ext cx="5287975" cy="2974486"/>
          </a:xfrm>
          <a:prstGeom prst="rect">
            <a:avLst/>
          </a:prstGeom>
          <a:ln w="9525">
            <a:solidFill>
              <a:srgbClr val="2E3033"/>
            </a:solidFill>
            <a:prstDash val="solid"/>
          </a:ln>
        </p:spPr>
        <p:txBody>
          <a:bodyPr/>
          <a:lstStyle/>
          <a:p>
            <a:endParaRPr lang="en-PK"/>
          </a:p>
        </p:txBody>
      </p:sp>
      <p:sp>
        <p:nvSpPr>
          <p:cNvPr id="32" name="Text 29"/>
          <p:cNvSpPr/>
          <p:nvPr/>
        </p:nvSpPr>
        <p:spPr>
          <a:xfrm>
            <a:off x="6263640" y="3843166"/>
            <a:ext cx="3367735" cy="365760"/>
          </a:xfrm>
          <a:prstGeom prst="rect">
            <a:avLst/>
          </a:prstGeom>
          <a:noFill/>
          <a:ln/>
        </p:spPr>
        <p:txBody>
          <a:bodyPr wrap="square" lIns="0" tIns="0" rIns="0" bIns="0" rtlCol="0" anchor="t"/>
          <a:lstStyle/>
          <a:p>
            <a:pPr marL="0" indent="0">
              <a:buNone/>
            </a:pPr>
            <a:r>
              <a:rPr lang="en-US" sz="750" kern="0" spc="100" dirty="0">
                <a:solidFill>
                  <a:srgbClr val="8B8D8F"/>
                </a:solidFill>
                <a:latin typeface="IBM Plex Mono" pitchFamily="34" charset="0"/>
                <a:ea typeface="IBM Plex Mono" pitchFamily="34" charset="-122"/>
                <a:cs typeface="IBM Plex Mono" pitchFamily="34" charset="-120"/>
              </a:rPr>
              <a:t>MONTHLY BILLING &amp; RECONCILIATION TIME (HOURS)</a:t>
            </a:r>
            <a:endParaRPr lang="en-US" sz="750" dirty="0"/>
          </a:p>
        </p:txBody>
      </p:sp>
      <p:sp>
        <p:nvSpPr>
          <p:cNvPr id="33" name="Text 30"/>
          <p:cNvSpPr/>
          <p:nvPr/>
        </p:nvSpPr>
        <p:spPr>
          <a:xfrm>
            <a:off x="9768535" y="3824878"/>
            <a:ext cx="1005840" cy="219456"/>
          </a:xfrm>
          <a:prstGeom prst="rect">
            <a:avLst/>
          </a:prstGeom>
          <a:noFill/>
          <a:ln/>
        </p:spPr>
        <p:txBody>
          <a:bodyPr wrap="square" lIns="0" tIns="0" rIns="0" bIns="0" rtlCol="0" anchor="ctr"/>
          <a:lstStyle/>
          <a:p>
            <a:pPr marL="0" indent="0" algn="r">
              <a:buNone/>
            </a:pPr>
            <a:r>
              <a:rPr lang="en-US" sz="900" dirty="0">
                <a:solidFill>
                  <a:srgbClr val="B6B7B8"/>
                </a:solidFill>
                <a:latin typeface="IBM Plex Mono" pitchFamily="34" charset="0"/>
                <a:ea typeface="IBM Plex Mono" pitchFamily="34" charset="-122"/>
                <a:cs typeface="IBM Plex Mono" pitchFamily="34" charset="-120"/>
              </a:rPr>
              <a:t>92 → 18</a:t>
            </a:r>
            <a:endParaRPr lang="en-US" sz="900" dirty="0"/>
          </a:p>
        </p:txBody>
      </p:sp>
      <p:sp>
        <p:nvSpPr>
          <p:cNvPr id="34" name="Text 31"/>
          <p:cNvSpPr/>
          <p:nvPr/>
        </p:nvSpPr>
        <p:spPr>
          <a:xfrm>
            <a:off x="10865815" y="3824878"/>
            <a:ext cx="685800" cy="219456"/>
          </a:xfrm>
          <a:prstGeom prst="roundRect">
            <a:avLst>
              <a:gd name="adj" fmla="val 16667"/>
            </a:avLst>
          </a:prstGeom>
          <a:solidFill>
            <a:srgbClr val="2A1F0D"/>
          </a:solidFill>
          <a:ln w="6350">
            <a:solidFill>
              <a:srgbClr val="E8A33D"/>
            </a:solidFill>
          </a:ln>
        </p:spPr>
        <p:txBody>
          <a:bodyPr wrap="square" lIns="0" tIns="0" rIns="0" bIns="0" rtlCol="0" anchor="ctr"/>
          <a:lstStyle/>
          <a:p>
            <a:pPr marL="0" indent="0" algn="ctr">
              <a:buNone/>
            </a:pPr>
            <a:r>
              <a:rPr lang="en-US" sz="900" b="1" dirty="0">
                <a:solidFill>
                  <a:srgbClr val="E8A33D"/>
                </a:solidFill>
                <a:latin typeface="IBM Plex Mono" pitchFamily="34" charset="0"/>
                <a:ea typeface="IBM Plex Mono" pitchFamily="34" charset="-122"/>
                <a:cs typeface="IBM Plex Mono" pitchFamily="34" charset="-120"/>
              </a:rPr>
              <a:t>-80%</a:t>
            </a:r>
            <a:endParaRPr lang="en-US" sz="900" dirty="0"/>
          </a:p>
        </p:txBody>
      </p:sp>
      <p:graphicFrame>
        <p:nvGraphicFramePr>
          <p:cNvPr id="35" name="Chart 0"/>
          <p:cNvGraphicFramePr/>
          <p:nvPr/>
        </p:nvGraphicFramePr>
        <p:xfrm>
          <a:off x="6190488" y="4227214"/>
          <a:ext cx="5434279" cy="2082146"/>
        </p:xfrm>
        <a:graphic>
          <a:graphicData uri="http://schemas.openxmlformats.org/drawingml/2006/chart">
            <c:chart xmlns:c="http://schemas.openxmlformats.org/drawingml/2006/chart" xmlns:r="http://schemas.openxmlformats.org/officeDocument/2006/relationships" r:id="rId4"/>
          </a:graphicData>
        </a:graphic>
      </p:graphicFrame>
      <p:sp>
        <p:nvSpPr>
          <p:cNvPr id="36" name="Text 32"/>
          <p:cNvSpPr/>
          <p:nvPr/>
        </p:nvSpPr>
        <p:spPr>
          <a:xfrm>
            <a:off x="640080" y="6473952"/>
            <a:ext cx="6400800" cy="164592"/>
          </a:xfrm>
          <a:prstGeom prst="rect">
            <a:avLst/>
          </a:prstGeom>
          <a:noFill/>
          <a:ln/>
        </p:spPr>
        <p:txBody>
          <a:bodyPr wrap="square" lIns="0" tIns="0" rIns="0" bIns="0" rtlCol="0" anchor="t"/>
          <a:lstStyle/>
          <a:p>
            <a:pPr marL="0" indent="0">
              <a:buNone/>
            </a:pPr>
            <a:r>
              <a:rPr lang="en-US" sz="700" kern="0" spc="150" dirty="0">
                <a:solidFill>
                  <a:srgbClr val="8B8D8F"/>
                </a:solidFill>
                <a:latin typeface="IBM Plex Mono" pitchFamily="34" charset="0"/>
                <a:ea typeface="IBM Plex Mono" pitchFamily="34" charset="-122"/>
                <a:cs typeface="IBM Plex Mono" pitchFamily="34" charset="-120"/>
              </a:rPr>
              <a:t>BOLTER TECHNOLOGIES PRIVATE LIMITED  ·  COMPANY PROFILE</a:t>
            </a:r>
            <a:endParaRPr lang="en-US" sz="700" dirty="0"/>
          </a:p>
        </p:txBody>
      </p:sp>
      <p:sp>
        <p:nvSpPr>
          <p:cNvPr id="37" name="Text 33"/>
          <p:cNvSpPr/>
          <p:nvPr/>
        </p:nvSpPr>
        <p:spPr>
          <a:xfrm>
            <a:off x="9722815" y="6473952"/>
            <a:ext cx="1828800" cy="164592"/>
          </a:xfrm>
          <a:prstGeom prst="rect">
            <a:avLst/>
          </a:prstGeom>
          <a:noFill/>
          <a:ln/>
        </p:spPr>
        <p:txBody>
          <a:bodyPr wrap="square" lIns="0" tIns="0" rIns="0" bIns="0" rtlCol="0" anchor="t"/>
          <a:lstStyle/>
          <a:p>
            <a:pPr marL="0" indent="0" algn="r">
              <a:buNone/>
            </a:pPr>
            <a:r>
              <a:rPr lang="en-US" sz="700" kern="0" spc="150" dirty="0">
                <a:solidFill>
                  <a:srgbClr val="8B8D8F"/>
                </a:solidFill>
                <a:latin typeface="IBM Plex Mono" pitchFamily="34" charset="0"/>
                <a:ea typeface="IBM Plex Mono" pitchFamily="34" charset="-122"/>
                <a:cs typeface="IBM Plex Mono" pitchFamily="34" charset="-120"/>
              </a:rPr>
              <a:t>15 / 23</a:t>
            </a:r>
            <a:endParaRPr lang="en-US" sz="7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3F1ED"/>
        </a:solidFill>
        <a:effectLst/>
      </p:bgPr>
    </p:bg>
    <p:spTree>
      <p:nvGrpSpPr>
        <p:cNvPr id="1" name=""/>
        <p:cNvGrpSpPr/>
        <p:nvPr/>
      </p:nvGrpSpPr>
      <p:grpSpPr>
        <a:xfrm>
          <a:off x="0" y="0"/>
          <a:ext cx="0" cy="0"/>
          <a:chOff x="0" y="0"/>
          <a:chExt cx="0" cy="0"/>
        </a:xfrm>
      </p:grpSpPr>
      <p:sp>
        <p:nvSpPr>
          <p:cNvPr id="2" name="Shape 0"/>
          <p:cNvSpPr/>
          <p:nvPr/>
        </p:nvSpPr>
        <p:spPr>
          <a:xfrm>
            <a:off x="640080" y="571500"/>
            <a:ext cx="219456" cy="32004"/>
          </a:xfrm>
          <a:prstGeom prst="rect">
            <a:avLst/>
          </a:prstGeom>
          <a:solidFill>
            <a:srgbClr val="8F5D0A"/>
          </a:solidFill>
          <a:ln/>
        </p:spPr>
        <p:txBody>
          <a:bodyPr/>
          <a:lstStyle/>
          <a:p>
            <a:endParaRPr lang="en-PK"/>
          </a:p>
        </p:txBody>
      </p:sp>
      <p:sp>
        <p:nvSpPr>
          <p:cNvPr id="3" name="Text 1"/>
          <p:cNvSpPr/>
          <p:nvPr/>
        </p:nvSpPr>
        <p:spPr>
          <a:xfrm>
            <a:off x="969264" y="502920"/>
            <a:ext cx="8229600" cy="182880"/>
          </a:xfrm>
          <a:prstGeom prst="rect">
            <a:avLst/>
          </a:prstGeom>
          <a:noFill/>
          <a:ln/>
        </p:spPr>
        <p:txBody>
          <a:bodyPr wrap="square" lIns="0" tIns="0" rIns="0" bIns="0" rtlCol="0" anchor="t"/>
          <a:lstStyle/>
          <a:p>
            <a:pPr marL="0" indent="0">
              <a:buNone/>
            </a:pPr>
            <a:r>
              <a:rPr lang="en-US" sz="900" b="1" kern="0" spc="200" dirty="0">
                <a:solidFill>
                  <a:srgbClr val="8F5D0A"/>
                </a:solidFill>
                <a:latin typeface="IBM Plex Mono" pitchFamily="34" charset="0"/>
                <a:ea typeface="IBM Plex Mono" pitchFamily="34" charset="-122"/>
                <a:cs typeface="IBM Plex Mono" pitchFamily="34" charset="-120"/>
              </a:rPr>
              <a:t>05  SELECTED WORK  ·  04 / 06  ·  AI</a:t>
            </a:r>
            <a:endParaRPr lang="en-US" sz="900" dirty="0"/>
          </a:p>
        </p:txBody>
      </p:sp>
      <p:sp>
        <p:nvSpPr>
          <p:cNvPr id="4" name="Text 2"/>
          <p:cNvSpPr/>
          <p:nvPr/>
        </p:nvSpPr>
        <p:spPr>
          <a:xfrm>
            <a:off x="640080" y="777240"/>
            <a:ext cx="5120640" cy="548640"/>
          </a:xfrm>
          <a:prstGeom prst="rect">
            <a:avLst/>
          </a:prstGeom>
          <a:noFill/>
          <a:ln/>
        </p:spPr>
        <p:txBody>
          <a:bodyPr wrap="square" lIns="0" tIns="0" rIns="0" bIns="0" rtlCol="0" anchor="t"/>
          <a:lstStyle/>
          <a:p>
            <a:pPr marL="0" indent="0">
              <a:lnSpc>
                <a:spcPct val="95000"/>
              </a:lnSpc>
              <a:buNone/>
            </a:pPr>
            <a:r>
              <a:rPr lang="en-US" sz="3200" b="1" dirty="0">
                <a:solidFill>
                  <a:srgbClr val="14161A"/>
                </a:solidFill>
                <a:latin typeface="Space Grotesk" pitchFamily="34" charset="0"/>
                <a:ea typeface="Space Grotesk" pitchFamily="34" charset="-122"/>
                <a:cs typeface="Space Grotesk" pitchFamily="34" charset="-120"/>
              </a:rPr>
              <a:t>EchoHunt</a:t>
            </a:r>
            <a:endParaRPr lang="en-US" sz="3200" dirty="0"/>
          </a:p>
        </p:txBody>
      </p:sp>
      <p:sp>
        <p:nvSpPr>
          <p:cNvPr id="5" name="Text 3"/>
          <p:cNvSpPr/>
          <p:nvPr/>
        </p:nvSpPr>
        <p:spPr>
          <a:xfrm>
            <a:off x="640080" y="1371600"/>
            <a:ext cx="5120640" cy="320040"/>
          </a:xfrm>
          <a:prstGeom prst="rect">
            <a:avLst/>
          </a:prstGeom>
          <a:noFill/>
          <a:ln/>
        </p:spPr>
        <p:txBody>
          <a:bodyPr wrap="square" lIns="0" tIns="0" rIns="0" bIns="0" rtlCol="0" anchor="t"/>
          <a:lstStyle/>
          <a:p>
            <a:pPr marL="0" indent="0">
              <a:buNone/>
            </a:pPr>
            <a:r>
              <a:rPr lang="en-US" sz="1500" dirty="0">
                <a:solidFill>
                  <a:srgbClr val="5B6066"/>
                </a:solidFill>
                <a:latin typeface="IBM Plex Sans" pitchFamily="34" charset="0"/>
                <a:ea typeface="IBM Plex Sans" pitchFamily="34" charset="-122"/>
                <a:cs typeface="IBM Plex Sans" pitchFamily="34" charset="-120"/>
              </a:rPr>
              <a:t>Digital discourse monitoring</a:t>
            </a:r>
            <a:endParaRPr lang="en-US" sz="1500" dirty="0"/>
          </a:p>
        </p:txBody>
      </p:sp>
      <p:sp>
        <p:nvSpPr>
          <p:cNvPr id="6" name="Shape 4"/>
          <p:cNvSpPr/>
          <p:nvPr/>
        </p:nvSpPr>
        <p:spPr>
          <a:xfrm>
            <a:off x="640080" y="1874520"/>
            <a:ext cx="5120640" cy="0"/>
          </a:xfrm>
          <a:prstGeom prst="line">
            <a:avLst/>
          </a:prstGeom>
          <a:noFill/>
          <a:ln w="9525">
            <a:solidFill>
              <a:srgbClr val="DCD8D0"/>
            </a:solidFill>
            <a:prstDash val="solid"/>
          </a:ln>
        </p:spPr>
        <p:txBody>
          <a:bodyPr/>
          <a:lstStyle/>
          <a:p>
            <a:endParaRPr lang="en-PK"/>
          </a:p>
        </p:txBody>
      </p:sp>
      <p:sp>
        <p:nvSpPr>
          <p:cNvPr id="7" name="Text 5"/>
          <p:cNvSpPr/>
          <p:nvPr/>
        </p:nvSpPr>
        <p:spPr>
          <a:xfrm>
            <a:off x="640080" y="1984248"/>
            <a:ext cx="5120640" cy="182880"/>
          </a:xfrm>
          <a:prstGeom prst="rect">
            <a:avLst/>
          </a:prstGeom>
          <a:noFill/>
          <a:ln/>
        </p:spPr>
        <p:txBody>
          <a:bodyPr wrap="square" lIns="0" tIns="0" rIns="0" bIns="0" rtlCol="0" anchor="t"/>
          <a:lstStyle/>
          <a:p>
            <a:pPr marL="0" indent="0">
              <a:buNone/>
            </a:pPr>
            <a:r>
              <a:rPr lang="en-US" sz="800" kern="0" spc="150" dirty="0">
                <a:solidFill>
                  <a:srgbClr val="6F6A5F"/>
                </a:solidFill>
                <a:latin typeface="IBM Plex Mono" pitchFamily="34" charset="0"/>
                <a:ea typeface="IBM Plex Mono" pitchFamily="34" charset="-122"/>
                <a:cs typeface="IBM Plex Mono" pitchFamily="34" charset="-120"/>
              </a:rPr>
              <a:t>CLIENT</a:t>
            </a:r>
            <a:endParaRPr lang="en-US" sz="800" dirty="0"/>
          </a:p>
        </p:txBody>
      </p:sp>
      <p:sp>
        <p:nvSpPr>
          <p:cNvPr id="8" name="Text 6"/>
          <p:cNvSpPr/>
          <p:nvPr/>
        </p:nvSpPr>
        <p:spPr>
          <a:xfrm>
            <a:off x="640080" y="2185416"/>
            <a:ext cx="5120640" cy="237744"/>
          </a:xfrm>
          <a:prstGeom prst="rect">
            <a:avLst/>
          </a:prstGeom>
          <a:noFill/>
          <a:ln/>
        </p:spPr>
        <p:txBody>
          <a:bodyPr wrap="square" lIns="0" tIns="0" rIns="0" bIns="0" rtlCol="0" anchor="t"/>
          <a:lstStyle/>
          <a:p>
            <a:pPr marL="0" indent="0">
              <a:buNone/>
            </a:pPr>
            <a:r>
              <a:rPr lang="en-US" sz="1150" dirty="0">
                <a:solidFill>
                  <a:srgbClr val="14161A"/>
                </a:solidFill>
                <a:latin typeface="IBM Plex Sans" pitchFamily="34" charset="0"/>
                <a:ea typeface="IBM Plex Sans" pitchFamily="34" charset="-122"/>
                <a:cs typeface="IBM Plex Sans" pitchFamily="34" charset="-120"/>
              </a:rPr>
              <a:t>Government and public sector communications — name withheld</a:t>
            </a:r>
            <a:endParaRPr lang="en-US" sz="1150" dirty="0"/>
          </a:p>
        </p:txBody>
      </p:sp>
      <p:sp>
        <p:nvSpPr>
          <p:cNvPr id="9" name="Shape 7"/>
          <p:cNvSpPr/>
          <p:nvPr/>
        </p:nvSpPr>
        <p:spPr>
          <a:xfrm>
            <a:off x="640080" y="2514600"/>
            <a:ext cx="5120640" cy="0"/>
          </a:xfrm>
          <a:prstGeom prst="line">
            <a:avLst/>
          </a:prstGeom>
          <a:noFill/>
          <a:ln w="9525">
            <a:solidFill>
              <a:srgbClr val="DCD8D0"/>
            </a:solidFill>
            <a:prstDash val="solid"/>
          </a:ln>
        </p:spPr>
        <p:txBody>
          <a:bodyPr/>
          <a:lstStyle/>
          <a:p>
            <a:endParaRPr lang="en-PK"/>
          </a:p>
        </p:txBody>
      </p:sp>
      <p:sp>
        <p:nvSpPr>
          <p:cNvPr id="10" name="Text 8"/>
          <p:cNvSpPr/>
          <p:nvPr/>
        </p:nvSpPr>
        <p:spPr>
          <a:xfrm>
            <a:off x="640080" y="2624328"/>
            <a:ext cx="1706880" cy="182880"/>
          </a:xfrm>
          <a:prstGeom prst="rect">
            <a:avLst/>
          </a:prstGeom>
          <a:noFill/>
          <a:ln/>
        </p:spPr>
        <p:txBody>
          <a:bodyPr wrap="square" lIns="0" tIns="0" rIns="0" bIns="0" rtlCol="0" anchor="t"/>
          <a:lstStyle/>
          <a:p>
            <a:pPr marL="0" indent="0">
              <a:buNone/>
            </a:pPr>
            <a:r>
              <a:rPr lang="en-US" sz="800" kern="0" spc="150" dirty="0">
                <a:solidFill>
                  <a:srgbClr val="6F6A5F"/>
                </a:solidFill>
                <a:latin typeface="IBM Plex Mono" pitchFamily="34" charset="0"/>
                <a:ea typeface="IBM Plex Mono" pitchFamily="34" charset="-122"/>
                <a:cs typeface="IBM Plex Mono" pitchFamily="34" charset="-120"/>
              </a:rPr>
              <a:t>YEAR</a:t>
            </a:r>
            <a:endParaRPr lang="en-US" sz="800" dirty="0"/>
          </a:p>
        </p:txBody>
      </p:sp>
      <p:sp>
        <p:nvSpPr>
          <p:cNvPr id="11" name="Text 9"/>
          <p:cNvSpPr/>
          <p:nvPr/>
        </p:nvSpPr>
        <p:spPr>
          <a:xfrm>
            <a:off x="640080" y="2825496"/>
            <a:ext cx="1706880" cy="237744"/>
          </a:xfrm>
          <a:prstGeom prst="rect">
            <a:avLst/>
          </a:prstGeom>
          <a:noFill/>
          <a:ln/>
        </p:spPr>
        <p:txBody>
          <a:bodyPr wrap="square" lIns="0" tIns="0" rIns="0" bIns="0" rtlCol="0" anchor="t"/>
          <a:lstStyle/>
          <a:p>
            <a:pPr marL="0" indent="0">
              <a:buNone/>
            </a:pPr>
            <a:r>
              <a:rPr lang="en-US" sz="1150" dirty="0">
                <a:solidFill>
                  <a:srgbClr val="14161A"/>
                </a:solidFill>
                <a:latin typeface="IBM Plex Sans" pitchFamily="34" charset="0"/>
                <a:ea typeface="IBM Plex Sans" pitchFamily="34" charset="-122"/>
                <a:cs typeface="IBM Plex Sans" pitchFamily="34" charset="-120"/>
              </a:rPr>
              <a:t>2025</a:t>
            </a:r>
            <a:endParaRPr lang="en-US" sz="1150" dirty="0"/>
          </a:p>
        </p:txBody>
      </p:sp>
      <p:sp>
        <p:nvSpPr>
          <p:cNvPr id="12" name="Text 10"/>
          <p:cNvSpPr/>
          <p:nvPr/>
        </p:nvSpPr>
        <p:spPr>
          <a:xfrm>
            <a:off x="2346960" y="2624328"/>
            <a:ext cx="1706880" cy="182880"/>
          </a:xfrm>
          <a:prstGeom prst="rect">
            <a:avLst/>
          </a:prstGeom>
          <a:noFill/>
          <a:ln/>
        </p:spPr>
        <p:txBody>
          <a:bodyPr wrap="square" lIns="0" tIns="0" rIns="0" bIns="0" rtlCol="0" anchor="t"/>
          <a:lstStyle/>
          <a:p>
            <a:pPr marL="0" indent="0">
              <a:buNone/>
            </a:pPr>
            <a:r>
              <a:rPr lang="en-US" sz="800" kern="0" spc="150" dirty="0">
                <a:solidFill>
                  <a:srgbClr val="6F6A5F"/>
                </a:solidFill>
                <a:latin typeface="IBM Plex Mono" pitchFamily="34" charset="0"/>
                <a:ea typeface="IBM Plex Mono" pitchFamily="34" charset="-122"/>
                <a:cs typeface="IBM Plex Mono" pitchFamily="34" charset="-120"/>
              </a:rPr>
              <a:t>DURATION</a:t>
            </a:r>
            <a:endParaRPr lang="en-US" sz="800" dirty="0"/>
          </a:p>
        </p:txBody>
      </p:sp>
      <p:sp>
        <p:nvSpPr>
          <p:cNvPr id="13" name="Text 11"/>
          <p:cNvSpPr/>
          <p:nvPr/>
        </p:nvSpPr>
        <p:spPr>
          <a:xfrm>
            <a:off x="2346960" y="2825496"/>
            <a:ext cx="1706880" cy="237744"/>
          </a:xfrm>
          <a:prstGeom prst="rect">
            <a:avLst/>
          </a:prstGeom>
          <a:noFill/>
          <a:ln/>
        </p:spPr>
        <p:txBody>
          <a:bodyPr wrap="square" lIns="0" tIns="0" rIns="0" bIns="0" rtlCol="0" anchor="t"/>
          <a:lstStyle/>
          <a:p>
            <a:pPr marL="0" indent="0">
              <a:buNone/>
            </a:pPr>
            <a:r>
              <a:rPr lang="en-US" sz="1150" dirty="0">
                <a:solidFill>
                  <a:srgbClr val="14161A"/>
                </a:solidFill>
                <a:latin typeface="IBM Plex Sans" pitchFamily="34" charset="0"/>
                <a:ea typeface="IBM Plex Sans" pitchFamily="34" charset="-122"/>
                <a:cs typeface="IBM Plex Sans" pitchFamily="34" charset="-120"/>
              </a:rPr>
              <a:t>10 months</a:t>
            </a:r>
            <a:endParaRPr lang="en-US" sz="1150" dirty="0"/>
          </a:p>
        </p:txBody>
      </p:sp>
      <p:sp>
        <p:nvSpPr>
          <p:cNvPr id="14" name="Text 12"/>
          <p:cNvSpPr/>
          <p:nvPr/>
        </p:nvSpPr>
        <p:spPr>
          <a:xfrm>
            <a:off x="4053840" y="2624328"/>
            <a:ext cx="1706880" cy="182880"/>
          </a:xfrm>
          <a:prstGeom prst="rect">
            <a:avLst/>
          </a:prstGeom>
          <a:noFill/>
          <a:ln/>
        </p:spPr>
        <p:txBody>
          <a:bodyPr wrap="square" lIns="0" tIns="0" rIns="0" bIns="0" rtlCol="0" anchor="t"/>
          <a:lstStyle/>
          <a:p>
            <a:pPr marL="0" indent="0">
              <a:buNone/>
            </a:pPr>
            <a:r>
              <a:rPr lang="en-US" sz="800" kern="0" spc="150" dirty="0">
                <a:solidFill>
                  <a:srgbClr val="6F6A5F"/>
                </a:solidFill>
                <a:latin typeface="IBM Plex Mono" pitchFamily="34" charset="0"/>
                <a:ea typeface="IBM Plex Mono" pitchFamily="34" charset="-122"/>
                <a:cs typeface="IBM Plex Mono" pitchFamily="34" charset="-120"/>
              </a:rPr>
              <a:t>STATUS</a:t>
            </a:r>
            <a:endParaRPr lang="en-US" sz="800" dirty="0"/>
          </a:p>
        </p:txBody>
      </p:sp>
      <p:sp>
        <p:nvSpPr>
          <p:cNvPr id="15" name="Text 13"/>
          <p:cNvSpPr/>
          <p:nvPr/>
        </p:nvSpPr>
        <p:spPr>
          <a:xfrm>
            <a:off x="4053840" y="2825496"/>
            <a:ext cx="1706880" cy="237744"/>
          </a:xfrm>
          <a:prstGeom prst="rect">
            <a:avLst/>
          </a:prstGeom>
          <a:noFill/>
          <a:ln/>
        </p:spPr>
        <p:txBody>
          <a:bodyPr wrap="square" lIns="0" tIns="0" rIns="0" bIns="0" rtlCol="0" anchor="t"/>
          <a:lstStyle/>
          <a:p>
            <a:pPr marL="0" indent="0">
              <a:buNone/>
            </a:pPr>
            <a:r>
              <a:rPr lang="en-US" sz="1150" dirty="0">
                <a:solidFill>
                  <a:srgbClr val="14161A"/>
                </a:solidFill>
                <a:latin typeface="IBM Plex Sans" pitchFamily="34" charset="0"/>
                <a:ea typeface="IBM Plex Sans" pitchFamily="34" charset="-122"/>
                <a:cs typeface="IBM Plex Sans" pitchFamily="34" charset="-120"/>
              </a:rPr>
              <a:t>Delivered</a:t>
            </a:r>
            <a:endParaRPr lang="en-US" sz="1150" dirty="0"/>
          </a:p>
        </p:txBody>
      </p:sp>
      <p:sp>
        <p:nvSpPr>
          <p:cNvPr id="16" name="Shape 14"/>
          <p:cNvSpPr/>
          <p:nvPr/>
        </p:nvSpPr>
        <p:spPr>
          <a:xfrm>
            <a:off x="640080" y="3154680"/>
            <a:ext cx="5120640" cy="0"/>
          </a:xfrm>
          <a:prstGeom prst="line">
            <a:avLst/>
          </a:prstGeom>
          <a:noFill/>
          <a:ln w="9525">
            <a:solidFill>
              <a:srgbClr val="DCD8D0"/>
            </a:solidFill>
            <a:prstDash val="solid"/>
          </a:ln>
        </p:spPr>
        <p:txBody>
          <a:bodyPr/>
          <a:lstStyle/>
          <a:p>
            <a:endParaRPr lang="en-PK"/>
          </a:p>
        </p:txBody>
      </p:sp>
      <p:sp>
        <p:nvSpPr>
          <p:cNvPr id="17" name="Text 15"/>
          <p:cNvSpPr/>
          <p:nvPr/>
        </p:nvSpPr>
        <p:spPr>
          <a:xfrm>
            <a:off x="640080" y="3337560"/>
            <a:ext cx="5120640" cy="1143000"/>
          </a:xfrm>
          <a:prstGeom prst="rect">
            <a:avLst/>
          </a:prstGeom>
          <a:noFill/>
          <a:ln/>
        </p:spPr>
        <p:txBody>
          <a:bodyPr wrap="square" lIns="0" tIns="0" rIns="0" bIns="0" rtlCol="0" anchor="t"/>
          <a:lstStyle/>
          <a:p>
            <a:pPr marL="0" indent="0">
              <a:lnSpc>
                <a:spcPct val="125000"/>
              </a:lnSpc>
              <a:buNone/>
            </a:pPr>
            <a:r>
              <a:rPr lang="en-US" sz="1250" dirty="0">
                <a:solidFill>
                  <a:srgbClr val="14161A"/>
                </a:solidFill>
                <a:latin typeface="IBM Plex Sans" pitchFamily="34" charset="0"/>
                <a:ea typeface="IBM Plex Sans" pitchFamily="34" charset="-122"/>
                <a:cs typeface="IBM Plex Sans" pitchFamily="34" charset="-120"/>
              </a:rPr>
              <a:t>An AI platform that watches Twitter, Instagram, YouTube and Facebook for emerging narratives in real time and hands communications teams a ready-to-execute counter-narrative strategy.</a:t>
            </a:r>
            <a:endParaRPr lang="en-US" sz="1250" dirty="0"/>
          </a:p>
        </p:txBody>
      </p:sp>
      <p:sp>
        <p:nvSpPr>
          <p:cNvPr id="18" name="Shape 16"/>
          <p:cNvSpPr/>
          <p:nvPr/>
        </p:nvSpPr>
        <p:spPr>
          <a:xfrm>
            <a:off x="640080" y="4572000"/>
            <a:ext cx="2377440" cy="0"/>
          </a:xfrm>
          <a:prstGeom prst="line">
            <a:avLst/>
          </a:prstGeom>
          <a:noFill/>
          <a:ln w="9525">
            <a:solidFill>
              <a:srgbClr val="DCD8D0"/>
            </a:solidFill>
            <a:prstDash val="solid"/>
          </a:ln>
        </p:spPr>
        <p:txBody>
          <a:bodyPr/>
          <a:lstStyle/>
          <a:p>
            <a:endParaRPr lang="en-PK"/>
          </a:p>
        </p:txBody>
      </p:sp>
      <p:sp>
        <p:nvSpPr>
          <p:cNvPr id="19" name="Text 17"/>
          <p:cNvSpPr/>
          <p:nvPr/>
        </p:nvSpPr>
        <p:spPr>
          <a:xfrm>
            <a:off x="640080" y="4663440"/>
            <a:ext cx="2377440" cy="384048"/>
          </a:xfrm>
          <a:prstGeom prst="rect">
            <a:avLst/>
          </a:prstGeom>
          <a:noFill/>
          <a:ln/>
        </p:spPr>
        <p:txBody>
          <a:bodyPr wrap="square" lIns="0" tIns="0" rIns="0" bIns="0" rtlCol="0" anchor="t"/>
          <a:lstStyle/>
          <a:p>
            <a:pPr marL="0" indent="0">
              <a:buNone/>
            </a:pPr>
            <a:r>
              <a:rPr lang="en-US" sz="2200" b="1" dirty="0">
                <a:solidFill>
                  <a:srgbClr val="8F5D0A"/>
                </a:solidFill>
                <a:latin typeface="Space Grotesk" pitchFamily="34" charset="0"/>
                <a:ea typeface="Space Grotesk" pitchFamily="34" charset="-122"/>
                <a:cs typeface="Space Grotesk" pitchFamily="34" charset="-120"/>
              </a:rPr>
              <a:t>180,000+</a:t>
            </a:r>
            <a:endParaRPr lang="en-US" sz="2200" dirty="0"/>
          </a:p>
        </p:txBody>
      </p:sp>
      <p:sp>
        <p:nvSpPr>
          <p:cNvPr id="20" name="Text 18"/>
          <p:cNvSpPr/>
          <p:nvPr/>
        </p:nvSpPr>
        <p:spPr>
          <a:xfrm>
            <a:off x="640080" y="5047488"/>
            <a:ext cx="2331720" cy="384048"/>
          </a:xfrm>
          <a:prstGeom prst="rect">
            <a:avLst/>
          </a:prstGeom>
          <a:noFill/>
          <a:ln/>
        </p:spPr>
        <p:txBody>
          <a:bodyPr wrap="square" lIns="0" tIns="0" rIns="0" bIns="0" rtlCol="0" anchor="t"/>
          <a:lstStyle/>
          <a:p>
            <a:pPr marL="0" indent="0">
              <a:lnSpc>
                <a:spcPct val="110000"/>
              </a:lnSpc>
              <a:buNone/>
            </a:pPr>
            <a:r>
              <a:rPr lang="en-US" sz="900" dirty="0">
                <a:solidFill>
                  <a:srgbClr val="5B6066"/>
                </a:solidFill>
                <a:latin typeface="IBM Plex Sans" pitchFamily="34" charset="0"/>
                <a:ea typeface="IBM Plex Sans" pitchFamily="34" charset="-122"/>
                <a:cs typeface="IBM Plex Sans" pitchFamily="34" charset="-120"/>
              </a:rPr>
              <a:t>posts collected, enriched and analysed</a:t>
            </a:r>
            <a:endParaRPr lang="en-US" sz="900" dirty="0"/>
          </a:p>
        </p:txBody>
      </p:sp>
      <p:sp>
        <p:nvSpPr>
          <p:cNvPr id="21" name="Shape 19"/>
          <p:cNvSpPr/>
          <p:nvPr/>
        </p:nvSpPr>
        <p:spPr>
          <a:xfrm>
            <a:off x="3200400" y="4572000"/>
            <a:ext cx="2377440" cy="0"/>
          </a:xfrm>
          <a:prstGeom prst="line">
            <a:avLst/>
          </a:prstGeom>
          <a:noFill/>
          <a:ln w="9525">
            <a:solidFill>
              <a:srgbClr val="DCD8D0"/>
            </a:solidFill>
            <a:prstDash val="solid"/>
          </a:ln>
        </p:spPr>
        <p:txBody>
          <a:bodyPr/>
          <a:lstStyle/>
          <a:p>
            <a:endParaRPr lang="en-PK"/>
          </a:p>
        </p:txBody>
      </p:sp>
      <p:sp>
        <p:nvSpPr>
          <p:cNvPr id="22" name="Text 20"/>
          <p:cNvSpPr/>
          <p:nvPr/>
        </p:nvSpPr>
        <p:spPr>
          <a:xfrm>
            <a:off x="3200400" y="4663440"/>
            <a:ext cx="2377440" cy="384048"/>
          </a:xfrm>
          <a:prstGeom prst="rect">
            <a:avLst/>
          </a:prstGeom>
          <a:noFill/>
          <a:ln/>
        </p:spPr>
        <p:txBody>
          <a:bodyPr wrap="square" lIns="0" tIns="0" rIns="0" bIns="0" rtlCol="0" anchor="t"/>
          <a:lstStyle/>
          <a:p>
            <a:pPr marL="0" indent="0">
              <a:buNone/>
            </a:pPr>
            <a:r>
              <a:rPr lang="en-US" sz="2200" b="1" dirty="0">
                <a:solidFill>
                  <a:srgbClr val="8F5D0A"/>
                </a:solidFill>
                <a:latin typeface="Space Grotesk" pitchFamily="34" charset="0"/>
                <a:ea typeface="Space Grotesk" pitchFamily="34" charset="-122"/>
                <a:cs typeface="Space Grotesk" pitchFamily="34" charset="-120"/>
              </a:rPr>
              <a:t>4</a:t>
            </a:r>
            <a:endParaRPr lang="en-US" sz="2200" dirty="0"/>
          </a:p>
        </p:txBody>
      </p:sp>
      <p:sp>
        <p:nvSpPr>
          <p:cNvPr id="23" name="Text 21"/>
          <p:cNvSpPr/>
          <p:nvPr/>
        </p:nvSpPr>
        <p:spPr>
          <a:xfrm>
            <a:off x="3200400" y="5047488"/>
            <a:ext cx="2331720" cy="384048"/>
          </a:xfrm>
          <a:prstGeom prst="rect">
            <a:avLst/>
          </a:prstGeom>
          <a:noFill/>
          <a:ln/>
        </p:spPr>
        <p:txBody>
          <a:bodyPr wrap="square" lIns="0" tIns="0" rIns="0" bIns="0" rtlCol="0" anchor="t"/>
          <a:lstStyle/>
          <a:p>
            <a:pPr marL="0" indent="0">
              <a:lnSpc>
                <a:spcPct val="110000"/>
              </a:lnSpc>
              <a:buNone/>
            </a:pPr>
            <a:r>
              <a:rPr lang="en-US" sz="900" dirty="0">
                <a:solidFill>
                  <a:srgbClr val="5B6066"/>
                </a:solidFill>
                <a:latin typeface="IBM Plex Sans" pitchFamily="34" charset="0"/>
                <a:ea typeface="IBM Plex Sans" pitchFamily="34" charset="-122"/>
                <a:cs typeface="IBM Plex Sans" pitchFamily="34" charset="-120"/>
              </a:rPr>
              <a:t>platforms monitored at once — Twitter, Instagram, YouTube, Facebook</a:t>
            </a:r>
            <a:endParaRPr lang="en-US" sz="900" dirty="0"/>
          </a:p>
        </p:txBody>
      </p:sp>
      <p:sp>
        <p:nvSpPr>
          <p:cNvPr id="24" name="Shape 22"/>
          <p:cNvSpPr/>
          <p:nvPr/>
        </p:nvSpPr>
        <p:spPr>
          <a:xfrm>
            <a:off x="640080" y="5440680"/>
            <a:ext cx="2377440" cy="0"/>
          </a:xfrm>
          <a:prstGeom prst="line">
            <a:avLst/>
          </a:prstGeom>
          <a:noFill/>
          <a:ln w="9525">
            <a:solidFill>
              <a:srgbClr val="DCD8D0"/>
            </a:solidFill>
            <a:prstDash val="solid"/>
          </a:ln>
        </p:spPr>
        <p:txBody>
          <a:bodyPr/>
          <a:lstStyle/>
          <a:p>
            <a:endParaRPr lang="en-PK"/>
          </a:p>
        </p:txBody>
      </p:sp>
      <p:sp>
        <p:nvSpPr>
          <p:cNvPr id="25" name="Text 23"/>
          <p:cNvSpPr/>
          <p:nvPr/>
        </p:nvSpPr>
        <p:spPr>
          <a:xfrm>
            <a:off x="640080" y="5532120"/>
            <a:ext cx="2377440" cy="384048"/>
          </a:xfrm>
          <a:prstGeom prst="rect">
            <a:avLst/>
          </a:prstGeom>
          <a:noFill/>
          <a:ln/>
        </p:spPr>
        <p:txBody>
          <a:bodyPr wrap="square" lIns="0" tIns="0" rIns="0" bIns="0" rtlCol="0" anchor="t"/>
          <a:lstStyle/>
          <a:p>
            <a:pPr marL="0" indent="0">
              <a:buNone/>
            </a:pPr>
            <a:r>
              <a:rPr lang="en-US" sz="2200" b="1" dirty="0">
                <a:solidFill>
                  <a:srgbClr val="8F5D0A"/>
                </a:solidFill>
                <a:latin typeface="Space Grotesk" pitchFamily="34" charset="0"/>
                <a:ea typeface="Space Grotesk" pitchFamily="34" charset="-122"/>
                <a:cs typeface="Space Grotesk" pitchFamily="34" charset="-120"/>
              </a:rPr>
              <a:t>100%</a:t>
            </a:r>
            <a:endParaRPr lang="en-US" sz="2200" dirty="0"/>
          </a:p>
        </p:txBody>
      </p:sp>
      <p:sp>
        <p:nvSpPr>
          <p:cNvPr id="26" name="Text 24"/>
          <p:cNvSpPr/>
          <p:nvPr/>
        </p:nvSpPr>
        <p:spPr>
          <a:xfrm>
            <a:off x="640080" y="5916168"/>
            <a:ext cx="2331720" cy="384048"/>
          </a:xfrm>
          <a:prstGeom prst="rect">
            <a:avLst/>
          </a:prstGeom>
          <a:noFill/>
          <a:ln/>
        </p:spPr>
        <p:txBody>
          <a:bodyPr wrap="square" lIns="0" tIns="0" rIns="0" bIns="0" rtlCol="0" anchor="t"/>
          <a:lstStyle/>
          <a:p>
            <a:pPr marL="0" indent="0">
              <a:lnSpc>
                <a:spcPct val="110000"/>
              </a:lnSpc>
              <a:buNone/>
            </a:pPr>
            <a:r>
              <a:rPr lang="en-US" sz="900" dirty="0">
                <a:solidFill>
                  <a:srgbClr val="5B6066"/>
                </a:solidFill>
                <a:latin typeface="IBM Plex Sans" pitchFamily="34" charset="0"/>
                <a:ea typeface="IBM Plex Sans" pitchFamily="34" charset="-122"/>
                <a:cs typeface="IBM Plex Sans" pitchFamily="34" charset="-120"/>
              </a:rPr>
              <a:t>of the core pipeline runs on local infrastructure, no cloud required</a:t>
            </a:r>
            <a:endParaRPr lang="en-US" sz="900" dirty="0"/>
          </a:p>
        </p:txBody>
      </p:sp>
      <p:pic>
        <p:nvPicPr>
          <p:cNvPr id="27" name="Image 0" descr="X:\code\personal\boltertech.com\public\work\echo-hunt\echohunt-collage.png"/>
          <p:cNvPicPr>
            <a:picLocks noChangeAspect="1"/>
          </p:cNvPicPr>
          <p:nvPr/>
        </p:nvPicPr>
        <p:blipFill>
          <a:blip r:embed="rId3"/>
          <a:stretch>
            <a:fillRect/>
          </a:stretch>
        </p:blipFill>
        <p:spPr>
          <a:xfrm>
            <a:off x="6263640" y="502920"/>
            <a:ext cx="5287975" cy="2974486"/>
          </a:xfrm>
          <a:prstGeom prst="rect">
            <a:avLst/>
          </a:prstGeom>
        </p:spPr>
      </p:pic>
      <p:sp>
        <p:nvSpPr>
          <p:cNvPr id="28" name="Shape 25"/>
          <p:cNvSpPr/>
          <p:nvPr/>
        </p:nvSpPr>
        <p:spPr>
          <a:xfrm>
            <a:off x="6263640" y="502920"/>
            <a:ext cx="5287975" cy="2974486"/>
          </a:xfrm>
          <a:prstGeom prst="rect">
            <a:avLst/>
          </a:prstGeom>
          <a:ln w="9525">
            <a:solidFill>
              <a:srgbClr val="DCD8D0"/>
            </a:solidFill>
            <a:prstDash val="solid"/>
          </a:ln>
        </p:spPr>
        <p:txBody>
          <a:bodyPr/>
          <a:lstStyle/>
          <a:p>
            <a:endParaRPr lang="en-PK"/>
          </a:p>
        </p:txBody>
      </p:sp>
      <p:sp>
        <p:nvSpPr>
          <p:cNvPr id="29" name="Text 26"/>
          <p:cNvSpPr/>
          <p:nvPr/>
        </p:nvSpPr>
        <p:spPr>
          <a:xfrm>
            <a:off x="6263640" y="3843166"/>
            <a:ext cx="3367735" cy="365760"/>
          </a:xfrm>
          <a:prstGeom prst="rect">
            <a:avLst/>
          </a:prstGeom>
          <a:noFill/>
          <a:ln/>
        </p:spPr>
        <p:txBody>
          <a:bodyPr wrap="square" lIns="0" tIns="0" rIns="0" bIns="0" rtlCol="0" anchor="t"/>
          <a:lstStyle/>
          <a:p>
            <a:pPr marL="0" indent="0">
              <a:buNone/>
            </a:pPr>
            <a:r>
              <a:rPr lang="en-US" sz="750" kern="0" spc="100" dirty="0">
                <a:solidFill>
                  <a:srgbClr val="6F6A5F"/>
                </a:solidFill>
                <a:latin typeface="IBM Plex Mono" pitchFamily="34" charset="0"/>
                <a:ea typeface="IBM Plex Mono" pitchFamily="34" charset="-122"/>
                <a:cs typeface="IBM Plex Mono" pitchFamily="34" charset="-120"/>
              </a:rPr>
              <a:t>TIME FROM NARRATIVE EMERGENCE TO COUNTER-RESPONSE (HOURS)</a:t>
            </a:r>
            <a:endParaRPr lang="en-US" sz="750" dirty="0"/>
          </a:p>
        </p:txBody>
      </p:sp>
      <p:sp>
        <p:nvSpPr>
          <p:cNvPr id="30" name="Text 27"/>
          <p:cNvSpPr/>
          <p:nvPr/>
        </p:nvSpPr>
        <p:spPr>
          <a:xfrm>
            <a:off x="9768535" y="3824878"/>
            <a:ext cx="1005840" cy="219456"/>
          </a:xfrm>
          <a:prstGeom prst="rect">
            <a:avLst/>
          </a:prstGeom>
          <a:noFill/>
          <a:ln/>
        </p:spPr>
        <p:txBody>
          <a:bodyPr wrap="square" lIns="0" tIns="0" rIns="0" bIns="0" rtlCol="0" anchor="ctr"/>
          <a:lstStyle/>
          <a:p>
            <a:pPr marL="0" indent="0" algn="r">
              <a:buNone/>
            </a:pPr>
            <a:r>
              <a:rPr lang="en-US" sz="900" dirty="0">
                <a:solidFill>
                  <a:srgbClr val="5B6066"/>
                </a:solidFill>
                <a:latin typeface="IBM Plex Mono" pitchFamily="34" charset="0"/>
                <a:ea typeface="IBM Plex Mono" pitchFamily="34" charset="-122"/>
                <a:cs typeface="IBM Plex Mono" pitchFamily="34" charset="-120"/>
              </a:rPr>
              <a:t>94 → 12</a:t>
            </a:r>
            <a:endParaRPr lang="en-US" sz="900" dirty="0"/>
          </a:p>
        </p:txBody>
      </p:sp>
      <p:sp>
        <p:nvSpPr>
          <p:cNvPr id="31" name="Text 28"/>
          <p:cNvSpPr/>
          <p:nvPr/>
        </p:nvSpPr>
        <p:spPr>
          <a:xfrm>
            <a:off x="10865815" y="3824878"/>
            <a:ext cx="685800" cy="219456"/>
          </a:xfrm>
          <a:prstGeom prst="roundRect">
            <a:avLst>
              <a:gd name="adj" fmla="val 16667"/>
            </a:avLst>
          </a:prstGeom>
          <a:solidFill>
            <a:srgbClr val="F0E2C8"/>
          </a:solidFill>
          <a:ln w="6350">
            <a:solidFill>
              <a:srgbClr val="8F5D0A"/>
            </a:solidFill>
          </a:ln>
        </p:spPr>
        <p:txBody>
          <a:bodyPr wrap="square" lIns="0" tIns="0" rIns="0" bIns="0" rtlCol="0" anchor="ctr"/>
          <a:lstStyle/>
          <a:p>
            <a:pPr marL="0" indent="0" algn="ctr">
              <a:buNone/>
            </a:pPr>
            <a:r>
              <a:rPr lang="en-US" sz="900" b="1" dirty="0">
                <a:solidFill>
                  <a:srgbClr val="8F5D0A"/>
                </a:solidFill>
                <a:latin typeface="IBM Plex Mono" pitchFamily="34" charset="0"/>
                <a:ea typeface="IBM Plex Mono" pitchFamily="34" charset="-122"/>
                <a:cs typeface="IBM Plex Mono" pitchFamily="34" charset="-120"/>
              </a:rPr>
              <a:t>-87%</a:t>
            </a:r>
            <a:endParaRPr lang="en-US" sz="900" dirty="0"/>
          </a:p>
        </p:txBody>
      </p:sp>
      <p:graphicFrame>
        <p:nvGraphicFramePr>
          <p:cNvPr id="32" name="Chart 0"/>
          <p:cNvGraphicFramePr/>
          <p:nvPr/>
        </p:nvGraphicFramePr>
        <p:xfrm>
          <a:off x="6190488" y="4227214"/>
          <a:ext cx="5434279" cy="2082146"/>
        </p:xfrm>
        <a:graphic>
          <a:graphicData uri="http://schemas.openxmlformats.org/drawingml/2006/chart">
            <c:chart xmlns:c="http://schemas.openxmlformats.org/drawingml/2006/chart" xmlns:r="http://schemas.openxmlformats.org/officeDocument/2006/relationships" r:id="rId4"/>
          </a:graphicData>
        </a:graphic>
      </p:graphicFrame>
      <p:sp>
        <p:nvSpPr>
          <p:cNvPr id="33" name="Text 29"/>
          <p:cNvSpPr/>
          <p:nvPr/>
        </p:nvSpPr>
        <p:spPr>
          <a:xfrm>
            <a:off x="640080" y="6473952"/>
            <a:ext cx="6400800" cy="164592"/>
          </a:xfrm>
          <a:prstGeom prst="rect">
            <a:avLst/>
          </a:prstGeom>
          <a:noFill/>
          <a:ln/>
        </p:spPr>
        <p:txBody>
          <a:bodyPr wrap="square" lIns="0" tIns="0" rIns="0" bIns="0" rtlCol="0" anchor="t"/>
          <a:lstStyle/>
          <a:p>
            <a:pPr marL="0" indent="0">
              <a:buNone/>
            </a:pPr>
            <a:r>
              <a:rPr lang="en-US" sz="700" kern="0" spc="150" dirty="0">
                <a:solidFill>
                  <a:srgbClr val="6F6A5F"/>
                </a:solidFill>
                <a:latin typeface="IBM Plex Mono" pitchFamily="34" charset="0"/>
                <a:ea typeface="IBM Plex Mono" pitchFamily="34" charset="-122"/>
                <a:cs typeface="IBM Plex Mono" pitchFamily="34" charset="-120"/>
              </a:rPr>
              <a:t>BOLTER TECHNOLOGIES PRIVATE LIMITED  ·  COMPANY PROFILE</a:t>
            </a:r>
            <a:endParaRPr lang="en-US" sz="700" dirty="0"/>
          </a:p>
        </p:txBody>
      </p:sp>
      <p:sp>
        <p:nvSpPr>
          <p:cNvPr id="34" name="Text 30"/>
          <p:cNvSpPr/>
          <p:nvPr/>
        </p:nvSpPr>
        <p:spPr>
          <a:xfrm>
            <a:off x="9722815" y="6473952"/>
            <a:ext cx="1828800" cy="164592"/>
          </a:xfrm>
          <a:prstGeom prst="rect">
            <a:avLst/>
          </a:prstGeom>
          <a:noFill/>
          <a:ln/>
        </p:spPr>
        <p:txBody>
          <a:bodyPr wrap="square" lIns="0" tIns="0" rIns="0" bIns="0" rtlCol="0" anchor="t"/>
          <a:lstStyle/>
          <a:p>
            <a:pPr marL="0" indent="0" algn="r">
              <a:buNone/>
            </a:pPr>
            <a:r>
              <a:rPr lang="en-US" sz="700" kern="0" spc="150" dirty="0">
                <a:solidFill>
                  <a:srgbClr val="6F6A5F"/>
                </a:solidFill>
                <a:latin typeface="IBM Plex Mono" pitchFamily="34" charset="0"/>
                <a:ea typeface="IBM Plex Mono" pitchFamily="34" charset="-122"/>
                <a:cs typeface="IBM Plex Mono" pitchFamily="34" charset="-120"/>
              </a:rPr>
              <a:t>16 / 23</a:t>
            </a:r>
            <a:endParaRPr lang="en-US" sz="7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A0B0C"/>
        </a:solidFill>
        <a:effectLst/>
      </p:bgPr>
    </p:bg>
    <p:spTree>
      <p:nvGrpSpPr>
        <p:cNvPr id="1" name=""/>
        <p:cNvGrpSpPr/>
        <p:nvPr/>
      </p:nvGrpSpPr>
      <p:grpSpPr>
        <a:xfrm>
          <a:off x="0" y="0"/>
          <a:ext cx="0" cy="0"/>
          <a:chOff x="0" y="0"/>
          <a:chExt cx="0" cy="0"/>
        </a:xfrm>
      </p:grpSpPr>
      <p:sp>
        <p:nvSpPr>
          <p:cNvPr id="2" name="Shape 0"/>
          <p:cNvSpPr/>
          <p:nvPr/>
        </p:nvSpPr>
        <p:spPr>
          <a:xfrm>
            <a:off x="640080" y="571500"/>
            <a:ext cx="219456" cy="32004"/>
          </a:xfrm>
          <a:prstGeom prst="rect">
            <a:avLst/>
          </a:prstGeom>
          <a:solidFill>
            <a:srgbClr val="E8A33D"/>
          </a:solidFill>
          <a:ln/>
        </p:spPr>
        <p:txBody>
          <a:bodyPr/>
          <a:lstStyle/>
          <a:p>
            <a:endParaRPr lang="en-PK"/>
          </a:p>
        </p:txBody>
      </p:sp>
      <p:sp>
        <p:nvSpPr>
          <p:cNvPr id="3" name="Text 1"/>
          <p:cNvSpPr/>
          <p:nvPr/>
        </p:nvSpPr>
        <p:spPr>
          <a:xfrm>
            <a:off x="969264" y="502920"/>
            <a:ext cx="8229600" cy="182880"/>
          </a:xfrm>
          <a:prstGeom prst="rect">
            <a:avLst/>
          </a:prstGeom>
          <a:noFill/>
          <a:ln/>
        </p:spPr>
        <p:txBody>
          <a:bodyPr wrap="square" lIns="0" tIns="0" rIns="0" bIns="0" rtlCol="0" anchor="t"/>
          <a:lstStyle/>
          <a:p>
            <a:pPr marL="0" indent="0">
              <a:buNone/>
            </a:pPr>
            <a:r>
              <a:rPr lang="en-US" sz="900" b="1" kern="0" spc="200" dirty="0">
                <a:solidFill>
                  <a:srgbClr val="E8A33D"/>
                </a:solidFill>
                <a:latin typeface="IBM Plex Mono" pitchFamily="34" charset="0"/>
                <a:ea typeface="IBM Plex Mono" pitchFamily="34" charset="-122"/>
                <a:cs typeface="IBM Plex Mono" pitchFamily="34" charset="-120"/>
              </a:rPr>
              <a:t>05  SELECTED WORK  ·  05 / 06  ·  CYBER SECURITY</a:t>
            </a:r>
            <a:endParaRPr lang="en-US" sz="900" dirty="0"/>
          </a:p>
        </p:txBody>
      </p:sp>
      <p:sp>
        <p:nvSpPr>
          <p:cNvPr id="4" name="Text 2"/>
          <p:cNvSpPr/>
          <p:nvPr/>
        </p:nvSpPr>
        <p:spPr>
          <a:xfrm>
            <a:off x="640080" y="777240"/>
            <a:ext cx="5120640" cy="868680"/>
          </a:xfrm>
          <a:prstGeom prst="rect">
            <a:avLst/>
          </a:prstGeom>
          <a:noFill/>
          <a:ln/>
        </p:spPr>
        <p:txBody>
          <a:bodyPr wrap="square" lIns="0" tIns="0" rIns="0" bIns="0" rtlCol="0" anchor="t"/>
          <a:lstStyle/>
          <a:p>
            <a:pPr marL="0" indent="0">
              <a:lnSpc>
                <a:spcPct val="95000"/>
              </a:lnSpc>
              <a:buNone/>
            </a:pPr>
            <a:r>
              <a:rPr lang="en-US" sz="2300" b="1" dirty="0">
                <a:solidFill>
                  <a:srgbClr val="FFFFFF"/>
                </a:solidFill>
                <a:latin typeface="Space Grotesk" pitchFamily="34" charset="0"/>
                <a:ea typeface="Space Grotesk" pitchFamily="34" charset="-122"/>
                <a:cs typeface="Space Grotesk" pitchFamily="34" charset="-120"/>
              </a:rPr>
              <a:t>Enterprise Cyber Complaint &amp; Content Governance Dashboard</a:t>
            </a:r>
            <a:endParaRPr lang="en-US" sz="2300" dirty="0"/>
          </a:p>
        </p:txBody>
      </p:sp>
      <p:sp>
        <p:nvSpPr>
          <p:cNvPr id="5" name="Shape 3"/>
          <p:cNvSpPr/>
          <p:nvPr/>
        </p:nvSpPr>
        <p:spPr>
          <a:xfrm>
            <a:off x="640080" y="1874520"/>
            <a:ext cx="5120640" cy="0"/>
          </a:xfrm>
          <a:prstGeom prst="line">
            <a:avLst/>
          </a:prstGeom>
          <a:noFill/>
          <a:ln w="9525">
            <a:solidFill>
              <a:srgbClr val="2E3033"/>
            </a:solidFill>
            <a:prstDash val="solid"/>
          </a:ln>
        </p:spPr>
        <p:txBody>
          <a:bodyPr/>
          <a:lstStyle/>
          <a:p>
            <a:endParaRPr lang="en-PK"/>
          </a:p>
        </p:txBody>
      </p:sp>
      <p:sp>
        <p:nvSpPr>
          <p:cNvPr id="6" name="Text 4"/>
          <p:cNvSpPr/>
          <p:nvPr/>
        </p:nvSpPr>
        <p:spPr>
          <a:xfrm>
            <a:off x="640080" y="1984248"/>
            <a:ext cx="5120640" cy="182880"/>
          </a:xfrm>
          <a:prstGeom prst="rect">
            <a:avLst/>
          </a:prstGeom>
          <a:noFill/>
          <a:ln/>
        </p:spPr>
        <p:txBody>
          <a:bodyPr wrap="square" lIns="0" tIns="0" rIns="0" bIns="0" rtlCol="0" anchor="t"/>
          <a:lstStyle/>
          <a:p>
            <a:pPr marL="0" indent="0">
              <a:buNone/>
            </a:pPr>
            <a:r>
              <a:rPr lang="en-US" sz="800" kern="0" spc="150" dirty="0">
                <a:solidFill>
                  <a:srgbClr val="8B8D8F"/>
                </a:solidFill>
                <a:latin typeface="IBM Plex Mono" pitchFamily="34" charset="0"/>
                <a:ea typeface="IBM Plex Mono" pitchFamily="34" charset="-122"/>
                <a:cs typeface="IBM Plex Mono" pitchFamily="34" charset="-120"/>
              </a:rPr>
              <a:t>CLIENT</a:t>
            </a:r>
            <a:endParaRPr lang="en-US" sz="800" dirty="0"/>
          </a:p>
        </p:txBody>
      </p:sp>
      <p:sp>
        <p:nvSpPr>
          <p:cNvPr id="7" name="Text 5"/>
          <p:cNvSpPr/>
          <p:nvPr/>
        </p:nvSpPr>
        <p:spPr>
          <a:xfrm>
            <a:off x="640080" y="2185416"/>
            <a:ext cx="5120640" cy="237744"/>
          </a:xfrm>
          <a:prstGeom prst="rect">
            <a:avLst/>
          </a:prstGeom>
          <a:noFill/>
          <a:ln/>
        </p:spPr>
        <p:txBody>
          <a:bodyPr wrap="square" lIns="0" tIns="0" rIns="0" bIns="0" rtlCol="0" anchor="t"/>
          <a:lstStyle/>
          <a:p>
            <a:pPr marL="0" indent="0">
              <a:buNone/>
            </a:pPr>
            <a:r>
              <a:rPr lang="en-US" sz="1150" dirty="0">
                <a:solidFill>
                  <a:srgbClr val="FFFFFF"/>
                </a:solidFill>
                <a:latin typeface="IBM Plex Sans" pitchFamily="34" charset="0"/>
                <a:ea typeface="IBM Plex Sans" pitchFamily="34" charset="-122"/>
                <a:cs typeface="IBM Plex Sans" pitchFamily="34" charset="-120"/>
              </a:rPr>
              <a:t>Telecommunications &amp; Cyber Regulatory Governance — name withheld</a:t>
            </a:r>
            <a:endParaRPr lang="en-US" sz="1150" dirty="0"/>
          </a:p>
        </p:txBody>
      </p:sp>
      <p:sp>
        <p:nvSpPr>
          <p:cNvPr id="8" name="Shape 6"/>
          <p:cNvSpPr/>
          <p:nvPr/>
        </p:nvSpPr>
        <p:spPr>
          <a:xfrm>
            <a:off x="640080" y="2514600"/>
            <a:ext cx="5120640" cy="0"/>
          </a:xfrm>
          <a:prstGeom prst="line">
            <a:avLst/>
          </a:prstGeom>
          <a:noFill/>
          <a:ln w="9525">
            <a:solidFill>
              <a:srgbClr val="2E3033"/>
            </a:solidFill>
            <a:prstDash val="solid"/>
          </a:ln>
        </p:spPr>
        <p:txBody>
          <a:bodyPr/>
          <a:lstStyle/>
          <a:p>
            <a:endParaRPr lang="en-PK"/>
          </a:p>
        </p:txBody>
      </p:sp>
      <p:sp>
        <p:nvSpPr>
          <p:cNvPr id="9" name="Text 7"/>
          <p:cNvSpPr/>
          <p:nvPr/>
        </p:nvSpPr>
        <p:spPr>
          <a:xfrm>
            <a:off x="640080" y="2624328"/>
            <a:ext cx="1706880" cy="182880"/>
          </a:xfrm>
          <a:prstGeom prst="rect">
            <a:avLst/>
          </a:prstGeom>
          <a:noFill/>
          <a:ln/>
        </p:spPr>
        <p:txBody>
          <a:bodyPr wrap="square" lIns="0" tIns="0" rIns="0" bIns="0" rtlCol="0" anchor="t"/>
          <a:lstStyle/>
          <a:p>
            <a:pPr marL="0" indent="0">
              <a:buNone/>
            </a:pPr>
            <a:r>
              <a:rPr lang="en-US" sz="800" kern="0" spc="150" dirty="0">
                <a:solidFill>
                  <a:srgbClr val="8B8D8F"/>
                </a:solidFill>
                <a:latin typeface="IBM Plex Mono" pitchFamily="34" charset="0"/>
                <a:ea typeface="IBM Plex Mono" pitchFamily="34" charset="-122"/>
                <a:cs typeface="IBM Plex Mono" pitchFamily="34" charset="-120"/>
              </a:rPr>
              <a:t>YEAR</a:t>
            </a:r>
            <a:endParaRPr lang="en-US" sz="800" dirty="0"/>
          </a:p>
        </p:txBody>
      </p:sp>
      <p:sp>
        <p:nvSpPr>
          <p:cNvPr id="10" name="Text 8"/>
          <p:cNvSpPr/>
          <p:nvPr/>
        </p:nvSpPr>
        <p:spPr>
          <a:xfrm>
            <a:off x="640080" y="2825496"/>
            <a:ext cx="1706880" cy="237744"/>
          </a:xfrm>
          <a:prstGeom prst="rect">
            <a:avLst/>
          </a:prstGeom>
          <a:noFill/>
          <a:ln/>
        </p:spPr>
        <p:txBody>
          <a:bodyPr wrap="square" lIns="0" tIns="0" rIns="0" bIns="0" rtlCol="0" anchor="t"/>
          <a:lstStyle/>
          <a:p>
            <a:pPr marL="0" indent="0">
              <a:buNone/>
            </a:pPr>
            <a:r>
              <a:rPr lang="en-US" sz="1150" dirty="0">
                <a:solidFill>
                  <a:srgbClr val="FFFFFF"/>
                </a:solidFill>
                <a:latin typeface="IBM Plex Sans" pitchFamily="34" charset="0"/>
                <a:ea typeface="IBM Plex Sans" pitchFamily="34" charset="-122"/>
                <a:cs typeface="IBM Plex Sans" pitchFamily="34" charset="-120"/>
              </a:rPr>
              <a:t>2024</a:t>
            </a:r>
            <a:endParaRPr lang="en-US" sz="1150" dirty="0"/>
          </a:p>
        </p:txBody>
      </p:sp>
      <p:sp>
        <p:nvSpPr>
          <p:cNvPr id="11" name="Text 9"/>
          <p:cNvSpPr/>
          <p:nvPr/>
        </p:nvSpPr>
        <p:spPr>
          <a:xfrm>
            <a:off x="2346960" y="2624328"/>
            <a:ext cx="1706880" cy="182880"/>
          </a:xfrm>
          <a:prstGeom prst="rect">
            <a:avLst/>
          </a:prstGeom>
          <a:noFill/>
          <a:ln/>
        </p:spPr>
        <p:txBody>
          <a:bodyPr wrap="square" lIns="0" tIns="0" rIns="0" bIns="0" rtlCol="0" anchor="t"/>
          <a:lstStyle/>
          <a:p>
            <a:pPr marL="0" indent="0">
              <a:buNone/>
            </a:pPr>
            <a:r>
              <a:rPr lang="en-US" sz="800" kern="0" spc="150" dirty="0">
                <a:solidFill>
                  <a:srgbClr val="8B8D8F"/>
                </a:solidFill>
                <a:latin typeface="IBM Plex Mono" pitchFamily="34" charset="0"/>
                <a:ea typeface="IBM Plex Mono" pitchFamily="34" charset="-122"/>
                <a:cs typeface="IBM Plex Mono" pitchFamily="34" charset="-120"/>
              </a:rPr>
              <a:t>DURATION</a:t>
            </a:r>
            <a:endParaRPr lang="en-US" sz="800" dirty="0"/>
          </a:p>
        </p:txBody>
      </p:sp>
      <p:sp>
        <p:nvSpPr>
          <p:cNvPr id="12" name="Text 10"/>
          <p:cNvSpPr/>
          <p:nvPr/>
        </p:nvSpPr>
        <p:spPr>
          <a:xfrm>
            <a:off x="2346960" y="2825496"/>
            <a:ext cx="1706880" cy="237744"/>
          </a:xfrm>
          <a:prstGeom prst="rect">
            <a:avLst/>
          </a:prstGeom>
          <a:noFill/>
          <a:ln/>
        </p:spPr>
        <p:txBody>
          <a:bodyPr wrap="square" lIns="0" tIns="0" rIns="0" bIns="0" rtlCol="0" anchor="t"/>
          <a:lstStyle/>
          <a:p>
            <a:pPr marL="0" indent="0">
              <a:buNone/>
            </a:pPr>
            <a:r>
              <a:rPr lang="en-US" sz="1150" dirty="0">
                <a:solidFill>
                  <a:srgbClr val="FFFFFF"/>
                </a:solidFill>
                <a:latin typeface="IBM Plex Sans" pitchFamily="34" charset="0"/>
                <a:ea typeface="IBM Plex Sans" pitchFamily="34" charset="-122"/>
                <a:cs typeface="IBM Plex Sans" pitchFamily="34" charset="-120"/>
              </a:rPr>
              <a:t>8 weeks</a:t>
            </a:r>
            <a:endParaRPr lang="en-US" sz="1150" dirty="0"/>
          </a:p>
        </p:txBody>
      </p:sp>
      <p:sp>
        <p:nvSpPr>
          <p:cNvPr id="13" name="Text 11"/>
          <p:cNvSpPr/>
          <p:nvPr/>
        </p:nvSpPr>
        <p:spPr>
          <a:xfrm>
            <a:off x="4053840" y="2624328"/>
            <a:ext cx="1706880" cy="182880"/>
          </a:xfrm>
          <a:prstGeom prst="rect">
            <a:avLst/>
          </a:prstGeom>
          <a:noFill/>
          <a:ln/>
        </p:spPr>
        <p:txBody>
          <a:bodyPr wrap="square" lIns="0" tIns="0" rIns="0" bIns="0" rtlCol="0" anchor="t"/>
          <a:lstStyle/>
          <a:p>
            <a:pPr marL="0" indent="0">
              <a:buNone/>
            </a:pPr>
            <a:r>
              <a:rPr lang="en-US" sz="800" kern="0" spc="150" dirty="0">
                <a:solidFill>
                  <a:srgbClr val="8B8D8F"/>
                </a:solidFill>
                <a:latin typeface="IBM Plex Mono" pitchFamily="34" charset="0"/>
                <a:ea typeface="IBM Plex Mono" pitchFamily="34" charset="-122"/>
                <a:cs typeface="IBM Plex Mono" pitchFamily="34" charset="-120"/>
              </a:rPr>
              <a:t>STATUS</a:t>
            </a:r>
            <a:endParaRPr lang="en-US" sz="800" dirty="0"/>
          </a:p>
        </p:txBody>
      </p:sp>
      <p:sp>
        <p:nvSpPr>
          <p:cNvPr id="14" name="Text 12"/>
          <p:cNvSpPr/>
          <p:nvPr/>
        </p:nvSpPr>
        <p:spPr>
          <a:xfrm>
            <a:off x="4053840" y="2825496"/>
            <a:ext cx="1706880" cy="237744"/>
          </a:xfrm>
          <a:prstGeom prst="rect">
            <a:avLst/>
          </a:prstGeom>
          <a:noFill/>
          <a:ln/>
        </p:spPr>
        <p:txBody>
          <a:bodyPr wrap="square" lIns="0" tIns="0" rIns="0" bIns="0" rtlCol="0" anchor="t"/>
          <a:lstStyle/>
          <a:p>
            <a:pPr marL="0" indent="0">
              <a:buNone/>
            </a:pPr>
            <a:r>
              <a:rPr lang="en-US" sz="1150" dirty="0">
                <a:solidFill>
                  <a:srgbClr val="FFFFFF"/>
                </a:solidFill>
                <a:latin typeface="IBM Plex Sans" pitchFamily="34" charset="0"/>
                <a:ea typeface="IBM Plex Sans" pitchFamily="34" charset="-122"/>
                <a:cs typeface="IBM Plex Sans" pitchFamily="34" charset="-120"/>
              </a:rPr>
              <a:t>Delivered</a:t>
            </a:r>
            <a:endParaRPr lang="en-US" sz="1150" dirty="0"/>
          </a:p>
        </p:txBody>
      </p:sp>
      <p:sp>
        <p:nvSpPr>
          <p:cNvPr id="15" name="Shape 13"/>
          <p:cNvSpPr/>
          <p:nvPr/>
        </p:nvSpPr>
        <p:spPr>
          <a:xfrm>
            <a:off x="640080" y="3154680"/>
            <a:ext cx="5120640" cy="0"/>
          </a:xfrm>
          <a:prstGeom prst="line">
            <a:avLst/>
          </a:prstGeom>
          <a:noFill/>
          <a:ln w="9525">
            <a:solidFill>
              <a:srgbClr val="2E3033"/>
            </a:solidFill>
            <a:prstDash val="solid"/>
          </a:ln>
        </p:spPr>
        <p:txBody>
          <a:bodyPr/>
          <a:lstStyle/>
          <a:p>
            <a:endParaRPr lang="en-PK"/>
          </a:p>
        </p:txBody>
      </p:sp>
      <p:sp>
        <p:nvSpPr>
          <p:cNvPr id="16" name="Text 14"/>
          <p:cNvSpPr/>
          <p:nvPr/>
        </p:nvSpPr>
        <p:spPr>
          <a:xfrm>
            <a:off x="640080" y="3337560"/>
            <a:ext cx="5120640" cy="1143000"/>
          </a:xfrm>
          <a:prstGeom prst="rect">
            <a:avLst/>
          </a:prstGeom>
          <a:noFill/>
          <a:ln/>
        </p:spPr>
        <p:txBody>
          <a:bodyPr wrap="square" lIns="0" tIns="0" rIns="0" bIns="0" rtlCol="0" anchor="t"/>
          <a:lstStyle/>
          <a:p>
            <a:pPr marL="0" indent="0">
              <a:lnSpc>
                <a:spcPct val="125000"/>
              </a:lnSpc>
              <a:buNone/>
            </a:pPr>
            <a:r>
              <a:rPr lang="en-US" sz="1250" dirty="0">
                <a:solidFill>
                  <a:srgbClr val="FFFFFF"/>
                </a:solidFill>
                <a:latin typeface="IBM Plex Sans" pitchFamily="34" charset="0"/>
                <a:ea typeface="IBM Plex Sans" pitchFamily="34" charset="-122"/>
                <a:cs typeface="IBM Plex Sans" pitchFamily="34" charset="-120"/>
              </a:rPr>
              <a:t>A real-time cyber complaint tracking and regulatory governance platform that automates multi-platform violation workflows, cloud evidence archiving, and executive compliance analytics.</a:t>
            </a:r>
            <a:endParaRPr lang="en-US" sz="1250" dirty="0"/>
          </a:p>
        </p:txBody>
      </p:sp>
      <p:sp>
        <p:nvSpPr>
          <p:cNvPr id="17" name="Shape 15"/>
          <p:cNvSpPr/>
          <p:nvPr/>
        </p:nvSpPr>
        <p:spPr>
          <a:xfrm>
            <a:off x="640080" y="4572000"/>
            <a:ext cx="2377440" cy="0"/>
          </a:xfrm>
          <a:prstGeom prst="line">
            <a:avLst/>
          </a:prstGeom>
          <a:noFill/>
          <a:ln w="9525">
            <a:solidFill>
              <a:srgbClr val="2E3033"/>
            </a:solidFill>
            <a:prstDash val="solid"/>
          </a:ln>
        </p:spPr>
        <p:txBody>
          <a:bodyPr/>
          <a:lstStyle/>
          <a:p>
            <a:endParaRPr lang="en-PK"/>
          </a:p>
        </p:txBody>
      </p:sp>
      <p:sp>
        <p:nvSpPr>
          <p:cNvPr id="18" name="Text 16"/>
          <p:cNvSpPr/>
          <p:nvPr/>
        </p:nvSpPr>
        <p:spPr>
          <a:xfrm>
            <a:off x="640080" y="4663440"/>
            <a:ext cx="2377440" cy="384048"/>
          </a:xfrm>
          <a:prstGeom prst="rect">
            <a:avLst/>
          </a:prstGeom>
          <a:noFill/>
          <a:ln/>
        </p:spPr>
        <p:txBody>
          <a:bodyPr wrap="square" lIns="0" tIns="0" rIns="0" bIns="0" rtlCol="0" anchor="t"/>
          <a:lstStyle/>
          <a:p>
            <a:pPr marL="0" indent="0">
              <a:buNone/>
            </a:pPr>
            <a:r>
              <a:rPr lang="en-US" sz="2200" b="1" dirty="0">
                <a:solidFill>
                  <a:srgbClr val="E8A33D"/>
                </a:solidFill>
                <a:latin typeface="Space Grotesk" pitchFamily="34" charset="0"/>
                <a:ea typeface="Space Grotesk" pitchFamily="34" charset="-122"/>
                <a:cs typeface="Space Grotesk" pitchFamily="34" charset="-120"/>
              </a:rPr>
              <a:t>90%</a:t>
            </a:r>
            <a:endParaRPr lang="en-US" sz="2200" dirty="0"/>
          </a:p>
        </p:txBody>
      </p:sp>
      <p:sp>
        <p:nvSpPr>
          <p:cNvPr id="19" name="Text 17"/>
          <p:cNvSpPr/>
          <p:nvPr/>
        </p:nvSpPr>
        <p:spPr>
          <a:xfrm>
            <a:off x="640080" y="5047488"/>
            <a:ext cx="2331720" cy="384048"/>
          </a:xfrm>
          <a:prstGeom prst="rect">
            <a:avLst/>
          </a:prstGeom>
          <a:noFill/>
          <a:ln/>
        </p:spPr>
        <p:txBody>
          <a:bodyPr wrap="square" lIns="0" tIns="0" rIns="0" bIns="0" rtlCol="0" anchor="t"/>
          <a:lstStyle/>
          <a:p>
            <a:pPr marL="0" indent="0">
              <a:lnSpc>
                <a:spcPct val="110000"/>
              </a:lnSpc>
              <a:buNone/>
            </a:pPr>
            <a:r>
              <a:rPr lang="en-US" sz="900" dirty="0">
                <a:solidFill>
                  <a:srgbClr val="B6B7B8"/>
                </a:solidFill>
                <a:latin typeface="IBM Plex Sans" pitchFamily="34" charset="0"/>
                <a:ea typeface="IBM Plex Sans" pitchFamily="34" charset="-122"/>
                <a:cs typeface="IBM Plex Sans" pitchFamily="34" charset="-120"/>
              </a:rPr>
              <a:t>reduction in complaint processing and administrative turnaround time</a:t>
            </a:r>
            <a:endParaRPr lang="en-US" sz="900" dirty="0"/>
          </a:p>
        </p:txBody>
      </p:sp>
      <p:sp>
        <p:nvSpPr>
          <p:cNvPr id="20" name="Shape 18"/>
          <p:cNvSpPr/>
          <p:nvPr/>
        </p:nvSpPr>
        <p:spPr>
          <a:xfrm>
            <a:off x="3200400" y="4572000"/>
            <a:ext cx="2377440" cy="0"/>
          </a:xfrm>
          <a:prstGeom prst="line">
            <a:avLst/>
          </a:prstGeom>
          <a:noFill/>
          <a:ln w="9525">
            <a:solidFill>
              <a:srgbClr val="2E3033"/>
            </a:solidFill>
            <a:prstDash val="solid"/>
          </a:ln>
        </p:spPr>
        <p:txBody>
          <a:bodyPr/>
          <a:lstStyle/>
          <a:p>
            <a:endParaRPr lang="en-PK"/>
          </a:p>
        </p:txBody>
      </p:sp>
      <p:sp>
        <p:nvSpPr>
          <p:cNvPr id="21" name="Text 19"/>
          <p:cNvSpPr/>
          <p:nvPr/>
        </p:nvSpPr>
        <p:spPr>
          <a:xfrm>
            <a:off x="3200400" y="4663440"/>
            <a:ext cx="2377440" cy="384048"/>
          </a:xfrm>
          <a:prstGeom prst="rect">
            <a:avLst/>
          </a:prstGeom>
          <a:noFill/>
          <a:ln/>
        </p:spPr>
        <p:txBody>
          <a:bodyPr wrap="square" lIns="0" tIns="0" rIns="0" bIns="0" rtlCol="0" anchor="t"/>
          <a:lstStyle/>
          <a:p>
            <a:pPr marL="0" indent="0">
              <a:buNone/>
            </a:pPr>
            <a:r>
              <a:rPr lang="en-US" sz="2200" b="1" dirty="0">
                <a:solidFill>
                  <a:srgbClr val="E8A33D"/>
                </a:solidFill>
                <a:latin typeface="Space Grotesk" pitchFamily="34" charset="0"/>
                <a:ea typeface="Space Grotesk" pitchFamily="34" charset="-122"/>
                <a:cs typeface="Space Grotesk" pitchFamily="34" charset="-120"/>
              </a:rPr>
              <a:t>100%</a:t>
            </a:r>
            <a:endParaRPr lang="en-US" sz="2200" dirty="0"/>
          </a:p>
        </p:txBody>
      </p:sp>
      <p:sp>
        <p:nvSpPr>
          <p:cNvPr id="22" name="Text 20"/>
          <p:cNvSpPr/>
          <p:nvPr/>
        </p:nvSpPr>
        <p:spPr>
          <a:xfrm>
            <a:off x="3200400" y="5047488"/>
            <a:ext cx="2331720" cy="384048"/>
          </a:xfrm>
          <a:prstGeom prst="rect">
            <a:avLst/>
          </a:prstGeom>
          <a:noFill/>
          <a:ln/>
        </p:spPr>
        <p:txBody>
          <a:bodyPr wrap="square" lIns="0" tIns="0" rIns="0" bIns="0" rtlCol="0" anchor="t"/>
          <a:lstStyle/>
          <a:p>
            <a:pPr marL="0" indent="0">
              <a:lnSpc>
                <a:spcPct val="110000"/>
              </a:lnSpc>
              <a:buNone/>
            </a:pPr>
            <a:r>
              <a:rPr lang="en-US" sz="900" dirty="0">
                <a:solidFill>
                  <a:srgbClr val="B6B7B8"/>
                </a:solidFill>
                <a:latin typeface="IBM Plex Sans" pitchFamily="34" charset="0"/>
                <a:ea typeface="IBM Plex Sans" pitchFamily="34" charset="-122"/>
                <a:cs typeface="IBM Plex Sans" pitchFamily="34" charset="-120"/>
              </a:rPr>
              <a:t>audit readiness and tamper-proof evidence archiving on Azure</a:t>
            </a:r>
            <a:endParaRPr lang="en-US" sz="900" dirty="0"/>
          </a:p>
        </p:txBody>
      </p:sp>
      <p:sp>
        <p:nvSpPr>
          <p:cNvPr id="23" name="Shape 21"/>
          <p:cNvSpPr/>
          <p:nvPr/>
        </p:nvSpPr>
        <p:spPr>
          <a:xfrm>
            <a:off x="640080" y="5440680"/>
            <a:ext cx="2377440" cy="0"/>
          </a:xfrm>
          <a:prstGeom prst="line">
            <a:avLst/>
          </a:prstGeom>
          <a:noFill/>
          <a:ln w="9525">
            <a:solidFill>
              <a:srgbClr val="2E3033"/>
            </a:solidFill>
            <a:prstDash val="solid"/>
          </a:ln>
        </p:spPr>
        <p:txBody>
          <a:bodyPr/>
          <a:lstStyle/>
          <a:p>
            <a:endParaRPr lang="en-PK"/>
          </a:p>
        </p:txBody>
      </p:sp>
      <p:sp>
        <p:nvSpPr>
          <p:cNvPr id="24" name="Text 22"/>
          <p:cNvSpPr/>
          <p:nvPr/>
        </p:nvSpPr>
        <p:spPr>
          <a:xfrm>
            <a:off x="640080" y="5532120"/>
            <a:ext cx="2377440" cy="384048"/>
          </a:xfrm>
          <a:prstGeom prst="rect">
            <a:avLst/>
          </a:prstGeom>
          <a:noFill/>
          <a:ln/>
        </p:spPr>
        <p:txBody>
          <a:bodyPr wrap="square" lIns="0" tIns="0" rIns="0" bIns="0" rtlCol="0" anchor="t"/>
          <a:lstStyle/>
          <a:p>
            <a:pPr marL="0" indent="0">
              <a:buNone/>
            </a:pPr>
            <a:r>
              <a:rPr lang="en-US" sz="2200" b="1" dirty="0">
                <a:solidFill>
                  <a:srgbClr val="E8A33D"/>
                </a:solidFill>
                <a:latin typeface="Space Grotesk" pitchFamily="34" charset="0"/>
                <a:ea typeface="Space Grotesk" pitchFamily="34" charset="-122"/>
                <a:cs typeface="Space Grotesk" pitchFamily="34" charset="-120"/>
              </a:rPr>
              <a:t>1,095+</a:t>
            </a:r>
            <a:endParaRPr lang="en-US" sz="2200" dirty="0"/>
          </a:p>
        </p:txBody>
      </p:sp>
      <p:sp>
        <p:nvSpPr>
          <p:cNvPr id="25" name="Text 23"/>
          <p:cNvSpPr/>
          <p:nvPr/>
        </p:nvSpPr>
        <p:spPr>
          <a:xfrm>
            <a:off x="640080" y="5916168"/>
            <a:ext cx="2331720" cy="384048"/>
          </a:xfrm>
          <a:prstGeom prst="rect">
            <a:avLst/>
          </a:prstGeom>
          <a:noFill/>
          <a:ln/>
        </p:spPr>
        <p:txBody>
          <a:bodyPr wrap="square" lIns="0" tIns="0" rIns="0" bIns="0" rtlCol="0" anchor="t"/>
          <a:lstStyle/>
          <a:p>
            <a:pPr marL="0" indent="0">
              <a:lnSpc>
                <a:spcPct val="110000"/>
              </a:lnSpc>
              <a:buNone/>
            </a:pPr>
            <a:r>
              <a:rPr lang="en-US" sz="900" dirty="0">
                <a:solidFill>
                  <a:srgbClr val="B6B7B8"/>
                </a:solidFill>
                <a:latin typeface="IBM Plex Sans" pitchFamily="34" charset="0"/>
                <a:ea typeface="IBM Plex Sans" pitchFamily="34" charset="-122"/>
                <a:cs typeface="IBM Plex Sans" pitchFamily="34" charset="-120"/>
              </a:rPr>
              <a:t>violating content items and accounts tracked and resolved</a:t>
            </a:r>
            <a:endParaRPr lang="en-US" sz="900" dirty="0"/>
          </a:p>
        </p:txBody>
      </p:sp>
      <p:sp>
        <p:nvSpPr>
          <p:cNvPr id="26" name="Shape 24"/>
          <p:cNvSpPr/>
          <p:nvPr/>
        </p:nvSpPr>
        <p:spPr>
          <a:xfrm>
            <a:off x="3200400" y="5440680"/>
            <a:ext cx="2377440" cy="0"/>
          </a:xfrm>
          <a:prstGeom prst="line">
            <a:avLst/>
          </a:prstGeom>
          <a:noFill/>
          <a:ln w="9525">
            <a:solidFill>
              <a:srgbClr val="2E3033"/>
            </a:solidFill>
            <a:prstDash val="solid"/>
          </a:ln>
        </p:spPr>
        <p:txBody>
          <a:bodyPr/>
          <a:lstStyle/>
          <a:p>
            <a:endParaRPr lang="en-PK"/>
          </a:p>
        </p:txBody>
      </p:sp>
      <p:sp>
        <p:nvSpPr>
          <p:cNvPr id="27" name="Text 25"/>
          <p:cNvSpPr/>
          <p:nvPr/>
        </p:nvSpPr>
        <p:spPr>
          <a:xfrm>
            <a:off x="3200400" y="5532120"/>
            <a:ext cx="2377440" cy="384048"/>
          </a:xfrm>
          <a:prstGeom prst="rect">
            <a:avLst/>
          </a:prstGeom>
          <a:noFill/>
          <a:ln/>
        </p:spPr>
        <p:txBody>
          <a:bodyPr wrap="square" lIns="0" tIns="0" rIns="0" bIns="0" rtlCol="0" anchor="t"/>
          <a:lstStyle/>
          <a:p>
            <a:pPr marL="0" indent="0">
              <a:buNone/>
            </a:pPr>
            <a:r>
              <a:rPr lang="en-US" sz="2200" b="1" dirty="0">
                <a:solidFill>
                  <a:srgbClr val="E8A33D"/>
                </a:solidFill>
                <a:latin typeface="Space Grotesk" pitchFamily="34" charset="0"/>
                <a:ea typeface="Space Grotesk" pitchFamily="34" charset="-122"/>
                <a:cs typeface="Space Grotesk" pitchFamily="34" charset="-120"/>
              </a:rPr>
              <a:t>&lt;1s</a:t>
            </a:r>
            <a:endParaRPr lang="en-US" sz="2200" dirty="0"/>
          </a:p>
        </p:txBody>
      </p:sp>
      <p:sp>
        <p:nvSpPr>
          <p:cNvPr id="28" name="Text 26"/>
          <p:cNvSpPr/>
          <p:nvPr/>
        </p:nvSpPr>
        <p:spPr>
          <a:xfrm>
            <a:off x="3200400" y="5916168"/>
            <a:ext cx="2331720" cy="384048"/>
          </a:xfrm>
          <a:prstGeom prst="rect">
            <a:avLst/>
          </a:prstGeom>
          <a:noFill/>
          <a:ln/>
        </p:spPr>
        <p:txBody>
          <a:bodyPr wrap="square" lIns="0" tIns="0" rIns="0" bIns="0" rtlCol="0" anchor="t"/>
          <a:lstStyle/>
          <a:p>
            <a:pPr marL="0" indent="0">
              <a:lnSpc>
                <a:spcPct val="110000"/>
              </a:lnSpc>
              <a:buNone/>
            </a:pPr>
            <a:r>
              <a:rPr lang="en-US" sz="900" dirty="0">
                <a:solidFill>
                  <a:srgbClr val="B6B7B8"/>
                </a:solidFill>
                <a:latin typeface="IBM Plex Sans" pitchFamily="34" charset="0"/>
                <a:ea typeface="IBM Plex Sans" pitchFamily="34" charset="-122"/>
                <a:cs typeface="IBM Plex Sans" pitchFamily="34" charset="-120"/>
              </a:rPr>
              <a:t>real-time alert latency across analyst consoles</a:t>
            </a:r>
            <a:endParaRPr lang="en-US" sz="900" dirty="0"/>
          </a:p>
        </p:txBody>
      </p:sp>
      <p:sp>
        <p:nvSpPr>
          <p:cNvPr id="29" name="Text 27"/>
          <p:cNvSpPr/>
          <p:nvPr/>
        </p:nvSpPr>
        <p:spPr>
          <a:xfrm>
            <a:off x="6263640" y="548640"/>
            <a:ext cx="3367735" cy="365760"/>
          </a:xfrm>
          <a:prstGeom prst="rect">
            <a:avLst/>
          </a:prstGeom>
          <a:noFill/>
          <a:ln/>
        </p:spPr>
        <p:txBody>
          <a:bodyPr wrap="square" lIns="0" tIns="0" rIns="0" bIns="0" rtlCol="0" anchor="t"/>
          <a:lstStyle/>
          <a:p>
            <a:pPr marL="0" indent="0">
              <a:buNone/>
            </a:pPr>
            <a:r>
              <a:rPr lang="en-US" sz="750" kern="0" spc="100" dirty="0">
                <a:solidFill>
                  <a:srgbClr val="8B8D8F"/>
                </a:solidFill>
                <a:latin typeface="IBM Plex Mono" pitchFamily="34" charset="0"/>
                <a:ea typeface="IBM Plex Mono" pitchFamily="34" charset="-122"/>
                <a:cs typeface="IBM Plex Mono" pitchFamily="34" charset="-120"/>
              </a:rPr>
              <a:t>COMPLAINT TURNAROUND TIME (HOURS)</a:t>
            </a:r>
            <a:endParaRPr lang="en-US" sz="750" dirty="0"/>
          </a:p>
        </p:txBody>
      </p:sp>
      <p:sp>
        <p:nvSpPr>
          <p:cNvPr id="30" name="Text 28"/>
          <p:cNvSpPr/>
          <p:nvPr/>
        </p:nvSpPr>
        <p:spPr>
          <a:xfrm>
            <a:off x="9768535" y="530352"/>
            <a:ext cx="1005840" cy="219456"/>
          </a:xfrm>
          <a:prstGeom prst="rect">
            <a:avLst/>
          </a:prstGeom>
          <a:noFill/>
          <a:ln/>
        </p:spPr>
        <p:txBody>
          <a:bodyPr wrap="square" lIns="0" tIns="0" rIns="0" bIns="0" rtlCol="0" anchor="ctr"/>
          <a:lstStyle/>
          <a:p>
            <a:pPr marL="0" indent="0" algn="r">
              <a:buNone/>
            </a:pPr>
            <a:r>
              <a:rPr lang="en-US" sz="900" dirty="0">
                <a:solidFill>
                  <a:srgbClr val="B6B7B8"/>
                </a:solidFill>
                <a:latin typeface="IBM Plex Mono" pitchFamily="34" charset="0"/>
                <a:ea typeface="IBM Plex Mono" pitchFamily="34" charset="-122"/>
                <a:cs typeface="IBM Plex Mono" pitchFamily="34" charset="-120"/>
              </a:rPr>
              <a:t>92 → 9</a:t>
            </a:r>
            <a:endParaRPr lang="en-US" sz="900" dirty="0"/>
          </a:p>
        </p:txBody>
      </p:sp>
      <p:sp>
        <p:nvSpPr>
          <p:cNvPr id="31" name="Text 29"/>
          <p:cNvSpPr/>
          <p:nvPr/>
        </p:nvSpPr>
        <p:spPr>
          <a:xfrm>
            <a:off x="10865815" y="530352"/>
            <a:ext cx="685800" cy="219456"/>
          </a:xfrm>
          <a:prstGeom prst="roundRect">
            <a:avLst>
              <a:gd name="adj" fmla="val 16667"/>
            </a:avLst>
          </a:prstGeom>
          <a:solidFill>
            <a:srgbClr val="2A1F0D"/>
          </a:solidFill>
          <a:ln w="6350">
            <a:solidFill>
              <a:srgbClr val="E8A33D"/>
            </a:solidFill>
          </a:ln>
        </p:spPr>
        <p:txBody>
          <a:bodyPr wrap="square" lIns="0" tIns="0" rIns="0" bIns="0" rtlCol="0" anchor="ctr"/>
          <a:lstStyle/>
          <a:p>
            <a:pPr marL="0" indent="0" algn="ctr">
              <a:buNone/>
            </a:pPr>
            <a:r>
              <a:rPr lang="en-US" sz="900" b="1" dirty="0">
                <a:solidFill>
                  <a:srgbClr val="E8A33D"/>
                </a:solidFill>
                <a:latin typeface="IBM Plex Mono" pitchFamily="34" charset="0"/>
                <a:ea typeface="IBM Plex Mono" pitchFamily="34" charset="-122"/>
                <a:cs typeface="IBM Plex Mono" pitchFamily="34" charset="-120"/>
              </a:rPr>
              <a:t>-90%</a:t>
            </a:r>
            <a:endParaRPr lang="en-US" sz="900" dirty="0"/>
          </a:p>
        </p:txBody>
      </p:sp>
      <p:graphicFrame>
        <p:nvGraphicFramePr>
          <p:cNvPr id="32" name="Chart 0"/>
          <p:cNvGraphicFramePr/>
          <p:nvPr/>
        </p:nvGraphicFramePr>
        <p:xfrm>
          <a:off x="6190488" y="932688"/>
          <a:ext cx="5434279" cy="3364992"/>
        </p:xfrm>
        <a:graphic>
          <a:graphicData uri="http://schemas.openxmlformats.org/drawingml/2006/chart">
            <c:chart xmlns:c="http://schemas.openxmlformats.org/drawingml/2006/chart" xmlns:r="http://schemas.openxmlformats.org/officeDocument/2006/relationships" r:id="rId3"/>
          </a:graphicData>
        </a:graphic>
      </p:graphicFrame>
      <p:sp>
        <p:nvSpPr>
          <p:cNvPr id="33" name="Text 30"/>
          <p:cNvSpPr/>
          <p:nvPr/>
        </p:nvSpPr>
        <p:spPr>
          <a:xfrm>
            <a:off x="6263640" y="4709160"/>
            <a:ext cx="5287975" cy="182880"/>
          </a:xfrm>
          <a:prstGeom prst="rect">
            <a:avLst/>
          </a:prstGeom>
          <a:noFill/>
          <a:ln/>
        </p:spPr>
        <p:txBody>
          <a:bodyPr wrap="square" lIns="0" tIns="0" rIns="0" bIns="0" rtlCol="0" anchor="t"/>
          <a:lstStyle/>
          <a:p>
            <a:pPr marL="0" indent="0">
              <a:buNone/>
            </a:pPr>
            <a:r>
              <a:rPr lang="en-US" sz="800" kern="0" spc="150" dirty="0">
                <a:solidFill>
                  <a:srgbClr val="8B8D8F"/>
                </a:solidFill>
                <a:latin typeface="IBM Plex Mono" pitchFamily="34" charset="0"/>
                <a:ea typeface="IBM Plex Mono" pitchFamily="34" charset="-122"/>
                <a:cs typeface="IBM Plex Mono" pitchFamily="34" charset="-120"/>
              </a:rPr>
              <a:t>STACK</a:t>
            </a:r>
            <a:endParaRPr lang="en-US" sz="800" dirty="0"/>
          </a:p>
        </p:txBody>
      </p:sp>
      <p:sp>
        <p:nvSpPr>
          <p:cNvPr id="34" name="Text 31"/>
          <p:cNvSpPr/>
          <p:nvPr/>
        </p:nvSpPr>
        <p:spPr>
          <a:xfrm>
            <a:off x="6263640" y="4983480"/>
            <a:ext cx="737616" cy="246888"/>
          </a:xfrm>
          <a:prstGeom prst="roundRect">
            <a:avLst>
              <a:gd name="adj" fmla="val 14815"/>
            </a:avLst>
          </a:prstGeom>
          <a:solidFill>
            <a:srgbClr val="0E1011"/>
          </a:solidFill>
          <a:ln w="9525">
            <a:solidFill>
              <a:srgbClr val="2E3033"/>
            </a:solidFill>
          </a:ln>
        </p:spPr>
        <p:txBody>
          <a:bodyPr wrap="square" lIns="0" tIns="0" rIns="0" bIns="0" rtlCol="0" anchor="ctr"/>
          <a:lstStyle/>
          <a:p>
            <a:pPr marL="0" indent="0" algn="ctr">
              <a:buNone/>
            </a:pPr>
            <a:r>
              <a:rPr lang="en-US" sz="850" dirty="0">
                <a:solidFill>
                  <a:srgbClr val="B6B7B8"/>
                </a:solidFill>
                <a:latin typeface="IBM Plex Mono" pitchFamily="34" charset="0"/>
                <a:ea typeface="IBM Plex Mono" pitchFamily="34" charset="-122"/>
                <a:cs typeface="IBM Plex Mono" pitchFamily="34" charset="-120"/>
              </a:rPr>
              <a:t>React 19</a:t>
            </a:r>
            <a:endParaRPr lang="en-US" sz="850" dirty="0"/>
          </a:p>
        </p:txBody>
      </p:sp>
      <p:sp>
        <p:nvSpPr>
          <p:cNvPr id="35" name="Text 32"/>
          <p:cNvSpPr/>
          <p:nvPr/>
        </p:nvSpPr>
        <p:spPr>
          <a:xfrm>
            <a:off x="7074408" y="4983480"/>
            <a:ext cx="478536" cy="246888"/>
          </a:xfrm>
          <a:prstGeom prst="roundRect">
            <a:avLst>
              <a:gd name="adj" fmla="val 14815"/>
            </a:avLst>
          </a:prstGeom>
          <a:solidFill>
            <a:srgbClr val="0E1011"/>
          </a:solidFill>
          <a:ln w="9525">
            <a:solidFill>
              <a:srgbClr val="2E3033"/>
            </a:solidFill>
          </a:ln>
        </p:spPr>
        <p:txBody>
          <a:bodyPr wrap="square" lIns="0" tIns="0" rIns="0" bIns="0" rtlCol="0" anchor="ctr"/>
          <a:lstStyle/>
          <a:p>
            <a:pPr marL="0" indent="0" algn="ctr">
              <a:buNone/>
            </a:pPr>
            <a:r>
              <a:rPr lang="en-US" sz="850" dirty="0">
                <a:solidFill>
                  <a:srgbClr val="B6B7B8"/>
                </a:solidFill>
                <a:latin typeface="IBM Plex Mono" pitchFamily="34" charset="0"/>
                <a:ea typeface="IBM Plex Mono" pitchFamily="34" charset="-122"/>
                <a:cs typeface="IBM Plex Mono" pitchFamily="34" charset="-120"/>
              </a:rPr>
              <a:t>Vite</a:t>
            </a:r>
            <a:endParaRPr lang="en-US" sz="850" dirty="0"/>
          </a:p>
        </p:txBody>
      </p:sp>
      <p:sp>
        <p:nvSpPr>
          <p:cNvPr id="36" name="Text 33"/>
          <p:cNvSpPr/>
          <p:nvPr/>
        </p:nvSpPr>
        <p:spPr>
          <a:xfrm>
            <a:off x="7626096" y="4983480"/>
            <a:ext cx="672846" cy="246888"/>
          </a:xfrm>
          <a:prstGeom prst="roundRect">
            <a:avLst>
              <a:gd name="adj" fmla="val 14815"/>
            </a:avLst>
          </a:prstGeom>
          <a:solidFill>
            <a:srgbClr val="0E1011"/>
          </a:solidFill>
          <a:ln w="9525">
            <a:solidFill>
              <a:srgbClr val="2E3033"/>
            </a:solidFill>
          </a:ln>
        </p:spPr>
        <p:txBody>
          <a:bodyPr wrap="square" lIns="0" tIns="0" rIns="0" bIns="0" rtlCol="0" anchor="ctr"/>
          <a:lstStyle/>
          <a:p>
            <a:pPr marL="0" indent="0" algn="ctr">
              <a:buNone/>
            </a:pPr>
            <a:r>
              <a:rPr lang="en-US" sz="850" dirty="0">
                <a:solidFill>
                  <a:srgbClr val="B6B7B8"/>
                </a:solidFill>
                <a:latin typeface="IBM Plex Mono" pitchFamily="34" charset="0"/>
                <a:ea typeface="IBM Plex Mono" pitchFamily="34" charset="-122"/>
                <a:cs typeface="IBM Plex Mono" pitchFamily="34" charset="-120"/>
              </a:rPr>
              <a:t>Node.js</a:t>
            </a:r>
            <a:endParaRPr lang="en-US" sz="850" dirty="0"/>
          </a:p>
        </p:txBody>
      </p:sp>
      <p:sp>
        <p:nvSpPr>
          <p:cNvPr id="37" name="Text 34"/>
          <p:cNvSpPr/>
          <p:nvPr/>
        </p:nvSpPr>
        <p:spPr>
          <a:xfrm>
            <a:off x="8372094" y="4983480"/>
            <a:ext cx="802386" cy="246888"/>
          </a:xfrm>
          <a:prstGeom prst="roundRect">
            <a:avLst>
              <a:gd name="adj" fmla="val 14815"/>
            </a:avLst>
          </a:prstGeom>
          <a:solidFill>
            <a:srgbClr val="0E1011"/>
          </a:solidFill>
          <a:ln w="9525">
            <a:solidFill>
              <a:srgbClr val="2E3033"/>
            </a:solidFill>
          </a:ln>
        </p:spPr>
        <p:txBody>
          <a:bodyPr wrap="square" lIns="0" tIns="0" rIns="0" bIns="0" rtlCol="0" anchor="ctr"/>
          <a:lstStyle/>
          <a:p>
            <a:pPr marL="0" indent="0" algn="ctr">
              <a:buNone/>
            </a:pPr>
            <a:r>
              <a:rPr lang="en-US" sz="850" dirty="0">
                <a:solidFill>
                  <a:srgbClr val="B6B7B8"/>
                </a:solidFill>
                <a:latin typeface="IBM Plex Mono" pitchFamily="34" charset="0"/>
                <a:ea typeface="IBM Plex Mono" pitchFamily="34" charset="-122"/>
                <a:cs typeface="IBM Plex Mono" pitchFamily="34" charset="-120"/>
              </a:rPr>
              <a:t>Express 5</a:t>
            </a:r>
            <a:endParaRPr lang="en-US" sz="850" dirty="0"/>
          </a:p>
        </p:txBody>
      </p:sp>
      <p:sp>
        <p:nvSpPr>
          <p:cNvPr id="38" name="Text 35"/>
          <p:cNvSpPr/>
          <p:nvPr/>
        </p:nvSpPr>
        <p:spPr>
          <a:xfrm>
            <a:off x="9247632" y="4983480"/>
            <a:ext cx="1514856" cy="246888"/>
          </a:xfrm>
          <a:prstGeom prst="roundRect">
            <a:avLst>
              <a:gd name="adj" fmla="val 14815"/>
            </a:avLst>
          </a:prstGeom>
          <a:solidFill>
            <a:srgbClr val="0E1011"/>
          </a:solidFill>
          <a:ln w="9525">
            <a:solidFill>
              <a:srgbClr val="2E3033"/>
            </a:solidFill>
          </a:ln>
        </p:spPr>
        <p:txBody>
          <a:bodyPr wrap="square" lIns="0" tIns="0" rIns="0" bIns="0" rtlCol="0" anchor="ctr"/>
          <a:lstStyle/>
          <a:p>
            <a:pPr marL="0" indent="0" algn="ctr">
              <a:buNone/>
            </a:pPr>
            <a:r>
              <a:rPr lang="en-US" sz="850" dirty="0">
                <a:solidFill>
                  <a:srgbClr val="B6B7B8"/>
                </a:solidFill>
                <a:latin typeface="IBM Plex Mono" pitchFamily="34" charset="0"/>
                <a:ea typeface="IBM Plex Mono" pitchFamily="34" charset="-122"/>
                <a:cs typeface="IBM Plex Mono" pitchFamily="34" charset="-120"/>
              </a:rPr>
              <a:t>Microsoft SQL Server</a:t>
            </a:r>
            <a:endParaRPr lang="en-US" sz="850" dirty="0"/>
          </a:p>
        </p:txBody>
      </p:sp>
      <p:sp>
        <p:nvSpPr>
          <p:cNvPr id="39" name="Text 36"/>
          <p:cNvSpPr/>
          <p:nvPr/>
        </p:nvSpPr>
        <p:spPr>
          <a:xfrm>
            <a:off x="6263640" y="5303520"/>
            <a:ext cx="1385316" cy="246888"/>
          </a:xfrm>
          <a:prstGeom prst="roundRect">
            <a:avLst>
              <a:gd name="adj" fmla="val 14815"/>
            </a:avLst>
          </a:prstGeom>
          <a:solidFill>
            <a:srgbClr val="0E1011"/>
          </a:solidFill>
          <a:ln w="9525">
            <a:solidFill>
              <a:srgbClr val="2E3033"/>
            </a:solidFill>
          </a:ln>
        </p:spPr>
        <p:txBody>
          <a:bodyPr wrap="square" lIns="0" tIns="0" rIns="0" bIns="0" rtlCol="0" anchor="ctr"/>
          <a:lstStyle/>
          <a:p>
            <a:pPr marL="0" indent="0" algn="ctr">
              <a:buNone/>
            </a:pPr>
            <a:r>
              <a:rPr lang="en-US" sz="850" dirty="0">
                <a:solidFill>
                  <a:srgbClr val="B6B7B8"/>
                </a:solidFill>
                <a:latin typeface="IBM Plex Mono" pitchFamily="34" charset="0"/>
                <a:ea typeface="IBM Plex Mono" pitchFamily="34" charset="-122"/>
                <a:cs typeface="IBM Plex Mono" pitchFamily="34" charset="-120"/>
              </a:rPr>
              <a:t>Azure Blob Storage</a:t>
            </a:r>
            <a:endParaRPr lang="en-US" sz="850" dirty="0"/>
          </a:p>
        </p:txBody>
      </p:sp>
      <p:sp>
        <p:nvSpPr>
          <p:cNvPr id="40" name="Text 37"/>
          <p:cNvSpPr/>
          <p:nvPr/>
        </p:nvSpPr>
        <p:spPr>
          <a:xfrm>
            <a:off x="7722108" y="5303520"/>
            <a:ext cx="802386" cy="246888"/>
          </a:xfrm>
          <a:prstGeom prst="roundRect">
            <a:avLst>
              <a:gd name="adj" fmla="val 14815"/>
            </a:avLst>
          </a:prstGeom>
          <a:solidFill>
            <a:srgbClr val="0E1011"/>
          </a:solidFill>
          <a:ln w="9525">
            <a:solidFill>
              <a:srgbClr val="2E3033"/>
            </a:solidFill>
          </a:ln>
        </p:spPr>
        <p:txBody>
          <a:bodyPr wrap="square" lIns="0" tIns="0" rIns="0" bIns="0" rtlCol="0" anchor="ctr"/>
          <a:lstStyle/>
          <a:p>
            <a:pPr marL="0" indent="0" algn="ctr">
              <a:buNone/>
            </a:pPr>
            <a:r>
              <a:rPr lang="en-US" sz="850" dirty="0">
                <a:solidFill>
                  <a:srgbClr val="B6B7B8"/>
                </a:solidFill>
                <a:latin typeface="IBM Plex Mono" pitchFamily="34" charset="0"/>
                <a:ea typeface="IBM Plex Mono" pitchFamily="34" charset="-122"/>
                <a:cs typeface="IBM Plex Mono" pitchFamily="34" charset="-120"/>
              </a:rPr>
              <a:t>Socket.IO</a:t>
            </a:r>
            <a:endParaRPr lang="en-US" sz="850" dirty="0"/>
          </a:p>
        </p:txBody>
      </p:sp>
      <p:sp>
        <p:nvSpPr>
          <p:cNvPr id="41" name="Text 38"/>
          <p:cNvSpPr/>
          <p:nvPr/>
        </p:nvSpPr>
        <p:spPr>
          <a:xfrm>
            <a:off x="8597646" y="5303520"/>
            <a:ext cx="737616" cy="246888"/>
          </a:xfrm>
          <a:prstGeom prst="roundRect">
            <a:avLst>
              <a:gd name="adj" fmla="val 14815"/>
            </a:avLst>
          </a:prstGeom>
          <a:solidFill>
            <a:srgbClr val="0E1011"/>
          </a:solidFill>
          <a:ln w="9525">
            <a:solidFill>
              <a:srgbClr val="2E3033"/>
            </a:solidFill>
          </a:ln>
        </p:spPr>
        <p:txBody>
          <a:bodyPr wrap="square" lIns="0" tIns="0" rIns="0" bIns="0" rtlCol="0" anchor="ctr"/>
          <a:lstStyle/>
          <a:p>
            <a:pPr marL="0" indent="0" algn="ctr">
              <a:buNone/>
            </a:pPr>
            <a:r>
              <a:rPr lang="en-US" sz="850" dirty="0">
                <a:solidFill>
                  <a:srgbClr val="B6B7B8"/>
                </a:solidFill>
                <a:latin typeface="IBM Plex Mono" pitchFamily="34" charset="0"/>
                <a:ea typeface="IBM Plex Mono" pitchFamily="34" charset="-122"/>
                <a:cs typeface="IBM Plex Mono" pitchFamily="34" charset="-120"/>
              </a:rPr>
              <a:t>Chart.js</a:t>
            </a:r>
            <a:endParaRPr lang="en-US" sz="850" dirty="0"/>
          </a:p>
        </p:txBody>
      </p:sp>
      <p:sp>
        <p:nvSpPr>
          <p:cNvPr id="42" name="Text 39"/>
          <p:cNvSpPr/>
          <p:nvPr/>
        </p:nvSpPr>
        <p:spPr>
          <a:xfrm>
            <a:off x="9408414" y="5303520"/>
            <a:ext cx="996696" cy="246888"/>
          </a:xfrm>
          <a:prstGeom prst="roundRect">
            <a:avLst>
              <a:gd name="adj" fmla="val 14815"/>
            </a:avLst>
          </a:prstGeom>
          <a:solidFill>
            <a:srgbClr val="0E1011"/>
          </a:solidFill>
          <a:ln w="9525">
            <a:solidFill>
              <a:srgbClr val="2E3033"/>
            </a:solidFill>
          </a:ln>
        </p:spPr>
        <p:txBody>
          <a:bodyPr wrap="square" lIns="0" tIns="0" rIns="0" bIns="0" rtlCol="0" anchor="ctr"/>
          <a:lstStyle/>
          <a:p>
            <a:pPr marL="0" indent="0" algn="ctr">
              <a:buNone/>
            </a:pPr>
            <a:r>
              <a:rPr lang="en-US" sz="850" dirty="0">
                <a:solidFill>
                  <a:srgbClr val="B6B7B8"/>
                </a:solidFill>
                <a:latin typeface="IBM Plex Mono" pitchFamily="34" charset="0"/>
                <a:ea typeface="IBM Plex Mono" pitchFamily="34" charset="-122"/>
                <a:cs typeface="IBM Plex Mono" pitchFamily="34" charset="-120"/>
              </a:rPr>
              <a:t>Tailwind CSS</a:t>
            </a:r>
            <a:endParaRPr lang="en-US" sz="850" dirty="0"/>
          </a:p>
        </p:txBody>
      </p:sp>
      <p:sp>
        <p:nvSpPr>
          <p:cNvPr id="43" name="Text 40"/>
          <p:cNvSpPr/>
          <p:nvPr/>
        </p:nvSpPr>
        <p:spPr>
          <a:xfrm>
            <a:off x="10478262" y="5303520"/>
            <a:ext cx="543306" cy="246888"/>
          </a:xfrm>
          <a:prstGeom prst="roundRect">
            <a:avLst>
              <a:gd name="adj" fmla="val 14815"/>
            </a:avLst>
          </a:prstGeom>
          <a:solidFill>
            <a:srgbClr val="0E1011"/>
          </a:solidFill>
          <a:ln w="9525">
            <a:solidFill>
              <a:srgbClr val="2E3033"/>
            </a:solidFill>
          </a:ln>
        </p:spPr>
        <p:txBody>
          <a:bodyPr wrap="square" lIns="0" tIns="0" rIns="0" bIns="0" rtlCol="0" anchor="ctr"/>
          <a:lstStyle/>
          <a:p>
            <a:pPr marL="0" indent="0" algn="ctr">
              <a:buNone/>
            </a:pPr>
            <a:r>
              <a:rPr lang="en-US" sz="850" dirty="0">
                <a:solidFill>
                  <a:srgbClr val="B6B7B8"/>
                </a:solidFill>
                <a:latin typeface="IBM Plex Mono" pitchFamily="34" charset="0"/>
                <a:ea typeface="IBM Plex Mono" pitchFamily="34" charset="-122"/>
                <a:cs typeface="IBM Plex Mono" pitchFamily="34" charset="-120"/>
              </a:rPr>
              <a:t>jsPDF</a:t>
            </a:r>
            <a:endParaRPr lang="en-US" sz="850" dirty="0"/>
          </a:p>
        </p:txBody>
      </p:sp>
      <p:sp>
        <p:nvSpPr>
          <p:cNvPr id="44" name="Text 41"/>
          <p:cNvSpPr/>
          <p:nvPr/>
        </p:nvSpPr>
        <p:spPr>
          <a:xfrm>
            <a:off x="6263640" y="5623560"/>
            <a:ext cx="672846" cy="246888"/>
          </a:xfrm>
          <a:prstGeom prst="roundRect">
            <a:avLst>
              <a:gd name="adj" fmla="val 14815"/>
            </a:avLst>
          </a:prstGeom>
          <a:solidFill>
            <a:srgbClr val="0E1011"/>
          </a:solidFill>
          <a:ln w="9525">
            <a:solidFill>
              <a:srgbClr val="2E3033"/>
            </a:solidFill>
          </a:ln>
        </p:spPr>
        <p:txBody>
          <a:bodyPr wrap="square" lIns="0" tIns="0" rIns="0" bIns="0" rtlCol="0" anchor="ctr"/>
          <a:lstStyle/>
          <a:p>
            <a:pPr marL="0" indent="0" algn="ctr">
              <a:buNone/>
            </a:pPr>
            <a:r>
              <a:rPr lang="en-US" sz="850" dirty="0">
                <a:solidFill>
                  <a:srgbClr val="B6B7B8"/>
                </a:solidFill>
                <a:latin typeface="IBM Plex Mono" pitchFamily="34" charset="0"/>
                <a:ea typeface="IBM Plex Mono" pitchFamily="34" charset="-122"/>
                <a:cs typeface="IBM Plex Mono" pitchFamily="34" charset="-120"/>
              </a:rPr>
              <a:t>SheetJS</a:t>
            </a:r>
            <a:endParaRPr lang="en-US" sz="850" dirty="0"/>
          </a:p>
        </p:txBody>
      </p:sp>
      <p:sp>
        <p:nvSpPr>
          <p:cNvPr id="45" name="Text 42"/>
          <p:cNvSpPr/>
          <p:nvPr/>
        </p:nvSpPr>
        <p:spPr>
          <a:xfrm>
            <a:off x="640080" y="6473952"/>
            <a:ext cx="6400800" cy="164592"/>
          </a:xfrm>
          <a:prstGeom prst="rect">
            <a:avLst/>
          </a:prstGeom>
          <a:noFill/>
          <a:ln/>
        </p:spPr>
        <p:txBody>
          <a:bodyPr wrap="square" lIns="0" tIns="0" rIns="0" bIns="0" rtlCol="0" anchor="t"/>
          <a:lstStyle/>
          <a:p>
            <a:pPr marL="0" indent="0">
              <a:buNone/>
            </a:pPr>
            <a:r>
              <a:rPr lang="en-US" sz="700" kern="0" spc="150" dirty="0">
                <a:solidFill>
                  <a:srgbClr val="8B8D8F"/>
                </a:solidFill>
                <a:latin typeface="IBM Plex Mono" pitchFamily="34" charset="0"/>
                <a:ea typeface="IBM Plex Mono" pitchFamily="34" charset="-122"/>
                <a:cs typeface="IBM Plex Mono" pitchFamily="34" charset="-120"/>
              </a:rPr>
              <a:t>BOLTER TECHNOLOGIES PRIVATE LIMITED  ·  COMPANY PROFILE</a:t>
            </a:r>
            <a:endParaRPr lang="en-US" sz="700" dirty="0"/>
          </a:p>
        </p:txBody>
      </p:sp>
      <p:sp>
        <p:nvSpPr>
          <p:cNvPr id="46" name="Text 43"/>
          <p:cNvSpPr/>
          <p:nvPr/>
        </p:nvSpPr>
        <p:spPr>
          <a:xfrm>
            <a:off x="9722815" y="6473952"/>
            <a:ext cx="1828800" cy="164592"/>
          </a:xfrm>
          <a:prstGeom prst="rect">
            <a:avLst/>
          </a:prstGeom>
          <a:noFill/>
          <a:ln/>
        </p:spPr>
        <p:txBody>
          <a:bodyPr wrap="square" lIns="0" tIns="0" rIns="0" bIns="0" rtlCol="0" anchor="t"/>
          <a:lstStyle/>
          <a:p>
            <a:pPr marL="0" indent="0" algn="r">
              <a:buNone/>
            </a:pPr>
            <a:r>
              <a:rPr lang="en-US" sz="700" kern="0" spc="150" dirty="0">
                <a:solidFill>
                  <a:srgbClr val="8B8D8F"/>
                </a:solidFill>
                <a:latin typeface="IBM Plex Mono" pitchFamily="34" charset="0"/>
                <a:ea typeface="IBM Plex Mono" pitchFamily="34" charset="-122"/>
                <a:cs typeface="IBM Plex Mono" pitchFamily="34" charset="-120"/>
              </a:rPr>
              <a:t>17 / 23</a:t>
            </a:r>
            <a:endParaRPr lang="en-US" sz="7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3F1ED"/>
        </a:solidFill>
        <a:effectLst/>
      </p:bgPr>
    </p:bg>
    <p:spTree>
      <p:nvGrpSpPr>
        <p:cNvPr id="1" name=""/>
        <p:cNvGrpSpPr/>
        <p:nvPr/>
      </p:nvGrpSpPr>
      <p:grpSpPr>
        <a:xfrm>
          <a:off x="0" y="0"/>
          <a:ext cx="0" cy="0"/>
          <a:chOff x="0" y="0"/>
          <a:chExt cx="0" cy="0"/>
        </a:xfrm>
      </p:grpSpPr>
      <p:sp>
        <p:nvSpPr>
          <p:cNvPr id="2" name="Shape 0"/>
          <p:cNvSpPr/>
          <p:nvPr/>
        </p:nvSpPr>
        <p:spPr>
          <a:xfrm>
            <a:off x="640080" y="571500"/>
            <a:ext cx="219456" cy="32004"/>
          </a:xfrm>
          <a:prstGeom prst="rect">
            <a:avLst/>
          </a:prstGeom>
          <a:solidFill>
            <a:srgbClr val="8F5D0A"/>
          </a:solidFill>
          <a:ln/>
        </p:spPr>
        <p:txBody>
          <a:bodyPr/>
          <a:lstStyle/>
          <a:p>
            <a:endParaRPr lang="en-PK"/>
          </a:p>
        </p:txBody>
      </p:sp>
      <p:sp>
        <p:nvSpPr>
          <p:cNvPr id="3" name="Text 1"/>
          <p:cNvSpPr/>
          <p:nvPr/>
        </p:nvSpPr>
        <p:spPr>
          <a:xfrm>
            <a:off x="969264" y="502920"/>
            <a:ext cx="8229600" cy="182880"/>
          </a:xfrm>
          <a:prstGeom prst="rect">
            <a:avLst/>
          </a:prstGeom>
          <a:noFill/>
          <a:ln/>
        </p:spPr>
        <p:txBody>
          <a:bodyPr wrap="square" lIns="0" tIns="0" rIns="0" bIns="0" rtlCol="0" anchor="t"/>
          <a:lstStyle/>
          <a:p>
            <a:pPr marL="0" indent="0">
              <a:buNone/>
            </a:pPr>
            <a:r>
              <a:rPr lang="en-US" sz="900" b="1" kern="0" spc="200" dirty="0">
                <a:solidFill>
                  <a:srgbClr val="8F5D0A"/>
                </a:solidFill>
                <a:latin typeface="IBM Plex Mono" pitchFamily="34" charset="0"/>
                <a:ea typeface="IBM Plex Mono" pitchFamily="34" charset="-122"/>
                <a:cs typeface="IBM Plex Mono" pitchFamily="34" charset="-120"/>
              </a:rPr>
              <a:t>05  SELECTED WORK  ·  06 / 06  ·  SOFTWARE</a:t>
            </a:r>
            <a:endParaRPr lang="en-US" sz="900" dirty="0"/>
          </a:p>
        </p:txBody>
      </p:sp>
      <p:sp>
        <p:nvSpPr>
          <p:cNvPr id="4" name="Text 2"/>
          <p:cNvSpPr/>
          <p:nvPr/>
        </p:nvSpPr>
        <p:spPr>
          <a:xfrm>
            <a:off x="640080" y="777240"/>
            <a:ext cx="5120640" cy="548640"/>
          </a:xfrm>
          <a:prstGeom prst="rect">
            <a:avLst/>
          </a:prstGeom>
          <a:noFill/>
          <a:ln/>
        </p:spPr>
        <p:txBody>
          <a:bodyPr wrap="square" lIns="0" tIns="0" rIns="0" bIns="0" rtlCol="0" anchor="t"/>
          <a:lstStyle/>
          <a:p>
            <a:pPr marL="0" indent="0">
              <a:lnSpc>
                <a:spcPct val="95000"/>
              </a:lnSpc>
              <a:buNone/>
            </a:pPr>
            <a:r>
              <a:rPr lang="en-US" sz="3200" b="1" dirty="0">
                <a:solidFill>
                  <a:srgbClr val="14161A"/>
                </a:solidFill>
                <a:latin typeface="Space Grotesk" pitchFamily="34" charset="0"/>
                <a:ea typeface="Space Grotesk" pitchFamily="34" charset="-122"/>
                <a:cs typeface="Space Grotesk" pitchFamily="34" charset="-120"/>
              </a:rPr>
              <a:t>LTE Trove</a:t>
            </a:r>
            <a:endParaRPr lang="en-US" sz="3200" dirty="0"/>
          </a:p>
        </p:txBody>
      </p:sp>
      <p:sp>
        <p:nvSpPr>
          <p:cNvPr id="5" name="Text 3"/>
          <p:cNvSpPr/>
          <p:nvPr/>
        </p:nvSpPr>
        <p:spPr>
          <a:xfrm>
            <a:off x="640080" y="1371600"/>
            <a:ext cx="5120640" cy="320040"/>
          </a:xfrm>
          <a:prstGeom prst="rect">
            <a:avLst/>
          </a:prstGeom>
          <a:noFill/>
          <a:ln/>
        </p:spPr>
        <p:txBody>
          <a:bodyPr wrap="square" lIns="0" tIns="0" rIns="0" bIns="0" rtlCol="0" anchor="t"/>
          <a:lstStyle/>
          <a:p>
            <a:pPr marL="0" indent="0">
              <a:buNone/>
            </a:pPr>
            <a:r>
              <a:rPr lang="en-US" sz="1500" dirty="0">
                <a:solidFill>
                  <a:srgbClr val="5B6066"/>
                </a:solidFill>
                <a:latin typeface="IBM Plex Sans" pitchFamily="34" charset="0"/>
                <a:ea typeface="IBM Plex Sans" pitchFamily="34" charset="-122"/>
                <a:cs typeface="IBM Plex Sans" pitchFamily="34" charset="-120"/>
              </a:rPr>
              <a:t>Virtual 4G network lab</a:t>
            </a:r>
            <a:endParaRPr lang="en-US" sz="1500" dirty="0"/>
          </a:p>
        </p:txBody>
      </p:sp>
      <p:sp>
        <p:nvSpPr>
          <p:cNvPr id="6" name="Shape 4"/>
          <p:cNvSpPr/>
          <p:nvPr/>
        </p:nvSpPr>
        <p:spPr>
          <a:xfrm>
            <a:off x="640080" y="1874520"/>
            <a:ext cx="5120640" cy="0"/>
          </a:xfrm>
          <a:prstGeom prst="line">
            <a:avLst/>
          </a:prstGeom>
          <a:noFill/>
          <a:ln w="9525">
            <a:solidFill>
              <a:srgbClr val="DCD8D0"/>
            </a:solidFill>
            <a:prstDash val="solid"/>
          </a:ln>
        </p:spPr>
        <p:txBody>
          <a:bodyPr/>
          <a:lstStyle/>
          <a:p>
            <a:endParaRPr lang="en-PK"/>
          </a:p>
        </p:txBody>
      </p:sp>
      <p:sp>
        <p:nvSpPr>
          <p:cNvPr id="7" name="Text 5"/>
          <p:cNvSpPr/>
          <p:nvPr/>
        </p:nvSpPr>
        <p:spPr>
          <a:xfrm>
            <a:off x="640080" y="1984248"/>
            <a:ext cx="5120640" cy="182880"/>
          </a:xfrm>
          <a:prstGeom prst="rect">
            <a:avLst/>
          </a:prstGeom>
          <a:noFill/>
          <a:ln/>
        </p:spPr>
        <p:txBody>
          <a:bodyPr wrap="square" lIns="0" tIns="0" rIns="0" bIns="0" rtlCol="0" anchor="t"/>
          <a:lstStyle/>
          <a:p>
            <a:pPr marL="0" indent="0">
              <a:buNone/>
            </a:pPr>
            <a:r>
              <a:rPr lang="en-US" sz="800" kern="0" spc="150" dirty="0">
                <a:solidFill>
                  <a:srgbClr val="6F6A5F"/>
                </a:solidFill>
                <a:latin typeface="IBM Plex Mono" pitchFamily="34" charset="0"/>
                <a:ea typeface="IBM Plex Mono" pitchFamily="34" charset="-122"/>
                <a:cs typeface="IBM Plex Mono" pitchFamily="34" charset="-120"/>
              </a:rPr>
              <a:t>CLIENT</a:t>
            </a:r>
            <a:endParaRPr lang="en-US" sz="800" dirty="0"/>
          </a:p>
        </p:txBody>
      </p:sp>
      <p:sp>
        <p:nvSpPr>
          <p:cNvPr id="8" name="Text 6"/>
          <p:cNvSpPr/>
          <p:nvPr/>
        </p:nvSpPr>
        <p:spPr>
          <a:xfrm>
            <a:off x="640080" y="2185416"/>
            <a:ext cx="5120640" cy="237744"/>
          </a:xfrm>
          <a:prstGeom prst="rect">
            <a:avLst/>
          </a:prstGeom>
          <a:noFill/>
          <a:ln/>
        </p:spPr>
        <p:txBody>
          <a:bodyPr wrap="square" lIns="0" tIns="0" rIns="0" bIns="0" rtlCol="0" anchor="t"/>
          <a:lstStyle/>
          <a:p>
            <a:pPr marL="0" indent="0">
              <a:buNone/>
            </a:pPr>
            <a:r>
              <a:rPr lang="en-US" sz="1150" dirty="0">
                <a:solidFill>
                  <a:srgbClr val="14161A"/>
                </a:solidFill>
                <a:latin typeface="IBM Plex Sans" pitchFamily="34" charset="0"/>
                <a:ea typeface="IBM Plex Sans" pitchFamily="34" charset="-122"/>
                <a:cs typeface="IBM Plex Sans" pitchFamily="34" charset="-120"/>
              </a:rPr>
              <a:t>Telecommunications — name withheld</a:t>
            </a:r>
            <a:endParaRPr lang="en-US" sz="1150" dirty="0"/>
          </a:p>
        </p:txBody>
      </p:sp>
      <p:sp>
        <p:nvSpPr>
          <p:cNvPr id="9" name="Shape 7"/>
          <p:cNvSpPr/>
          <p:nvPr/>
        </p:nvSpPr>
        <p:spPr>
          <a:xfrm>
            <a:off x="640080" y="2514600"/>
            <a:ext cx="5120640" cy="0"/>
          </a:xfrm>
          <a:prstGeom prst="line">
            <a:avLst/>
          </a:prstGeom>
          <a:noFill/>
          <a:ln w="9525">
            <a:solidFill>
              <a:srgbClr val="DCD8D0"/>
            </a:solidFill>
            <a:prstDash val="solid"/>
          </a:ln>
        </p:spPr>
        <p:txBody>
          <a:bodyPr/>
          <a:lstStyle/>
          <a:p>
            <a:endParaRPr lang="en-PK"/>
          </a:p>
        </p:txBody>
      </p:sp>
      <p:sp>
        <p:nvSpPr>
          <p:cNvPr id="10" name="Text 8"/>
          <p:cNvSpPr/>
          <p:nvPr/>
        </p:nvSpPr>
        <p:spPr>
          <a:xfrm>
            <a:off x="640080" y="2624328"/>
            <a:ext cx="1706880" cy="182880"/>
          </a:xfrm>
          <a:prstGeom prst="rect">
            <a:avLst/>
          </a:prstGeom>
          <a:noFill/>
          <a:ln/>
        </p:spPr>
        <p:txBody>
          <a:bodyPr wrap="square" lIns="0" tIns="0" rIns="0" bIns="0" rtlCol="0" anchor="t"/>
          <a:lstStyle/>
          <a:p>
            <a:pPr marL="0" indent="0">
              <a:buNone/>
            </a:pPr>
            <a:r>
              <a:rPr lang="en-US" sz="800" kern="0" spc="150" dirty="0">
                <a:solidFill>
                  <a:srgbClr val="6F6A5F"/>
                </a:solidFill>
                <a:latin typeface="IBM Plex Mono" pitchFamily="34" charset="0"/>
                <a:ea typeface="IBM Plex Mono" pitchFamily="34" charset="-122"/>
                <a:cs typeface="IBM Plex Mono" pitchFamily="34" charset="-120"/>
              </a:rPr>
              <a:t>YEAR</a:t>
            </a:r>
            <a:endParaRPr lang="en-US" sz="800" dirty="0"/>
          </a:p>
        </p:txBody>
      </p:sp>
      <p:sp>
        <p:nvSpPr>
          <p:cNvPr id="11" name="Text 9"/>
          <p:cNvSpPr/>
          <p:nvPr/>
        </p:nvSpPr>
        <p:spPr>
          <a:xfrm>
            <a:off x="640080" y="2825496"/>
            <a:ext cx="1706880" cy="237744"/>
          </a:xfrm>
          <a:prstGeom prst="rect">
            <a:avLst/>
          </a:prstGeom>
          <a:noFill/>
          <a:ln/>
        </p:spPr>
        <p:txBody>
          <a:bodyPr wrap="square" lIns="0" tIns="0" rIns="0" bIns="0" rtlCol="0" anchor="t"/>
          <a:lstStyle/>
          <a:p>
            <a:pPr marL="0" indent="0">
              <a:buNone/>
            </a:pPr>
            <a:r>
              <a:rPr lang="en-US" sz="1150" dirty="0">
                <a:solidFill>
                  <a:srgbClr val="14161A"/>
                </a:solidFill>
                <a:latin typeface="IBM Plex Sans" pitchFamily="34" charset="0"/>
                <a:ea typeface="IBM Plex Sans" pitchFamily="34" charset="-122"/>
                <a:cs typeface="IBM Plex Sans" pitchFamily="34" charset="-120"/>
              </a:rPr>
              <a:t>2026</a:t>
            </a:r>
            <a:endParaRPr lang="en-US" sz="1150" dirty="0"/>
          </a:p>
        </p:txBody>
      </p:sp>
      <p:sp>
        <p:nvSpPr>
          <p:cNvPr id="12" name="Text 10"/>
          <p:cNvSpPr/>
          <p:nvPr/>
        </p:nvSpPr>
        <p:spPr>
          <a:xfrm>
            <a:off x="2346960" y="2624328"/>
            <a:ext cx="1706880" cy="182880"/>
          </a:xfrm>
          <a:prstGeom prst="rect">
            <a:avLst/>
          </a:prstGeom>
          <a:noFill/>
          <a:ln/>
        </p:spPr>
        <p:txBody>
          <a:bodyPr wrap="square" lIns="0" tIns="0" rIns="0" bIns="0" rtlCol="0" anchor="t"/>
          <a:lstStyle/>
          <a:p>
            <a:pPr marL="0" indent="0">
              <a:buNone/>
            </a:pPr>
            <a:r>
              <a:rPr lang="en-US" sz="800" kern="0" spc="150" dirty="0">
                <a:solidFill>
                  <a:srgbClr val="6F6A5F"/>
                </a:solidFill>
                <a:latin typeface="IBM Plex Mono" pitchFamily="34" charset="0"/>
                <a:ea typeface="IBM Plex Mono" pitchFamily="34" charset="-122"/>
                <a:cs typeface="IBM Plex Mono" pitchFamily="34" charset="-120"/>
              </a:rPr>
              <a:t>DURATION</a:t>
            </a:r>
            <a:endParaRPr lang="en-US" sz="800" dirty="0"/>
          </a:p>
        </p:txBody>
      </p:sp>
      <p:sp>
        <p:nvSpPr>
          <p:cNvPr id="13" name="Text 11"/>
          <p:cNvSpPr/>
          <p:nvPr/>
        </p:nvSpPr>
        <p:spPr>
          <a:xfrm>
            <a:off x="2346960" y="2825496"/>
            <a:ext cx="1706880" cy="237744"/>
          </a:xfrm>
          <a:prstGeom prst="rect">
            <a:avLst/>
          </a:prstGeom>
          <a:noFill/>
          <a:ln/>
        </p:spPr>
        <p:txBody>
          <a:bodyPr wrap="square" lIns="0" tIns="0" rIns="0" bIns="0" rtlCol="0" anchor="t"/>
          <a:lstStyle/>
          <a:p>
            <a:pPr marL="0" indent="0">
              <a:buNone/>
            </a:pPr>
            <a:r>
              <a:rPr lang="en-US" sz="1150" dirty="0">
                <a:solidFill>
                  <a:srgbClr val="14161A"/>
                </a:solidFill>
                <a:latin typeface="IBM Plex Sans" pitchFamily="34" charset="0"/>
                <a:ea typeface="IBM Plex Sans" pitchFamily="34" charset="-122"/>
                <a:cs typeface="IBM Plex Sans" pitchFamily="34" charset="-120"/>
              </a:rPr>
              <a:t>6 months</a:t>
            </a:r>
            <a:endParaRPr lang="en-US" sz="1150" dirty="0"/>
          </a:p>
        </p:txBody>
      </p:sp>
      <p:sp>
        <p:nvSpPr>
          <p:cNvPr id="14" name="Text 12"/>
          <p:cNvSpPr/>
          <p:nvPr/>
        </p:nvSpPr>
        <p:spPr>
          <a:xfrm>
            <a:off x="4053840" y="2624328"/>
            <a:ext cx="1706880" cy="182880"/>
          </a:xfrm>
          <a:prstGeom prst="rect">
            <a:avLst/>
          </a:prstGeom>
          <a:noFill/>
          <a:ln/>
        </p:spPr>
        <p:txBody>
          <a:bodyPr wrap="square" lIns="0" tIns="0" rIns="0" bIns="0" rtlCol="0" anchor="t"/>
          <a:lstStyle/>
          <a:p>
            <a:pPr marL="0" indent="0">
              <a:buNone/>
            </a:pPr>
            <a:r>
              <a:rPr lang="en-US" sz="800" kern="0" spc="150" dirty="0">
                <a:solidFill>
                  <a:srgbClr val="6F6A5F"/>
                </a:solidFill>
                <a:latin typeface="IBM Plex Mono" pitchFamily="34" charset="0"/>
                <a:ea typeface="IBM Plex Mono" pitchFamily="34" charset="-122"/>
                <a:cs typeface="IBM Plex Mono" pitchFamily="34" charset="-120"/>
              </a:rPr>
              <a:t>STATUS</a:t>
            </a:r>
            <a:endParaRPr lang="en-US" sz="800" dirty="0"/>
          </a:p>
        </p:txBody>
      </p:sp>
      <p:sp>
        <p:nvSpPr>
          <p:cNvPr id="15" name="Text 13"/>
          <p:cNvSpPr/>
          <p:nvPr/>
        </p:nvSpPr>
        <p:spPr>
          <a:xfrm>
            <a:off x="4053840" y="2825496"/>
            <a:ext cx="1706880" cy="237744"/>
          </a:xfrm>
          <a:prstGeom prst="rect">
            <a:avLst/>
          </a:prstGeom>
          <a:noFill/>
          <a:ln/>
        </p:spPr>
        <p:txBody>
          <a:bodyPr wrap="square" lIns="0" tIns="0" rIns="0" bIns="0" rtlCol="0" anchor="t"/>
          <a:lstStyle/>
          <a:p>
            <a:pPr marL="0" indent="0">
              <a:buNone/>
            </a:pPr>
            <a:r>
              <a:rPr lang="en-US" sz="1150" dirty="0">
                <a:solidFill>
                  <a:srgbClr val="14161A"/>
                </a:solidFill>
                <a:latin typeface="IBM Plex Sans" pitchFamily="34" charset="0"/>
                <a:ea typeface="IBM Plex Sans" pitchFamily="34" charset="-122"/>
                <a:cs typeface="IBM Plex Sans" pitchFamily="34" charset="-120"/>
              </a:rPr>
              <a:t>Delivered</a:t>
            </a:r>
            <a:endParaRPr lang="en-US" sz="1150" dirty="0"/>
          </a:p>
        </p:txBody>
      </p:sp>
      <p:sp>
        <p:nvSpPr>
          <p:cNvPr id="16" name="Shape 14"/>
          <p:cNvSpPr/>
          <p:nvPr/>
        </p:nvSpPr>
        <p:spPr>
          <a:xfrm>
            <a:off x="640080" y="3154680"/>
            <a:ext cx="5120640" cy="0"/>
          </a:xfrm>
          <a:prstGeom prst="line">
            <a:avLst/>
          </a:prstGeom>
          <a:noFill/>
          <a:ln w="9525">
            <a:solidFill>
              <a:srgbClr val="DCD8D0"/>
            </a:solidFill>
            <a:prstDash val="solid"/>
          </a:ln>
        </p:spPr>
        <p:txBody>
          <a:bodyPr/>
          <a:lstStyle/>
          <a:p>
            <a:endParaRPr lang="en-PK"/>
          </a:p>
        </p:txBody>
      </p:sp>
      <p:sp>
        <p:nvSpPr>
          <p:cNvPr id="17" name="Text 15"/>
          <p:cNvSpPr/>
          <p:nvPr/>
        </p:nvSpPr>
        <p:spPr>
          <a:xfrm>
            <a:off x="640080" y="3337560"/>
            <a:ext cx="5120640" cy="1143000"/>
          </a:xfrm>
          <a:prstGeom prst="rect">
            <a:avLst/>
          </a:prstGeom>
          <a:noFill/>
          <a:ln/>
        </p:spPr>
        <p:txBody>
          <a:bodyPr wrap="square" lIns="0" tIns="0" rIns="0" bIns="0" rtlCol="0" anchor="t"/>
          <a:lstStyle/>
          <a:p>
            <a:pPr marL="0" indent="0">
              <a:lnSpc>
                <a:spcPct val="125000"/>
              </a:lnSpc>
              <a:buNone/>
            </a:pPr>
            <a:r>
              <a:rPr lang="en-US" sz="1250" dirty="0">
                <a:solidFill>
                  <a:srgbClr val="14161A"/>
                </a:solidFill>
                <a:latin typeface="IBM Plex Sans" pitchFamily="34" charset="0"/>
                <a:ea typeface="IBM Plex Sans" pitchFamily="34" charset="-122"/>
                <a:cs typeface="IBM Plex Sans" pitchFamily="34" charset="-120"/>
              </a:rPr>
              <a:t>A cloud-native 4G LTE simulation platform and browser-managed network operations centre that provisions multi-node EPC networks and validates 3GPP signalling without any RF hardware.</a:t>
            </a:r>
            <a:endParaRPr lang="en-US" sz="1250" dirty="0"/>
          </a:p>
        </p:txBody>
      </p:sp>
      <p:sp>
        <p:nvSpPr>
          <p:cNvPr id="18" name="Shape 16"/>
          <p:cNvSpPr/>
          <p:nvPr/>
        </p:nvSpPr>
        <p:spPr>
          <a:xfrm>
            <a:off x="640080" y="4572000"/>
            <a:ext cx="2377440" cy="0"/>
          </a:xfrm>
          <a:prstGeom prst="line">
            <a:avLst/>
          </a:prstGeom>
          <a:noFill/>
          <a:ln w="9525">
            <a:solidFill>
              <a:srgbClr val="DCD8D0"/>
            </a:solidFill>
            <a:prstDash val="solid"/>
          </a:ln>
        </p:spPr>
        <p:txBody>
          <a:bodyPr/>
          <a:lstStyle/>
          <a:p>
            <a:endParaRPr lang="en-PK"/>
          </a:p>
        </p:txBody>
      </p:sp>
      <p:sp>
        <p:nvSpPr>
          <p:cNvPr id="19" name="Text 17"/>
          <p:cNvSpPr/>
          <p:nvPr/>
        </p:nvSpPr>
        <p:spPr>
          <a:xfrm>
            <a:off x="640080" y="4663440"/>
            <a:ext cx="2377440" cy="384048"/>
          </a:xfrm>
          <a:prstGeom prst="rect">
            <a:avLst/>
          </a:prstGeom>
          <a:noFill/>
          <a:ln/>
        </p:spPr>
        <p:txBody>
          <a:bodyPr wrap="square" lIns="0" tIns="0" rIns="0" bIns="0" rtlCol="0" anchor="t"/>
          <a:lstStyle/>
          <a:p>
            <a:pPr marL="0" indent="0">
              <a:buNone/>
            </a:pPr>
            <a:r>
              <a:rPr lang="en-US" sz="2200" b="1" dirty="0">
                <a:solidFill>
                  <a:srgbClr val="8F5D0A"/>
                </a:solidFill>
                <a:latin typeface="Space Grotesk" pitchFamily="34" charset="0"/>
                <a:ea typeface="Space Grotesk" pitchFamily="34" charset="-122"/>
                <a:cs typeface="Space Grotesk" pitchFamily="34" charset="-120"/>
              </a:rPr>
              <a:t>100%</a:t>
            </a:r>
            <a:endParaRPr lang="en-US" sz="2200" dirty="0"/>
          </a:p>
        </p:txBody>
      </p:sp>
      <p:sp>
        <p:nvSpPr>
          <p:cNvPr id="20" name="Text 18"/>
          <p:cNvSpPr/>
          <p:nvPr/>
        </p:nvSpPr>
        <p:spPr>
          <a:xfrm>
            <a:off x="640080" y="5047488"/>
            <a:ext cx="2331720" cy="384048"/>
          </a:xfrm>
          <a:prstGeom prst="rect">
            <a:avLst/>
          </a:prstGeom>
          <a:noFill/>
          <a:ln/>
        </p:spPr>
        <p:txBody>
          <a:bodyPr wrap="square" lIns="0" tIns="0" rIns="0" bIns="0" rtlCol="0" anchor="t"/>
          <a:lstStyle/>
          <a:p>
            <a:pPr marL="0" indent="0">
              <a:lnSpc>
                <a:spcPct val="110000"/>
              </a:lnSpc>
              <a:buNone/>
            </a:pPr>
            <a:r>
              <a:rPr lang="en-US" sz="900" dirty="0">
                <a:solidFill>
                  <a:srgbClr val="5B6066"/>
                </a:solidFill>
                <a:latin typeface="IBM Plex Sans" pitchFamily="34" charset="0"/>
                <a:ea typeface="IBM Plex Sans" pitchFamily="34" charset="-122"/>
                <a:cs typeface="IBM Plex Sans" pitchFamily="34" charset="-120"/>
              </a:rPr>
              <a:t>software-defined RF simulation, no physical hardware dependency</a:t>
            </a:r>
            <a:endParaRPr lang="en-US" sz="900" dirty="0"/>
          </a:p>
        </p:txBody>
      </p:sp>
      <p:sp>
        <p:nvSpPr>
          <p:cNvPr id="21" name="Shape 19"/>
          <p:cNvSpPr/>
          <p:nvPr/>
        </p:nvSpPr>
        <p:spPr>
          <a:xfrm>
            <a:off x="3200400" y="4572000"/>
            <a:ext cx="2377440" cy="0"/>
          </a:xfrm>
          <a:prstGeom prst="line">
            <a:avLst/>
          </a:prstGeom>
          <a:noFill/>
          <a:ln w="9525">
            <a:solidFill>
              <a:srgbClr val="DCD8D0"/>
            </a:solidFill>
            <a:prstDash val="solid"/>
          </a:ln>
        </p:spPr>
        <p:txBody>
          <a:bodyPr/>
          <a:lstStyle/>
          <a:p>
            <a:endParaRPr lang="en-PK"/>
          </a:p>
        </p:txBody>
      </p:sp>
      <p:sp>
        <p:nvSpPr>
          <p:cNvPr id="22" name="Text 20"/>
          <p:cNvSpPr/>
          <p:nvPr/>
        </p:nvSpPr>
        <p:spPr>
          <a:xfrm>
            <a:off x="3200400" y="4663440"/>
            <a:ext cx="2377440" cy="384048"/>
          </a:xfrm>
          <a:prstGeom prst="rect">
            <a:avLst/>
          </a:prstGeom>
          <a:noFill/>
          <a:ln/>
        </p:spPr>
        <p:txBody>
          <a:bodyPr wrap="square" lIns="0" tIns="0" rIns="0" bIns="0" rtlCol="0" anchor="t"/>
          <a:lstStyle/>
          <a:p>
            <a:pPr marL="0" indent="0">
              <a:buNone/>
            </a:pPr>
            <a:r>
              <a:rPr lang="en-US" sz="2200" b="1" dirty="0">
                <a:solidFill>
                  <a:srgbClr val="8F5D0A"/>
                </a:solidFill>
                <a:latin typeface="Space Grotesk" pitchFamily="34" charset="0"/>
                <a:ea typeface="Space Grotesk" pitchFamily="34" charset="-122"/>
                <a:cs typeface="Space Grotesk" pitchFamily="34" charset="-120"/>
              </a:rPr>
              <a:t>&lt; 3 min</a:t>
            </a:r>
            <a:endParaRPr lang="en-US" sz="2200" dirty="0"/>
          </a:p>
        </p:txBody>
      </p:sp>
      <p:sp>
        <p:nvSpPr>
          <p:cNvPr id="23" name="Text 21"/>
          <p:cNvSpPr/>
          <p:nvPr/>
        </p:nvSpPr>
        <p:spPr>
          <a:xfrm>
            <a:off x="3200400" y="5047488"/>
            <a:ext cx="2331720" cy="384048"/>
          </a:xfrm>
          <a:prstGeom prst="rect">
            <a:avLst/>
          </a:prstGeom>
          <a:noFill/>
          <a:ln/>
        </p:spPr>
        <p:txBody>
          <a:bodyPr wrap="square" lIns="0" tIns="0" rIns="0" bIns="0" rtlCol="0" anchor="t"/>
          <a:lstStyle/>
          <a:p>
            <a:pPr marL="0" indent="0">
              <a:lnSpc>
                <a:spcPct val="110000"/>
              </a:lnSpc>
              <a:buNone/>
            </a:pPr>
            <a:r>
              <a:rPr lang="en-US" sz="900" dirty="0">
                <a:solidFill>
                  <a:srgbClr val="5B6066"/>
                </a:solidFill>
                <a:latin typeface="IBM Plex Sans" pitchFamily="34" charset="0"/>
                <a:ea typeface="IBM Plex Sans" pitchFamily="34" charset="-122"/>
                <a:cs typeface="IBM Plex Sans" pitchFamily="34" charset="-120"/>
              </a:rPr>
              <a:t>to provision and orchestrate a full multi-node virtual EPC and RAN</a:t>
            </a:r>
            <a:endParaRPr lang="en-US" sz="900" dirty="0"/>
          </a:p>
        </p:txBody>
      </p:sp>
      <p:sp>
        <p:nvSpPr>
          <p:cNvPr id="24" name="Shape 22"/>
          <p:cNvSpPr/>
          <p:nvPr/>
        </p:nvSpPr>
        <p:spPr>
          <a:xfrm>
            <a:off x="640080" y="5440680"/>
            <a:ext cx="2377440" cy="0"/>
          </a:xfrm>
          <a:prstGeom prst="line">
            <a:avLst/>
          </a:prstGeom>
          <a:noFill/>
          <a:ln w="9525">
            <a:solidFill>
              <a:srgbClr val="DCD8D0"/>
            </a:solidFill>
            <a:prstDash val="solid"/>
          </a:ln>
        </p:spPr>
        <p:txBody>
          <a:bodyPr/>
          <a:lstStyle/>
          <a:p>
            <a:endParaRPr lang="en-PK"/>
          </a:p>
        </p:txBody>
      </p:sp>
      <p:sp>
        <p:nvSpPr>
          <p:cNvPr id="25" name="Text 23"/>
          <p:cNvSpPr/>
          <p:nvPr/>
        </p:nvSpPr>
        <p:spPr>
          <a:xfrm>
            <a:off x="640080" y="5532120"/>
            <a:ext cx="2377440" cy="384048"/>
          </a:xfrm>
          <a:prstGeom prst="rect">
            <a:avLst/>
          </a:prstGeom>
          <a:noFill/>
          <a:ln/>
        </p:spPr>
        <p:txBody>
          <a:bodyPr wrap="square" lIns="0" tIns="0" rIns="0" bIns="0" rtlCol="0" anchor="t"/>
          <a:lstStyle/>
          <a:p>
            <a:pPr marL="0" indent="0">
              <a:buNone/>
            </a:pPr>
            <a:r>
              <a:rPr lang="en-US" sz="2200" b="1" dirty="0">
                <a:solidFill>
                  <a:srgbClr val="8F5D0A"/>
                </a:solidFill>
                <a:latin typeface="Space Grotesk" pitchFamily="34" charset="0"/>
                <a:ea typeface="Space Grotesk" pitchFamily="34" charset="-122"/>
                <a:cs typeface="Space Grotesk" pitchFamily="34" charset="-120"/>
              </a:rPr>
              <a:t>7</a:t>
            </a:r>
            <a:endParaRPr lang="en-US" sz="2200" dirty="0"/>
          </a:p>
        </p:txBody>
      </p:sp>
      <p:sp>
        <p:nvSpPr>
          <p:cNvPr id="26" name="Text 24"/>
          <p:cNvSpPr/>
          <p:nvPr/>
        </p:nvSpPr>
        <p:spPr>
          <a:xfrm>
            <a:off x="640080" y="5916168"/>
            <a:ext cx="2331720" cy="384048"/>
          </a:xfrm>
          <a:prstGeom prst="rect">
            <a:avLst/>
          </a:prstGeom>
          <a:noFill/>
          <a:ln/>
        </p:spPr>
        <p:txBody>
          <a:bodyPr wrap="square" lIns="0" tIns="0" rIns="0" bIns="0" rtlCol="0" anchor="t"/>
          <a:lstStyle/>
          <a:p>
            <a:pPr marL="0" indent="0">
              <a:lnSpc>
                <a:spcPct val="110000"/>
              </a:lnSpc>
              <a:buNone/>
            </a:pPr>
            <a:r>
              <a:rPr lang="en-US" sz="900" dirty="0">
                <a:solidFill>
                  <a:srgbClr val="5B6066"/>
                </a:solidFill>
                <a:latin typeface="IBM Plex Sans" pitchFamily="34" charset="0"/>
                <a:ea typeface="IBM Plex Sans" pitchFamily="34" charset="-122"/>
                <a:cs typeface="IBM Plex Sans" pitchFamily="34" charset="-120"/>
              </a:rPr>
              <a:t>automated 3GPP milestone verification suites, M1 to M7</a:t>
            </a:r>
            <a:endParaRPr lang="en-US" sz="900" dirty="0"/>
          </a:p>
        </p:txBody>
      </p:sp>
      <p:sp>
        <p:nvSpPr>
          <p:cNvPr id="27" name="Text 25"/>
          <p:cNvSpPr/>
          <p:nvPr/>
        </p:nvSpPr>
        <p:spPr>
          <a:xfrm>
            <a:off x="6263640" y="548640"/>
            <a:ext cx="3367735" cy="365760"/>
          </a:xfrm>
          <a:prstGeom prst="rect">
            <a:avLst/>
          </a:prstGeom>
          <a:noFill/>
          <a:ln/>
        </p:spPr>
        <p:txBody>
          <a:bodyPr wrap="square" lIns="0" tIns="0" rIns="0" bIns="0" rtlCol="0" anchor="t"/>
          <a:lstStyle/>
          <a:p>
            <a:pPr marL="0" indent="0">
              <a:buNone/>
            </a:pPr>
            <a:r>
              <a:rPr lang="en-US" sz="750" kern="0" spc="100" dirty="0">
                <a:solidFill>
                  <a:srgbClr val="6F6A5F"/>
                </a:solidFill>
                <a:latin typeface="IBM Plex Mono" pitchFamily="34" charset="0"/>
                <a:ea typeface="IBM Plex Mono" pitchFamily="34" charset="-122"/>
                <a:cs typeface="IBM Plex Mono" pitchFamily="34" charset="-120"/>
              </a:rPr>
              <a:t>LAB SETUP &amp; 3GPP REGRESSION TEST DURATION (HOURS)</a:t>
            </a:r>
            <a:endParaRPr lang="en-US" sz="750" dirty="0"/>
          </a:p>
        </p:txBody>
      </p:sp>
      <p:sp>
        <p:nvSpPr>
          <p:cNvPr id="28" name="Text 26"/>
          <p:cNvSpPr/>
          <p:nvPr/>
        </p:nvSpPr>
        <p:spPr>
          <a:xfrm>
            <a:off x="9768535" y="530352"/>
            <a:ext cx="1005840" cy="219456"/>
          </a:xfrm>
          <a:prstGeom prst="rect">
            <a:avLst/>
          </a:prstGeom>
          <a:noFill/>
          <a:ln/>
        </p:spPr>
        <p:txBody>
          <a:bodyPr wrap="square" lIns="0" tIns="0" rIns="0" bIns="0" rtlCol="0" anchor="ctr"/>
          <a:lstStyle/>
          <a:p>
            <a:pPr marL="0" indent="0" algn="r">
              <a:buNone/>
            </a:pPr>
            <a:r>
              <a:rPr lang="en-US" sz="900" dirty="0">
                <a:solidFill>
                  <a:srgbClr val="5B6066"/>
                </a:solidFill>
                <a:latin typeface="IBM Plex Mono" pitchFamily="34" charset="0"/>
                <a:ea typeface="IBM Plex Mono" pitchFamily="34" charset="-122"/>
                <a:cs typeface="IBM Plex Mono" pitchFamily="34" charset="-120"/>
              </a:rPr>
              <a:t>98 → 5</a:t>
            </a:r>
            <a:endParaRPr lang="en-US" sz="900" dirty="0"/>
          </a:p>
        </p:txBody>
      </p:sp>
      <p:sp>
        <p:nvSpPr>
          <p:cNvPr id="29" name="Text 27"/>
          <p:cNvSpPr/>
          <p:nvPr/>
        </p:nvSpPr>
        <p:spPr>
          <a:xfrm>
            <a:off x="10865815" y="530352"/>
            <a:ext cx="685800" cy="219456"/>
          </a:xfrm>
          <a:prstGeom prst="roundRect">
            <a:avLst>
              <a:gd name="adj" fmla="val 16667"/>
            </a:avLst>
          </a:prstGeom>
          <a:solidFill>
            <a:srgbClr val="F0E2C8"/>
          </a:solidFill>
          <a:ln w="6350">
            <a:solidFill>
              <a:srgbClr val="8F5D0A"/>
            </a:solidFill>
          </a:ln>
        </p:spPr>
        <p:txBody>
          <a:bodyPr wrap="square" lIns="0" tIns="0" rIns="0" bIns="0" rtlCol="0" anchor="ctr"/>
          <a:lstStyle/>
          <a:p>
            <a:pPr marL="0" indent="0" algn="ctr">
              <a:buNone/>
            </a:pPr>
            <a:r>
              <a:rPr lang="en-US" sz="900" b="1" dirty="0">
                <a:solidFill>
                  <a:srgbClr val="8F5D0A"/>
                </a:solidFill>
                <a:latin typeface="IBM Plex Mono" pitchFamily="34" charset="0"/>
                <a:ea typeface="IBM Plex Mono" pitchFamily="34" charset="-122"/>
                <a:cs typeface="IBM Plex Mono" pitchFamily="34" charset="-120"/>
              </a:rPr>
              <a:t>-95%</a:t>
            </a:r>
            <a:endParaRPr lang="en-US" sz="900" dirty="0"/>
          </a:p>
        </p:txBody>
      </p:sp>
      <p:graphicFrame>
        <p:nvGraphicFramePr>
          <p:cNvPr id="30" name="Chart 0"/>
          <p:cNvGraphicFramePr/>
          <p:nvPr/>
        </p:nvGraphicFramePr>
        <p:xfrm>
          <a:off x="6190488" y="932688"/>
          <a:ext cx="5434279" cy="3364992"/>
        </p:xfrm>
        <a:graphic>
          <a:graphicData uri="http://schemas.openxmlformats.org/drawingml/2006/chart">
            <c:chart xmlns:c="http://schemas.openxmlformats.org/drawingml/2006/chart" xmlns:r="http://schemas.openxmlformats.org/officeDocument/2006/relationships" r:id="rId3"/>
          </a:graphicData>
        </a:graphic>
      </p:graphicFrame>
      <p:sp>
        <p:nvSpPr>
          <p:cNvPr id="31" name="Text 28"/>
          <p:cNvSpPr/>
          <p:nvPr/>
        </p:nvSpPr>
        <p:spPr>
          <a:xfrm>
            <a:off x="6263640" y="4709160"/>
            <a:ext cx="5287975" cy="182880"/>
          </a:xfrm>
          <a:prstGeom prst="rect">
            <a:avLst/>
          </a:prstGeom>
          <a:noFill/>
          <a:ln/>
        </p:spPr>
        <p:txBody>
          <a:bodyPr wrap="square" lIns="0" tIns="0" rIns="0" bIns="0" rtlCol="0" anchor="t"/>
          <a:lstStyle/>
          <a:p>
            <a:pPr marL="0" indent="0">
              <a:buNone/>
            </a:pPr>
            <a:r>
              <a:rPr lang="en-US" sz="800" kern="0" spc="150" dirty="0">
                <a:solidFill>
                  <a:srgbClr val="6F6A5F"/>
                </a:solidFill>
                <a:latin typeface="IBM Plex Mono" pitchFamily="34" charset="0"/>
                <a:ea typeface="IBM Plex Mono" pitchFamily="34" charset="-122"/>
                <a:cs typeface="IBM Plex Mono" pitchFamily="34" charset="-120"/>
              </a:rPr>
              <a:t>STACK</a:t>
            </a:r>
            <a:endParaRPr lang="en-US" sz="800" dirty="0"/>
          </a:p>
        </p:txBody>
      </p:sp>
      <p:sp>
        <p:nvSpPr>
          <p:cNvPr id="32" name="Text 29"/>
          <p:cNvSpPr/>
          <p:nvPr/>
        </p:nvSpPr>
        <p:spPr>
          <a:xfrm>
            <a:off x="6263640" y="4983480"/>
            <a:ext cx="737616" cy="246888"/>
          </a:xfrm>
          <a:prstGeom prst="roundRect">
            <a:avLst>
              <a:gd name="adj" fmla="val 14815"/>
            </a:avLst>
          </a:prstGeom>
          <a:solidFill>
            <a:srgbClr val="FFFFFF"/>
          </a:solidFill>
          <a:ln w="9525">
            <a:solidFill>
              <a:srgbClr val="DCD8D0"/>
            </a:solidFill>
          </a:ln>
        </p:spPr>
        <p:txBody>
          <a:bodyPr wrap="square" lIns="0" tIns="0" rIns="0" bIns="0" rtlCol="0" anchor="ctr"/>
          <a:lstStyle/>
          <a:p>
            <a:pPr marL="0" indent="0" algn="ctr">
              <a:buNone/>
            </a:pPr>
            <a:r>
              <a:rPr lang="en-US" sz="850" dirty="0">
                <a:solidFill>
                  <a:srgbClr val="5B6066"/>
                </a:solidFill>
                <a:latin typeface="IBM Plex Mono" pitchFamily="34" charset="0"/>
                <a:ea typeface="IBM Plex Mono" pitchFamily="34" charset="-122"/>
                <a:cs typeface="IBM Plex Mono" pitchFamily="34" charset="-120"/>
              </a:rPr>
              <a:t>React 19</a:t>
            </a:r>
            <a:endParaRPr lang="en-US" sz="850" dirty="0"/>
          </a:p>
        </p:txBody>
      </p:sp>
      <p:sp>
        <p:nvSpPr>
          <p:cNvPr id="33" name="Text 30"/>
          <p:cNvSpPr/>
          <p:nvPr/>
        </p:nvSpPr>
        <p:spPr>
          <a:xfrm>
            <a:off x="7074408" y="4983480"/>
            <a:ext cx="478536" cy="246888"/>
          </a:xfrm>
          <a:prstGeom prst="roundRect">
            <a:avLst>
              <a:gd name="adj" fmla="val 14815"/>
            </a:avLst>
          </a:prstGeom>
          <a:solidFill>
            <a:srgbClr val="FFFFFF"/>
          </a:solidFill>
          <a:ln w="9525">
            <a:solidFill>
              <a:srgbClr val="DCD8D0"/>
            </a:solidFill>
          </a:ln>
        </p:spPr>
        <p:txBody>
          <a:bodyPr wrap="square" lIns="0" tIns="0" rIns="0" bIns="0" rtlCol="0" anchor="ctr"/>
          <a:lstStyle/>
          <a:p>
            <a:pPr marL="0" indent="0" algn="ctr">
              <a:buNone/>
            </a:pPr>
            <a:r>
              <a:rPr lang="en-US" sz="850" dirty="0">
                <a:solidFill>
                  <a:srgbClr val="5B6066"/>
                </a:solidFill>
                <a:latin typeface="IBM Plex Mono" pitchFamily="34" charset="0"/>
                <a:ea typeface="IBM Plex Mono" pitchFamily="34" charset="-122"/>
                <a:cs typeface="IBM Plex Mono" pitchFamily="34" charset="-120"/>
              </a:rPr>
              <a:t>Vite</a:t>
            </a:r>
            <a:endParaRPr lang="en-US" sz="850" dirty="0"/>
          </a:p>
        </p:txBody>
      </p:sp>
      <p:sp>
        <p:nvSpPr>
          <p:cNvPr id="34" name="Text 31"/>
          <p:cNvSpPr/>
          <p:nvPr/>
        </p:nvSpPr>
        <p:spPr>
          <a:xfrm>
            <a:off x="7626096" y="4983480"/>
            <a:ext cx="996696" cy="246888"/>
          </a:xfrm>
          <a:prstGeom prst="roundRect">
            <a:avLst>
              <a:gd name="adj" fmla="val 14815"/>
            </a:avLst>
          </a:prstGeom>
          <a:solidFill>
            <a:srgbClr val="FFFFFF"/>
          </a:solidFill>
          <a:ln w="9525">
            <a:solidFill>
              <a:srgbClr val="DCD8D0"/>
            </a:solidFill>
          </a:ln>
        </p:spPr>
        <p:txBody>
          <a:bodyPr wrap="square" lIns="0" tIns="0" rIns="0" bIns="0" rtlCol="0" anchor="ctr"/>
          <a:lstStyle/>
          <a:p>
            <a:pPr marL="0" indent="0" algn="ctr">
              <a:buNone/>
            </a:pPr>
            <a:r>
              <a:rPr lang="en-US" sz="850" dirty="0">
                <a:solidFill>
                  <a:srgbClr val="5B6066"/>
                </a:solidFill>
                <a:latin typeface="IBM Plex Mono" pitchFamily="34" charset="0"/>
                <a:ea typeface="IBM Plex Mono" pitchFamily="34" charset="-122"/>
                <a:cs typeface="IBM Plex Mono" pitchFamily="34" charset="-120"/>
              </a:rPr>
              <a:t>Tailwind CSS</a:t>
            </a:r>
            <a:endParaRPr lang="en-US" sz="850" dirty="0"/>
          </a:p>
        </p:txBody>
      </p:sp>
      <p:sp>
        <p:nvSpPr>
          <p:cNvPr id="35" name="Text 32"/>
          <p:cNvSpPr/>
          <p:nvPr/>
        </p:nvSpPr>
        <p:spPr>
          <a:xfrm>
            <a:off x="8695944" y="4983480"/>
            <a:ext cx="672846" cy="246888"/>
          </a:xfrm>
          <a:prstGeom prst="roundRect">
            <a:avLst>
              <a:gd name="adj" fmla="val 14815"/>
            </a:avLst>
          </a:prstGeom>
          <a:solidFill>
            <a:srgbClr val="FFFFFF"/>
          </a:solidFill>
          <a:ln w="9525">
            <a:solidFill>
              <a:srgbClr val="DCD8D0"/>
            </a:solidFill>
          </a:ln>
        </p:spPr>
        <p:txBody>
          <a:bodyPr wrap="square" lIns="0" tIns="0" rIns="0" bIns="0" rtlCol="0" anchor="ctr"/>
          <a:lstStyle/>
          <a:p>
            <a:pPr marL="0" indent="0" algn="ctr">
              <a:buNone/>
            </a:pPr>
            <a:r>
              <a:rPr lang="en-US" sz="850" dirty="0">
                <a:solidFill>
                  <a:srgbClr val="5B6066"/>
                </a:solidFill>
                <a:latin typeface="IBM Plex Mono" pitchFamily="34" charset="0"/>
                <a:ea typeface="IBM Plex Mono" pitchFamily="34" charset="-122"/>
                <a:cs typeface="IBM Plex Mono" pitchFamily="34" charset="-120"/>
              </a:rPr>
              <a:t>Zustand</a:t>
            </a:r>
            <a:endParaRPr lang="en-US" sz="850" dirty="0"/>
          </a:p>
        </p:txBody>
      </p:sp>
      <p:sp>
        <p:nvSpPr>
          <p:cNvPr id="36" name="Text 33"/>
          <p:cNvSpPr/>
          <p:nvPr/>
        </p:nvSpPr>
        <p:spPr>
          <a:xfrm>
            <a:off x="9441942" y="4983480"/>
            <a:ext cx="672846" cy="246888"/>
          </a:xfrm>
          <a:prstGeom prst="roundRect">
            <a:avLst>
              <a:gd name="adj" fmla="val 14815"/>
            </a:avLst>
          </a:prstGeom>
          <a:solidFill>
            <a:srgbClr val="FFFFFF"/>
          </a:solidFill>
          <a:ln w="9525">
            <a:solidFill>
              <a:srgbClr val="DCD8D0"/>
            </a:solidFill>
          </a:ln>
        </p:spPr>
        <p:txBody>
          <a:bodyPr wrap="square" lIns="0" tIns="0" rIns="0" bIns="0" rtlCol="0" anchor="ctr"/>
          <a:lstStyle/>
          <a:p>
            <a:pPr marL="0" indent="0" algn="ctr">
              <a:buNone/>
            </a:pPr>
            <a:r>
              <a:rPr lang="en-US" sz="850" dirty="0">
                <a:solidFill>
                  <a:srgbClr val="5B6066"/>
                </a:solidFill>
                <a:latin typeface="IBM Plex Mono" pitchFamily="34" charset="0"/>
                <a:ea typeface="IBM Plex Mono" pitchFamily="34" charset="-122"/>
                <a:cs typeface="IBM Plex Mono" pitchFamily="34" charset="-120"/>
              </a:rPr>
              <a:t>Node.js</a:t>
            </a:r>
            <a:endParaRPr lang="en-US" sz="850" dirty="0"/>
          </a:p>
        </p:txBody>
      </p:sp>
      <p:sp>
        <p:nvSpPr>
          <p:cNvPr id="37" name="Text 34"/>
          <p:cNvSpPr/>
          <p:nvPr/>
        </p:nvSpPr>
        <p:spPr>
          <a:xfrm>
            <a:off x="10187940" y="4983480"/>
            <a:ext cx="672846" cy="246888"/>
          </a:xfrm>
          <a:prstGeom prst="roundRect">
            <a:avLst>
              <a:gd name="adj" fmla="val 14815"/>
            </a:avLst>
          </a:prstGeom>
          <a:solidFill>
            <a:srgbClr val="FFFFFF"/>
          </a:solidFill>
          <a:ln w="9525">
            <a:solidFill>
              <a:srgbClr val="DCD8D0"/>
            </a:solidFill>
          </a:ln>
        </p:spPr>
        <p:txBody>
          <a:bodyPr wrap="square" lIns="0" tIns="0" rIns="0" bIns="0" rtlCol="0" anchor="ctr"/>
          <a:lstStyle/>
          <a:p>
            <a:pPr marL="0" indent="0" algn="ctr">
              <a:buNone/>
            </a:pPr>
            <a:r>
              <a:rPr lang="en-US" sz="850" dirty="0">
                <a:solidFill>
                  <a:srgbClr val="5B6066"/>
                </a:solidFill>
                <a:latin typeface="IBM Plex Mono" pitchFamily="34" charset="0"/>
                <a:ea typeface="IBM Plex Mono" pitchFamily="34" charset="-122"/>
                <a:cs typeface="IBM Plex Mono" pitchFamily="34" charset="-120"/>
              </a:rPr>
              <a:t>Express</a:t>
            </a:r>
            <a:endParaRPr lang="en-US" sz="850" dirty="0"/>
          </a:p>
        </p:txBody>
      </p:sp>
      <p:sp>
        <p:nvSpPr>
          <p:cNvPr id="38" name="Text 35"/>
          <p:cNvSpPr/>
          <p:nvPr/>
        </p:nvSpPr>
        <p:spPr>
          <a:xfrm>
            <a:off x="6263640" y="5303520"/>
            <a:ext cx="1061466" cy="246888"/>
          </a:xfrm>
          <a:prstGeom prst="roundRect">
            <a:avLst>
              <a:gd name="adj" fmla="val 14815"/>
            </a:avLst>
          </a:prstGeom>
          <a:solidFill>
            <a:srgbClr val="FFFFFF"/>
          </a:solidFill>
          <a:ln w="9525">
            <a:solidFill>
              <a:srgbClr val="DCD8D0"/>
            </a:solidFill>
          </a:ln>
        </p:spPr>
        <p:txBody>
          <a:bodyPr wrap="square" lIns="0" tIns="0" rIns="0" bIns="0" rtlCol="0" anchor="ctr"/>
          <a:lstStyle/>
          <a:p>
            <a:pPr marL="0" indent="0" algn="ctr">
              <a:buNone/>
            </a:pPr>
            <a:r>
              <a:rPr lang="en-US" sz="850" dirty="0">
                <a:solidFill>
                  <a:srgbClr val="5B6066"/>
                </a:solidFill>
                <a:latin typeface="IBM Plex Mono" pitchFamily="34" charset="0"/>
                <a:ea typeface="IBM Plex Mono" pitchFamily="34" charset="-122"/>
                <a:cs typeface="IBM Plex Mono" pitchFamily="34" charset="-120"/>
              </a:rPr>
              <a:t>Docker Engine</a:t>
            </a:r>
            <a:endParaRPr lang="en-US" sz="850" dirty="0"/>
          </a:p>
        </p:txBody>
      </p:sp>
      <p:sp>
        <p:nvSpPr>
          <p:cNvPr id="39" name="Text 36"/>
          <p:cNvSpPr/>
          <p:nvPr/>
        </p:nvSpPr>
        <p:spPr>
          <a:xfrm>
            <a:off x="7398258" y="5303520"/>
            <a:ext cx="802386" cy="246888"/>
          </a:xfrm>
          <a:prstGeom prst="roundRect">
            <a:avLst>
              <a:gd name="adj" fmla="val 14815"/>
            </a:avLst>
          </a:prstGeom>
          <a:solidFill>
            <a:srgbClr val="FFFFFF"/>
          </a:solidFill>
          <a:ln w="9525">
            <a:solidFill>
              <a:srgbClr val="DCD8D0"/>
            </a:solidFill>
          </a:ln>
        </p:spPr>
        <p:txBody>
          <a:bodyPr wrap="square" lIns="0" tIns="0" rIns="0" bIns="0" rtlCol="0" anchor="ctr"/>
          <a:lstStyle/>
          <a:p>
            <a:pPr marL="0" indent="0" algn="ctr">
              <a:buNone/>
            </a:pPr>
            <a:r>
              <a:rPr lang="en-US" sz="850" dirty="0">
                <a:solidFill>
                  <a:srgbClr val="5B6066"/>
                </a:solidFill>
                <a:latin typeface="IBM Plex Mono" pitchFamily="34" charset="0"/>
                <a:ea typeface="IBM Plex Mono" pitchFamily="34" charset="-122"/>
                <a:cs typeface="IBM Plex Mono" pitchFamily="34" charset="-120"/>
              </a:rPr>
              <a:t>Dockerode</a:t>
            </a:r>
            <a:endParaRPr lang="en-US" sz="850" dirty="0"/>
          </a:p>
        </p:txBody>
      </p:sp>
      <p:sp>
        <p:nvSpPr>
          <p:cNvPr id="40" name="Text 37"/>
          <p:cNvSpPr/>
          <p:nvPr/>
        </p:nvSpPr>
        <p:spPr>
          <a:xfrm>
            <a:off x="8273796" y="5303520"/>
            <a:ext cx="1255776" cy="246888"/>
          </a:xfrm>
          <a:prstGeom prst="roundRect">
            <a:avLst>
              <a:gd name="adj" fmla="val 14815"/>
            </a:avLst>
          </a:prstGeom>
          <a:solidFill>
            <a:srgbClr val="FFFFFF"/>
          </a:solidFill>
          <a:ln w="9525">
            <a:solidFill>
              <a:srgbClr val="DCD8D0"/>
            </a:solidFill>
          </a:ln>
        </p:spPr>
        <p:txBody>
          <a:bodyPr wrap="square" lIns="0" tIns="0" rIns="0" bIns="0" rtlCol="0" anchor="ctr"/>
          <a:lstStyle/>
          <a:p>
            <a:pPr marL="0" indent="0" algn="ctr">
              <a:buNone/>
            </a:pPr>
            <a:r>
              <a:rPr lang="en-US" sz="850" dirty="0">
                <a:solidFill>
                  <a:srgbClr val="5B6066"/>
                </a:solidFill>
                <a:latin typeface="IBM Plex Mono" pitchFamily="34" charset="0"/>
                <a:ea typeface="IBM Plex Mono" pitchFamily="34" charset="-122"/>
                <a:cs typeface="IBM Plex Mono" pitchFamily="34" charset="-120"/>
              </a:rPr>
              <a:t>OpenAirInterface</a:t>
            </a:r>
            <a:endParaRPr lang="en-US" sz="850" dirty="0"/>
          </a:p>
        </p:txBody>
      </p:sp>
      <p:sp>
        <p:nvSpPr>
          <p:cNvPr id="41" name="Text 38"/>
          <p:cNvSpPr/>
          <p:nvPr/>
        </p:nvSpPr>
        <p:spPr>
          <a:xfrm>
            <a:off x="9602724" y="5303520"/>
            <a:ext cx="802386" cy="246888"/>
          </a:xfrm>
          <a:prstGeom prst="roundRect">
            <a:avLst>
              <a:gd name="adj" fmla="val 14815"/>
            </a:avLst>
          </a:prstGeom>
          <a:solidFill>
            <a:srgbClr val="FFFFFF"/>
          </a:solidFill>
          <a:ln w="9525">
            <a:solidFill>
              <a:srgbClr val="DCD8D0"/>
            </a:solidFill>
          </a:ln>
        </p:spPr>
        <p:txBody>
          <a:bodyPr wrap="square" lIns="0" tIns="0" rIns="0" bIns="0" rtlCol="0" anchor="ctr"/>
          <a:lstStyle/>
          <a:p>
            <a:pPr marL="0" indent="0" algn="ctr">
              <a:buNone/>
            </a:pPr>
            <a:r>
              <a:rPr lang="en-US" sz="850" dirty="0">
                <a:solidFill>
                  <a:srgbClr val="5B6066"/>
                </a:solidFill>
                <a:latin typeface="IBM Plex Mono" pitchFamily="34" charset="0"/>
                <a:ea typeface="IBM Plex Mono" pitchFamily="34" charset="-122"/>
                <a:cs typeface="IBM Plex Mono" pitchFamily="34" charset="-120"/>
              </a:rPr>
              <a:t>Cassandra</a:t>
            </a:r>
            <a:endParaRPr lang="en-US" sz="850" dirty="0"/>
          </a:p>
        </p:txBody>
      </p:sp>
      <p:sp>
        <p:nvSpPr>
          <p:cNvPr id="42" name="Text 39"/>
          <p:cNvSpPr/>
          <p:nvPr/>
        </p:nvSpPr>
        <p:spPr>
          <a:xfrm>
            <a:off x="10478262" y="5303520"/>
            <a:ext cx="802386" cy="246888"/>
          </a:xfrm>
          <a:prstGeom prst="roundRect">
            <a:avLst>
              <a:gd name="adj" fmla="val 14815"/>
            </a:avLst>
          </a:prstGeom>
          <a:solidFill>
            <a:srgbClr val="FFFFFF"/>
          </a:solidFill>
          <a:ln w="9525">
            <a:solidFill>
              <a:srgbClr val="DCD8D0"/>
            </a:solidFill>
          </a:ln>
        </p:spPr>
        <p:txBody>
          <a:bodyPr wrap="square" lIns="0" tIns="0" rIns="0" bIns="0" rtlCol="0" anchor="ctr"/>
          <a:lstStyle/>
          <a:p>
            <a:pPr marL="0" indent="0" algn="ctr">
              <a:buNone/>
            </a:pPr>
            <a:r>
              <a:rPr lang="en-US" sz="850" dirty="0">
                <a:solidFill>
                  <a:srgbClr val="5B6066"/>
                </a:solidFill>
                <a:latin typeface="IBM Plex Mono" pitchFamily="34" charset="0"/>
                <a:ea typeface="IBM Plex Mono" pitchFamily="34" charset="-122"/>
                <a:cs typeface="IBM Plex Mono" pitchFamily="34" charset="-120"/>
              </a:rPr>
              <a:t>WebSocket</a:t>
            </a:r>
            <a:endParaRPr lang="en-US" sz="850" dirty="0"/>
          </a:p>
        </p:txBody>
      </p:sp>
      <p:sp>
        <p:nvSpPr>
          <p:cNvPr id="43" name="Text 40"/>
          <p:cNvSpPr/>
          <p:nvPr/>
        </p:nvSpPr>
        <p:spPr>
          <a:xfrm>
            <a:off x="6263640" y="5623560"/>
            <a:ext cx="1385316" cy="246888"/>
          </a:xfrm>
          <a:prstGeom prst="roundRect">
            <a:avLst>
              <a:gd name="adj" fmla="val 14815"/>
            </a:avLst>
          </a:prstGeom>
          <a:solidFill>
            <a:srgbClr val="FFFFFF"/>
          </a:solidFill>
          <a:ln w="9525">
            <a:solidFill>
              <a:srgbClr val="DCD8D0"/>
            </a:solidFill>
          </a:ln>
        </p:spPr>
        <p:txBody>
          <a:bodyPr wrap="square" lIns="0" tIns="0" rIns="0" bIns="0" rtlCol="0" anchor="ctr"/>
          <a:lstStyle/>
          <a:p>
            <a:pPr marL="0" indent="0" algn="ctr">
              <a:buNone/>
            </a:pPr>
            <a:r>
              <a:rPr lang="en-US" sz="850" dirty="0">
                <a:solidFill>
                  <a:srgbClr val="5B6066"/>
                </a:solidFill>
                <a:latin typeface="IBM Plex Mono" pitchFamily="34" charset="0"/>
                <a:ea typeface="IBM Plex Mono" pitchFamily="34" charset="-122"/>
                <a:cs typeface="IBM Plex Mono" pitchFamily="34" charset="-120"/>
              </a:rPr>
              <a:t>Server-Sent Events</a:t>
            </a:r>
            <a:endParaRPr lang="en-US" sz="850" dirty="0"/>
          </a:p>
        </p:txBody>
      </p:sp>
      <p:sp>
        <p:nvSpPr>
          <p:cNvPr id="44" name="Text 41"/>
          <p:cNvSpPr/>
          <p:nvPr/>
        </p:nvSpPr>
        <p:spPr>
          <a:xfrm>
            <a:off x="640080" y="6473952"/>
            <a:ext cx="6400800" cy="164592"/>
          </a:xfrm>
          <a:prstGeom prst="rect">
            <a:avLst/>
          </a:prstGeom>
          <a:noFill/>
          <a:ln/>
        </p:spPr>
        <p:txBody>
          <a:bodyPr wrap="square" lIns="0" tIns="0" rIns="0" bIns="0" rtlCol="0" anchor="t"/>
          <a:lstStyle/>
          <a:p>
            <a:pPr marL="0" indent="0">
              <a:buNone/>
            </a:pPr>
            <a:r>
              <a:rPr lang="en-US" sz="700" kern="0" spc="150" dirty="0">
                <a:solidFill>
                  <a:srgbClr val="6F6A5F"/>
                </a:solidFill>
                <a:latin typeface="IBM Plex Mono" pitchFamily="34" charset="0"/>
                <a:ea typeface="IBM Plex Mono" pitchFamily="34" charset="-122"/>
                <a:cs typeface="IBM Plex Mono" pitchFamily="34" charset="-120"/>
              </a:rPr>
              <a:t>BOLTER TECHNOLOGIES PRIVATE LIMITED  ·  COMPANY PROFILE</a:t>
            </a:r>
            <a:endParaRPr lang="en-US" sz="700" dirty="0"/>
          </a:p>
        </p:txBody>
      </p:sp>
      <p:sp>
        <p:nvSpPr>
          <p:cNvPr id="45" name="Text 42"/>
          <p:cNvSpPr/>
          <p:nvPr/>
        </p:nvSpPr>
        <p:spPr>
          <a:xfrm>
            <a:off x="9722815" y="6473952"/>
            <a:ext cx="1828800" cy="164592"/>
          </a:xfrm>
          <a:prstGeom prst="rect">
            <a:avLst/>
          </a:prstGeom>
          <a:noFill/>
          <a:ln/>
        </p:spPr>
        <p:txBody>
          <a:bodyPr wrap="square" lIns="0" tIns="0" rIns="0" bIns="0" rtlCol="0" anchor="t"/>
          <a:lstStyle/>
          <a:p>
            <a:pPr marL="0" indent="0" algn="r">
              <a:buNone/>
            </a:pPr>
            <a:r>
              <a:rPr lang="en-US" sz="700" kern="0" spc="150" dirty="0">
                <a:solidFill>
                  <a:srgbClr val="6F6A5F"/>
                </a:solidFill>
                <a:latin typeface="IBM Plex Mono" pitchFamily="34" charset="0"/>
                <a:ea typeface="IBM Plex Mono" pitchFamily="34" charset="-122"/>
                <a:cs typeface="IBM Plex Mono" pitchFamily="34" charset="-120"/>
              </a:rPr>
              <a:t>18 / 23</a:t>
            </a:r>
            <a:endParaRPr lang="en-US" sz="7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A0B0C"/>
        </a:solidFill>
        <a:effectLst/>
      </p:bgPr>
    </p:bg>
    <p:spTree>
      <p:nvGrpSpPr>
        <p:cNvPr id="1" name=""/>
        <p:cNvGrpSpPr/>
        <p:nvPr/>
      </p:nvGrpSpPr>
      <p:grpSpPr>
        <a:xfrm>
          <a:off x="0" y="0"/>
          <a:ext cx="0" cy="0"/>
          <a:chOff x="0" y="0"/>
          <a:chExt cx="0" cy="0"/>
        </a:xfrm>
      </p:grpSpPr>
      <p:sp>
        <p:nvSpPr>
          <p:cNvPr id="2" name="Shape 0"/>
          <p:cNvSpPr/>
          <p:nvPr/>
        </p:nvSpPr>
        <p:spPr>
          <a:xfrm>
            <a:off x="640080" y="571500"/>
            <a:ext cx="219456" cy="32004"/>
          </a:xfrm>
          <a:prstGeom prst="rect">
            <a:avLst/>
          </a:prstGeom>
          <a:solidFill>
            <a:srgbClr val="E8A33D"/>
          </a:solidFill>
          <a:ln/>
        </p:spPr>
        <p:txBody>
          <a:bodyPr/>
          <a:lstStyle/>
          <a:p>
            <a:endParaRPr lang="en-PK"/>
          </a:p>
        </p:txBody>
      </p:sp>
      <p:sp>
        <p:nvSpPr>
          <p:cNvPr id="3" name="Text 1"/>
          <p:cNvSpPr/>
          <p:nvPr/>
        </p:nvSpPr>
        <p:spPr>
          <a:xfrm>
            <a:off x="969264" y="502920"/>
            <a:ext cx="8229600" cy="182880"/>
          </a:xfrm>
          <a:prstGeom prst="rect">
            <a:avLst/>
          </a:prstGeom>
          <a:noFill/>
          <a:ln/>
        </p:spPr>
        <p:txBody>
          <a:bodyPr wrap="square" lIns="0" tIns="0" rIns="0" bIns="0" rtlCol="0" anchor="t"/>
          <a:lstStyle/>
          <a:p>
            <a:pPr marL="0" indent="0">
              <a:buNone/>
            </a:pPr>
            <a:r>
              <a:rPr lang="en-US" sz="900" b="1" kern="0" spc="200" dirty="0">
                <a:solidFill>
                  <a:srgbClr val="E8A33D"/>
                </a:solidFill>
                <a:latin typeface="IBM Plex Mono" pitchFamily="34" charset="0"/>
                <a:ea typeface="IBM Plex Mono" pitchFamily="34" charset="-122"/>
                <a:cs typeface="IBM Plex Mono" pitchFamily="34" charset="-120"/>
              </a:rPr>
              <a:t>05  FULL PORTFOLIO</a:t>
            </a:r>
            <a:endParaRPr lang="en-US" sz="900" dirty="0"/>
          </a:p>
        </p:txBody>
      </p:sp>
      <p:sp>
        <p:nvSpPr>
          <p:cNvPr id="4" name="Text 2"/>
          <p:cNvSpPr/>
          <p:nvPr/>
        </p:nvSpPr>
        <p:spPr>
          <a:xfrm>
            <a:off x="640080" y="777240"/>
            <a:ext cx="10911535" cy="685800"/>
          </a:xfrm>
          <a:prstGeom prst="rect">
            <a:avLst/>
          </a:prstGeom>
          <a:noFill/>
          <a:ln/>
        </p:spPr>
        <p:txBody>
          <a:bodyPr wrap="square" lIns="0" tIns="0" rIns="0" bIns="0" rtlCol="0" anchor="t"/>
          <a:lstStyle/>
          <a:p>
            <a:pPr marL="0" indent="0">
              <a:buNone/>
            </a:pPr>
            <a:r>
              <a:rPr lang="en-US" sz="3400" b="1" dirty="0">
                <a:solidFill>
                  <a:srgbClr val="FFFFFF"/>
                </a:solidFill>
                <a:latin typeface="Space Grotesk" pitchFamily="34" charset="0"/>
                <a:ea typeface="Space Grotesk" pitchFamily="34" charset="-122"/>
                <a:cs typeface="Space Grotesk" pitchFamily="34" charset="-120"/>
              </a:rPr>
              <a:t>Portfolio at a glance</a:t>
            </a:r>
            <a:endParaRPr lang="en-US" sz="34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640080" y="1554480"/>
          <a:ext cx="10911535" cy="4562856"/>
        </p:xfrm>
        <a:graphic>
          <a:graphicData uri="http://schemas.openxmlformats.org/drawingml/2006/table">
            <a:tbl>
              <a:tblPr/>
              <a:tblGrid>
                <a:gridCol w="3749040">
                  <a:extLst>
                    <a:ext uri="{9D8B030D-6E8A-4147-A177-3AD203B41FA5}">
                      <a16:colId xmlns:a16="http://schemas.microsoft.com/office/drawing/2014/main" val="20000"/>
                    </a:ext>
                  </a:extLst>
                </a:gridCol>
                <a:gridCol w="3566160">
                  <a:extLst>
                    <a:ext uri="{9D8B030D-6E8A-4147-A177-3AD203B41FA5}">
                      <a16:colId xmlns:a16="http://schemas.microsoft.com/office/drawing/2014/main" val="20001"/>
                    </a:ext>
                  </a:extLst>
                </a:gridCol>
                <a:gridCol w="1143000">
                  <a:extLst>
                    <a:ext uri="{9D8B030D-6E8A-4147-A177-3AD203B41FA5}">
                      <a16:colId xmlns:a16="http://schemas.microsoft.com/office/drawing/2014/main" val="20002"/>
                    </a:ext>
                  </a:extLst>
                </a:gridCol>
                <a:gridCol w="548640">
                  <a:extLst>
                    <a:ext uri="{9D8B030D-6E8A-4147-A177-3AD203B41FA5}">
                      <a16:colId xmlns:a16="http://schemas.microsoft.com/office/drawing/2014/main" val="20003"/>
                    </a:ext>
                  </a:extLst>
                </a:gridCol>
                <a:gridCol w="914400">
                  <a:extLst>
                    <a:ext uri="{9D8B030D-6E8A-4147-A177-3AD203B41FA5}">
                      <a16:colId xmlns:a16="http://schemas.microsoft.com/office/drawing/2014/main" val="20004"/>
                    </a:ext>
                  </a:extLst>
                </a:gridCol>
                <a:gridCol w="990295">
                  <a:extLst>
                    <a:ext uri="{9D8B030D-6E8A-4147-A177-3AD203B41FA5}">
                      <a16:colId xmlns:a16="http://schemas.microsoft.com/office/drawing/2014/main" val="20005"/>
                    </a:ext>
                  </a:extLst>
                </a:gridCol>
              </a:tblGrid>
              <a:tr h="301752">
                <a:tc>
                  <a:txBody>
                    <a:bodyPr/>
                    <a:lstStyle/>
                    <a:p>
                      <a:pPr marL="0" indent="0">
                        <a:buNone/>
                      </a:pPr>
                      <a:r>
                        <a:rPr lang="en-US" sz="750" kern="0" spc="150" dirty="0">
                          <a:solidFill>
                            <a:srgbClr val="8B8D8F"/>
                          </a:solidFill>
                          <a:latin typeface="IBM Plex Mono" pitchFamily="34" charset="0"/>
                          <a:ea typeface="IBM Plex Mono" pitchFamily="34" charset="-122"/>
                          <a:cs typeface="IBM Plex Mono" pitchFamily="34" charset="-120"/>
                        </a:rPr>
                        <a:t>PROJECT</a:t>
                      </a:r>
                      <a:endParaRPr lang="en-US" sz="750" dirty="0">
                        <a:latin typeface="IBM Plex Mono" charset="0"/>
                        <a:ea typeface="IBM Plex Mono" charset="0"/>
                        <a:cs typeface="IBM Plex Mono" charset="0"/>
                      </a:endParaRPr>
                    </a:p>
                  </a:txBody>
                  <a:tcPr marL="0" marT="0" marB="0" anchor="b">
                    <a:lnL w="0" cap="flat" cmpd="sng" algn="ctr">
                      <a:noFill/>
                    </a:lnL>
                    <a:lnR w="0" cap="flat" cmpd="sng" algn="ctr">
                      <a:noFill/>
                    </a:lnR>
                    <a:lnT w="0" cap="flat" cmpd="sng" algn="ctr">
                      <a:noFill/>
                    </a:lnT>
                    <a:lnB w="9525" cap="flat" cmpd="sng" algn="ctr">
                      <a:solidFill>
                        <a:srgbClr val="8B8D8F"/>
                      </a:solidFill>
                      <a:prstDash val="solid"/>
                      <a:round/>
                      <a:headEnd type="none" w="med" len="med"/>
                      <a:tailEnd type="none" w="med" len="med"/>
                    </a:lnB>
                    <a:solidFill>
                      <a:srgbClr val="0A0B0C"/>
                    </a:solidFill>
                  </a:tcPr>
                </a:tc>
                <a:tc>
                  <a:txBody>
                    <a:bodyPr/>
                    <a:lstStyle/>
                    <a:p>
                      <a:pPr marL="0" indent="0">
                        <a:buNone/>
                      </a:pPr>
                      <a:r>
                        <a:rPr lang="en-US" sz="750" kern="0" spc="150" dirty="0">
                          <a:solidFill>
                            <a:srgbClr val="8B8D8F"/>
                          </a:solidFill>
                          <a:latin typeface="IBM Plex Mono" pitchFamily="34" charset="0"/>
                          <a:ea typeface="IBM Plex Mono" pitchFamily="34" charset="-122"/>
                          <a:cs typeface="IBM Plex Mono" pitchFamily="34" charset="-120"/>
                        </a:rPr>
                        <a:t>SECTOR</a:t>
                      </a:r>
                      <a:endParaRPr lang="en-US" sz="750" dirty="0">
                        <a:latin typeface="IBM Plex Mono" charset="0"/>
                        <a:ea typeface="IBM Plex Mono" charset="0"/>
                        <a:cs typeface="IBM Plex Mono" charset="0"/>
                      </a:endParaRPr>
                    </a:p>
                  </a:txBody>
                  <a:tcPr marL="0" marT="0" marB="0" anchor="b">
                    <a:lnL w="0" cap="flat" cmpd="sng" algn="ctr">
                      <a:noFill/>
                    </a:lnL>
                    <a:lnR w="0" cap="flat" cmpd="sng" algn="ctr">
                      <a:noFill/>
                    </a:lnR>
                    <a:lnT w="0" cap="flat" cmpd="sng" algn="ctr">
                      <a:noFill/>
                    </a:lnT>
                    <a:lnB w="9525" cap="flat" cmpd="sng" algn="ctr">
                      <a:solidFill>
                        <a:srgbClr val="8B8D8F"/>
                      </a:solidFill>
                      <a:prstDash val="solid"/>
                      <a:round/>
                      <a:headEnd type="none" w="med" len="med"/>
                      <a:tailEnd type="none" w="med" len="med"/>
                    </a:lnB>
                    <a:solidFill>
                      <a:srgbClr val="0A0B0C"/>
                    </a:solidFill>
                  </a:tcPr>
                </a:tc>
                <a:tc>
                  <a:txBody>
                    <a:bodyPr/>
                    <a:lstStyle/>
                    <a:p>
                      <a:pPr marL="0" indent="0">
                        <a:buNone/>
                      </a:pPr>
                      <a:r>
                        <a:rPr lang="en-US" sz="750" kern="0" spc="150" dirty="0">
                          <a:solidFill>
                            <a:srgbClr val="8B8D8F"/>
                          </a:solidFill>
                          <a:latin typeface="IBM Plex Mono" pitchFamily="34" charset="0"/>
                          <a:ea typeface="IBM Plex Mono" pitchFamily="34" charset="-122"/>
                          <a:cs typeface="IBM Plex Mono" pitchFamily="34" charset="-120"/>
                        </a:rPr>
                        <a:t>PRACTICE</a:t>
                      </a:r>
                      <a:endParaRPr lang="en-US" sz="750" dirty="0">
                        <a:latin typeface="IBM Plex Mono" charset="0"/>
                        <a:ea typeface="IBM Plex Mono" charset="0"/>
                        <a:cs typeface="IBM Plex Mono" charset="0"/>
                      </a:endParaRPr>
                    </a:p>
                  </a:txBody>
                  <a:tcPr marL="0" marT="0" marB="0" anchor="b">
                    <a:lnL w="0" cap="flat" cmpd="sng" algn="ctr">
                      <a:noFill/>
                    </a:lnL>
                    <a:lnR w="0" cap="flat" cmpd="sng" algn="ctr">
                      <a:noFill/>
                    </a:lnR>
                    <a:lnT w="0" cap="flat" cmpd="sng" algn="ctr">
                      <a:noFill/>
                    </a:lnT>
                    <a:lnB w="9525" cap="flat" cmpd="sng" algn="ctr">
                      <a:solidFill>
                        <a:srgbClr val="8B8D8F"/>
                      </a:solidFill>
                      <a:prstDash val="solid"/>
                      <a:round/>
                      <a:headEnd type="none" w="med" len="med"/>
                      <a:tailEnd type="none" w="med" len="med"/>
                    </a:lnB>
                    <a:solidFill>
                      <a:srgbClr val="0A0B0C"/>
                    </a:solidFill>
                  </a:tcPr>
                </a:tc>
                <a:tc>
                  <a:txBody>
                    <a:bodyPr/>
                    <a:lstStyle/>
                    <a:p>
                      <a:pPr marL="0" indent="0">
                        <a:buNone/>
                      </a:pPr>
                      <a:r>
                        <a:rPr lang="en-US" sz="750" kern="0" spc="150" dirty="0">
                          <a:solidFill>
                            <a:srgbClr val="8B8D8F"/>
                          </a:solidFill>
                          <a:latin typeface="IBM Plex Mono" pitchFamily="34" charset="0"/>
                          <a:ea typeface="IBM Plex Mono" pitchFamily="34" charset="-122"/>
                          <a:cs typeface="IBM Plex Mono" pitchFamily="34" charset="-120"/>
                        </a:rPr>
                        <a:t>YEAR</a:t>
                      </a:r>
                      <a:endParaRPr lang="en-US" sz="750" dirty="0">
                        <a:latin typeface="IBM Plex Mono" charset="0"/>
                        <a:ea typeface="IBM Plex Mono" charset="0"/>
                        <a:cs typeface="IBM Plex Mono" charset="0"/>
                      </a:endParaRPr>
                    </a:p>
                  </a:txBody>
                  <a:tcPr marL="0" marT="0" marB="0" anchor="b">
                    <a:lnL w="0" cap="flat" cmpd="sng" algn="ctr">
                      <a:noFill/>
                    </a:lnL>
                    <a:lnR w="0" cap="flat" cmpd="sng" algn="ctr">
                      <a:noFill/>
                    </a:lnR>
                    <a:lnT w="0" cap="flat" cmpd="sng" algn="ctr">
                      <a:noFill/>
                    </a:lnT>
                    <a:lnB w="9525" cap="flat" cmpd="sng" algn="ctr">
                      <a:solidFill>
                        <a:srgbClr val="8B8D8F"/>
                      </a:solidFill>
                      <a:prstDash val="solid"/>
                      <a:round/>
                      <a:headEnd type="none" w="med" len="med"/>
                      <a:tailEnd type="none" w="med" len="med"/>
                    </a:lnB>
                    <a:solidFill>
                      <a:srgbClr val="0A0B0C"/>
                    </a:solidFill>
                  </a:tcPr>
                </a:tc>
                <a:tc>
                  <a:txBody>
                    <a:bodyPr/>
                    <a:lstStyle/>
                    <a:p>
                      <a:pPr marL="0" indent="0">
                        <a:buNone/>
                      </a:pPr>
                      <a:r>
                        <a:rPr lang="en-US" sz="750" kern="0" spc="150" dirty="0">
                          <a:solidFill>
                            <a:srgbClr val="8B8D8F"/>
                          </a:solidFill>
                          <a:latin typeface="IBM Plex Mono" pitchFamily="34" charset="0"/>
                          <a:ea typeface="IBM Plex Mono" pitchFamily="34" charset="-122"/>
                          <a:cs typeface="IBM Plex Mono" pitchFamily="34" charset="-120"/>
                        </a:rPr>
                        <a:t>DURATION</a:t>
                      </a:r>
                      <a:endParaRPr lang="en-US" sz="750" dirty="0">
                        <a:latin typeface="IBM Plex Mono" charset="0"/>
                        <a:ea typeface="IBM Plex Mono" charset="0"/>
                        <a:cs typeface="IBM Plex Mono" charset="0"/>
                      </a:endParaRPr>
                    </a:p>
                  </a:txBody>
                  <a:tcPr marL="0" marT="0" marB="0" anchor="b">
                    <a:lnL w="0" cap="flat" cmpd="sng" algn="ctr">
                      <a:noFill/>
                    </a:lnL>
                    <a:lnR w="0" cap="flat" cmpd="sng" algn="ctr">
                      <a:noFill/>
                    </a:lnR>
                    <a:lnT w="0" cap="flat" cmpd="sng" algn="ctr">
                      <a:noFill/>
                    </a:lnT>
                    <a:lnB w="9525" cap="flat" cmpd="sng" algn="ctr">
                      <a:solidFill>
                        <a:srgbClr val="8B8D8F"/>
                      </a:solidFill>
                      <a:prstDash val="solid"/>
                      <a:round/>
                      <a:headEnd type="none" w="med" len="med"/>
                      <a:tailEnd type="none" w="med" len="med"/>
                    </a:lnB>
                    <a:solidFill>
                      <a:srgbClr val="0A0B0C"/>
                    </a:solidFill>
                  </a:tcPr>
                </a:tc>
                <a:tc>
                  <a:txBody>
                    <a:bodyPr/>
                    <a:lstStyle/>
                    <a:p>
                      <a:pPr marL="0" indent="0">
                        <a:buNone/>
                      </a:pPr>
                      <a:r>
                        <a:rPr lang="en-US" sz="750" kern="0" spc="150" dirty="0">
                          <a:solidFill>
                            <a:srgbClr val="8B8D8F"/>
                          </a:solidFill>
                          <a:latin typeface="IBM Plex Mono" pitchFamily="34" charset="0"/>
                          <a:ea typeface="IBM Plex Mono" pitchFamily="34" charset="-122"/>
                          <a:cs typeface="IBM Plex Mono" pitchFamily="34" charset="-120"/>
                        </a:rPr>
                        <a:t>STATUS</a:t>
                      </a:r>
                      <a:endParaRPr lang="en-US" sz="750" dirty="0">
                        <a:latin typeface="IBM Plex Mono" charset="0"/>
                        <a:ea typeface="IBM Plex Mono" charset="0"/>
                        <a:cs typeface="IBM Plex Mono" charset="0"/>
                      </a:endParaRPr>
                    </a:p>
                  </a:txBody>
                  <a:tcPr marL="0" marT="0" marB="0" anchor="b">
                    <a:lnL w="0" cap="flat" cmpd="sng" algn="ctr">
                      <a:noFill/>
                    </a:lnL>
                    <a:lnR w="0" cap="flat" cmpd="sng" algn="ctr">
                      <a:noFill/>
                    </a:lnR>
                    <a:lnT w="0" cap="flat" cmpd="sng" algn="ctr">
                      <a:noFill/>
                    </a:lnT>
                    <a:lnB w="9525" cap="flat" cmpd="sng" algn="ctr">
                      <a:solidFill>
                        <a:srgbClr val="8B8D8F"/>
                      </a:solidFill>
                      <a:prstDash val="solid"/>
                      <a:round/>
                      <a:headEnd type="none" w="med" len="med"/>
                      <a:tailEnd type="none" w="med" len="med"/>
                    </a:lnB>
                    <a:solidFill>
                      <a:srgbClr val="0A0B0C"/>
                    </a:solidFill>
                  </a:tcPr>
                </a:tc>
                <a:extLst>
                  <a:ext uri="{0D108BD9-81ED-4DB2-BD59-A6C34878D82A}">
                    <a16:rowId xmlns:a16="http://schemas.microsoft.com/office/drawing/2014/main" val="10000"/>
                  </a:ext>
                </a:extLst>
              </a:tr>
              <a:tr h="301752">
                <a:tc>
                  <a:txBody>
                    <a:bodyPr/>
                    <a:lstStyle/>
                    <a:p>
                      <a:pPr marL="0" indent="0">
                        <a:buNone/>
                      </a:pPr>
                      <a:r>
                        <a:rPr lang="en-US" sz="1050" b="1" dirty="0">
                          <a:solidFill>
                            <a:srgbClr val="FFFFFF"/>
                          </a:solidFill>
                          <a:latin typeface="Space Grotesk" pitchFamily="34" charset="0"/>
                          <a:ea typeface="Space Grotesk" pitchFamily="34" charset="-122"/>
                          <a:cs typeface="Space Grotesk" pitchFamily="34" charset="-120"/>
                        </a:rPr>
                        <a:t>Cortex Strike</a:t>
                      </a:r>
                      <a:endParaRPr lang="en-US" sz="1050" dirty="0">
                        <a:latin typeface="Space Grotesk" charset="0"/>
                        <a:ea typeface="Space Grotesk" charset="0"/>
                        <a:cs typeface="Space Grotesk" charset="0"/>
                      </a:endParaRPr>
                    </a:p>
                  </a:txBody>
                  <a:tcPr marL="0" marT="0" marB="0" anchor="ctr">
                    <a:lnL w="0" cap="flat" cmpd="sng" algn="ctr">
                      <a:noFill/>
                    </a:lnL>
                    <a:lnR w="0" cap="flat" cmpd="sng" algn="ctr">
                      <a:noFill/>
                    </a:lnR>
                    <a:lnT w="9525" cap="flat" cmpd="sng" algn="ctr">
                      <a:solidFill>
                        <a:srgbClr val="8B8D8F"/>
                      </a:solidFill>
                      <a:prstDash val="solid"/>
                      <a:round/>
                      <a:headEnd type="none" w="med" len="med"/>
                      <a:tailEnd type="none" w="med" len="med"/>
                    </a:lnT>
                    <a:lnB w="9525" cap="flat" cmpd="sng" algn="ctr">
                      <a:solidFill>
                        <a:srgbClr val="2E3033"/>
                      </a:solidFill>
                      <a:prstDash val="solid"/>
                      <a:round/>
                      <a:headEnd type="none" w="med" len="med"/>
                      <a:tailEnd type="none" w="med" len="med"/>
                    </a:lnB>
                    <a:solidFill>
                      <a:srgbClr val="0A0B0C"/>
                    </a:solidFill>
                  </a:tcPr>
                </a:tc>
                <a:tc>
                  <a:txBody>
                    <a:bodyPr/>
                    <a:lstStyle/>
                    <a:p>
                      <a:pPr marL="0" indent="0">
                        <a:buNone/>
                      </a:pPr>
                      <a:r>
                        <a:rPr lang="en-US" sz="950" dirty="0">
                          <a:solidFill>
                            <a:srgbClr val="B6B7B8"/>
                          </a:solidFill>
                          <a:latin typeface="IBM Plex Sans" pitchFamily="34" charset="0"/>
                          <a:ea typeface="IBM Plex Sans" pitchFamily="34" charset="-122"/>
                          <a:cs typeface="IBM Plex Sans" pitchFamily="34" charset="-120"/>
                        </a:rPr>
                        <a:t>Government and critical infrastructure</a:t>
                      </a:r>
                      <a:endParaRPr lang="en-US" sz="950" dirty="0">
                        <a:latin typeface="IBM Plex Sans" charset="0"/>
                        <a:ea typeface="IBM Plex Sans" charset="0"/>
                        <a:cs typeface="IBM Plex Sans" charset="0"/>
                      </a:endParaRPr>
                    </a:p>
                  </a:txBody>
                  <a:tcPr marL="0" marT="0" marB="0" anchor="ctr">
                    <a:lnL w="0" cap="flat" cmpd="sng" algn="ctr">
                      <a:noFill/>
                    </a:lnL>
                    <a:lnR w="0" cap="flat" cmpd="sng" algn="ctr">
                      <a:noFill/>
                    </a:lnR>
                    <a:lnT w="9525" cap="flat" cmpd="sng" algn="ctr">
                      <a:solidFill>
                        <a:srgbClr val="8B8D8F"/>
                      </a:solidFill>
                      <a:prstDash val="solid"/>
                      <a:round/>
                      <a:headEnd type="none" w="med" len="med"/>
                      <a:tailEnd type="none" w="med" len="med"/>
                    </a:lnT>
                    <a:lnB w="9525" cap="flat" cmpd="sng" algn="ctr">
                      <a:solidFill>
                        <a:srgbClr val="2E3033"/>
                      </a:solidFill>
                      <a:prstDash val="solid"/>
                      <a:round/>
                      <a:headEnd type="none" w="med" len="med"/>
                      <a:tailEnd type="none" w="med" len="med"/>
                    </a:lnB>
                    <a:solidFill>
                      <a:srgbClr val="0A0B0C"/>
                    </a:solidFill>
                  </a:tcPr>
                </a:tc>
                <a:tc>
                  <a:txBody>
                    <a:bodyPr/>
                    <a:lstStyle/>
                    <a:p>
                      <a:pPr marL="0" indent="0">
                        <a:buNone/>
                      </a:pPr>
                      <a:r>
                        <a:rPr lang="en-US" sz="950" dirty="0">
                          <a:solidFill>
                            <a:srgbClr val="B6B7B8"/>
                          </a:solidFill>
                          <a:latin typeface="IBM Plex Sans" pitchFamily="34" charset="0"/>
                          <a:ea typeface="IBM Plex Sans" pitchFamily="34" charset="-122"/>
                          <a:cs typeface="IBM Plex Sans" pitchFamily="34" charset="-120"/>
                        </a:rPr>
                        <a:t>AI</a:t>
                      </a:r>
                      <a:endParaRPr lang="en-US" sz="950" dirty="0">
                        <a:latin typeface="IBM Plex Sans" charset="0"/>
                        <a:ea typeface="IBM Plex Sans" charset="0"/>
                        <a:cs typeface="IBM Plex Sans" charset="0"/>
                      </a:endParaRPr>
                    </a:p>
                  </a:txBody>
                  <a:tcPr marL="0" marT="0" marB="0" anchor="ctr">
                    <a:lnL w="0" cap="flat" cmpd="sng" algn="ctr">
                      <a:noFill/>
                    </a:lnL>
                    <a:lnR w="0" cap="flat" cmpd="sng" algn="ctr">
                      <a:noFill/>
                    </a:lnR>
                    <a:lnT w="9525" cap="flat" cmpd="sng" algn="ctr">
                      <a:solidFill>
                        <a:srgbClr val="8B8D8F"/>
                      </a:solidFill>
                      <a:prstDash val="solid"/>
                      <a:round/>
                      <a:headEnd type="none" w="med" len="med"/>
                      <a:tailEnd type="none" w="med" len="med"/>
                    </a:lnT>
                    <a:lnB w="9525" cap="flat" cmpd="sng" algn="ctr">
                      <a:solidFill>
                        <a:srgbClr val="2E3033"/>
                      </a:solidFill>
                      <a:prstDash val="solid"/>
                      <a:round/>
                      <a:headEnd type="none" w="med" len="med"/>
                      <a:tailEnd type="none" w="med" len="med"/>
                    </a:lnB>
                    <a:solidFill>
                      <a:srgbClr val="0A0B0C"/>
                    </a:solidFill>
                  </a:tcPr>
                </a:tc>
                <a:tc>
                  <a:txBody>
                    <a:bodyPr/>
                    <a:lstStyle/>
                    <a:p>
                      <a:pPr marL="0" indent="0">
                        <a:buNone/>
                      </a:pPr>
                      <a:r>
                        <a:rPr lang="en-US" sz="950" dirty="0">
                          <a:solidFill>
                            <a:srgbClr val="B6B7B8"/>
                          </a:solidFill>
                          <a:latin typeface="IBM Plex Mono" pitchFamily="34" charset="0"/>
                          <a:ea typeface="IBM Plex Mono" pitchFamily="34" charset="-122"/>
                          <a:cs typeface="IBM Plex Mono" pitchFamily="34" charset="-120"/>
                        </a:rPr>
                        <a:t>2026</a:t>
                      </a:r>
                      <a:endParaRPr lang="en-US" sz="950" dirty="0">
                        <a:latin typeface="IBM Plex Mono" charset="0"/>
                        <a:ea typeface="IBM Plex Mono" charset="0"/>
                        <a:cs typeface="IBM Plex Mono" charset="0"/>
                      </a:endParaRPr>
                    </a:p>
                  </a:txBody>
                  <a:tcPr marL="0" marT="0" marB="0" anchor="ctr">
                    <a:lnL w="0" cap="flat" cmpd="sng" algn="ctr">
                      <a:noFill/>
                    </a:lnL>
                    <a:lnR w="0" cap="flat" cmpd="sng" algn="ctr">
                      <a:noFill/>
                    </a:lnR>
                    <a:lnT w="9525" cap="flat" cmpd="sng" algn="ctr">
                      <a:solidFill>
                        <a:srgbClr val="8B8D8F"/>
                      </a:solidFill>
                      <a:prstDash val="solid"/>
                      <a:round/>
                      <a:headEnd type="none" w="med" len="med"/>
                      <a:tailEnd type="none" w="med" len="med"/>
                    </a:lnT>
                    <a:lnB w="9525" cap="flat" cmpd="sng" algn="ctr">
                      <a:solidFill>
                        <a:srgbClr val="2E3033"/>
                      </a:solidFill>
                      <a:prstDash val="solid"/>
                      <a:round/>
                      <a:headEnd type="none" w="med" len="med"/>
                      <a:tailEnd type="none" w="med" len="med"/>
                    </a:lnB>
                    <a:solidFill>
                      <a:srgbClr val="0A0B0C"/>
                    </a:solidFill>
                  </a:tcPr>
                </a:tc>
                <a:tc>
                  <a:txBody>
                    <a:bodyPr/>
                    <a:lstStyle/>
                    <a:p>
                      <a:pPr marL="0" indent="0">
                        <a:buNone/>
                      </a:pPr>
                      <a:r>
                        <a:rPr lang="en-US" sz="950" dirty="0">
                          <a:solidFill>
                            <a:srgbClr val="B6B7B8"/>
                          </a:solidFill>
                          <a:latin typeface="IBM Plex Sans" pitchFamily="34" charset="0"/>
                          <a:ea typeface="IBM Plex Sans" pitchFamily="34" charset="-122"/>
                          <a:cs typeface="IBM Plex Sans" pitchFamily="34" charset="-120"/>
                        </a:rPr>
                        <a:t>1 year</a:t>
                      </a:r>
                      <a:endParaRPr lang="en-US" sz="950" dirty="0">
                        <a:latin typeface="IBM Plex Sans" charset="0"/>
                        <a:ea typeface="IBM Plex Sans" charset="0"/>
                        <a:cs typeface="IBM Plex Sans" charset="0"/>
                      </a:endParaRPr>
                    </a:p>
                  </a:txBody>
                  <a:tcPr marL="0" marT="0" marB="0" anchor="ctr">
                    <a:lnL w="0" cap="flat" cmpd="sng" algn="ctr">
                      <a:noFill/>
                    </a:lnL>
                    <a:lnR w="0" cap="flat" cmpd="sng" algn="ctr">
                      <a:noFill/>
                    </a:lnR>
                    <a:lnT w="9525" cap="flat" cmpd="sng" algn="ctr">
                      <a:solidFill>
                        <a:srgbClr val="8B8D8F"/>
                      </a:solidFill>
                      <a:prstDash val="solid"/>
                      <a:round/>
                      <a:headEnd type="none" w="med" len="med"/>
                      <a:tailEnd type="none" w="med" len="med"/>
                    </a:lnT>
                    <a:lnB w="9525" cap="flat" cmpd="sng" algn="ctr">
                      <a:solidFill>
                        <a:srgbClr val="2E3033"/>
                      </a:solidFill>
                      <a:prstDash val="solid"/>
                      <a:round/>
                      <a:headEnd type="none" w="med" len="med"/>
                      <a:tailEnd type="none" w="med" len="med"/>
                    </a:lnB>
                    <a:solidFill>
                      <a:srgbClr val="0A0B0C"/>
                    </a:solidFill>
                  </a:tcPr>
                </a:tc>
                <a:tc>
                  <a:txBody>
                    <a:bodyPr/>
                    <a:lstStyle/>
                    <a:p>
                      <a:pPr marL="0" indent="0">
                        <a:buNone/>
                      </a:pPr>
                      <a:r>
                        <a:rPr lang="en-US" sz="950" dirty="0">
                          <a:solidFill>
                            <a:srgbClr val="B6B7B8"/>
                          </a:solidFill>
                          <a:latin typeface="IBM Plex Sans" pitchFamily="34" charset="0"/>
                          <a:ea typeface="IBM Plex Sans" pitchFamily="34" charset="-122"/>
                          <a:cs typeface="IBM Plex Sans" pitchFamily="34" charset="-120"/>
                        </a:rPr>
                        <a:t>Delivered</a:t>
                      </a:r>
                      <a:endParaRPr lang="en-US" sz="950" dirty="0">
                        <a:latin typeface="IBM Plex Sans" charset="0"/>
                        <a:ea typeface="IBM Plex Sans" charset="0"/>
                        <a:cs typeface="IBM Plex Sans" charset="0"/>
                      </a:endParaRPr>
                    </a:p>
                  </a:txBody>
                  <a:tcPr marL="0" marT="0" marB="0" anchor="ctr">
                    <a:lnL w="0" cap="flat" cmpd="sng" algn="ctr">
                      <a:noFill/>
                    </a:lnL>
                    <a:lnR w="0" cap="flat" cmpd="sng" algn="ctr">
                      <a:noFill/>
                    </a:lnR>
                    <a:lnT w="9525" cap="flat" cmpd="sng" algn="ctr">
                      <a:solidFill>
                        <a:srgbClr val="8B8D8F"/>
                      </a:solidFill>
                      <a:prstDash val="solid"/>
                      <a:round/>
                      <a:headEnd type="none" w="med" len="med"/>
                      <a:tailEnd type="none" w="med" len="med"/>
                    </a:lnT>
                    <a:lnB w="9525" cap="flat" cmpd="sng" algn="ctr">
                      <a:solidFill>
                        <a:srgbClr val="2E3033"/>
                      </a:solidFill>
                      <a:prstDash val="solid"/>
                      <a:round/>
                      <a:headEnd type="none" w="med" len="med"/>
                      <a:tailEnd type="none" w="med" len="med"/>
                    </a:lnB>
                    <a:solidFill>
                      <a:srgbClr val="0A0B0C"/>
                    </a:solidFill>
                  </a:tcPr>
                </a:tc>
                <a:extLst>
                  <a:ext uri="{0D108BD9-81ED-4DB2-BD59-A6C34878D82A}">
                    <a16:rowId xmlns:a16="http://schemas.microsoft.com/office/drawing/2014/main" val="10001"/>
                  </a:ext>
                </a:extLst>
              </a:tr>
              <a:tr h="301752">
                <a:tc>
                  <a:txBody>
                    <a:bodyPr/>
                    <a:lstStyle/>
                    <a:p>
                      <a:pPr marL="0" indent="0">
                        <a:buNone/>
                      </a:pPr>
                      <a:r>
                        <a:rPr lang="en-US" sz="1050" b="1" dirty="0">
                          <a:solidFill>
                            <a:srgbClr val="FFFFFF"/>
                          </a:solidFill>
                          <a:latin typeface="Space Grotesk" pitchFamily="34" charset="0"/>
                          <a:ea typeface="Space Grotesk" pitchFamily="34" charset="-122"/>
                          <a:cs typeface="Space Grotesk" pitchFamily="34" charset="-120"/>
                        </a:rPr>
                        <a:t>Current by Logmate</a:t>
                      </a:r>
                      <a:endParaRPr lang="en-US" sz="1050" dirty="0">
                        <a:latin typeface="Space Grotesk" charset="0"/>
                        <a:ea typeface="Space Grotesk" charset="0"/>
                        <a:cs typeface="Space Grotesk" charset="0"/>
                      </a:endParaRPr>
                    </a:p>
                  </a:txBody>
                  <a:tcPr marL="0" marT="0" marB="0" anchor="ctr">
                    <a:lnL w="0" cap="flat" cmpd="sng" algn="ctr">
                      <a:noFill/>
                    </a:lnL>
                    <a:lnR w="0" cap="flat" cmpd="sng" algn="ctr">
                      <a:noFill/>
                    </a:lnR>
                    <a:lnT w="9525" cap="flat" cmpd="sng" algn="ctr">
                      <a:solidFill>
                        <a:srgbClr val="2E3033"/>
                      </a:solidFill>
                      <a:prstDash val="solid"/>
                      <a:round/>
                      <a:headEnd type="none" w="med" len="med"/>
                      <a:tailEnd type="none" w="med" len="med"/>
                    </a:lnT>
                    <a:lnB w="9525" cap="flat" cmpd="sng" algn="ctr">
                      <a:solidFill>
                        <a:srgbClr val="2E3033"/>
                      </a:solidFill>
                      <a:prstDash val="solid"/>
                      <a:round/>
                      <a:headEnd type="none" w="med" len="med"/>
                      <a:tailEnd type="none" w="med" len="med"/>
                    </a:lnB>
                    <a:solidFill>
                      <a:srgbClr val="0A0B0C"/>
                    </a:solidFill>
                  </a:tcPr>
                </a:tc>
                <a:tc>
                  <a:txBody>
                    <a:bodyPr/>
                    <a:lstStyle/>
                    <a:p>
                      <a:pPr marL="0" indent="0">
                        <a:buNone/>
                      </a:pPr>
                      <a:r>
                        <a:rPr lang="en-US" sz="950" dirty="0">
                          <a:solidFill>
                            <a:srgbClr val="B6B7B8"/>
                          </a:solidFill>
                          <a:latin typeface="IBM Plex Sans" pitchFamily="34" charset="0"/>
                          <a:ea typeface="IBM Plex Sans" pitchFamily="34" charset="-122"/>
                          <a:cs typeface="IBM Plex Sans" pitchFamily="34" charset="-120"/>
                        </a:rPr>
                        <a:t>Energy and property management</a:t>
                      </a:r>
                      <a:endParaRPr lang="en-US" sz="950" dirty="0">
                        <a:latin typeface="IBM Plex Sans" charset="0"/>
                        <a:ea typeface="IBM Plex Sans" charset="0"/>
                        <a:cs typeface="IBM Plex Sans" charset="0"/>
                      </a:endParaRPr>
                    </a:p>
                  </a:txBody>
                  <a:tcPr marL="0" marT="0" marB="0" anchor="ctr">
                    <a:lnL w="0" cap="flat" cmpd="sng" algn="ctr">
                      <a:noFill/>
                    </a:lnL>
                    <a:lnR w="0" cap="flat" cmpd="sng" algn="ctr">
                      <a:noFill/>
                    </a:lnR>
                    <a:lnT w="9525" cap="flat" cmpd="sng" algn="ctr">
                      <a:solidFill>
                        <a:srgbClr val="2E3033"/>
                      </a:solidFill>
                      <a:prstDash val="solid"/>
                      <a:round/>
                      <a:headEnd type="none" w="med" len="med"/>
                      <a:tailEnd type="none" w="med" len="med"/>
                    </a:lnT>
                    <a:lnB w="9525" cap="flat" cmpd="sng" algn="ctr">
                      <a:solidFill>
                        <a:srgbClr val="2E3033"/>
                      </a:solidFill>
                      <a:prstDash val="solid"/>
                      <a:round/>
                      <a:headEnd type="none" w="med" len="med"/>
                      <a:tailEnd type="none" w="med" len="med"/>
                    </a:lnB>
                    <a:solidFill>
                      <a:srgbClr val="0A0B0C"/>
                    </a:solidFill>
                  </a:tcPr>
                </a:tc>
                <a:tc>
                  <a:txBody>
                    <a:bodyPr/>
                    <a:lstStyle/>
                    <a:p>
                      <a:pPr marL="0" indent="0">
                        <a:buNone/>
                      </a:pPr>
                      <a:r>
                        <a:rPr lang="en-US" sz="950" dirty="0">
                          <a:solidFill>
                            <a:srgbClr val="B6B7B8"/>
                          </a:solidFill>
                          <a:latin typeface="IBM Plex Sans" pitchFamily="34" charset="0"/>
                          <a:ea typeface="IBM Plex Sans" pitchFamily="34" charset="-122"/>
                          <a:cs typeface="IBM Plex Sans" pitchFamily="34" charset="-120"/>
                        </a:rPr>
                        <a:t>Automation</a:t>
                      </a:r>
                      <a:endParaRPr lang="en-US" sz="950" dirty="0">
                        <a:latin typeface="IBM Plex Sans" charset="0"/>
                        <a:ea typeface="IBM Plex Sans" charset="0"/>
                        <a:cs typeface="IBM Plex Sans" charset="0"/>
                      </a:endParaRPr>
                    </a:p>
                  </a:txBody>
                  <a:tcPr marL="0" marT="0" marB="0" anchor="ctr">
                    <a:lnL w="0" cap="flat" cmpd="sng" algn="ctr">
                      <a:noFill/>
                    </a:lnL>
                    <a:lnR w="0" cap="flat" cmpd="sng" algn="ctr">
                      <a:noFill/>
                    </a:lnR>
                    <a:lnT w="9525" cap="flat" cmpd="sng" algn="ctr">
                      <a:solidFill>
                        <a:srgbClr val="2E3033"/>
                      </a:solidFill>
                      <a:prstDash val="solid"/>
                      <a:round/>
                      <a:headEnd type="none" w="med" len="med"/>
                      <a:tailEnd type="none" w="med" len="med"/>
                    </a:lnT>
                    <a:lnB w="9525" cap="flat" cmpd="sng" algn="ctr">
                      <a:solidFill>
                        <a:srgbClr val="2E3033"/>
                      </a:solidFill>
                      <a:prstDash val="solid"/>
                      <a:round/>
                      <a:headEnd type="none" w="med" len="med"/>
                      <a:tailEnd type="none" w="med" len="med"/>
                    </a:lnB>
                    <a:solidFill>
                      <a:srgbClr val="0A0B0C"/>
                    </a:solidFill>
                  </a:tcPr>
                </a:tc>
                <a:tc>
                  <a:txBody>
                    <a:bodyPr/>
                    <a:lstStyle/>
                    <a:p>
                      <a:pPr marL="0" indent="0">
                        <a:buNone/>
                      </a:pPr>
                      <a:r>
                        <a:rPr lang="en-US" sz="950" dirty="0">
                          <a:solidFill>
                            <a:srgbClr val="B6B7B8"/>
                          </a:solidFill>
                          <a:latin typeface="IBM Plex Mono" pitchFamily="34" charset="0"/>
                          <a:ea typeface="IBM Plex Mono" pitchFamily="34" charset="-122"/>
                          <a:cs typeface="IBM Plex Mono" pitchFamily="34" charset="-120"/>
                        </a:rPr>
                        <a:t>2026</a:t>
                      </a:r>
                      <a:endParaRPr lang="en-US" sz="950" dirty="0">
                        <a:latin typeface="IBM Plex Mono" charset="0"/>
                        <a:ea typeface="IBM Plex Mono" charset="0"/>
                        <a:cs typeface="IBM Plex Mono" charset="0"/>
                      </a:endParaRPr>
                    </a:p>
                  </a:txBody>
                  <a:tcPr marL="0" marT="0" marB="0" anchor="ctr">
                    <a:lnL w="0" cap="flat" cmpd="sng" algn="ctr">
                      <a:noFill/>
                    </a:lnL>
                    <a:lnR w="0" cap="flat" cmpd="sng" algn="ctr">
                      <a:noFill/>
                    </a:lnR>
                    <a:lnT w="9525" cap="flat" cmpd="sng" algn="ctr">
                      <a:solidFill>
                        <a:srgbClr val="2E3033"/>
                      </a:solidFill>
                      <a:prstDash val="solid"/>
                      <a:round/>
                      <a:headEnd type="none" w="med" len="med"/>
                      <a:tailEnd type="none" w="med" len="med"/>
                    </a:lnT>
                    <a:lnB w="9525" cap="flat" cmpd="sng" algn="ctr">
                      <a:solidFill>
                        <a:srgbClr val="2E3033"/>
                      </a:solidFill>
                      <a:prstDash val="solid"/>
                      <a:round/>
                      <a:headEnd type="none" w="med" len="med"/>
                      <a:tailEnd type="none" w="med" len="med"/>
                    </a:lnB>
                    <a:solidFill>
                      <a:srgbClr val="0A0B0C"/>
                    </a:solidFill>
                  </a:tcPr>
                </a:tc>
                <a:tc>
                  <a:txBody>
                    <a:bodyPr/>
                    <a:lstStyle/>
                    <a:p>
                      <a:pPr marL="0" indent="0">
                        <a:buNone/>
                      </a:pPr>
                      <a:r>
                        <a:rPr lang="en-US" sz="950" dirty="0">
                          <a:solidFill>
                            <a:srgbClr val="B6B7B8"/>
                          </a:solidFill>
                          <a:latin typeface="IBM Plex Sans" pitchFamily="34" charset="0"/>
                          <a:ea typeface="IBM Plex Sans" pitchFamily="34" charset="-122"/>
                          <a:cs typeface="IBM Plex Sans" pitchFamily="34" charset="-120"/>
                        </a:rPr>
                        <a:t>13 weeks</a:t>
                      </a:r>
                      <a:endParaRPr lang="en-US" sz="950" dirty="0">
                        <a:latin typeface="IBM Plex Sans" charset="0"/>
                        <a:ea typeface="IBM Plex Sans" charset="0"/>
                        <a:cs typeface="IBM Plex Sans" charset="0"/>
                      </a:endParaRPr>
                    </a:p>
                  </a:txBody>
                  <a:tcPr marL="0" marT="0" marB="0" anchor="ctr">
                    <a:lnL w="0" cap="flat" cmpd="sng" algn="ctr">
                      <a:noFill/>
                    </a:lnL>
                    <a:lnR w="0" cap="flat" cmpd="sng" algn="ctr">
                      <a:noFill/>
                    </a:lnR>
                    <a:lnT w="9525" cap="flat" cmpd="sng" algn="ctr">
                      <a:solidFill>
                        <a:srgbClr val="2E3033"/>
                      </a:solidFill>
                      <a:prstDash val="solid"/>
                      <a:round/>
                      <a:headEnd type="none" w="med" len="med"/>
                      <a:tailEnd type="none" w="med" len="med"/>
                    </a:lnT>
                    <a:lnB w="9525" cap="flat" cmpd="sng" algn="ctr">
                      <a:solidFill>
                        <a:srgbClr val="2E3033"/>
                      </a:solidFill>
                      <a:prstDash val="solid"/>
                      <a:round/>
                      <a:headEnd type="none" w="med" len="med"/>
                      <a:tailEnd type="none" w="med" len="med"/>
                    </a:lnB>
                    <a:solidFill>
                      <a:srgbClr val="0A0B0C"/>
                    </a:solidFill>
                  </a:tcPr>
                </a:tc>
                <a:tc>
                  <a:txBody>
                    <a:bodyPr/>
                    <a:lstStyle/>
                    <a:p>
                      <a:pPr marL="0" indent="0">
                        <a:buNone/>
                      </a:pPr>
                      <a:r>
                        <a:rPr lang="en-US" sz="950" b="1" dirty="0">
                          <a:solidFill>
                            <a:srgbClr val="E8A33D"/>
                          </a:solidFill>
                          <a:latin typeface="IBM Plex Sans" pitchFamily="34" charset="0"/>
                          <a:ea typeface="IBM Plex Sans" pitchFamily="34" charset="-122"/>
                          <a:cs typeface="IBM Plex Sans" pitchFamily="34" charset="-120"/>
                        </a:rPr>
                        <a:t>Ongoing</a:t>
                      </a:r>
                      <a:endParaRPr lang="en-US" sz="950" dirty="0">
                        <a:latin typeface="IBM Plex Sans" charset="0"/>
                        <a:ea typeface="IBM Plex Sans" charset="0"/>
                        <a:cs typeface="IBM Plex Sans" charset="0"/>
                      </a:endParaRPr>
                    </a:p>
                  </a:txBody>
                  <a:tcPr marL="0" marT="0" marB="0" anchor="ctr">
                    <a:lnL w="0" cap="flat" cmpd="sng" algn="ctr">
                      <a:noFill/>
                    </a:lnL>
                    <a:lnR w="0" cap="flat" cmpd="sng" algn="ctr">
                      <a:noFill/>
                    </a:lnR>
                    <a:lnT w="9525" cap="flat" cmpd="sng" algn="ctr">
                      <a:solidFill>
                        <a:srgbClr val="2E3033"/>
                      </a:solidFill>
                      <a:prstDash val="solid"/>
                      <a:round/>
                      <a:headEnd type="none" w="med" len="med"/>
                      <a:tailEnd type="none" w="med" len="med"/>
                    </a:lnT>
                    <a:lnB w="9525" cap="flat" cmpd="sng" algn="ctr">
                      <a:solidFill>
                        <a:srgbClr val="2E3033"/>
                      </a:solidFill>
                      <a:prstDash val="solid"/>
                      <a:round/>
                      <a:headEnd type="none" w="med" len="med"/>
                      <a:tailEnd type="none" w="med" len="med"/>
                    </a:lnB>
                    <a:solidFill>
                      <a:srgbClr val="0A0B0C"/>
                    </a:solidFill>
                  </a:tcPr>
                </a:tc>
                <a:extLst>
                  <a:ext uri="{0D108BD9-81ED-4DB2-BD59-A6C34878D82A}">
                    <a16:rowId xmlns:a16="http://schemas.microsoft.com/office/drawing/2014/main" val="10002"/>
                  </a:ext>
                </a:extLst>
              </a:tr>
              <a:tr h="301752">
                <a:tc>
                  <a:txBody>
                    <a:bodyPr/>
                    <a:lstStyle/>
                    <a:p>
                      <a:pPr marL="0" indent="0">
                        <a:buNone/>
                      </a:pPr>
                      <a:r>
                        <a:rPr lang="en-US" sz="1050" b="1" dirty="0">
                          <a:solidFill>
                            <a:srgbClr val="FFFFFF"/>
                          </a:solidFill>
                          <a:latin typeface="Space Grotesk" pitchFamily="34" charset="0"/>
                          <a:ea typeface="Space Grotesk" pitchFamily="34" charset="-122"/>
                          <a:cs typeface="Space Grotesk" pitchFamily="34" charset="-120"/>
                        </a:rPr>
                        <a:t>DCAS</a:t>
                      </a:r>
                      <a:endParaRPr lang="en-US" sz="1050" dirty="0">
                        <a:latin typeface="Space Grotesk" charset="0"/>
                        <a:ea typeface="Space Grotesk" charset="0"/>
                        <a:cs typeface="Space Grotesk" charset="0"/>
                      </a:endParaRPr>
                    </a:p>
                  </a:txBody>
                  <a:tcPr marL="0" marT="0" marB="0" anchor="ctr">
                    <a:lnL w="0" cap="flat" cmpd="sng" algn="ctr">
                      <a:noFill/>
                    </a:lnL>
                    <a:lnR w="0" cap="flat" cmpd="sng" algn="ctr">
                      <a:noFill/>
                    </a:lnR>
                    <a:lnT w="9525" cap="flat" cmpd="sng" algn="ctr">
                      <a:solidFill>
                        <a:srgbClr val="2E3033"/>
                      </a:solidFill>
                      <a:prstDash val="solid"/>
                      <a:round/>
                      <a:headEnd type="none" w="med" len="med"/>
                      <a:tailEnd type="none" w="med" len="med"/>
                    </a:lnT>
                    <a:lnB w="9525" cap="flat" cmpd="sng" algn="ctr">
                      <a:solidFill>
                        <a:srgbClr val="2E3033"/>
                      </a:solidFill>
                      <a:prstDash val="solid"/>
                      <a:round/>
                      <a:headEnd type="none" w="med" len="med"/>
                      <a:tailEnd type="none" w="med" len="med"/>
                    </a:lnB>
                    <a:solidFill>
                      <a:srgbClr val="0A0B0C"/>
                    </a:solidFill>
                  </a:tcPr>
                </a:tc>
                <a:tc>
                  <a:txBody>
                    <a:bodyPr/>
                    <a:lstStyle/>
                    <a:p>
                      <a:pPr marL="0" indent="0">
                        <a:buNone/>
                      </a:pPr>
                      <a:r>
                        <a:rPr lang="en-US" sz="950" dirty="0">
                          <a:solidFill>
                            <a:srgbClr val="B6B7B8"/>
                          </a:solidFill>
                          <a:latin typeface="IBM Plex Sans" pitchFamily="34" charset="0"/>
                          <a:ea typeface="IBM Plex Sans" pitchFamily="34" charset="-122"/>
                          <a:cs typeface="IBM Plex Sans" pitchFamily="34" charset="-120"/>
                        </a:rPr>
                        <a:t>Data intelligence and analytics</a:t>
                      </a:r>
                      <a:endParaRPr lang="en-US" sz="950" dirty="0">
                        <a:latin typeface="IBM Plex Sans" charset="0"/>
                        <a:ea typeface="IBM Plex Sans" charset="0"/>
                        <a:cs typeface="IBM Plex Sans" charset="0"/>
                      </a:endParaRPr>
                    </a:p>
                  </a:txBody>
                  <a:tcPr marL="0" marT="0" marB="0" anchor="ctr">
                    <a:lnL w="0" cap="flat" cmpd="sng" algn="ctr">
                      <a:noFill/>
                    </a:lnL>
                    <a:lnR w="0" cap="flat" cmpd="sng" algn="ctr">
                      <a:noFill/>
                    </a:lnR>
                    <a:lnT w="9525" cap="flat" cmpd="sng" algn="ctr">
                      <a:solidFill>
                        <a:srgbClr val="2E3033"/>
                      </a:solidFill>
                      <a:prstDash val="solid"/>
                      <a:round/>
                      <a:headEnd type="none" w="med" len="med"/>
                      <a:tailEnd type="none" w="med" len="med"/>
                    </a:lnT>
                    <a:lnB w="9525" cap="flat" cmpd="sng" algn="ctr">
                      <a:solidFill>
                        <a:srgbClr val="2E3033"/>
                      </a:solidFill>
                      <a:prstDash val="solid"/>
                      <a:round/>
                      <a:headEnd type="none" w="med" len="med"/>
                      <a:tailEnd type="none" w="med" len="med"/>
                    </a:lnB>
                    <a:solidFill>
                      <a:srgbClr val="0A0B0C"/>
                    </a:solidFill>
                  </a:tcPr>
                </a:tc>
                <a:tc>
                  <a:txBody>
                    <a:bodyPr/>
                    <a:lstStyle/>
                    <a:p>
                      <a:pPr marL="0" indent="0">
                        <a:buNone/>
                      </a:pPr>
                      <a:r>
                        <a:rPr lang="en-US" sz="950" dirty="0">
                          <a:solidFill>
                            <a:srgbClr val="B6B7B8"/>
                          </a:solidFill>
                          <a:latin typeface="IBM Plex Sans" pitchFamily="34" charset="0"/>
                          <a:ea typeface="IBM Plex Sans" pitchFamily="34" charset="-122"/>
                          <a:cs typeface="IBM Plex Sans" pitchFamily="34" charset="-120"/>
                        </a:rPr>
                        <a:t>Data analytics</a:t>
                      </a:r>
                      <a:endParaRPr lang="en-US" sz="950" dirty="0">
                        <a:latin typeface="IBM Plex Sans" charset="0"/>
                        <a:ea typeface="IBM Plex Sans" charset="0"/>
                        <a:cs typeface="IBM Plex Sans" charset="0"/>
                      </a:endParaRPr>
                    </a:p>
                  </a:txBody>
                  <a:tcPr marL="0" marT="0" marB="0" anchor="ctr">
                    <a:lnL w="0" cap="flat" cmpd="sng" algn="ctr">
                      <a:noFill/>
                    </a:lnL>
                    <a:lnR w="0" cap="flat" cmpd="sng" algn="ctr">
                      <a:noFill/>
                    </a:lnR>
                    <a:lnT w="9525" cap="flat" cmpd="sng" algn="ctr">
                      <a:solidFill>
                        <a:srgbClr val="2E3033"/>
                      </a:solidFill>
                      <a:prstDash val="solid"/>
                      <a:round/>
                      <a:headEnd type="none" w="med" len="med"/>
                      <a:tailEnd type="none" w="med" len="med"/>
                    </a:lnT>
                    <a:lnB w="9525" cap="flat" cmpd="sng" algn="ctr">
                      <a:solidFill>
                        <a:srgbClr val="2E3033"/>
                      </a:solidFill>
                      <a:prstDash val="solid"/>
                      <a:round/>
                      <a:headEnd type="none" w="med" len="med"/>
                      <a:tailEnd type="none" w="med" len="med"/>
                    </a:lnB>
                    <a:solidFill>
                      <a:srgbClr val="0A0B0C"/>
                    </a:solidFill>
                  </a:tcPr>
                </a:tc>
                <a:tc>
                  <a:txBody>
                    <a:bodyPr/>
                    <a:lstStyle/>
                    <a:p>
                      <a:pPr marL="0" indent="0">
                        <a:buNone/>
                      </a:pPr>
                      <a:r>
                        <a:rPr lang="en-US" sz="950" dirty="0">
                          <a:solidFill>
                            <a:srgbClr val="B6B7B8"/>
                          </a:solidFill>
                          <a:latin typeface="IBM Plex Mono" pitchFamily="34" charset="0"/>
                          <a:ea typeface="IBM Plex Mono" pitchFamily="34" charset="-122"/>
                          <a:cs typeface="IBM Plex Mono" pitchFamily="34" charset="-120"/>
                        </a:rPr>
                        <a:t>2026</a:t>
                      </a:r>
                      <a:endParaRPr lang="en-US" sz="950" dirty="0">
                        <a:latin typeface="IBM Plex Mono" charset="0"/>
                        <a:ea typeface="IBM Plex Mono" charset="0"/>
                        <a:cs typeface="IBM Plex Mono" charset="0"/>
                      </a:endParaRPr>
                    </a:p>
                  </a:txBody>
                  <a:tcPr marL="0" marT="0" marB="0" anchor="ctr">
                    <a:lnL w="0" cap="flat" cmpd="sng" algn="ctr">
                      <a:noFill/>
                    </a:lnL>
                    <a:lnR w="0" cap="flat" cmpd="sng" algn="ctr">
                      <a:noFill/>
                    </a:lnR>
                    <a:lnT w="9525" cap="flat" cmpd="sng" algn="ctr">
                      <a:solidFill>
                        <a:srgbClr val="2E3033"/>
                      </a:solidFill>
                      <a:prstDash val="solid"/>
                      <a:round/>
                      <a:headEnd type="none" w="med" len="med"/>
                      <a:tailEnd type="none" w="med" len="med"/>
                    </a:lnT>
                    <a:lnB w="9525" cap="flat" cmpd="sng" algn="ctr">
                      <a:solidFill>
                        <a:srgbClr val="2E3033"/>
                      </a:solidFill>
                      <a:prstDash val="solid"/>
                      <a:round/>
                      <a:headEnd type="none" w="med" len="med"/>
                      <a:tailEnd type="none" w="med" len="med"/>
                    </a:lnB>
                    <a:solidFill>
                      <a:srgbClr val="0A0B0C"/>
                    </a:solidFill>
                  </a:tcPr>
                </a:tc>
                <a:tc>
                  <a:txBody>
                    <a:bodyPr/>
                    <a:lstStyle/>
                    <a:p>
                      <a:pPr marL="0" indent="0">
                        <a:buNone/>
                      </a:pPr>
                      <a:r>
                        <a:rPr lang="en-US" sz="950" dirty="0">
                          <a:solidFill>
                            <a:srgbClr val="B6B7B8"/>
                          </a:solidFill>
                          <a:latin typeface="IBM Plex Sans" pitchFamily="34" charset="0"/>
                          <a:ea typeface="IBM Plex Sans" pitchFamily="34" charset="-122"/>
                          <a:cs typeface="IBM Plex Sans" pitchFamily="34" charset="-120"/>
                        </a:rPr>
                        <a:t>6 weeks</a:t>
                      </a:r>
                      <a:endParaRPr lang="en-US" sz="950" dirty="0">
                        <a:latin typeface="IBM Plex Sans" charset="0"/>
                        <a:ea typeface="IBM Plex Sans" charset="0"/>
                        <a:cs typeface="IBM Plex Sans" charset="0"/>
                      </a:endParaRPr>
                    </a:p>
                  </a:txBody>
                  <a:tcPr marL="0" marT="0" marB="0" anchor="ctr">
                    <a:lnL w="0" cap="flat" cmpd="sng" algn="ctr">
                      <a:noFill/>
                    </a:lnL>
                    <a:lnR w="0" cap="flat" cmpd="sng" algn="ctr">
                      <a:noFill/>
                    </a:lnR>
                    <a:lnT w="9525" cap="flat" cmpd="sng" algn="ctr">
                      <a:solidFill>
                        <a:srgbClr val="2E3033"/>
                      </a:solidFill>
                      <a:prstDash val="solid"/>
                      <a:round/>
                      <a:headEnd type="none" w="med" len="med"/>
                      <a:tailEnd type="none" w="med" len="med"/>
                    </a:lnT>
                    <a:lnB w="9525" cap="flat" cmpd="sng" algn="ctr">
                      <a:solidFill>
                        <a:srgbClr val="2E3033"/>
                      </a:solidFill>
                      <a:prstDash val="solid"/>
                      <a:round/>
                      <a:headEnd type="none" w="med" len="med"/>
                      <a:tailEnd type="none" w="med" len="med"/>
                    </a:lnB>
                    <a:solidFill>
                      <a:srgbClr val="0A0B0C"/>
                    </a:solidFill>
                  </a:tcPr>
                </a:tc>
                <a:tc>
                  <a:txBody>
                    <a:bodyPr/>
                    <a:lstStyle/>
                    <a:p>
                      <a:pPr marL="0" indent="0">
                        <a:buNone/>
                      </a:pPr>
                      <a:r>
                        <a:rPr lang="en-US" sz="950" dirty="0">
                          <a:solidFill>
                            <a:srgbClr val="B6B7B8"/>
                          </a:solidFill>
                          <a:latin typeface="IBM Plex Sans" pitchFamily="34" charset="0"/>
                          <a:ea typeface="IBM Plex Sans" pitchFamily="34" charset="-122"/>
                          <a:cs typeface="IBM Plex Sans" pitchFamily="34" charset="-120"/>
                        </a:rPr>
                        <a:t>Delivered</a:t>
                      </a:r>
                      <a:endParaRPr lang="en-US" sz="950" dirty="0">
                        <a:latin typeface="IBM Plex Sans" charset="0"/>
                        <a:ea typeface="IBM Plex Sans" charset="0"/>
                        <a:cs typeface="IBM Plex Sans" charset="0"/>
                      </a:endParaRPr>
                    </a:p>
                  </a:txBody>
                  <a:tcPr marL="0" marT="0" marB="0" anchor="ctr">
                    <a:lnL w="0" cap="flat" cmpd="sng" algn="ctr">
                      <a:noFill/>
                    </a:lnL>
                    <a:lnR w="0" cap="flat" cmpd="sng" algn="ctr">
                      <a:noFill/>
                    </a:lnR>
                    <a:lnT w="9525" cap="flat" cmpd="sng" algn="ctr">
                      <a:solidFill>
                        <a:srgbClr val="2E3033"/>
                      </a:solidFill>
                      <a:prstDash val="solid"/>
                      <a:round/>
                      <a:headEnd type="none" w="med" len="med"/>
                      <a:tailEnd type="none" w="med" len="med"/>
                    </a:lnT>
                    <a:lnB w="9525" cap="flat" cmpd="sng" algn="ctr">
                      <a:solidFill>
                        <a:srgbClr val="2E3033"/>
                      </a:solidFill>
                      <a:prstDash val="solid"/>
                      <a:round/>
                      <a:headEnd type="none" w="med" len="med"/>
                      <a:tailEnd type="none" w="med" len="med"/>
                    </a:lnB>
                    <a:solidFill>
                      <a:srgbClr val="0A0B0C"/>
                    </a:solidFill>
                  </a:tcPr>
                </a:tc>
                <a:extLst>
                  <a:ext uri="{0D108BD9-81ED-4DB2-BD59-A6C34878D82A}">
                    <a16:rowId xmlns:a16="http://schemas.microsoft.com/office/drawing/2014/main" val="10003"/>
                  </a:ext>
                </a:extLst>
              </a:tr>
              <a:tr h="301752">
                <a:tc>
                  <a:txBody>
                    <a:bodyPr/>
                    <a:lstStyle/>
                    <a:p>
                      <a:pPr marL="0" indent="0">
                        <a:buNone/>
                      </a:pPr>
                      <a:r>
                        <a:rPr lang="en-US" sz="1050" b="1" dirty="0">
                          <a:solidFill>
                            <a:srgbClr val="FFFFFF"/>
                          </a:solidFill>
                          <a:latin typeface="Space Grotesk" pitchFamily="34" charset="0"/>
                          <a:ea typeface="Space Grotesk" pitchFamily="34" charset="-122"/>
                          <a:cs typeface="Space Grotesk" pitchFamily="34" charset="-120"/>
                        </a:rPr>
                        <a:t>LTE Trove</a:t>
                      </a:r>
                      <a:endParaRPr lang="en-US" sz="1050" dirty="0">
                        <a:latin typeface="Space Grotesk" charset="0"/>
                        <a:ea typeface="Space Grotesk" charset="0"/>
                        <a:cs typeface="Space Grotesk" charset="0"/>
                      </a:endParaRPr>
                    </a:p>
                  </a:txBody>
                  <a:tcPr marL="0" marT="0" marB="0" anchor="ctr">
                    <a:lnL w="0" cap="flat" cmpd="sng" algn="ctr">
                      <a:noFill/>
                    </a:lnL>
                    <a:lnR w="0" cap="flat" cmpd="sng" algn="ctr">
                      <a:noFill/>
                    </a:lnR>
                    <a:lnT w="9525" cap="flat" cmpd="sng" algn="ctr">
                      <a:solidFill>
                        <a:srgbClr val="2E3033"/>
                      </a:solidFill>
                      <a:prstDash val="solid"/>
                      <a:round/>
                      <a:headEnd type="none" w="med" len="med"/>
                      <a:tailEnd type="none" w="med" len="med"/>
                    </a:lnT>
                    <a:lnB w="9525" cap="flat" cmpd="sng" algn="ctr">
                      <a:solidFill>
                        <a:srgbClr val="2E3033"/>
                      </a:solidFill>
                      <a:prstDash val="solid"/>
                      <a:round/>
                      <a:headEnd type="none" w="med" len="med"/>
                      <a:tailEnd type="none" w="med" len="med"/>
                    </a:lnB>
                    <a:solidFill>
                      <a:srgbClr val="0A0B0C"/>
                    </a:solidFill>
                  </a:tcPr>
                </a:tc>
                <a:tc>
                  <a:txBody>
                    <a:bodyPr/>
                    <a:lstStyle/>
                    <a:p>
                      <a:pPr marL="0" indent="0">
                        <a:buNone/>
                      </a:pPr>
                      <a:r>
                        <a:rPr lang="en-US" sz="950" dirty="0">
                          <a:solidFill>
                            <a:srgbClr val="B6B7B8"/>
                          </a:solidFill>
                          <a:latin typeface="IBM Plex Sans" pitchFamily="34" charset="0"/>
                          <a:ea typeface="IBM Plex Sans" pitchFamily="34" charset="-122"/>
                          <a:cs typeface="IBM Plex Sans" pitchFamily="34" charset="-120"/>
                        </a:rPr>
                        <a:t>Telecommunications</a:t>
                      </a:r>
                      <a:endParaRPr lang="en-US" sz="950" dirty="0">
                        <a:latin typeface="IBM Plex Sans" charset="0"/>
                        <a:ea typeface="IBM Plex Sans" charset="0"/>
                        <a:cs typeface="IBM Plex Sans" charset="0"/>
                      </a:endParaRPr>
                    </a:p>
                  </a:txBody>
                  <a:tcPr marL="0" marT="0" marB="0" anchor="ctr">
                    <a:lnL w="0" cap="flat" cmpd="sng" algn="ctr">
                      <a:noFill/>
                    </a:lnL>
                    <a:lnR w="0" cap="flat" cmpd="sng" algn="ctr">
                      <a:noFill/>
                    </a:lnR>
                    <a:lnT w="9525" cap="flat" cmpd="sng" algn="ctr">
                      <a:solidFill>
                        <a:srgbClr val="2E3033"/>
                      </a:solidFill>
                      <a:prstDash val="solid"/>
                      <a:round/>
                      <a:headEnd type="none" w="med" len="med"/>
                      <a:tailEnd type="none" w="med" len="med"/>
                    </a:lnT>
                    <a:lnB w="9525" cap="flat" cmpd="sng" algn="ctr">
                      <a:solidFill>
                        <a:srgbClr val="2E3033"/>
                      </a:solidFill>
                      <a:prstDash val="solid"/>
                      <a:round/>
                      <a:headEnd type="none" w="med" len="med"/>
                      <a:tailEnd type="none" w="med" len="med"/>
                    </a:lnB>
                    <a:solidFill>
                      <a:srgbClr val="0A0B0C"/>
                    </a:solidFill>
                  </a:tcPr>
                </a:tc>
                <a:tc>
                  <a:txBody>
                    <a:bodyPr/>
                    <a:lstStyle/>
                    <a:p>
                      <a:pPr marL="0" indent="0">
                        <a:buNone/>
                      </a:pPr>
                      <a:r>
                        <a:rPr lang="en-US" sz="950" dirty="0">
                          <a:solidFill>
                            <a:srgbClr val="B6B7B8"/>
                          </a:solidFill>
                          <a:latin typeface="IBM Plex Sans" pitchFamily="34" charset="0"/>
                          <a:ea typeface="IBM Plex Sans" pitchFamily="34" charset="-122"/>
                          <a:cs typeface="IBM Plex Sans" pitchFamily="34" charset="-120"/>
                        </a:rPr>
                        <a:t>Software</a:t>
                      </a:r>
                      <a:endParaRPr lang="en-US" sz="950" dirty="0">
                        <a:latin typeface="IBM Plex Sans" charset="0"/>
                        <a:ea typeface="IBM Plex Sans" charset="0"/>
                        <a:cs typeface="IBM Plex Sans" charset="0"/>
                      </a:endParaRPr>
                    </a:p>
                  </a:txBody>
                  <a:tcPr marL="0" marT="0" marB="0" anchor="ctr">
                    <a:lnL w="0" cap="flat" cmpd="sng" algn="ctr">
                      <a:noFill/>
                    </a:lnL>
                    <a:lnR w="0" cap="flat" cmpd="sng" algn="ctr">
                      <a:noFill/>
                    </a:lnR>
                    <a:lnT w="9525" cap="flat" cmpd="sng" algn="ctr">
                      <a:solidFill>
                        <a:srgbClr val="2E3033"/>
                      </a:solidFill>
                      <a:prstDash val="solid"/>
                      <a:round/>
                      <a:headEnd type="none" w="med" len="med"/>
                      <a:tailEnd type="none" w="med" len="med"/>
                    </a:lnT>
                    <a:lnB w="9525" cap="flat" cmpd="sng" algn="ctr">
                      <a:solidFill>
                        <a:srgbClr val="2E3033"/>
                      </a:solidFill>
                      <a:prstDash val="solid"/>
                      <a:round/>
                      <a:headEnd type="none" w="med" len="med"/>
                      <a:tailEnd type="none" w="med" len="med"/>
                    </a:lnB>
                    <a:solidFill>
                      <a:srgbClr val="0A0B0C"/>
                    </a:solidFill>
                  </a:tcPr>
                </a:tc>
                <a:tc>
                  <a:txBody>
                    <a:bodyPr/>
                    <a:lstStyle/>
                    <a:p>
                      <a:pPr marL="0" indent="0">
                        <a:buNone/>
                      </a:pPr>
                      <a:r>
                        <a:rPr lang="en-US" sz="950" dirty="0">
                          <a:solidFill>
                            <a:srgbClr val="B6B7B8"/>
                          </a:solidFill>
                          <a:latin typeface="IBM Plex Mono" pitchFamily="34" charset="0"/>
                          <a:ea typeface="IBM Plex Mono" pitchFamily="34" charset="-122"/>
                          <a:cs typeface="IBM Plex Mono" pitchFamily="34" charset="-120"/>
                        </a:rPr>
                        <a:t>2026</a:t>
                      </a:r>
                      <a:endParaRPr lang="en-US" sz="950" dirty="0">
                        <a:latin typeface="IBM Plex Mono" charset="0"/>
                        <a:ea typeface="IBM Plex Mono" charset="0"/>
                        <a:cs typeface="IBM Plex Mono" charset="0"/>
                      </a:endParaRPr>
                    </a:p>
                  </a:txBody>
                  <a:tcPr marL="0" marT="0" marB="0" anchor="ctr">
                    <a:lnL w="0" cap="flat" cmpd="sng" algn="ctr">
                      <a:noFill/>
                    </a:lnL>
                    <a:lnR w="0" cap="flat" cmpd="sng" algn="ctr">
                      <a:noFill/>
                    </a:lnR>
                    <a:lnT w="9525" cap="flat" cmpd="sng" algn="ctr">
                      <a:solidFill>
                        <a:srgbClr val="2E3033"/>
                      </a:solidFill>
                      <a:prstDash val="solid"/>
                      <a:round/>
                      <a:headEnd type="none" w="med" len="med"/>
                      <a:tailEnd type="none" w="med" len="med"/>
                    </a:lnT>
                    <a:lnB w="9525" cap="flat" cmpd="sng" algn="ctr">
                      <a:solidFill>
                        <a:srgbClr val="2E3033"/>
                      </a:solidFill>
                      <a:prstDash val="solid"/>
                      <a:round/>
                      <a:headEnd type="none" w="med" len="med"/>
                      <a:tailEnd type="none" w="med" len="med"/>
                    </a:lnB>
                    <a:solidFill>
                      <a:srgbClr val="0A0B0C"/>
                    </a:solidFill>
                  </a:tcPr>
                </a:tc>
                <a:tc>
                  <a:txBody>
                    <a:bodyPr/>
                    <a:lstStyle/>
                    <a:p>
                      <a:pPr marL="0" indent="0">
                        <a:buNone/>
                      </a:pPr>
                      <a:r>
                        <a:rPr lang="en-US" sz="950" dirty="0">
                          <a:solidFill>
                            <a:srgbClr val="B6B7B8"/>
                          </a:solidFill>
                          <a:latin typeface="IBM Plex Sans" pitchFamily="34" charset="0"/>
                          <a:ea typeface="IBM Plex Sans" pitchFamily="34" charset="-122"/>
                          <a:cs typeface="IBM Plex Sans" pitchFamily="34" charset="-120"/>
                        </a:rPr>
                        <a:t>6 months</a:t>
                      </a:r>
                      <a:endParaRPr lang="en-US" sz="950" dirty="0">
                        <a:latin typeface="IBM Plex Sans" charset="0"/>
                        <a:ea typeface="IBM Plex Sans" charset="0"/>
                        <a:cs typeface="IBM Plex Sans" charset="0"/>
                      </a:endParaRPr>
                    </a:p>
                  </a:txBody>
                  <a:tcPr marL="0" marT="0" marB="0" anchor="ctr">
                    <a:lnL w="0" cap="flat" cmpd="sng" algn="ctr">
                      <a:noFill/>
                    </a:lnL>
                    <a:lnR w="0" cap="flat" cmpd="sng" algn="ctr">
                      <a:noFill/>
                    </a:lnR>
                    <a:lnT w="9525" cap="flat" cmpd="sng" algn="ctr">
                      <a:solidFill>
                        <a:srgbClr val="2E3033"/>
                      </a:solidFill>
                      <a:prstDash val="solid"/>
                      <a:round/>
                      <a:headEnd type="none" w="med" len="med"/>
                      <a:tailEnd type="none" w="med" len="med"/>
                    </a:lnT>
                    <a:lnB w="9525" cap="flat" cmpd="sng" algn="ctr">
                      <a:solidFill>
                        <a:srgbClr val="2E3033"/>
                      </a:solidFill>
                      <a:prstDash val="solid"/>
                      <a:round/>
                      <a:headEnd type="none" w="med" len="med"/>
                      <a:tailEnd type="none" w="med" len="med"/>
                    </a:lnB>
                    <a:solidFill>
                      <a:srgbClr val="0A0B0C"/>
                    </a:solidFill>
                  </a:tcPr>
                </a:tc>
                <a:tc>
                  <a:txBody>
                    <a:bodyPr/>
                    <a:lstStyle/>
                    <a:p>
                      <a:pPr marL="0" indent="0">
                        <a:buNone/>
                      </a:pPr>
                      <a:r>
                        <a:rPr lang="en-US" sz="950" dirty="0">
                          <a:solidFill>
                            <a:srgbClr val="B6B7B8"/>
                          </a:solidFill>
                          <a:latin typeface="IBM Plex Sans" pitchFamily="34" charset="0"/>
                          <a:ea typeface="IBM Plex Sans" pitchFamily="34" charset="-122"/>
                          <a:cs typeface="IBM Plex Sans" pitchFamily="34" charset="-120"/>
                        </a:rPr>
                        <a:t>Delivered</a:t>
                      </a:r>
                      <a:endParaRPr lang="en-US" sz="950" dirty="0">
                        <a:latin typeface="IBM Plex Sans" charset="0"/>
                        <a:ea typeface="IBM Plex Sans" charset="0"/>
                        <a:cs typeface="IBM Plex Sans" charset="0"/>
                      </a:endParaRPr>
                    </a:p>
                  </a:txBody>
                  <a:tcPr marL="0" marT="0" marB="0" anchor="ctr">
                    <a:lnL w="0" cap="flat" cmpd="sng" algn="ctr">
                      <a:noFill/>
                    </a:lnL>
                    <a:lnR w="0" cap="flat" cmpd="sng" algn="ctr">
                      <a:noFill/>
                    </a:lnR>
                    <a:lnT w="9525" cap="flat" cmpd="sng" algn="ctr">
                      <a:solidFill>
                        <a:srgbClr val="2E3033"/>
                      </a:solidFill>
                      <a:prstDash val="solid"/>
                      <a:round/>
                      <a:headEnd type="none" w="med" len="med"/>
                      <a:tailEnd type="none" w="med" len="med"/>
                    </a:lnT>
                    <a:lnB w="9525" cap="flat" cmpd="sng" algn="ctr">
                      <a:solidFill>
                        <a:srgbClr val="2E3033"/>
                      </a:solidFill>
                      <a:prstDash val="solid"/>
                      <a:round/>
                      <a:headEnd type="none" w="med" len="med"/>
                      <a:tailEnd type="none" w="med" len="med"/>
                    </a:lnB>
                    <a:solidFill>
                      <a:srgbClr val="0A0B0C"/>
                    </a:solidFill>
                  </a:tcPr>
                </a:tc>
                <a:extLst>
                  <a:ext uri="{0D108BD9-81ED-4DB2-BD59-A6C34878D82A}">
                    <a16:rowId xmlns:a16="http://schemas.microsoft.com/office/drawing/2014/main" val="10004"/>
                  </a:ext>
                </a:extLst>
              </a:tr>
              <a:tr h="301752">
                <a:tc>
                  <a:txBody>
                    <a:bodyPr/>
                    <a:lstStyle/>
                    <a:p>
                      <a:pPr marL="0" indent="0">
                        <a:buNone/>
                      </a:pPr>
                      <a:r>
                        <a:rPr lang="en-US" sz="1050" b="1" dirty="0">
                          <a:solidFill>
                            <a:srgbClr val="FFFFFF"/>
                          </a:solidFill>
                          <a:latin typeface="Space Grotesk" pitchFamily="34" charset="0"/>
                          <a:ea typeface="Space Grotesk" pitchFamily="34" charset="-122"/>
                          <a:cs typeface="Space Grotesk" pitchFamily="34" charset="-120"/>
                        </a:rPr>
                        <a:t>PKNVD</a:t>
                      </a:r>
                      <a:endParaRPr lang="en-US" sz="1050" dirty="0">
                        <a:latin typeface="Space Grotesk" charset="0"/>
                        <a:ea typeface="Space Grotesk" charset="0"/>
                        <a:cs typeface="Space Grotesk" charset="0"/>
                      </a:endParaRPr>
                    </a:p>
                  </a:txBody>
                  <a:tcPr marL="0" marT="0" marB="0" anchor="ctr">
                    <a:lnL w="0" cap="flat" cmpd="sng" algn="ctr">
                      <a:noFill/>
                    </a:lnL>
                    <a:lnR w="0" cap="flat" cmpd="sng" algn="ctr">
                      <a:noFill/>
                    </a:lnR>
                    <a:lnT w="9525" cap="flat" cmpd="sng" algn="ctr">
                      <a:solidFill>
                        <a:srgbClr val="2E3033"/>
                      </a:solidFill>
                      <a:prstDash val="solid"/>
                      <a:round/>
                      <a:headEnd type="none" w="med" len="med"/>
                      <a:tailEnd type="none" w="med" len="med"/>
                    </a:lnT>
                    <a:lnB w="9525" cap="flat" cmpd="sng" algn="ctr">
                      <a:solidFill>
                        <a:srgbClr val="2E3033"/>
                      </a:solidFill>
                      <a:prstDash val="solid"/>
                      <a:round/>
                      <a:headEnd type="none" w="med" len="med"/>
                      <a:tailEnd type="none" w="med" len="med"/>
                    </a:lnB>
                    <a:solidFill>
                      <a:srgbClr val="0A0B0C"/>
                    </a:solidFill>
                  </a:tcPr>
                </a:tc>
                <a:tc>
                  <a:txBody>
                    <a:bodyPr/>
                    <a:lstStyle/>
                    <a:p>
                      <a:pPr marL="0" indent="0">
                        <a:buNone/>
                      </a:pPr>
                      <a:r>
                        <a:rPr lang="en-US" sz="950" dirty="0">
                          <a:solidFill>
                            <a:srgbClr val="B6B7B8"/>
                          </a:solidFill>
                          <a:latin typeface="IBM Plex Sans" pitchFamily="34" charset="0"/>
                          <a:ea typeface="IBM Plex Sans" pitchFamily="34" charset="-122"/>
                          <a:cs typeface="IBM Plex Sans" pitchFamily="34" charset="-120"/>
                        </a:rPr>
                        <a:t>Public sector cybersecurity</a:t>
                      </a:r>
                      <a:endParaRPr lang="en-US" sz="950" dirty="0">
                        <a:latin typeface="IBM Plex Sans" charset="0"/>
                        <a:ea typeface="IBM Plex Sans" charset="0"/>
                        <a:cs typeface="IBM Plex Sans" charset="0"/>
                      </a:endParaRPr>
                    </a:p>
                  </a:txBody>
                  <a:tcPr marL="0" marT="0" marB="0" anchor="ctr">
                    <a:lnL w="0" cap="flat" cmpd="sng" algn="ctr">
                      <a:noFill/>
                    </a:lnL>
                    <a:lnR w="0" cap="flat" cmpd="sng" algn="ctr">
                      <a:noFill/>
                    </a:lnR>
                    <a:lnT w="9525" cap="flat" cmpd="sng" algn="ctr">
                      <a:solidFill>
                        <a:srgbClr val="2E3033"/>
                      </a:solidFill>
                      <a:prstDash val="solid"/>
                      <a:round/>
                      <a:headEnd type="none" w="med" len="med"/>
                      <a:tailEnd type="none" w="med" len="med"/>
                    </a:lnT>
                    <a:lnB w="9525" cap="flat" cmpd="sng" algn="ctr">
                      <a:solidFill>
                        <a:srgbClr val="2E3033"/>
                      </a:solidFill>
                      <a:prstDash val="solid"/>
                      <a:round/>
                      <a:headEnd type="none" w="med" len="med"/>
                      <a:tailEnd type="none" w="med" len="med"/>
                    </a:lnB>
                    <a:solidFill>
                      <a:srgbClr val="0A0B0C"/>
                    </a:solidFill>
                  </a:tcPr>
                </a:tc>
                <a:tc>
                  <a:txBody>
                    <a:bodyPr/>
                    <a:lstStyle/>
                    <a:p>
                      <a:pPr marL="0" indent="0">
                        <a:buNone/>
                      </a:pPr>
                      <a:r>
                        <a:rPr lang="en-US" sz="950" dirty="0">
                          <a:solidFill>
                            <a:srgbClr val="B6B7B8"/>
                          </a:solidFill>
                          <a:latin typeface="IBM Plex Sans" pitchFamily="34" charset="0"/>
                          <a:ea typeface="IBM Plex Sans" pitchFamily="34" charset="-122"/>
                          <a:cs typeface="IBM Plex Sans" pitchFamily="34" charset="-120"/>
                        </a:rPr>
                        <a:t>Data analytics</a:t>
                      </a:r>
                      <a:endParaRPr lang="en-US" sz="950" dirty="0">
                        <a:latin typeface="IBM Plex Sans" charset="0"/>
                        <a:ea typeface="IBM Plex Sans" charset="0"/>
                        <a:cs typeface="IBM Plex Sans" charset="0"/>
                      </a:endParaRPr>
                    </a:p>
                  </a:txBody>
                  <a:tcPr marL="0" marT="0" marB="0" anchor="ctr">
                    <a:lnL w="0" cap="flat" cmpd="sng" algn="ctr">
                      <a:noFill/>
                    </a:lnL>
                    <a:lnR w="0" cap="flat" cmpd="sng" algn="ctr">
                      <a:noFill/>
                    </a:lnR>
                    <a:lnT w="9525" cap="flat" cmpd="sng" algn="ctr">
                      <a:solidFill>
                        <a:srgbClr val="2E3033"/>
                      </a:solidFill>
                      <a:prstDash val="solid"/>
                      <a:round/>
                      <a:headEnd type="none" w="med" len="med"/>
                      <a:tailEnd type="none" w="med" len="med"/>
                    </a:lnT>
                    <a:lnB w="9525" cap="flat" cmpd="sng" algn="ctr">
                      <a:solidFill>
                        <a:srgbClr val="2E3033"/>
                      </a:solidFill>
                      <a:prstDash val="solid"/>
                      <a:round/>
                      <a:headEnd type="none" w="med" len="med"/>
                      <a:tailEnd type="none" w="med" len="med"/>
                    </a:lnB>
                    <a:solidFill>
                      <a:srgbClr val="0A0B0C"/>
                    </a:solidFill>
                  </a:tcPr>
                </a:tc>
                <a:tc>
                  <a:txBody>
                    <a:bodyPr/>
                    <a:lstStyle/>
                    <a:p>
                      <a:pPr marL="0" indent="0">
                        <a:buNone/>
                      </a:pPr>
                      <a:r>
                        <a:rPr lang="en-US" sz="950" dirty="0">
                          <a:solidFill>
                            <a:srgbClr val="B6B7B8"/>
                          </a:solidFill>
                          <a:latin typeface="IBM Plex Mono" pitchFamily="34" charset="0"/>
                          <a:ea typeface="IBM Plex Mono" pitchFamily="34" charset="-122"/>
                          <a:cs typeface="IBM Plex Mono" pitchFamily="34" charset="-120"/>
                        </a:rPr>
                        <a:t>2026</a:t>
                      </a:r>
                      <a:endParaRPr lang="en-US" sz="950" dirty="0">
                        <a:latin typeface="IBM Plex Mono" charset="0"/>
                        <a:ea typeface="IBM Plex Mono" charset="0"/>
                        <a:cs typeface="IBM Plex Mono" charset="0"/>
                      </a:endParaRPr>
                    </a:p>
                  </a:txBody>
                  <a:tcPr marL="0" marT="0" marB="0" anchor="ctr">
                    <a:lnL w="0" cap="flat" cmpd="sng" algn="ctr">
                      <a:noFill/>
                    </a:lnL>
                    <a:lnR w="0" cap="flat" cmpd="sng" algn="ctr">
                      <a:noFill/>
                    </a:lnR>
                    <a:lnT w="9525" cap="flat" cmpd="sng" algn="ctr">
                      <a:solidFill>
                        <a:srgbClr val="2E3033"/>
                      </a:solidFill>
                      <a:prstDash val="solid"/>
                      <a:round/>
                      <a:headEnd type="none" w="med" len="med"/>
                      <a:tailEnd type="none" w="med" len="med"/>
                    </a:lnT>
                    <a:lnB w="9525" cap="flat" cmpd="sng" algn="ctr">
                      <a:solidFill>
                        <a:srgbClr val="2E3033"/>
                      </a:solidFill>
                      <a:prstDash val="solid"/>
                      <a:round/>
                      <a:headEnd type="none" w="med" len="med"/>
                      <a:tailEnd type="none" w="med" len="med"/>
                    </a:lnB>
                    <a:solidFill>
                      <a:srgbClr val="0A0B0C"/>
                    </a:solidFill>
                  </a:tcPr>
                </a:tc>
                <a:tc>
                  <a:txBody>
                    <a:bodyPr/>
                    <a:lstStyle/>
                    <a:p>
                      <a:pPr marL="0" indent="0">
                        <a:buNone/>
                      </a:pPr>
                      <a:r>
                        <a:rPr lang="en-US" sz="950" dirty="0">
                          <a:solidFill>
                            <a:srgbClr val="B6B7B8"/>
                          </a:solidFill>
                          <a:latin typeface="IBM Plex Sans" pitchFamily="34" charset="0"/>
                          <a:ea typeface="IBM Plex Sans" pitchFamily="34" charset="-122"/>
                          <a:cs typeface="IBM Plex Sans" pitchFamily="34" charset="-120"/>
                        </a:rPr>
                        <a:t>9 weeks</a:t>
                      </a:r>
                      <a:endParaRPr lang="en-US" sz="950" dirty="0">
                        <a:latin typeface="IBM Plex Sans" charset="0"/>
                        <a:ea typeface="IBM Plex Sans" charset="0"/>
                        <a:cs typeface="IBM Plex Sans" charset="0"/>
                      </a:endParaRPr>
                    </a:p>
                  </a:txBody>
                  <a:tcPr marL="0" marT="0" marB="0" anchor="ctr">
                    <a:lnL w="0" cap="flat" cmpd="sng" algn="ctr">
                      <a:noFill/>
                    </a:lnL>
                    <a:lnR w="0" cap="flat" cmpd="sng" algn="ctr">
                      <a:noFill/>
                    </a:lnR>
                    <a:lnT w="9525" cap="flat" cmpd="sng" algn="ctr">
                      <a:solidFill>
                        <a:srgbClr val="2E3033"/>
                      </a:solidFill>
                      <a:prstDash val="solid"/>
                      <a:round/>
                      <a:headEnd type="none" w="med" len="med"/>
                      <a:tailEnd type="none" w="med" len="med"/>
                    </a:lnT>
                    <a:lnB w="9525" cap="flat" cmpd="sng" algn="ctr">
                      <a:solidFill>
                        <a:srgbClr val="2E3033"/>
                      </a:solidFill>
                      <a:prstDash val="solid"/>
                      <a:round/>
                      <a:headEnd type="none" w="med" len="med"/>
                      <a:tailEnd type="none" w="med" len="med"/>
                    </a:lnB>
                    <a:solidFill>
                      <a:srgbClr val="0A0B0C"/>
                    </a:solidFill>
                  </a:tcPr>
                </a:tc>
                <a:tc>
                  <a:txBody>
                    <a:bodyPr/>
                    <a:lstStyle/>
                    <a:p>
                      <a:pPr marL="0" indent="0">
                        <a:buNone/>
                      </a:pPr>
                      <a:r>
                        <a:rPr lang="en-US" sz="950" dirty="0">
                          <a:solidFill>
                            <a:srgbClr val="B6B7B8"/>
                          </a:solidFill>
                          <a:latin typeface="IBM Plex Sans" pitchFamily="34" charset="0"/>
                          <a:ea typeface="IBM Plex Sans" pitchFamily="34" charset="-122"/>
                          <a:cs typeface="IBM Plex Sans" pitchFamily="34" charset="-120"/>
                        </a:rPr>
                        <a:t>Delivered</a:t>
                      </a:r>
                      <a:endParaRPr lang="en-US" sz="950" dirty="0">
                        <a:latin typeface="IBM Plex Sans" charset="0"/>
                        <a:ea typeface="IBM Plex Sans" charset="0"/>
                        <a:cs typeface="IBM Plex Sans" charset="0"/>
                      </a:endParaRPr>
                    </a:p>
                  </a:txBody>
                  <a:tcPr marL="0" marT="0" marB="0" anchor="ctr">
                    <a:lnL w="0" cap="flat" cmpd="sng" algn="ctr">
                      <a:noFill/>
                    </a:lnL>
                    <a:lnR w="0" cap="flat" cmpd="sng" algn="ctr">
                      <a:noFill/>
                    </a:lnR>
                    <a:lnT w="9525" cap="flat" cmpd="sng" algn="ctr">
                      <a:solidFill>
                        <a:srgbClr val="2E3033"/>
                      </a:solidFill>
                      <a:prstDash val="solid"/>
                      <a:round/>
                      <a:headEnd type="none" w="med" len="med"/>
                      <a:tailEnd type="none" w="med" len="med"/>
                    </a:lnT>
                    <a:lnB w="9525" cap="flat" cmpd="sng" algn="ctr">
                      <a:solidFill>
                        <a:srgbClr val="2E3033"/>
                      </a:solidFill>
                      <a:prstDash val="solid"/>
                      <a:round/>
                      <a:headEnd type="none" w="med" len="med"/>
                      <a:tailEnd type="none" w="med" len="med"/>
                    </a:lnB>
                    <a:solidFill>
                      <a:srgbClr val="0A0B0C"/>
                    </a:solidFill>
                  </a:tcPr>
                </a:tc>
                <a:extLst>
                  <a:ext uri="{0D108BD9-81ED-4DB2-BD59-A6C34878D82A}">
                    <a16:rowId xmlns:a16="http://schemas.microsoft.com/office/drawing/2014/main" val="10005"/>
                  </a:ext>
                </a:extLst>
              </a:tr>
              <a:tr h="301752">
                <a:tc>
                  <a:txBody>
                    <a:bodyPr/>
                    <a:lstStyle/>
                    <a:p>
                      <a:pPr marL="0" indent="0">
                        <a:buNone/>
                      </a:pPr>
                      <a:r>
                        <a:rPr lang="en-US" sz="1050" b="1" dirty="0">
                          <a:solidFill>
                            <a:srgbClr val="FFFFFF"/>
                          </a:solidFill>
                          <a:latin typeface="Space Grotesk" pitchFamily="34" charset="0"/>
                          <a:ea typeface="Space Grotesk" pitchFamily="34" charset="-122"/>
                          <a:cs typeface="Space Grotesk" pitchFamily="34" charset="-120"/>
                        </a:rPr>
                        <a:t>PSX Portfolio Tracker</a:t>
                      </a:r>
                      <a:endParaRPr lang="en-US" sz="1050" dirty="0">
                        <a:latin typeface="Space Grotesk" charset="0"/>
                        <a:ea typeface="Space Grotesk" charset="0"/>
                        <a:cs typeface="Space Grotesk" charset="0"/>
                      </a:endParaRPr>
                    </a:p>
                  </a:txBody>
                  <a:tcPr marL="0" marT="0" marB="0" anchor="ctr">
                    <a:lnL w="0" cap="flat" cmpd="sng" algn="ctr">
                      <a:noFill/>
                    </a:lnL>
                    <a:lnR w="0" cap="flat" cmpd="sng" algn="ctr">
                      <a:noFill/>
                    </a:lnR>
                    <a:lnT w="9525" cap="flat" cmpd="sng" algn="ctr">
                      <a:solidFill>
                        <a:srgbClr val="2E3033"/>
                      </a:solidFill>
                      <a:prstDash val="solid"/>
                      <a:round/>
                      <a:headEnd type="none" w="med" len="med"/>
                      <a:tailEnd type="none" w="med" len="med"/>
                    </a:lnT>
                    <a:lnB w="9525" cap="flat" cmpd="sng" algn="ctr">
                      <a:solidFill>
                        <a:srgbClr val="2E3033"/>
                      </a:solidFill>
                      <a:prstDash val="solid"/>
                      <a:round/>
                      <a:headEnd type="none" w="med" len="med"/>
                      <a:tailEnd type="none" w="med" len="med"/>
                    </a:lnB>
                    <a:solidFill>
                      <a:srgbClr val="0A0B0C"/>
                    </a:solidFill>
                  </a:tcPr>
                </a:tc>
                <a:tc>
                  <a:txBody>
                    <a:bodyPr/>
                    <a:lstStyle/>
                    <a:p>
                      <a:pPr marL="0" indent="0">
                        <a:buNone/>
                      </a:pPr>
                      <a:r>
                        <a:rPr lang="en-US" sz="950" dirty="0">
                          <a:solidFill>
                            <a:srgbClr val="B6B7B8"/>
                          </a:solidFill>
                          <a:latin typeface="IBM Plex Sans" pitchFamily="34" charset="0"/>
                          <a:ea typeface="IBM Plex Sans" pitchFamily="34" charset="-122"/>
                          <a:cs typeface="IBM Plex Sans" pitchFamily="34" charset="-120"/>
                        </a:rPr>
                        <a:t>Fintech and personal investment</a:t>
                      </a:r>
                      <a:endParaRPr lang="en-US" sz="950" dirty="0">
                        <a:latin typeface="IBM Plex Sans" charset="0"/>
                        <a:ea typeface="IBM Plex Sans" charset="0"/>
                        <a:cs typeface="IBM Plex Sans" charset="0"/>
                      </a:endParaRPr>
                    </a:p>
                  </a:txBody>
                  <a:tcPr marL="0" marT="0" marB="0" anchor="ctr">
                    <a:lnL w="0" cap="flat" cmpd="sng" algn="ctr">
                      <a:noFill/>
                    </a:lnL>
                    <a:lnR w="0" cap="flat" cmpd="sng" algn="ctr">
                      <a:noFill/>
                    </a:lnR>
                    <a:lnT w="9525" cap="flat" cmpd="sng" algn="ctr">
                      <a:solidFill>
                        <a:srgbClr val="2E3033"/>
                      </a:solidFill>
                      <a:prstDash val="solid"/>
                      <a:round/>
                      <a:headEnd type="none" w="med" len="med"/>
                      <a:tailEnd type="none" w="med" len="med"/>
                    </a:lnT>
                    <a:lnB w="9525" cap="flat" cmpd="sng" algn="ctr">
                      <a:solidFill>
                        <a:srgbClr val="2E3033"/>
                      </a:solidFill>
                      <a:prstDash val="solid"/>
                      <a:round/>
                      <a:headEnd type="none" w="med" len="med"/>
                      <a:tailEnd type="none" w="med" len="med"/>
                    </a:lnB>
                    <a:solidFill>
                      <a:srgbClr val="0A0B0C"/>
                    </a:solidFill>
                  </a:tcPr>
                </a:tc>
                <a:tc>
                  <a:txBody>
                    <a:bodyPr/>
                    <a:lstStyle/>
                    <a:p>
                      <a:pPr marL="0" indent="0">
                        <a:buNone/>
                      </a:pPr>
                      <a:r>
                        <a:rPr lang="en-US" sz="950" dirty="0">
                          <a:solidFill>
                            <a:srgbClr val="B6B7B8"/>
                          </a:solidFill>
                          <a:latin typeface="IBM Plex Sans" pitchFamily="34" charset="0"/>
                          <a:ea typeface="IBM Plex Sans" pitchFamily="34" charset="-122"/>
                          <a:cs typeface="IBM Plex Sans" pitchFamily="34" charset="-120"/>
                        </a:rPr>
                        <a:t>Software</a:t>
                      </a:r>
                      <a:endParaRPr lang="en-US" sz="950" dirty="0">
                        <a:latin typeface="IBM Plex Sans" charset="0"/>
                        <a:ea typeface="IBM Plex Sans" charset="0"/>
                        <a:cs typeface="IBM Plex Sans" charset="0"/>
                      </a:endParaRPr>
                    </a:p>
                  </a:txBody>
                  <a:tcPr marL="0" marT="0" marB="0" anchor="ctr">
                    <a:lnL w="0" cap="flat" cmpd="sng" algn="ctr">
                      <a:noFill/>
                    </a:lnL>
                    <a:lnR w="0" cap="flat" cmpd="sng" algn="ctr">
                      <a:noFill/>
                    </a:lnR>
                    <a:lnT w="9525" cap="flat" cmpd="sng" algn="ctr">
                      <a:solidFill>
                        <a:srgbClr val="2E3033"/>
                      </a:solidFill>
                      <a:prstDash val="solid"/>
                      <a:round/>
                      <a:headEnd type="none" w="med" len="med"/>
                      <a:tailEnd type="none" w="med" len="med"/>
                    </a:lnT>
                    <a:lnB w="9525" cap="flat" cmpd="sng" algn="ctr">
                      <a:solidFill>
                        <a:srgbClr val="2E3033"/>
                      </a:solidFill>
                      <a:prstDash val="solid"/>
                      <a:round/>
                      <a:headEnd type="none" w="med" len="med"/>
                      <a:tailEnd type="none" w="med" len="med"/>
                    </a:lnB>
                    <a:solidFill>
                      <a:srgbClr val="0A0B0C"/>
                    </a:solidFill>
                  </a:tcPr>
                </a:tc>
                <a:tc>
                  <a:txBody>
                    <a:bodyPr/>
                    <a:lstStyle/>
                    <a:p>
                      <a:pPr marL="0" indent="0">
                        <a:buNone/>
                      </a:pPr>
                      <a:r>
                        <a:rPr lang="en-US" sz="950" dirty="0">
                          <a:solidFill>
                            <a:srgbClr val="B6B7B8"/>
                          </a:solidFill>
                          <a:latin typeface="IBM Plex Mono" pitchFamily="34" charset="0"/>
                          <a:ea typeface="IBM Plex Mono" pitchFamily="34" charset="-122"/>
                          <a:cs typeface="IBM Plex Mono" pitchFamily="34" charset="-120"/>
                        </a:rPr>
                        <a:t>2026</a:t>
                      </a:r>
                      <a:endParaRPr lang="en-US" sz="950" dirty="0">
                        <a:latin typeface="IBM Plex Mono" charset="0"/>
                        <a:ea typeface="IBM Plex Mono" charset="0"/>
                        <a:cs typeface="IBM Plex Mono" charset="0"/>
                      </a:endParaRPr>
                    </a:p>
                  </a:txBody>
                  <a:tcPr marL="0" marT="0" marB="0" anchor="ctr">
                    <a:lnL w="0" cap="flat" cmpd="sng" algn="ctr">
                      <a:noFill/>
                    </a:lnL>
                    <a:lnR w="0" cap="flat" cmpd="sng" algn="ctr">
                      <a:noFill/>
                    </a:lnR>
                    <a:lnT w="9525" cap="flat" cmpd="sng" algn="ctr">
                      <a:solidFill>
                        <a:srgbClr val="2E3033"/>
                      </a:solidFill>
                      <a:prstDash val="solid"/>
                      <a:round/>
                      <a:headEnd type="none" w="med" len="med"/>
                      <a:tailEnd type="none" w="med" len="med"/>
                    </a:lnT>
                    <a:lnB w="9525" cap="flat" cmpd="sng" algn="ctr">
                      <a:solidFill>
                        <a:srgbClr val="2E3033"/>
                      </a:solidFill>
                      <a:prstDash val="solid"/>
                      <a:round/>
                      <a:headEnd type="none" w="med" len="med"/>
                      <a:tailEnd type="none" w="med" len="med"/>
                    </a:lnB>
                    <a:solidFill>
                      <a:srgbClr val="0A0B0C"/>
                    </a:solidFill>
                  </a:tcPr>
                </a:tc>
                <a:tc>
                  <a:txBody>
                    <a:bodyPr/>
                    <a:lstStyle/>
                    <a:p>
                      <a:pPr marL="0" indent="0">
                        <a:buNone/>
                      </a:pPr>
                      <a:r>
                        <a:rPr lang="en-US" sz="950" dirty="0">
                          <a:solidFill>
                            <a:srgbClr val="B6B7B8"/>
                          </a:solidFill>
                          <a:latin typeface="IBM Plex Sans" pitchFamily="34" charset="0"/>
                          <a:ea typeface="IBM Plex Sans" pitchFamily="34" charset="-122"/>
                          <a:cs typeface="IBM Plex Sans" pitchFamily="34" charset="-120"/>
                        </a:rPr>
                        <a:t>10 weeks</a:t>
                      </a:r>
                      <a:endParaRPr lang="en-US" sz="950" dirty="0">
                        <a:latin typeface="IBM Plex Sans" charset="0"/>
                        <a:ea typeface="IBM Plex Sans" charset="0"/>
                        <a:cs typeface="IBM Plex Sans" charset="0"/>
                      </a:endParaRPr>
                    </a:p>
                  </a:txBody>
                  <a:tcPr marL="0" marT="0" marB="0" anchor="ctr">
                    <a:lnL w="0" cap="flat" cmpd="sng" algn="ctr">
                      <a:noFill/>
                    </a:lnL>
                    <a:lnR w="0" cap="flat" cmpd="sng" algn="ctr">
                      <a:noFill/>
                    </a:lnR>
                    <a:lnT w="9525" cap="flat" cmpd="sng" algn="ctr">
                      <a:solidFill>
                        <a:srgbClr val="2E3033"/>
                      </a:solidFill>
                      <a:prstDash val="solid"/>
                      <a:round/>
                      <a:headEnd type="none" w="med" len="med"/>
                      <a:tailEnd type="none" w="med" len="med"/>
                    </a:lnT>
                    <a:lnB w="9525" cap="flat" cmpd="sng" algn="ctr">
                      <a:solidFill>
                        <a:srgbClr val="2E3033"/>
                      </a:solidFill>
                      <a:prstDash val="solid"/>
                      <a:round/>
                      <a:headEnd type="none" w="med" len="med"/>
                      <a:tailEnd type="none" w="med" len="med"/>
                    </a:lnB>
                    <a:solidFill>
                      <a:srgbClr val="0A0B0C"/>
                    </a:solidFill>
                  </a:tcPr>
                </a:tc>
                <a:tc>
                  <a:txBody>
                    <a:bodyPr/>
                    <a:lstStyle/>
                    <a:p>
                      <a:pPr marL="0" indent="0">
                        <a:buNone/>
                      </a:pPr>
                      <a:r>
                        <a:rPr lang="en-US" sz="950" b="1" dirty="0">
                          <a:solidFill>
                            <a:srgbClr val="E8A33D"/>
                          </a:solidFill>
                          <a:latin typeface="IBM Plex Sans" pitchFamily="34" charset="0"/>
                          <a:ea typeface="IBM Plex Sans" pitchFamily="34" charset="-122"/>
                          <a:cs typeface="IBM Plex Sans" pitchFamily="34" charset="-120"/>
                        </a:rPr>
                        <a:t>Live</a:t>
                      </a:r>
                      <a:endParaRPr lang="en-US" sz="950" dirty="0">
                        <a:latin typeface="IBM Plex Sans" charset="0"/>
                        <a:ea typeface="IBM Plex Sans" charset="0"/>
                        <a:cs typeface="IBM Plex Sans" charset="0"/>
                      </a:endParaRPr>
                    </a:p>
                  </a:txBody>
                  <a:tcPr marL="0" marT="0" marB="0" anchor="ctr">
                    <a:lnL w="0" cap="flat" cmpd="sng" algn="ctr">
                      <a:noFill/>
                    </a:lnL>
                    <a:lnR w="0" cap="flat" cmpd="sng" algn="ctr">
                      <a:noFill/>
                    </a:lnR>
                    <a:lnT w="9525" cap="flat" cmpd="sng" algn="ctr">
                      <a:solidFill>
                        <a:srgbClr val="2E3033"/>
                      </a:solidFill>
                      <a:prstDash val="solid"/>
                      <a:round/>
                      <a:headEnd type="none" w="med" len="med"/>
                      <a:tailEnd type="none" w="med" len="med"/>
                    </a:lnT>
                    <a:lnB w="9525" cap="flat" cmpd="sng" algn="ctr">
                      <a:solidFill>
                        <a:srgbClr val="2E3033"/>
                      </a:solidFill>
                      <a:prstDash val="solid"/>
                      <a:round/>
                      <a:headEnd type="none" w="med" len="med"/>
                      <a:tailEnd type="none" w="med" len="med"/>
                    </a:lnB>
                    <a:solidFill>
                      <a:srgbClr val="0A0B0C"/>
                    </a:solidFill>
                  </a:tcPr>
                </a:tc>
                <a:extLst>
                  <a:ext uri="{0D108BD9-81ED-4DB2-BD59-A6C34878D82A}">
                    <a16:rowId xmlns:a16="http://schemas.microsoft.com/office/drawing/2014/main" val="10006"/>
                  </a:ext>
                </a:extLst>
              </a:tr>
              <a:tr h="301752">
                <a:tc>
                  <a:txBody>
                    <a:bodyPr/>
                    <a:lstStyle/>
                    <a:p>
                      <a:pPr marL="0" indent="0">
                        <a:buNone/>
                      </a:pPr>
                      <a:r>
                        <a:rPr lang="en-US" sz="1050" b="1" dirty="0">
                          <a:solidFill>
                            <a:srgbClr val="FFFFFF"/>
                          </a:solidFill>
                          <a:latin typeface="Space Grotesk" pitchFamily="34" charset="0"/>
                          <a:ea typeface="Space Grotesk" pitchFamily="34" charset="-122"/>
                          <a:cs typeface="Space Grotesk" pitchFamily="34" charset="-120"/>
                        </a:rPr>
                        <a:t>RetinaScan AI</a:t>
                      </a:r>
                      <a:endParaRPr lang="en-US" sz="1050" dirty="0">
                        <a:latin typeface="Space Grotesk" charset="0"/>
                        <a:ea typeface="Space Grotesk" charset="0"/>
                        <a:cs typeface="Space Grotesk" charset="0"/>
                      </a:endParaRPr>
                    </a:p>
                  </a:txBody>
                  <a:tcPr marL="0" marT="0" marB="0" anchor="ctr">
                    <a:lnL w="0" cap="flat" cmpd="sng" algn="ctr">
                      <a:noFill/>
                    </a:lnL>
                    <a:lnR w="0" cap="flat" cmpd="sng" algn="ctr">
                      <a:noFill/>
                    </a:lnR>
                    <a:lnT w="9525" cap="flat" cmpd="sng" algn="ctr">
                      <a:solidFill>
                        <a:srgbClr val="2E3033"/>
                      </a:solidFill>
                      <a:prstDash val="solid"/>
                      <a:round/>
                      <a:headEnd type="none" w="med" len="med"/>
                      <a:tailEnd type="none" w="med" len="med"/>
                    </a:lnT>
                    <a:lnB w="9525" cap="flat" cmpd="sng" algn="ctr">
                      <a:solidFill>
                        <a:srgbClr val="2E3033"/>
                      </a:solidFill>
                      <a:prstDash val="solid"/>
                      <a:round/>
                      <a:headEnd type="none" w="med" len="med"/>
                      <a:tailEnd type="none" w="med" len="med"/>
                    </a:lnB>
                    <a:solidFill>
                      <a:srgbClr val="0A0B0C"/>
                    </a:solidFill>
                  </a:tcPr>
                </a:tc>
                <a:tc>
                  <a:txBody>
                    <a:bodyPr/>
                    <a:lstStyle/>
                    <a:p>
                      <a:pPr marL="0" indent="0">
                        <a:buNone/>
                      </a:pPr>
                      <a:r>
                        <a:rPr lang="en-US" sz="950" dirty="0">
                          <a:solidFill>
                            <a:srgbClr val="B6B7B8"/>
                          </a:solidFill>
                          <a:latin typeface="IBM Plex Sans" pitchFamily="34" charset="0"/>
                          <a:ea typeface="IBM Plex Sans" pitchFamily="34" charset="-122"/>
                          <a:cs typeface="IBM Plex Sans" pitchFamily="34" charset="-120"/>
                        </a:rPr>
                        <a:t>Healthcare and medical imaging</a:t>
                      </a:r>
                      <a:endParaRPr lang="en-US" sz="950" dirty="0">
                        <a:latin typeface="IBM Plex Sans" charset="0"/>
                        <a:ea typeface="IBM Plex Sans" charset="0"/>
                        <a:cs typeface="IBM Plex Sans" charset="0"/>
                      </a:endParaRPr>
                    </a:p>
                  </a:txBody>
                  <a:tcPr marL="0" marT="0" marB="0" anchor="ctr">
                    <a:lnL w="0" cap="flat" cmpd="sng" algn="ctr">
                      <a:noFill/>
                    </a:lnL>
                    <a:lnR w="0" cap="flat" cmpd="sng" algn="ctr">
                      <a:noFill/>
                    </a:lnR>
                    <a:lnT w="9525" cap="flat" cmpd="sng" algn="ctr">
                      <a:solidFill>
                        <a:srgbClr val="2E3033"/>
                      </a:solidFill>
                      <a:prstDash val="solid"/>
                      <a:round/>
                      <a:headEnd type="none" w="med" len="med"/>
                      <a:tailEnd type="none" w="med" len="med"/>
                    </a:lnT>
                    <a:lnB w="9525" cap="flat" cmpd="sng" algn="ctr">
                      <a:solidFill>
                        <a:srgbClr val="2E3033"/>
                      </a:solidFill>
                      <a:prstDash val="solid"/>
                      <a:round/>
                      <a:headEnd type="none" w="med" len="med"/>
                      <a:tailEnd type="none" w="med" len="med"/>
                    </a:lnB>
                    <a:solidFill>
                      <a:srgbClr val="0A0B0C"/>
                    </a:solidFill>
                  </a:tcPr>
                </a:tc>
                <a:tc>
                  <a:txBody>
                    <a:bodyPr/>
                    <a:lstStyle/>
                    <a:p>
                      <a:pPr marL="0" indent="0">
                        <a:buNone/>
                      </a:pPr>
                      <a:r>
                        <a:rPr lang="en-US" sz="950" dirty="0">
                          <a:solidFill>
                            <a:srgbClr val="B6B7B8"/>
                          </a:solidFill>
                          <a:latin typeface="IBM Plex Sans" pitchFamily="34" charset="0"/>
                          <a:ea typeface="IBM Plex Sans" pitchFamily="34" charset="-122"/>
                          <a:cs typeface="IBM Plex Sans" pitchFamily="34" charset="-120"/>
                        </a:rPr>
                        <a:t>AI</a:t>
                      </a:r>
                      <a:endParaRPr lang="en-US" sz="950" dirty="0">
                        <a:latin typeface="IBM Plex Sans" charset="0"/>
                        <a:ea typeface="IBM Plex Sans" charset="0"/>
                        <a:cs typeface="IBM Plex Sans" charset="0"/>
                      </a:endParaRPr>
                    </a:p>
                  </a:txBody>
                  <a:tcPr marL="0" marT="0" marB="0" anchor="ctr">
                    <a:lnL w="0" cap="flat" cmpd="sng" algn="ctr">
                      <a:noFill/>
                    </a:lnL>
                    <a:lnR w="0" cap="flat" cmpd="sng" algn="ctr">
                      <a:noFill/>
                    </a:lnR>
                    <a:lnT w="9525" cap="flat" cmpd="sng" algn="ctr">
                      <a:solidFill>
                        <a:srgbClr val="2E3033"/>
                      </a:solidFill>
                      <a:prstDash val="solid"/>
                      <a:round/>
                      <a:headEnd type="none" w="med" len="med"/>
                      <a:tailEnd type="none" w="med" len="med"/>
                    </a:lnT>
                    <a:lnB w="9525" cap="flat" cmpd="sng" algn="ctr">
                      <a:solidFill>
                        <a:srgbClr val="2E3033"/>
                      </a:solidFill>
                      <a:prstDash val="solid"/>
                      <a:round/>
                      <a:headEnd type="none" w="med" len="med"/>
                      <a:tailEnd type="none" w="med" len="med"/>
                    </a:lnB>
                    <a:solidFill>
                      <a:srgbClr val="0A0B0C"/>
                    </a:solidFill>
                  </a:tcPr>
                </a:tc>
                <a:tc>
                  <a:txBody>
                    <a:bodyPr/>
                    <a:lstStyle/>
                    <a:p>
                      <a:pPr marL="0" indent="0">
                        <a:buNone/>
                      </a:pPr>
                      <a:r>
                        <a:rPr lang="en-US" sz="950" dirty="0">
                          <a:solidFill>
                            <a:srgbClr val="B6B7B8"/>
                          </a:solidFill>
                          <a:latin typeface="IBM Plex Mono" pitchFamily="34" charset="0"/>
                          <a:ea typeface="IBM Plex Mono" pitchFamily="34" charset="-122"/>
                          <a:cs typeface="IBM Plex Mono" pitchFamily="34" charset="-120"/>
                        </a:rPr>
                        <a:t>2026</a:t>
                      </a:r>
                      <a:endParaRPr lang="en-US" sz="950" dirty="0">
                        <a:latin typeface="IBM Plex Mono" charset="0"/>
                        <a:ea typeface="IBM Plex Mono" charset="0"/>
                        <a:cs typeface="IBM Plex Mono" charset="0"/>
                      </a:endParaRPr>
                    </a:p>
                  </a:txBody>
                  <a:tcPr marL="0" marT="0" marB="0" anchor="ctr">
                    <a:lnL w="0" cap="flat" cmpd="sng" algn="ctr">
                      <a:noFill/>
                    </a:lnL>
                    <a:lnR w="0" cap="flat" cmpd="sng" algn="ctr">
                      <a:noFill/>
                    </a:lnR>
                    <a:lnT w="9525" cap="flat" cmpd="sng" algn="ctr">
                      <a:solidFill>
                        <a:srgbClr val="2E3033"/>
                      </a:solidFill>
                      <a:prstDash val="solid"/>
                      <a:round/>
                      <a:headEnd type="none" w="med" len="med"/>
                      <a:tailEnd type="none" w="med" len="med"/>
                    </a:lnT>
                    <a:lnB w="9525" cap="flat" cmpd="sng" algn="ctr">
                      <a:solidFill>
                        <a:srgbClr val="2E3033"/>
                      </a:solidFill>
                      <a:prstDash val="solid"/>
                      <a:round/>
                      <a:headEnd type="none" w="med" len="med"/>
                      <a:tailEnd type="none" w="med" len="med"/>
                    </a:lnB>
                    <a:solidFill>
                      <a:srgbClr val="0A0B0C"/>
                    </a:solidFill>
                  </a:tcPr>
                </a:tc>
                <a:tc>
                  <a:txBody>
                    <a:bodyPr/>
                    <a:lstStyle/>
                    <a:p>
                      <a:pPr marL="0" indent="0">
                        <a:buNone/>
                      </a:pPr>
                      <a:r>
                        <a:rPr lang="en-US" sz="950" dirty="0">
                          <a:solidFill>
                            <a:srgbClr val="B6B7B8"/>
                          </a:solidFill>
                          <a:latin typeface="IBM Plex Sans" pitchFamily="34" charset="0"/>
                          <a:ea typeface="IBM Plex Sans" pitchFamily="34" charset="-122"/>
                          <a:cs typeface="IBM Plex Sans" pitchFamily="34" charset="-120"/>
                        </a:rPr>
                        <a:t>5 months</a:t>
                      </a:r>
                      <a:endParaRPr lang="en-US" sz="950" dirty="0">
                        <a:latin typeface="IBM Plex Sans" charset="0"/>
                        <a:ea typeface="IBM Plex Sans" charset="0"/>
                        <a:cs typeface="IBM Plex Sans" charset="0"/>
                      </a:endParaRPr>
                    </a:p>
                  </a:txBody>
                  <a:tcPr marL="0" marT="0" marB="0" anchor="ctr">
                    <a:lnL w="0" cap="flat" cmpd="sng" algn="ctr">
                      <a:noFill/>
                    </a:lnL>
                    <a:lnR w="0" cap="flat" cmpd="sng" algn="ctr">
                      <a:noFill/>
                    </a:lnR>
                    <a:lnT w="9525" cap="flat" cmpd="sng" algn="ctr">
                      <a:solidFill>
                        <a:srgbClr val="2E3033"/>
                      </a:solidFill>
                      <a:prstDash val="solid"/>
                      <a:round/>
                      <a:headEnd type="none" w="med" len="med"/>
                      <a:tailEnd type="none" w="med" len="med"/>
                    </a:lnT>
                    <a:lnB w="9525" cap="flat" cmpd="sng" algn="ctr">
                      <a:solidFill>
                        <a:srgbClr val="2E3033"/>
                      </a:solidFill>
                      <a:prstDash val="solid"/>
                      <a:round/>
                      <a:headEnd type="none" w="med" len="med"/>
                      <a:tailEnd type="none" w="med" len="med"/>
                    </a:lnB>
                    <a:solidFill>
                      <a:srgbClr val="0A0B0C"/>
                    </a:solidFill>
                  </a:tcPr>
                </a:tc>
                <a:tc>
                  <a:txBody>
                    <a:bodyPr/>
                    <a:lstStyle/>
                    <a:p>
                      <a:pPr marL="0" indent="0">
                        <a:buNone/>
                      </a:pPr>
                      <a:r>
                        <a:rPr lang="en-US" sz="950" dirty="0">
                          <a:solidFill>
                            <a:srgbClr val="B6B7B8"/>
                          </a:solidFill>
                          <a:latin typeface="IBM Plex Sans" pitchFamily="34" charset="0"/>
                          <a:ea typeface="IBM Plex Sans" pitchFamily="34" charset="-122"/>
                          <a:cs typeface="IBM Plex Sans" pitchFamily="34" charset="-120"/>
                        </a:rPr>
                        <a:t>Delivered</a:t>
                      </a:r>
                      <a:endParaRPr lang="en-US" sz="950" dirty="0">
                        <a:latin typeface="IBM Plex Sans" charset="0"/>
                        <a:ea typeface="IBM Plex Sans" charset="0"/>
                        <a:cs typeface="IBM Plex Sans" charset="0"/>
                      </a:endParaRPr>
                    </a:p>
                  </a:txBody>
                  <a:tcPr marL="0" marT="0" marB="0" anchor="ctr">
                    <a:lnL w="0" cap="flat" cmpd="sng" algn="ctr">
                      <a:noFill/>
                    </a:lnL>
                    <a:lnR w="0" cap="flat" cmpd="sng" algn="ctr">
                      <a:noFill/>
                    </a:lnR>
                    <a:lnT w="9525" cap="flat" cmpd="sng" algn="ctr">
                      <a:solidFill>
                        <a:srgbClr val="2E3033"/>
                      </a:solidFill>
                      <a:prstDash val="solid"/>
                      <a:round/>
                      <a:headEnd type="none" w="med" len="med"/>
                      <a:tailEnd type="none" w="med" len="med"/>
                    </a:lnT>
                    <a:lnB w="9525" cap="flat" cmpd="sng" algn="ctr">
                      <a:solidFill>
                        <a:srgbClr val="2E3033"/>
                      </a:solidFill>
                      <a:prstDash val="solid"/>
                      <a:round/>
                      <a:headEnd type="none" w="med" len="med"/>
                      <a:tailEnd type="none" w="med" len="med"/>
                    </a:lnB>
                    <a:solidFill>
                      <a:srgbClr val="0A0B0C"/>
                    </a:solidFill>
                  </a:tcPr>
                </a:tc>
                <a:extLst>
                  <a:ext uri="{0D108BD9-81ED-4DB2-BD59-A6C34878D82A}">
                    <a16:rowId xmlns:a16="http://schemas.microsoft.com/office/drawing/2014/main" val="10007"/>
                  </a:ext>
                </a:extLst>
              </a:tr>
              <a:tr h="301752">
                <a:tc>
                  <a:txBody>
                    <a:bodyPr/>
                    <a:lstStyle/>
                    <a:p>
                      <a:pPr marL="0" indent="0">
                        <a:buNone/>
                      </a:pPr>
                      <a:r>
                        <a:rPr lang="en-US" sz="1050" b="1" dirty="0">
                          <a:solidFill>
                            <a:srgbClr val="FFFFFF"/>
                          </a:solidFill>
                          <a:latin typeface="Space Grotesk" pitchFamily="34" charset="0"/>
                          <a:ea typeface="Space Grotesk" pitchFamily="34" charset="-122"/>
                          <a:cs typeface="Space Grotesk" pitchFamily="34" charset="-120"/>
                        </a:rPr>
                        <a:t>Bolter SIEM</a:t>
                      </a:r>
                      <a:endParaRPr lang="en-US" sz="1050" dirty="0">
                        <a:latin typeface="Space Grotesk" charset="0"/>
                        <a:ea typeface="Space Grotesk" charset="0"/>
                        <a:cs typeface="Space Grotesk" charset="0"/>
                      </a:endParaRPr>
                    </a:p>
                  </a:txBody>
                  <a:tcPr marL="0" marT="0" marB="0" anchor="ctr">
                    <a:lnL w="0" cap="flat" cmpd="sng" algn="ctr">
                      <a:noFill/>
                    </a:lnL>
                    <a:lnR w="0" cap="flat" cmpd="sng" algn="ctr">
                      <a:noFill/>
                    </a:lnR>
                    <a:lnT w="9525" cap="flat" cmpd="sng" algn="ctr">
                      <a:solidFill>
                        <a:srgbClr val="2E3033"/>
                      </a:solidFill>
                      <a:prstDash val="solid"/>
                      <a:round/>
                      <a:headEnd type="none" w="med" len="med"/>
                      <a:tailEnd type="none" w="med" len="med"/>
                    </a:lnT>
                    <a:lnB w="9525" cap="flat" cmpd="sng" algn="ctr">
                      <a:solidFill>
                        <a:srgbClr val="2E3033"/>
                      </a:solidFill>
                      <a:prstDash val="solid"/>
                      <a:round/>
                      <a:headEnd type="none" w="med" len="med"/>
                      <a:tailEnd type="none" w="med" len="med"/>
                    </a:lnB>
                    <a:solidFill>
                      <a:srgbClr val="0A0B0C"/>
                    </a:solidFill>
                  </a:tcPr>
                </a:tc>
                <a:tc>
                  <a:txBody>
                    <a:bodyPr/>
                    <a:lstStyle/>
                    <a:p>
                      <a:pPr marL="0" indent="0">
                        <a:buNone/>
                      </a:pPr>
                      <a:r>
                        <a:rPr lang="en-US" sz="950" dirty="0">
                          <a:solidFill>
                            <a:srgbClr val="B6B7B8"/>
                          </a:solidFill>
                          <a:latin typeface="IBM Plex Sans" pitchFamily="34" charset="0"/>
                          <a:ea typeface="IBM Plex Sans" pitchFamily="34" charset="-122"/>
                          <a:cs typeface="IBM Plex Sans" pitchFamily="34" charset="-120"/>
                        </a:rPr>
                        <a:t>Cybersecurity and enterprise infrastructure</a:t>
                      </a:r>
                      <a:endParaRPr lang="en-US" sz="950" dirty="0">
                        <a:latin typeface="IBM Plex Sans" charset="0"/>
                        <a:ea typeface="IBM Plex Sans" charset="0"/>
                        <a:cs typeface="IBM Plex Sans" charset="0"/>
                      </a:endParaRPr>
                    </a:p>
                  </a:txBody>
                  <a:tcPr marL="0" marT="0" marB="0" anchor="ctr">
                    <a:lnL w="0" cap="flat" cmpd="sng" algn="ctr">
                      <a:noFill/>
                    </a:lnL>
                    <a:lnR w="0" cap="flat" cmpd="sng" algn="ctr">
                      <a:noFill/>
                    </a:lnR>
                    <a:lnT w="9525" cap="flat" cmpd="sng" algn="ctr">
                      <a:solidFill>
                        <a:srgbClr val="2E3033"/>
                      </a:solidFill>
                      <a:prstDash val="solid"/>
                      <a:round/>
                      <a:headEnd type="none" w="med" len="med"/>
                      <a:tailEnd type="none" w="med" len="med"/>
                    </a:lnT>
                    <a:lnB w="9525" cap="flat" cmpd="sng" algn="ctr">
                      <a:solidFill>
                        <a:srgbClr val="2E3033"/>
                      </a:solidFill>
                      <a:prstDash val="solid"/>
                      <a:round/>
                      <a:headEnd type="none" w="med" len="med"/>
                      <a:tailEnd type="none" w="med" len="med"/>
                    </a:lnB>
                    <a:solidFill>
                      <a:srgbClr val="0A0B0C"/>
                    </a:solidFill>
                  </a:tcPr>
                </a:tc>
                <a:tc>
                  <a:txBody>
                    <a:bodyPr/>
                    <a:lstStyle/>
                    <a:p>
                      <a:pPr marL="0" indent="0">
                        <a:buNone/>
                      </a:pPr>
                      <a:r>
                        <a:rPr lang="en-US" sz="950" dirty="0">
                          <a:solidFill>
                            <a:srgbClr val="B6B7B8"/>
                          </a:solidFill>
                          <a:latin typeface="IBM Plex Sans" pitchFamily="34" charset="0"/>
                          <a:ea typeface="IBM Plex Sans" pitchFamily="34" charset="-122"/>
                          <a:cs typeface="IBM Plex Sans" pitchFamily="34" charset="-120"/>
                        </a:rPr>
                        <a:t>Cyber security</a:t>
                      </a:r>
                      <a:endParaRPr lang="en-US" sz="950" dirty="0">
                        <a:latin typeface="IBM Plex Sans" charset="0"/>
                        <a:ea typeface="IBM Plex Sans" charset="0"/>
                        <a:cs typeface="IBM Plex Sans" charset="0"/>
                      </a:endParaRPr>
                    </a:p>
                  </a:txBody>
                  <a:tcPr marL="0" marT="0" marB="0" anchor="ctr">
                    <a:lnL w="0" cap="flat" cmpd="sng" algn="ctr">
                      <a:noFill/>
                    </a:lnL>
                    <a:lnR w="0" cap="flat" cmpd="sng" algn="ctr">
                      <a:noFill/>
                    </a:lnR>
                    <a:lnT w="9525" cap="flat" cmpd="sng" algn="ctr">
                      <a:solidFill>
                        <a:srgbClr val="2E3033"/>
                      </a:solidFill>
                      <a:prstDash val="solid"/>
                      <a:round/>
                      <a:headEnd type="none" w="med" len="med"/>
                      <a:tailEnd type="none" w="med" len="med"/>
                    </a:lnT>
                    <a:lnB w="9525" cap="flat" cmpd="sng" algn="ctr">
                      <a:solidFill>
                        <a:srgbClr val="2E3033"/>
                      </a:solidFill>
                      <a:prstDash val="solid"/>
                      <a:round/>
                      <a:headEnd type="none" w="med" len="med"/>
                      <a:tailEnd type="none" w="med" len="med"/>
                    </a:lnB>
                    <a:solidFill>
                      <a:srgbClr val="0A0B0C"/>
                    </a:solidFill>
                  </a:tcPr>
                </a:tc>
                <a:tc>
                  <a:txBody>
                    <a:bodyPr/>
                    <a:lstStyle/>
                    <a:p>
                      <a:pPr marL="0" indent="0">
                        <a:buNone/>
                      </a:pPr>
                      <a:r>
                        <a:rPr lang="en-US" sz="950" dirty="0">
                          <a:solidFill>
                            <a:srgbClr val="B6B7B8"/>
                          </a:solidFill>
                          <a:latin typeface="IBM Plex Mono" pitchFamily="34" charset="0"/>
                          <a:ea typeface="IBM Plex Mono" pitchFamily="34" charset="-122"/>
                          <a:cs typeface="IBM Plex Mono" pitchFamily="34" charset="-120"/>
                        </a:rPr>
                        <a:t>2025</a:t>
                      </a:r>
                      <a:endParaRPr lang="en-US" sz="950" dirty="0">
                        <a:latin typeface="IBM Plex Mono" charset="0"/>
                        <a:ea typeface="IBM Plex Mono" charset="0"/>
                        <a:cs typeface="IBM Plex Mono" charset="0"/>
                      </a:endParaRPr>
                    </a:p>
                  </a:txBody>
                  <a:tcPr marL="0" marT="0" marB="0" anchor="ctr">
                    <a:lnL w="0" cap="flat" cmpd="sng" algn="ctr">
                      <a:noFill/>
                    </a:lnL>
                    <a:lnR w="0" cap="flat" cmpd="sng" algn="ctr">
                      <a:noFill/>
                    </a:lnR>
                    <a:lnT w="9525" cap="flat" cmpd="sng" algn="ctr">
                      <a:solidFill>
                        <a:srgbClr val="2E3033"/>
                      </a:solidFill>
                      <a:prstDash val="solid"/>
                      <a:round/>
                      <a:headEnd type="none" w="med" len="med"/>
                      <a:tailEnd type="none" w="med" len="med"/>
                    </a:lnT>
                    <a:lnB w="9525" cap="flat" cmpd="sng" algn="ctr">
                      <a:solidFill>
                        <a:srgbClr val="2E3033"/>
                      </a:solidFill>
                      <a:prstDash val="solid"/>
                      <a:round/>
                      <a:headEnd type="none" w="med" len="med"/>
                      <a:tailEnd type="none" w="med" len="med"/>
                    </a:lnB>
                    <a:solidFill>
                      <a:srgbClr val="0A0B0C"/>
                    </a:solidFill>
                  </a:tcPr>
                </a:tc>
                <a:tc>
                  <a:txBody>
                    <a:bodyPr/>
                    <a:lstStyle/>
                    <a:p>
                      <a:pPr marL="0" indent="0">
                        <a:buNone/>
                      </a:pPr>
                      <a:r>
                        <a:rPr lang="en-US" sz="950" dirty="0">
                          <a:solidFill>
                            <a:srgbClr val="B6B7B8"/>
                          </a:solidFill>
                          <a:latin typeface="IBM Plex Sans" pitchFamily="34" charset="0"/>
                          <a:ea typeface="IBM Plex Sans" pitchFamily="34" charset="-122"/>
                          <a:cs typeface="IBM Plex Sans" pitchFamily="34" charset="-120"/>
                        </a:rPr>
                        <a:t>8 months</a:t>
                      </a:r>
                      <a:endParaRPr lang="en-US" sz="950" dirty="0">
                        <a:latin typeface="IBM Plex Sans" charset="0"/>
                        <a:ea typeface="IBM Plex Sans" charset="0"/>
                        <a:cs typeface="IBM Plex Sans" charset="0"/>
                      </a:endParaRPr>
                    </a:p>
                  </a:txBody>
                  <a:tcPr marL="0" marT="0" marB="0" anchor="ctr">
                    <a:lnL w="0" cap="flat" cmpd="sng" algn="ctr">
                      <a:noFill/>
                    </a:lnL>
                    <a:lnR w="0" cap="flat" cmpd="sng" algn="ctr">
                      <a:noFill/>
                    </a:lnR>
                    <a:lnT w="9525" cap="flat" cmpd="sng" algn="ctr">
                      <a:solidFill>
                        <a:srgbClr val="2E3033"/>
                      </a:solidFill>
                      <a:prstDash val="solid"/>
                      <a:round/>
                      <a:headEnd type="none" w="med" len="med"/>
                      <a:tailEnd type="none" w="med" len="med"/>
                    </a:lnT>
                    <a:lnB w="9525" cap="flat" cmpd="sng" algn="ctr">
                      <a:solidFill>
                        <a:srgbClr val="2E3033"/>
                      </a:solidFill>
                      <a:prstDash val="solid"/>
                      <a:round/>
                      <a:headEnd type="none" w="med" len="med"/>
                      <a:tailEnd type="none" w="med" len="med"/>
                    </a:lnB>
                    <a:solidFill>
                      <a:srgbClr val="0A0B0C"/>
                    </a:solidFill>
                  </a:tcPr>
                </a:tc>
                <a:tc>
                  <a:txBody>
                    <a:bodyPr/>
                    <a:lstStyle/>
                    <a:p>
                      <a:pPr marL="0" indent="0">
                        <a:buNone/>
                      </a:pPr>
                      <a:r>
                        <a:rPr lang="en-US" sz="950" dirty="0">
                          <a:solidFill>
                            <a:srgbClr val="B6B7B8"/>
                          </a:solidFill>
                          <a:latin typeface="IBM Plex Sans" pitchFamily="34" charset="0"/>
                          <a:ea typeface="IBM Plex Sans" pitchFamily="34" charset="-122"/>
                          <a:cs typeface="IBM Plex Sans" pitchFamily="34" charset="-120"/>
                        </a:rPr>
                        <a:t>Delivered</a:t>
                      </a:r>
                      <a:endParaRPr lang="en-US" sz="950" dirty="0">
                        <a:latin typeface="IBM Plex Sans" charset="0"/>
                        <a:ea typeface="IBM Plex Sans" charset="0"/>
                        <a:cs typeface="IBM Plex Sans" charset="0"/>
                      </a:endParaRPr>
                    </a:p>
                  </a:txBody>
                  <a:tcPr marL="0" marT="0" marB="0" anchor="ctr">
                    <a:lnL w="0" cap="flat" cmpd="sng" algn="ctr">
                      <a:noFill/>
                    </a:lnL>
                    <a:lnR w="0" cap="flat" cmpd="sng" algn="ctr">
                      <a:noFill/>
                    </a:lnR>
                    <a:lnT w="9525" cap="flat" cmpd="sng" algn="ctr">
                      <a:solidFill>
                        <a:srgbClr val="2E3033"/>
                      </a:solidFill>
                      <a:prstDash val="solid"/>
                      <a:round/>
                      <a:headEnd type="none" w="med" len="med"/>
                      <a:tailEnd type="none" w="med" len="med"/>
                    </a:lnT>
                    <a:lnB w="9525" cap="flat" cmpd="sng" algn="ctr">
                      <a:solidFill>
                        <a:srgbClr val="2E3033"/>
                      </a:solidFill>
                      <a:prstDash val="solid"/>
                      <a:round/>
                      <a:headEnd type="none" w="med" len="med"/>
                      <a:tailEnd type="none" w="med" len="med"/>
                    </a:lnB>
                    <a:solidFill>
                      <a:srgbClr val="0A0B0C"/>
                    </a:solidFill>
                  </a:tcPr>
                </a:tc>
                <a:extLst>
                  <a:ext uri="{0D108BD9-81ED-4DB2-BD59-A6C34878D82A}">
                    <a16:rowId xmlns:a16="http://schemas.microsoft.com/office/drawing/2014/main" val="10008"/>
                  </a:ext>
                </a:extLst>
              </a:tr>
              <a:tr h="301752">
                <a:tc>
                  <a:txBody>
                    <a:bodyPr/>
                    <a:lstStyle/>
                    <a:p>
                      <a:pPr marL="0" indent="0">
                        <a:buNone/>
                      </a:pPr>
                      <a:r>
                        <a:rPr lang="en-US" sz="1050" b="1" dirty="0">
                          <a:solidFill>
                            <a:srgbClr val="FFFFFF"/>
                          </a:solidFill>
                          <a:latin typeface="Space Grotesk" pitchFamily="34" charset="0"/>
                          <a:ea typeface="Space Grotesk" pitchFamily="34" charset="-122"/>
                          <a:cs typeface="Space Grotesk" pitchFamily="34" charset="-120"/>
                        </a:rPr>
                        <a:t>EchoHunt</a:t>
                      </a:r>
                      <a:endParaRPr lang="en-US" sz="1050" dirty="0">
                        <a:latin typeface="Space Grotesk" charset="0"/>
                        <a:ea typeface="Space Grotesk" charset="0"/>
                        <a:cs typeface="Space Grotesk" charset="0"/>
                      </a:endParaRPr>
                    </a:p>
                  </a:txBody>
                  <a:tcPr marL="0" marT="0" marB="0" anchor="ctr">
                    <a:lnL w="0" cap="flat" cmpd="sng" algn="ctr">
                      <a:noFill/>
                    </a:lnL>
                    <a:lnR w="0" cap="flat" cmpd="sng" algn="ctr">
                      <a:noFill/>
                    </a:lnR>
                    <a:lnT w="9525" cap="flat" cmpd="sng" algn="ctr">
                      <a:solidFill>
                        <a:srgbClr val="2E3033"/>
                      </a:solidFill>
                      <a:prstDash val="solid"/>
                      <a:round/>
                      <a:headEnd type="none" w="med" len="med"/>
                      <a:tailEnd type="none" w="med" len="med"/>
                    </a:lnT>
                    <a:lnB w="9525" cap="flat" cmpd="sng" algn="ctr">
                      <a:solidFill>
                        <a:srgbClr val="2E3033"/>
                      </a:solidFill>
                      <a:prstDash val="solid"/>
                      <a:round/>
                      <a:headEnd type="none" w="med" len="med"/>
                      <a:tailEnd type="none" w="med" len="med"/>
                    </a:lnB>
                    <a:solidFill>
                      <a:srgbClr val="0A0B0C"/>
                    </a:solidFill>
                  </a:tcPr>
                </a:tc>
                <a:tc>
                  <a:txBody>
                    <a:bodyPr/>
                    <a:lstStyle/>
                    <a:p>
                      <a:pPr marL="0" indent="0">
                        <a:buNone/>
                      </a:pPr>
                      <a:r>
                        <a:rPr lang="en-US" sz="950" dirty="0">
                          <a:solidFill>
                            <a:srgbClr val="B6B7B8"/>
                          </a:solidFill>
                          <a:latin typeface="IBM Plex Sans" pitchFamily="34" charset="0"/>
                          <a:ea typeface="IBM Plex Sans" pitchFamily="34" charset="-122"/>
                          <a:cs typeface="IBM Plex Sans" pitchFamily="34" charset="-120"/>
                        </a:rPr>
                        <a:t>Government and public sector communications</a:t>
                      </a:r>
                      <a:endParaRPr lang="en-US" sz="950" dirty="0">
                        <a:latin typeface="IBM Plex Sans" charset="0"/>
                        <a:ea typeface="IBM Plex Sans" charset="0"/>
                        <a:cs typeface="IBM Plex Sans" charset="0"/>
                      </a:endParaRPr>
                    </a:p>
                  </a:txBody>
                  <a:tcPr marL="0" marT="0" marB="0" anchor="ctr">
                    <a:lnL w="0" cap="flat" cmpd="sng" algn="ctr">
                      <a:noFill/>
                    </a:lnL>
                    <a:lnR w="0" cap="flat" cmpd="sng" algn="ctr">
                      <a:noFill/>
                    </a:lnR>
                    <a:lnT w="9525" cap="flat" cmpd="sng" algn="ctr">
                      <a:solidFill>
                        <a:srgbClr val="2E3033"/>
                      </a:solidFill>
                      <a:prstDash val="solid"/>
                      <a:round/>
                      <a:headEnd type="none" w="med" len="med"/>
                      <a:tailEnd type="none" w="med" len="med"/>
                    </a:lnT>
                    <a:lnB w="9525" cap="flat" cmpd="sng" algn="ctr">
                      <a:solidFill>
                        <a:srgbClr val="2E3033"/>
                      </a:solidFill>
                      <a:prstDash val="solid"/>
                      <a:round/>
                      <a:headEnd type="none" w="med" len="med"/>
                      <a:tailEnd type="none" w="med" len="med"/>
                    </a:lnB>
                    <a:solidFill>
                      <a:srgbClr val="0A0B0C"/>
                    </a:solidFill>
                  </a:tcPr>
                </a:tc>
                <a:tc>
                  <a:txBody>
                    <a:bodyPr/>
                    <a:lstStyle/>
                    <a:p>
                      <a:pPr marL="0" indent="0">
                        <a:buNone/>
                      </a:pPr>
                      <a:r>
                        <a:rPr lang="en-US" sz="950" dirty="0">
                          <a:solidFill>
                            <a:srgbClr val="B6B7B8"/>
                          </a:solidFill>
                          <a:latin typeface="IBM Plex Sans" pitchFamily="34" charset="0"/>
                          <a:ea typeface="IBM Plex Sans" pitchFamily="34" charset="-122"/>
                          <a:cs typeface="IBM Plex Sans" pitchFamily="34" charset="-120"/>
                        </a:rPr>
                        <a:t>AI</a:t>
                      </a:r>
                      <a:endParaRPr lang="en-US" sz="950" dirty="0">
                        <a:latin typeface="IBM Plex Sans" charset="0"/>
                        <a:ea typeface="IBM Plex Sans" charset="0"/>
                        <a:cs typeface="IBM Plex Sans" charset="0"/>
                      </a:endParaRPr>
                    </a:p>
                  </a:txBody>
                  <a:tcPr marL="0" marT="0" marB="0" anchor="ctr">
                    <a:lnL w="0" cap="flat" cmpd="sng" algn="ctr">
                      <a:noFill/>
                    </a:lnL>
                    <a:lnR w="0" cap="flat" cmpd="sng" algn="ctr">
                      <a:noFill/>
                    </a:lnR>
                    <a:lnT w="9525" cap="flat" cmpd="sng" algn="ctr">
                      <a:solidFill>
                        <a:srgbClr val="2E3033"/>
                      </a:solidFill>
                      <a:prstDash val="solid"/>
                      <a:round/>
                      <a:headEnd type="none" w="med" len="med"/>
                      <a:tailEnd type="none" w="med" len="med"/>
                    </a:lnT>
                    <a:lnB w="9525" cap="flat" cmpd="sng" algn="ctr">
                      <a:solidFill>
                        <a:srgbClr val="2E3033"/>
                      </a:solidFill>
                      <a:prstDash val="solid"/>
                      <a:round/>
                      <a:headEnd type="none" w="med" len="med"/>
                      <a:tailEnd type="none" w="med" len="med"/>
                    </a:lnB>
                    <a:solidFill>
                      <a:srgbClr val="0A0B0C"/>
                    </a:solidFill>
                  </a:tcPr>
                </a:tc>
                <a:tc>
                  <a:txBody>
                    <a:bodyPr/>
                    <a:lstStyle/>
                    <a:p>
                      <a:pPr marL="0" indent="0">
                        <a:buNone/>
                      </a:pPr>
                      <a:r>
                        <a:rPr lang="en-US" sz="950" dirty="0">
                          <a:solidFill>
                            <a:srgbClr val="B6B7B8"/>
                          </a:solidFill>
                          <a:latin typeface="IBM Plex Mono" pitchFamily="34" charset="0"/>
                          <a:ea typeface="IBM Plex Mono" pitchFamily="34" charset="-122"/>
                          <a:cs typeface="IBM Plex Mono" pitchFamily="34" charset="-120"/>
                        </a:rPr>
                        <a:t>2025</a:t>
                      </a:r>
                      <a:endParaRPr lang="en-US" sz="950" dirty="0">
                        <a:latin typeface="IBM Plex Mono" charset="0"/>
                        <a:ea typeface="IBM Plex Mono" charset="0"/>
                        <a:cs typeface="IBM Plex Mono" charset="0"/>
                      </a:endParaRPr>
                    </a:p>
                  </a:txBody>
                  <a:tcPr marL="0" marT="0" marB="0" anchor="ctr">
                    <a:lnL w="0" cap="flat" cmpd="sng" algn="ctr">
                      <a:noFill/>
                    </a:lnL>
                    <a:lnR w="0" cap="flat" cmpd="sng" algn="ctr">
                      <a:noFill/>
                    </a:lnR>
                    <a:lnT w="9525" cap="flat" cmpd="sng" algn="ctr">
                      <a:solidFill>
                        <a:srgbClr val="2E3033"/>
                      </a:solidFill>
                      <a:prstDash val="solid"/>
                      <a:round/>
                      <a:headEnd type="none" w="med" len="med"/>
                      <a:tailEnd type="none" w="med" len="med"/>
                    </a:lnT>
                    <a:lnB w="9525" cap="flat" cmpd="sng" algn="ctr">
                      <a:solidFill>
                        <a:srgbClr val="2E3033"/>
                      </a:solidFill>
                      <a:prstDash val="solid"/>
                      <a:round/>
                      <a:headEnd type="none" w="med" len="med"/>
                      <a:tailEnd type="none" w="med" len="med"/>
                    </a:lnB>
                    <a:solidFill>
                      <a:srgbClr val="0A0B0C"/>
                    </a:solidFill>
                  </a:tcPr>
                </a:tc>
                <a:tc>
                  <a:txBody>
                    <a:bodyPr/>
                    <a:lstStyle/>
                    <a:p>
                      <a:pPr marL="0" indent="0">
                        <a:buNone/>
                      </a:pPr>
                      <a:r>
                        <a:rPr lang="en-US" sz="950" dirty="0">
                          <a:solidFill>
                            <a:srgbClr val="B6B7B8"/>
                          </a:solidFill>
                          <a:latin typeface="IBM Plex Sans" pitchFamily="34" charset="0"/>
                          <a:ea typeface="IBM Plex Sans" pitchFamily="34" charset="-122"/>
                          <a:cs typeface="IBM Plex Sans" pitchFamily="34" charset="-120"/>
                        </a:rPr>
                        <a:t>10 months</a:t>
                      </a:r>
                      <a:endParaRPr lang="en-US" sz="950" dirty="0">
                        <a:latin typeface="IBM Plex Sans" charset="0"/>
                        <a:ea typeface="IBM Plex Sans" charset="0"/>
                        <a:cs typeface="IBM Plex Sans" charset="0"/>
                      </a:endParaRPr>
                    </a:p>
                  </a:txBody>
                  <a:tcPr marL="0" marT="0" marB="0" anchor="ctr">
                    <a:lnL w="0" cap="flat" cmpd="sng" algn="ctr">
                      <a:noFill/>
                    </a:lnL>
                    <a:lnR w="0" cap="flat" cmpd="sng" algn="ctr">
                      <a:noFill/>
                    </a:lnR>
                    <a:lnT w="9525" cap="flat" cmpd="sng" algn="ctr">
                      <a:solidFill>
                        <a:srgbClr val="2E3033"/>
                      </a:solidFill>
                      <a:prstDash val="solid"/>
                      <a:round/>
                      <a:headEnd type="none" w="med" len="med"/>
                      <a:tailEnd type="none" w="med" len="med"/>
                    </a:lnT>
                    <a:lnB w="9525" cap="flat" cmpd="sng" algn="ctr">
                      <a:solidFill>
                        <a:srgbClr val="2E3033"/>
                      </a:solidFill>
                      <a:prstDash val="solid"/>
                      <a:round/>
                      <a:headEnd type="none" w="med" len="med"/>
                      <a:tailEnd type="none" w="med" len="med"/>
                    </a:lnB>
                    <a:solidFill>
                      <a:srgbClr val="0A0B0C"/>
                    </a:solidFill>
                  </a:tcPr>
                </a:tc>
                <a:tc>
                  <a:txBody>
                    <a:bodyPr/>
                    <a:lstStyle/>
                    <a:p>
                      <a:pPr marL="0" indent="0">
                        <a:buNone/>
                      </a:pPr>
                      <a:r>
                        <a:rPr lang="en-US" sz="950" dirty="0">
                          <a:solidFill>
                            <a:srgbClr val="B6B7B8"/>
                          </a:solidFill>
                          <a:latin typeface="IBM Plex Sans" pitchFamily="34" charset="0"/>
                          <a:ea typeface="IBM Plex Sans" pitchFamily="34" charset="-122"/>
                          <a:cs typeface="IBM Plex Sans" pitchFamily="34" charset="-120"/>
                        </a:rPr>
                        <a:t>Delivered</a:t>
                      </a:r>
                      <a:endParaRPr lang="en-US" sz="950" dirty="0">
                        <a:latin typeface="IBM Plex Sans" charset="0"/>
                        <a:ea typeface="IBM Plex Sans" charset="0"/>
                        <a:cs typeface="IBM Plex Sans" charset="0"/>
                      </a:endParaRPr>
                    </a:p>
                  </a:txBody>
                  <a:tcPr marL="0" marT="0" marB="0" anchor="ctr">
                    <a:lnL w="0" cap="flat" cmpd="sng" algn="ctr">
                      <a:noFill/>
                    </a:lnL>
                    <a:lnR w="0" cap="flat" cmpd="sng" algn="ctr">
                      <a:noFill/>
                    </a:lnR>
                    <a:lnT w="9525" cap="flat" cmpd="sng" algn="ctr">
                      <a:solidFill>
                        <a:srgbClr val="2E3033"/>
                      </a:solidFill>
                      <a:prstDash val="solid"/>
                      <a:round/>
                      <a:headEnd type="none" w="med" len="med"/>
                      <a:tailEnd type="none" w="med" len="med"/>
                    </a:lnT>
                    <a:lnB w="9525" cap="flat" cmpd="sng" algn="ctr">
                      <a:solidFill>
                        <a:srgbClr val="2E3033"/>
                      </a:solidFill>
                      <a:prstDash val="solid"/>
                      <a:round/>
                      <a:headEnd type="none" w="med" len="med"/>
                      <a:tailEnd type="none" w="med" len="med"/>
                    </a:lnB>
                    <a:solidFill>
                      <a:srgbClr val="0A0B0C"/>
                    </a:solidFill>
                  </a:tcPr>
                </a:tc>
                <a:extLst>
                  <a:ext uri="{0D108BD9-81ED-4DB2-BD59-A6C34878D82A}">
                    <a16:rowId xmlns:a16="http://schemas.microsoft.com/office/drawing/2014/main" val="10009"/>
                  </a:ext>
                </a:extLst>
              </a:tr>
              <a:tr h="301752">
                <a:tc>
                  <a:txBody>
                    <a:bodyPr/>
                    <a:lstStyle/>
                    <a:p>
                      <a:pPr marL="0" indent="0">
                        <a:buNone/>
                      </a:pPr>
                      <a:r>
                        <a:rPr lang="en-US" sz="1050" b="1" dirty="0">
                          <a:solidFill>
                            <a:srgbClr val="FFFFFF"/>
                          </a:solidFill>
                          <a:latin typeface="Space Grotesk" pitchFamily="34" charset="0"/>
                          <a:ea typeface="Space Grotesk" pitchFamily="34" charset="-122"/>
                          <a:cs typeface="Space Grotesk" pitchFamily="34" charset="-120"/>
                        </a:rPr>
                        <a:t>Enterprise Omnichannel Media &amp; Social Analytics Platform</a:t>
                      </a:r>
                      <a:endParaRPr lang="en-US" sz="1050" dirty="0">
                        <a:latin typeface="Space Grotesk" charset="0"/>
                        <a:ea typeface="Space Grotesk" charset="0"/>
                        <a:cs typeface="Space Grotesk" charset="0"/>
                      </a:endParaRPr>
                    </a:p>
                  </a:txBody>
                  <a:tcPr marL="0" marT="0" marB="0" anchor="ctr">
                    <a:lnL w="0" cap="flat" cmpd="sng" algn="ctr">
                      <a:noFill/>
                    </a:lnL>
                    <a:lnR w="0" cap="flat" cmpd="sng" algn="ctr">
                      <a:noFill/>
                    </a:lnR>
                    <a:lnT w="9525" cap="flat" cmpd="sng" algn="ctr">
                      <a:solidFill>
                        <a:srgbClr val="2E3033"/>
                      </a:solidFill>
                      <a:prstDash val="solid"/>
                      <a:round/>
                      <a:headEnd type="none" w="med" len="med"/>
                      <a:tailEnd type="none" w="med" len="med"/>
                    </a:lnT>
                    <a:lnB w="9525" cap="flat" cmpd="sng" algn="ctr">
                      <a:solidFill>
                        <a:srgbClr val="2E3033"/>
                      </a:solidFill>
                      <a:prstDash val="solid"/>
                      <a:round/>
                      <a:headEnd type="none" w="med" len="med"/>
                      <a:tailEnd type="none" w="med" len="med"/>
                    </a:lnB>
                    <a:solidFill>
                      <a:srgbClr val="0A0B0C"/>
                    </a:solidFill>
                  </a:tcPr>
                </a:tc>
                <a:tc>
                  <a:txBody>
                    <a:bodyPr/>
                    <a:lstStyle/>
                    <a:p>
                      <a:pPr marL="0" indent="0">
                        <a:buNone/>
                      </a:pPr>
                      <a:r>
                        <a:rPr lang="en-US" sz="950" dirty="0">
                          <a:solidFill>
                            <a:srgbClr val="B6B7B8"/>
                          </a:solidFill>
                          <a:latin typeface="IBM Plex Sans" pitchFamily="34" charset="0"/>
                          <a:ea typeface="IBM Plex Sans" pitchFamily="34" charset="-122"/>
                          <a:cs typeface="IBM Plex Sans" pitchFamily="34" charset="-120"/>
                        </a:rPr>
                        <a:t>Digital Media, Publishing &amp; Broadcast Telecommunications</a:t>
                      </a:r>
                      <a:endParaRPr lang="en-US" sz="950" dirty="0">
                        <a:latin typeface="IBM Plex Sans" charset="0"/>
                        <a:ea typeface="IBM Plex Sans" charset="0"/>
                        <a:cs typeface="IBM Plex Sans" charset="0"/>
                      </a:endParaRPr>
                    </a:p>
                  </a:txBody>
                  <a:tcPr marL="0" marT="0" marB="0" anchor="ctr">
                    <a:lnL w="0" cap="flat" cmpd="sng" algn="ctr">
                      <a:noFill/>
                    </a:lnL>
                    <a:lnR w="0" cap="flat" cmpd="sng" algn="ctr">
                      <a:noFill/>
                    </a:lnR>
                    <a:lnT w="9525" cap="flat" cmpd="sng" algn="ctr">
                      <a:solidFill>
                        <a:srgbClr val="2E3033"/>
                      </a:solidFill>
                      <a:prstDash val="solid"/>
                      <a:round/>
                      <a:headEnd type="none" w="med" len="med"/>
                      <a:tailEnd type="none" w="med" len="med"/>
                    </a:lnT>
                    <a:lnB w="9525" cap="flat" cmpd="sng" algn="ctr">
                      <a:solidFill>
                        <a:srgbClr val="2E3033"/>
                      </a:solidFill>
                      <a:prstDash val="solid"/>
                      <a:round/>
                      <a:headEnd type="none" w="med" len="med"/>
                      <a:tailEnd type="none" w="med" len="med"/>
                    </a:lnB>
                    <a:solidFill>
                      <a:srgbClr val="0A0B0C"/>
                    </a:solidFill>
                  </a:tcPr>
                </a:tc>
                <a:tc>
                  <a:txBody>
                    <a:bodyPr/>
                    <a:lstStyle/>
                    <a:p>
                      <a:pPr marL="0" indent="0">
                        <a:buNone/>
                      </a:pPr>
                      <a:r>
                        <a:rPr lang="en-US" sz="950" dirty="0">
                          <a:solidFill>
                            <a:srgbClr val="B6B7B8"/>
                          </a:solidFill>
                          <a:latin typeface="IBM Plex Sans" pitchFamily="34" charset="0"/>
                          <a:ea typeface="IBM Plex Sans" pitchFamily="34" charset="-122"/>
                          <a:cs typeface="IBM Plex Sans" pitchFamily="34" charset="-120"/>
                        </a:rPr>
                        <a:t>Data analytics</a:t>
                      </a:r>
                      <a:endParaRPr lang="en-US" sz="950" dirty="0">
                        <a:latin typeface="IBM Plex Sans" charset="0"/>
                        <a:ea typeface="IBM Plex Sans" charset="0"/>
                        <a:cs typeface="IBM Plex Sans" charset="0"/>
                      </a:endParaRPr>
                    </a:p>
                  </a:txBody>
                  <a:tcPr marL="0" marT="0" marB="0" anchor="ctr">
                    <a:lnL w="0" cap="flat" cmpd="sng" algn="ctr">
                      <a:noFill/>
                    </a:lnL>
                    <a:lnR w="0" cap="flat" cmpd="sng" algn="ctr">
                      <a:noFill/>
                    </a:lnR>
                    <a:lnT w="9525" cap="flat" cmpd="sng" algn="ctr">
                      <a:solidFill>
                        <a:srgbClr val="2E3033"/>
                      </a:solidFill>
                      <a:prstDash val="solid"/>
                      <a:round/>
                      <a:headEnd type="none" w="med" len="med"/>
                      <a:tailEnd type="none" w="med" len="med"/>
                    </a:lnT>
                    <a:lnB w="9525" cap="flat" cmpd="sng" algn="ctr">
                      <a:solidFill>
                        <a:srgbClr val="2E3033"/>
                      </a:solidFill>
                      <a:prstDash val="solid"/>
                      <a:round/>
                      <a:headEnd type="none" w="med" len="med"/>
                      <a:tailEnd type="none" w="med" len="med"/>
                    </a:lnB>
                    <a:solidFill>
                      <a:srgbClr val="0A0B0C"/>
                    </a:solidFill>
                  </a:tcPr>
                </a:tc>
                <a:tc>
                  <a:txBody>
                    <a:bodyPr/>
                    <a:lstStyle/>
                    <a:p>
                      <a:pPr marL="0" indent="0">
                        <a:buNone/>
                      </a:pPr>
                      <a:r>
                        <a:rPr lang="en-US" sz="950" dirty="0">
                          <a:solidFill>
                            <a:srgbClr val="B6B7B8"/>
                          </a:solidFill>
                          <a:latin typeface="IBM Plex Mono" pitchFamily="34" charset="0"/>
                          <a:ea typeface="IBM Plex Mono" pitchFamily="34" charset="-122"/>
                          <a:cs typeface="IBM Plex Mono" pitchFamily="34" charset="-120"/>
                        </a:rPr>
                        <a:t>2025</a:t>
                      </a:r>
                      <a:endParaRPr lang="en-US" sz="950" dirty="0">
                        <a:latin typeface="IBM Plex Mono" charset="0"/>
                        <a:ea typeface="IBM Plex Mono" charset="0"/>
                        <a:cs typeface="IBM Plex Mono" charset="0"/>
                      </a:endParaRPr>
                    </a:p>
                  </a:txBody>
                  <a:tcPr marL="0" marT="0" marB="0" anchor="ctr">
                    <a:lnL w="0" cap="flat" cmpd="sng" algn="ctr">
                      <a:noFill/>
                    </a:lnL>
                    <a:lnR w="0" cap="flat" cmpd="sng" algn="ctr">
                      <a:noFill/>
                    </a:lnR>
                    <a:lnT w="9525" cap="flat" cmpd="sng" algn="ctr">
                      <a:solidFill>
                        <a:srgbClr val="2E3033"/>
                      </a:solidFill>
                      <a:prstDash val="solid"/>
                      <a:round/>
                      <a:headEnd type="none" w="med" len="med"/>
                      <a:tailEnd type="none" w="med" len="med"/>
                    </a:lnT>
                    <a:lnB w="9525" cap="flat" cmpd="sng" algn="ctr">
                      <a:solidFill>
                        <a:srgbClr val="2E3033"/>
                      </a:solidFill>
                      <a:prstDash val="solid"/>
                      <a:round/>
                      <a:headEnd type="none" w="med" len="med"/>
                      <a:tailEnd type="none" w="med" len="med"/>
                    </a:lnB>
                    <a:solidFill>
                      <a:srgbClr val="0A0B0C"/>
                    </a:solidFill>
                  </a:tcPr>
                </a:tc>
                <a:tc>
                  <a:txBody>
                    <a:bodyPr/>
                    <a:lstStyle/>
                    <a:p>
                      <a:pPr marL="0" indent="0">
                        <a:buNone/>
                      </a:pPr>
                      <a:r>
                        <a:rPr lang="en-US" sz="950" dirty="0">
                          <a:solidFill>
                            <a:srgbClr val="B6B7B8"/>
                          </a:solidFill>
                          <a:latin typeface="IBM Plex Sans" pitchFamily="34" charset="0"/>
                          <a:ea typeface="IBM Plex Sans" pitchFamily="34" charset="-122"/>
                          <a:cs typeface="IBM Plex Sans" pitchFamily="34" charset="-120"/>
                        </a:rPr>
                        <a:t>9 weeks</a:t>
                      </a:r>
                      <a:endParaRPr lang="en-US" sz="950" dirty="0">
                        <a:latin typeface="IBM Plex Sans" charset="0"/>
                        <a:ea typeface="IBM Plex Sans" charset="0"/>
                        <a:cs typeface="IBM Plex Sans" charset="0"/>
                      </a:endParaRPr>
                    </a:p>
                  </a:txBody>
                  <a:tcPr marL="0" marT="0" marB="0" anchor="ctr">
                    <a:lnL w="0" cap="flat" cmpd="sng" algn="ctr">
                      <a:noFill/>
                    </a:lnL>
                    <a:lnR w="0" cap="flat" cmpd="sng" algn="ctr">
                      <a:noFill/>
                    </a:lnR>
                    <a:lnT w="9525" cap="flat" cmpd="sng" algn="ctr">
                      <a:solidFill>
                        <a:srgbClr val="2E3033"/>
                      </a:solidFill>
                      <a:prstDash val="solid"/>
                      <a:round/>
                      <a:headEnd type="none" w="med" len="med"/>
                      <a:tailEnd type="none" w="med" len="med"/>
                    </a:lnT>
                    <a:lnB w="9525" cap="flat" cmpd="sng" algn="ctr">
                      <a:solidFill>
                        <a:srgbClr val="2E3033"/>
                      </a:solidFill>
                      <a:prstDash val="solid"/>
                      <a:round/>
                      <a:headEnd type="none" w="med" len="med"/>
                      <a:tailEnd type="none" w="med" len="med"/>
                    </a:lnB>
                    <a:solidFill>
                      <a:srgbClr val="0A0B0C"/>
                    </a:solidFill>
                  </a:tcPr>
                </a:tc>
                <a:tc>
                  <a:txBody>
                    <a:bodyPr/>
                    <a:lstStyle/>
                    <a:p>
                      <a:pPr marL="0" indent="0">
                        <a:buNone/>
                      </a:pPr>
                      <a:r>
                        <a:rPr lang="en-US" sz="950" dirty="0">
                          <a:solidFill>
                            <a:srgbClr val="B6B7B8"/>
                          </a:solidFill>
                          <a:latin typeface="IBM Plex Sans" pitchFamily="34" charset="0"/>
                          <a:ea typeface="IBM Plex Sans" pitchFamily="34" charset="-122"/>
                          <a:cs typeface="IBM Plex Sans" pitchFamily="34" charset="-120"/>
                        </a:rPr>
                        <a:t>Delivered</a:t>
                      </a:r>
                      <a:endParaRPr lang="en-US" sz="950" dirty="0">
                        <a:latin typeface="IBM Plex Sans" charset="0"/>
                        <a:ea typeface="IBM Plex Sans" charset="0"/>
                        <a:cs typeface="IBM Plex Sans" charset="0"/>
                      </a:endParaRPr>
                    </a:p>
                  </a:txBody>
                  <a:tcPr marL="0" marT="0" marB="0" anchor="ctr">
                    <a:lnL w="0" cap="flat" cmpd="sng" algn="ctr">
                      <a:noFill/>
                    </a:lnL>
                    <a:lnR w="0" cap="flat" cmpd="sng" algn="ctr">
                      <a:noFill/>
                    </a:lnR>
                    <a:lnT w="9525" cap="flat" cmpd="sng" algn="ctr">
                      <a:solidFill>
                        <a:srgbClr val="2E3033"/>
                      </a:solidFill>
                      <a:prstDash val="solid"/>
                      <a:round/>
                      <a:headEnd type="none" w="med" len="med"/>
                      <a:tailEnd type="none" w="med" len="med"/>
                    </a:lnT>
                    <a:lnB w="9525" cap="flat" cmpd="sng" algn="ctr">
                      <a:solidFill>
                        <a:srgbClr val="2E3033"/>
                      </a:solidFill>
                      <a:prstDash val="solid"/>
                      <a:round/>
                      <a:headEnd type="none" w="med" len="med"/>
                      <a:tailEnd type="none" w="med" len="med"/>
                    </a:lnB>
                    <a:solidFill>
                      <a:srgbClr val="0A0B0C"/>
                    </a:solidFill>
                  </a:tcPr>
                </a:tc>
                <a:extLst>
                  <a:ext uri="{0D108BD9-81ED-4DB2-BD59-A6C34878D82A}">
                    <a16:rowId xmlns:a16="http://schemas.microsoft.com/office/drawing/2014/main" val="10010"/>
                  </a:ext>
                </a:extLst>
              </a:tr>
              <a:tr h="301752">
                <a:tc>
                  <a:txBody>
                    <a:bodyPr/>
                    <a:lstStyle/>
                    <a:p>
                      <a:pPr marL="0" indent="0">
                        <a:buNone/>
                      </a:pPr>
                      <a:r>
                        <a:rPr lang="en-US" sz="1050" b="1" dirty="0">
                          <a:solidFill>
                            <a:srgbClr val="FFFFFF"/>
                          </a:solidFill>
                          <a:latin typeface="Space Grotesk" pitchFamily="34" charset="0"/>
                          <a:ea typeface="Space Grotesk" pitchFamily="34" charset="-122"/>
                          <a:cs typeface="Space Grotesk" pitchFamily="34" charset="-120"/>
                        </a:rPr>
                        <a:t>Threat intelligence and adversary tracking platform</a:t>
                      </a:r>
                      <a:endParaRPr lang="en-US" sz="1050" dirty="0">
                        <a:latin typeface="Space Grotesk" charset="0"/>
                        <a:ea typeface="Space Grotesk" charset="0"/>
                        <a:cs typeface="Space Grotesk" charset="0"/>
                      </a:endParaRPr>
                    </a:p>
                  </a:txBody>
                  <a:tcPr marL="0" marT="0" marB="0" anchor="ctr">
                    <a:lnL w="0" cap="flat" cmpd="sng" algn="ctr">
                      <a:noFill/>
                    </a:lnL>
                    <a:lnR w="0" cap="flat" cmpd="sng" algn="ctr">
                      <a:noFill/>
                    </a:lnR>
                    <a:lnT w="9525" cap="flat" cmpd="sng" algn="ctr">
                      <a:solidFill>
                        <a:srgbClr val="2E3033"/>
                      </a:solidFill>
                      <a:prstDash val="solid"/>
                      <a:round/>
                      <a:headEnd type="none" w="med" len="med"/>
                      <a:tailEnd type="none" w="med" len="med"/>
                    </a:lnT>
                    <a:lnB w="9525" cap="flat" cmpd="sng" algn="ctr">
                      <a:solidFill>
                        <a:srgbClr val="2E3033"/>
                      </a:solidFill>
                      <a:prstDash val="solid"/>
                      <a:round/>
                      <a:headEnd type="none" w="med" len="med"/>
                      <a:tailEnd type="none" w="med" len="med"/>
                    </a:lnB>
                    <a:solidFill>
                      <a:srgbClr val="0A0B0C"/>
                    </a:solidFill>
                  </a:tcPr>
                </a:tc>
                <a:tc>
                  <a:txBody>
                    <a:bodyPr/>
                    <a:lstStyle/>
                    <a:p>
                      <a:pPr marL="0" indent="0">
                        <a:buNone/>
                      </a:pPr>
                      <a:r>
                        <a:rPr lang="en-US" sz="950" dirty="0">
                          <a:solidFill>
                            <a:srgbClr val="B6B7B8"/>
                          </a:solidFill>
                          <a:latin typeface="IBM Plex Sans" pitchFamily="34" charset="0"/>
                          <a:ea typeface="IBM Plex Sans" pitchFamily="34" charset="-122"/>
                          <a:cs typeface="IBM Plex Sans" pitchFamily="34" charset="-120"/>
                        </a:rPr>
                        <a:t>Cybersecurity and defence</a:t>
                      </a:r>
                      <a:endParaRPr lang="en-US" sz="950" dirty="0">
                        <a:latin typeface="IBM Plex Sans" charset="0"/>
                        <a:ea typeface="IBM Plex Sans" charset="0"/>
                        <a:cs typeface="IBM Plex Sans" charset="0"/>
                      </a:endParaRPr>
                    </a:p>
                  </a:txBody>
                  <a:tcPr marL="0" marT="0" marB="0" anchor="ctr">
                    <a:lnL w="0" cap="flat" cmpd="sng" algn="ctr">
                      <a:noFill/>
                    </a:lnL>
                    <a:lnR w="0" cap="flat" cmpd="sng" algn="ctr">
                      <a:noFill/>
                    </a:lnR>
                    <a:lnT w="9525" cap="flat" cmpd="sng" algn="ctr">
                      <a:solidFill>
                        <a:srgbClr val="2E3033"/>
                      </a:solidFill>
                      <a:prstDash val="solid"/>
                      <a:round/>
                      <a:headEnd type="none" w="med" len="med"/>
                      <a:tailEnd type="none" w="med" len="med"/>
                    </a:lnT>
                    <a:lnB w="9525" cap="flat" cmpd="sng" algn="ctr">
                      <a:solidFill>
                        <a:srgbClr val="2E3033"/>
                      </a:solidFill>
                      <a:prstDash val="solid"/>
                      <a:round/>
                      <a:headEnd type="none" w="med" len="med"/>
                      <a:tailEnd type="none" w="med" len="med"/>
                    </a:lnB>
                    <a:solidFill>
                      <a:srgbClr val="0A0B0C"/>
                    </a:solidFill>
                  </a:tcPr>
                </a:tc>
                <a:tc>
                  <a:txBody>
                    <a:bodyPr/>
                    <a:lstStyle/>
                    <a:p>
                      <a:pPr marL="0" indent="0">
                        <a:buNone/>
                      </a:pPr>
                      <a:r>
                        <a:rPr lang="en-US" sz="950" dirty="0">
                          <a:solidFill>
                            <a:srgbClr val="B6B7B8"/>
                          </a:solidFill>
                          <a:latin typeface="IBM Plex Sans" pitchFamily="34" charset="0"/>
                          <a:ea typeface="IBM Plex Sans" pitchFamily="34" charset="-122"/>
                          <a:cs typeface="IBM Plex Sans" pitchFamily="34" charset="-120"/>
                        </a:rPr>
                        <a:t>Cyber security</a:t>
                      </a:r>
                      <a:endParaRPr lang="en-US" sz="950" dirty="0">
                        <a:latin typeface="IBM Plex Sans" charset="0"/>
                        <a:ea typeface="IBM Plex Sans" charset="0"/>
                        <a:cs typeface="IBM Plex Sans" charset="0"/>
                      </a:endParaRPr>
                    </a:p>
                  </a:txBody>
                  <a:tcPr marL="0" marT="0" marB="0" anchor="ctr">
                    <a:lnL w="0" cap="flat" cmpd="sng" algn="ctr">
                      <a:noFill/>
                    </a:lnL>
                    <a:lnR w="0" cap="flat" cmpd="sng" algn="ctr">
                      <a:noFill/>
                    </a:lnR>
                    <a:lnT w="9525" cap="flat" cmpd="sng" algn="ctr">
                      <a:solidFill>
                        <a:srgbClr val="2E3033"/>
                      </a:solidFill>
                      <a:prstDash val="solid"/>
                      <a:round/>
                      <a:headEnd type="none" w="med" len="med"/>
                      <a:tailEnd type="none" w="med" len="med"/>
                    </a:lnT>
                    <a:lnB w="9525" cap="flat" cmpd="sng" algn="ctr">
                      <a:solidFill>
                        <a:srgbClr val="2E3033"/>
                      </a:solidFill>
                      <a:prstDash val="solid"/>
                      <a:round/>
                      <a:headEnd type="none" w="med" len="med"/>
                      <a:tailEnd type="none" w="med" len="med"/>
                    </a:lnB>
                    <a:solidFill>
                      <a:srgbClr val="0A0B0C"/>
                    </a:solidFill>
                  </a:tcPr>
                </a:tc>
                <a:tc>
                  <a:txBody>
                    <a:bodyPr/>
                    <a:lstStyle/>
                    <a:p>
                      <a:pPr marL="0" indent="0">
                        <a:buNone/>
                      </a:pPr>
                      <a:r>
                        <a:rPr lang="en-US" sz="950" dirty="0">
                          <a:solidFill>
                            <a:srgbClr val="B6B7B8"/>
                          </a:solidFill>
                          <a:latin typeface="IBM Plex Mono" pitchFamily="34" charset="0"/>
                          <a:ea typeface="IBM Plex Mono" pitchFamily="34" charset="-122"/>
                          <a:cs typeface="IBM Plex Mono" pitchFamily="34" charset="-120"/>
                        </a:rPr>
                        <a:t>2025</a:t>
                      </a:r>
                      <a:endParaRPr lang="en-US" sz="950" dirty="0">
                        <a:latin typeface="IBM Plex Mono" charset="0"/>
                        <a:ea typeface="IBM Plex Mono" charset="0"/>
                        <a:cs typeface="IBM Plex Mono" charset="0"/>
                      </a:endParaRPr>
                    </a:p>
                  </a:txBody>
                  <a:tcPr marL="0" marT="0" marB="0" anchor="ctr">
                    <a:lnL w="0" cap="flat" cmpd="sng" algn="ctr">
                      <a:noFill/>
                    </a:lnL>
                    <a:lnR w="0" cap="flat" cmpd="sng" algn="ctr">
                      <a:noFill/>
                    </a:lnR>
                    <a:lnT w="9525" cap="flat" cmpd="sng" algn="ctr">
                      <a:solidFill>
                        <a:srgbClr val="2E3033"/>
                      </a:solidFill>
                      <a:prstDash val="solid"/>
                      <a:round/>
                      <a:headEnd type="none" w="med" len="med"/>
                      <a:tailEnd type="none" w="med" len="med"/>
                    </a:lnT>
                    <a:lnB w="9525" cap="flat" cmpd="sng" algn="ctr">
                      <a:solidFill>
                        <a:srgbClr val="2E3033"/>
                      </a:solidFill>
                      <a:prstDash val="solid"/>
                      <a:round/>
                      <a:headEnd type="none" w="med" len="med"/>
                      <a:tailEnd type="none" w="med" len="med"/>
                    </a:lnB>
                    <a:solidFill>
                      <a:srgbClr val="0A0B0C"/>
                    </a:solidFill>
                  </a:tcPr>
                </a:tc>
                <a:tc>
                  <a:txBody>
                    <a:bodyPr/>
                    <a:lstStyle/>
                    <a:p>
                      <a:pPr marL="0" indent="0">
                        <a:buNone/>
                      </a:pPr>
                      <a:r>
                        <a:rPr lang="en-US" sz="950" dirty="0">
                          <a:solidFill>
                            <a:srgbClr val="B6B7B8"/>
                          </a:solidFill>
                          <a:latin typeface="IBM Plex Sans" pitchFamily="34" charset="0"/>
                          <a:ea typeface="IBM Plex Sans" pitchFamily="34" charset="-122"/>
                          <a:cs typeface="IBM Plex Sans" pitchFamily="34" charset="-120"/>
                        </a:rPr>
                        <a:t>8 months</a:t>
                      </a:r>
                      <a:endParaRPr lang="en-US" sz="950" dirty="0">
                        <a:latin typeface="IBM Plex Sans" charset="0"/>
                        <a:ea typeface="IBM Plex Sans" charset="0"/>
                        <a:cs typeface="IBM Plex Sans" charset="0"/>
                      </a:endParaRPr>
                    </a:p>
                  </a:txBody>
                  <a:tcPr marL="0" marT="0" marB="0" anchor="ctr">
                    <a:lnL w="0" cap="flat" cmpd="sng" algn="ctr">
                      <a:noFill/>
                    </a:lnL>
                    <a:lnR w="0" cap="flat" cmpd="sng" algn="ctr">
                      <a:noFill/>
                    </a:lnR>
                    <a:lnT w="9525" cap="flat" cmpd="sng" algn="ctr">
                      <a:solidFill>
                        <a:srgbClr val="2E3033"/>
                      </a:solidFill>
                      <a:prstDash val="solid"/>
                      <a:round/>
                      <a:headEnd type="none" w="med" len="med"/>
                      <a:tailEnd type="none" w="med" len="med"/>
                    </a:lnT>
                    <a:lnB w="9525" cap="flat" cmpd="sng" algn="ctr">
                      <a:solidFill>
                        <a:srgbClr val="2E3033"/>
                      </a:solidFill>
                      <a:prstDash val="solid"/>
                      <a:round/>
                      <a:headEnd type="none" w="med" len="med"/>
                      <a:tailEnd type="none" w="med" len="med"/>
                    </a:lnB>
                    <a:solidFill>
                      <a:srgbClr val="0A0B0C"/>
                    </a:solidFill>
                  </a:tcPr>
                </a:tc>
                <a:tc>
                  <a:txBody>
                    <a:bodyPr/>
                    <a:lstStyle/>
                    <a:p>
                      <a:pPr marL="0" indent="0">
                        <a:buNone/>
                      </a:pPr>
                      <a:r>
                        <a:rPr lang="en-US" sz="950" dirty="0">
                          <a:solidFill>
                            <a:srgbClr val="B6B7B8"/>
                          </a:solidFill>
                          <a:latin typeface="IBM Plex Sans" pitchFamily="34" charset="0"/>
                          <a:ea typeface="IBM Plex Sans" pitchFamily="34" charset="-122"/>
                          <a:cs typeface="IBM Plex Sans" pitchFamily="34" charset="-120"/>
                        </a:rPr>
                        <a:t>Delivered</a:t>
                      </a:r>
                      <a:endParaRPr lang="en-US" sz="950" dirty="0">
                        <a:latin typeface="IBM Plex Sans" charset="0"/>
                        <a:ea typeface="IBM Plex Sans" charset="0"/>
                        <a:cs typeface="IBM Plex Sans" charset="0"/>
                      </a:endParaRPr>
                    </a:p>
                  </a:txBody>
                  <a:tcPr marL="0" marT="0" marB="0" anchor="ctr">
                    <a:lnL w="0" cap="flat" cmpd="sng" algn="ctr">
                      <a:noFill/>
                    </a:lnL>
                    <a:lnR w="0" cap="flat" cmpd="sng" algn="ctr">
                      <a:noFill/>
                    </a:lnR>
                    <a:lnT w="9525" cap="flat" cmpd="sng" algn="ctr">
                      <a:solidFill>
                        <a:srgbClr val="2E3033"/>
                      </a:solidFill>
                      <a:prstDash val="solid"/>
                      <a:round/>
                      <a:headEnd type="none" w="med" len="med"/>
                      <a:tailEnd type="none" w="med" len="med"/>
                    </a:lnT>
                    <a:lnB w="9525" cap="flat" cmpd="sng" algn="ctr">
                      <a:solidFill>
                        <a:srgbClr val="2E3033"/>
                      </a:solidFill>
                      <a:prstDash val="solid"/>
                      <a:round/>
                      <a:headEnd type="none" w="med" len="med"/>
                      <a:tailEnd type="none" w="med" len="med"/>
                    </a:lnB>
                    <a:solidFill>
                      <a:srgbClr val="0A0B0C"/>
                    </a:solidFill>
                  </a:tcPr>
                </a:tc>
                <a:extLst>
                  <a:ext uri="{0D108BD9-81ED-4DB2-BD59-A6C34878D82A}">
                    <a16:rowId xmlns:a16="http://schemas.microsoft.com/office/drawing/2014/main" val="10011"/>
                  </a:ext>
                </a:extLst>
              </a:tr>
              <a:tr h="301752">
                <a:tc>
                  <a:txBody>
                    <a:bodyPr/>
                    <a:lstStyle/>
                    <a:p>
                      <a:pPr marL="0" indent="0">
                        <a:buNone/>
                      </a:pPr>
                      <a:r>
                        <a:rPr lang="en-US" sz="1050" b="1" dirty="0">
                          <a:solidFill>
                            <a:srgbClr val="FFFFFF"/>
                          </a:solidFill>
                          <a:latin typeface="Space Grotesk" pitchFamily="34" charset="0"/>
                          <a:ea typeface="Space Grotesk" pitchFamily="34" charset="-122"/>
                          <a:cs typeface="Space Grotesk" pitchFamily="34" charset="-120"/>
                        </a:rPr>
                        <a:t>Zenith</a:t>
                      </a:r>
                      <a:endParaRPr lang="en-US" sz="1050" dirty="0">
                        <a:latin typeface="Space Grotesk" charset="0"/>
                        <a:ea typeface="Space Grotesk" charset="0"/>
                        <a:cs typeface="Space Grotesk" charset="0"/>
                      </a:endParaRPr>
                    </a:p>
                  </a:txBody>
                  <a:tcPr marL="0" marT="0" marB="0" anchor="ctr">
                    <a:lnL w="0" cap="flat" cmpd="sng" algn="ctr">
                      <a:noFill/>
                    </a:lnL>
                    <a:lnR w="0" cap="flat" cmpd="sng" algn="ctr">
                      <a:noFill/>
                    </a:lnR>
                    <a:lnT w="9525" cap="flat" cmpd="sng" algn="ctr">
                      <a:solidFill>
                        <a:srgbClr val="2E3033"/>
                      </a:solidFill>
                      <a:prstDash val="solid"/>
                      <a:round/>
                      <a:headEnd type="none" w="med" len="med"/>
                      <a:tailEnd type="none" w="med" len="med"/>
                    </a:lnT>
                    <a:lnB w="9525" cap="flat" cmpd="sng" algn="ctr">
                      <a:solidFill>
                        <a:srgbClr val="2E3033"/>
                      </a:solidFill>
                      <a:prstDash val="solid"/>
                      <a:round/>
                      <a:headEnd type="none" w="med" len="med"/>
                      <a:tailEnd type="none" w="med" len="med"/>
                    </a:lnB>
                    <a:solidFill>
                      <a:srgbClr val="0A0B0C"/>
                    </a:solidFill>
                  </a:tcPr>
                </a:tc>
                <a:tc>
                  <a:txBody>
                    <a:bodyPr/>
                    <a:lstStyle/>
                    <a:p>
                      <a:pPr marL="0" indent="0">
                        <a:buNone/>
                      </a:pPr>
                      <a:r>
                        <a:rPr lang="en-US" sz="950" dirty="0">
                          <a:solidFill>
                            <a:srgbClr val="B6B7B8"/>
                          </a:solidFill>
                          <a:latin typeface="IBM Plex Sans" pitchFamily="34" charset="0"/>
                          <a:ea typeface="IBM Plex Sans" pitchFamily="34" charset="-122"/>
                          <a:cs typeface="IBM Plex Sans" pitchFamily="34" charset="-120"/>
                        </a:rPr>
                        <a:t>Digital publishing</a:t>
                      </a:r>
                      <a:endParaRPr lang="en-US" sz="950" dirty="0">
                        <a:latin typeface="IBM Plex Sans" charset="0"/>
                        <a:ea typeface="IBM Plex Sans" charset="0"/>
                        <a:cs typeface="IBM Plex Sans" charset="0"/>
                      </a:endParaRPr>
                    </a:p>
                  </a:txBody>
                  <a:tcPr marL="0" marT="0" marB="0" anchor="ctr">
                    <a:lnL w="0" cap="flat" cmpd="sng" algn="ctr">
                      <a:noFill/>
                    </a:lnL>
                    <a:lnR w="0" cap="flat" cmpd="sng" algn="ctr">
                      <a:noFill/>
                    </a:lnR>
                    <a:lnT w="9525" cap="flat" cmpd="sng" algn="ctr">
                      <a:solidFill>
                        <a:srgbClr val="2E3033"/>
                      </a:solidFill>
                      <a:prstDash val="solid"/>
                      <a:round/>
                      <a:headEnd type="none" w="med" len="med"/>
                      <a:tailEnd type="none" w="med" len="med"/>
                    </a:lnT>
                    <a:lnB w="9525" cap="flat" cmpd="sng" algn="ctr">
                      <a:solidFill>
                        <a:srgbClr val="2E3033"/>
                      </a:solidFill>
                      <a:prstDash val="solid"/>
                      <a:round/>
                      <a:headEnd type="none" w="med" len="med"/>
                      <a:tailEnd type="none" w="med" len="med"/>
                    </a:lnB>
                    <a:solidFill>
                      <a:srgbClr val="0A0B0C"/>
                    </a:solidFill>
                  </a:tcPr>
                </a:tc>
                <a:tc>
                  <a:txBody>
                    <a:bodyPr/>
                    <a:lstStyle/>
                    <a:p>
                      <a:pPr marL="0" indent="0">
                        <a:buNone/>
                      </a:pPr>
                      <a:r>
                        <a:rPr lang="en-US" sz="950" dirty="0">
                          <a:solidFill>
                            <a:srgbClr val="B6B7B8"/>
                          </a:solidFill>
                          <a:latin typeface="IBM Plex Sans" pitchFamily="34" charset="0"/>
                          <a:ea typeface="IBM Plex Sans" pitchFamily="34" charset="-122"/>
                          <a:cs typeface="IBM Plex Sans" pitchFamily="34" charset="-120"/>
                        </a:rPr>
                        <a:t>Software</a:t>
                      </a:r>
                      <a:endParaRPr lang="en-US" sz="950" dirty="0">
                        <a:latin typeface="IBM Plex Sans" charset="0"/>
                        <a:ea typeface="IBM Plex Sans" charset="0"/>
                        <a:cs typeface="IBM Plex Sans" charset="0"/>
                      </a:endParaRPr>
                    </a:p>
                  </a:txBody>
                  <a:tcPr marL="0" marT="0" marB="0" anchor="ctr">
                    <a:lnL w="0" cap="flat" cmpd="sng" algn="ctr">
                      <a:noFill/>
                    </a:lnL>
                    <a:lnR w="0" cap="flat" cmpd="sng" algn="ctr">
                      <a:noFill/>
                    </a:lnR>
                    <a:lnT w="9525" cap="flat" cmpd="sng" algn="ctr">
                      <a:solidFill>
                        <a:srgbClr val="2E3033"/>
                      </a:solidFill>
                      <a:prstDash val="solid"/>
                      <a:round/>
                      <a:headEnd type="none" w="med" len="med"/>
                      <a:tailEnd type="none" w="med" len="med"/>
                    </a:lnT>
                    <a:lnB w="9525" cap="flat" cmpd="sng" algn="ctr">
                      <a:solidFill>
                        <a:srgbClr val="2E3033"/>
                      </a:solidFill>
                      <a:prstDash val="solid"/>
                      <a:round/>
                      <a:headEnd type="none" w="med" len="med"/>
                      <a:tailEnd type="none" w="med" len="med"/>
                    </a:lnB>
                    <a:solidFill>
                      <a:srgbClr val="0A0B0C"/>
                    </a:solidFill>
                  </a:tcPr>
                </a:tc>
                <a:tc>
                  <a:txBody>
                    <a:bodyPr/>
                    <a:lstStyle/>
                    <a:p>
                      <a:pPr marL="0" indent="0">
                        <a:buNone/>
                      </a:pPr>
                      <a:r>
                        <a:rPr lang="en-US" sz="950" dirty="0">
                          <a:solidFill>
                            <a:srgbClr val="B6B7B8"/>
                          </a:solidFill>
                          <a:latin typeface="IBM Plex Mono" pitchFamily="34" charset="0"/>
                          <a:ea typeface="IBM Plex Mono" pitchFamily="34" charset="-122"/>
                          <a:cs typeface="IBM Plex Mono" pitchFamily="34" charset="-120"/>
                        </a:rPr>
                        <a:t>2025</a:t>
                      </a:r>
                      <a:endParaRPr lang="en-US" sz="950" dirty="0">
                        <a:latin typeface="IBM Plex Mono" charset="0"/>
                        <a:ea typeface="IBM Plex Mono" charset="0"/>
                        <a:cs typeface="IBM Plex Mono" charset="0"/>
                      </a:endParaRPr>
                    </a:p>
                  </a:txBody>
                  <a:tcPr marL="0" marT="0" marB="0" anchor="ctr">
                    <a:lnL w="0" cap="flat" cmpd="sng" algn="ctr">
                      <a:noFill/>
                    </a:lnL>
                    <a:lnR w="0" cap="flat" cmpd="sng" algn="ctr">
                      <a:noFill/>
                    </a:lnR>
                    <a:lnT w="9525" cap="flat" cmpd="sng" algn="ctr">
                      <a:solidFill>
                        <a:srgbClr val="2E3033"/>
                      </a:solidFill>
                      <a:prstDash val="solid"/>
                      <a:round/>
                      <a:headEnd type="none" w="med" len="med"/>
                      <a:tailEnd type="none" w="med" len="med"/>
                    </a:lnT>
                    <a:lnB w="9525" cap="flat" cmpd="sng" algn="ctr">
                      <a:solidFill>
                        <a:srgbClr val="2E3033"/>
                      </a:solidFill>
                      <a:prstDash val="solid"/>
                      <a:round/>
                      <a:headEnd type="none" w="med" len="med"/>
                      <a:tailEnd type="none" w="med" len="med"/>
                    </a:lnB>
                    <a:solidFill>
                      <a:srgbClr val="0A0B0C"/>
                    </a:solidFill>
                  </a:tcPr>
                </a:tc>
                <a:tc>
                  <a:txBody>
                    <a:bodyPr/>
                    <a:lstStyle/>
                    <a:p>
                      <a:pPr marL="0" indent="0">
                        <a:buNone/>
                      </a:pPr>
                      <a:r>
                        <a:rPr lang="en-US" sz="950" dirty="0">
                          <a:solidFill>
                            <a:srgbClr val="B6B7B8"/>
                          </a:solidFill>
                          <a:latin typeface="IBM Plex Sans" pitchFamily="34" charset="0"/>
                          <a:ea typeface="IBM Plex Sans" pitchFamily="34" charset="-122"/>
                          <a:cs typeface="IBM Plex Sans" pitchFamily="34" charset="-120"/>
                        </a:rPr>
                        <a:t>4 months</a:t>
                      </a:r>
                      <a:endParaRPr lang="en-US" sz="950" dirty="0">
                        <a:latin typeface="IBM Plex Sans" charset="0"/>
                        <a:ea typeface="IBM Plex Sans" charset="0"/>
                        <a:cs typeface="IBM Plex Sans" charset="0"/>
                      </a:endParaRPr>
                    </a:p>
                  </a:txBody>
                  <a:tcPr marL="0" marT="0" marB="0" anchor="ctr">
                    <a:lnL w="0" cap="flat" cmpd="sng" algn="ctr">
                      <a:noFill/>
                    </a:lnL>
                    <a:lnR w="0" cap="flat" cmpd="sng" algn="ctr">
                      <a:noFill/>
                    </a:lnR>
                    <a:lnT w="9525" cap="flat" cmpd="sng" algn="ctr">
                      <a:solidFill>
                        <a:srgbClr val="2E3033"/>
                      </a:solidFill>
                      <a:prstDash val="solid"/>
                      <a:round/>
                      <a:headEnd type="none" w="med" len="med"/>
                      <a:tailEnd type="none" w="med" len="med"/>
                    </a:lnT>
                    <a:lnB w="9525" cap="flat" cmpd="sng" algn="ctr">
                      <a:solidFill>
                        <a:srgbClr val="2E3033"/>
                      </a:solidFill>
                      <a:prstDash val="solid"/>
                      <a:round/>
                      <a:headEnd type="none" w="med" len="med"/>
                      <a:tailEnd type="none" w="med" len="med"/>
                    </a:lnB>
                    <a:solidFill>
                      <a:srgbClr val="0A0B0C"/>
                    </a:solidFill>
                  </a:tcPr>
                </a:tc>
                <a:tc>
                  <a:txBody>
                    <a:bodyPr/>
                    <a:lstStyle/>
                    <a:p>
                      <a:pPr marL="0" indent="0">
                        <a:buNone/>
                      </a:pPr>
                      <a:r>
                        <a:rPr lang="en-US" sz="950" dirty="0">
                          <a:solidFill>
                            <a:srgbClr val="B6B7B8"/>
                          </a:solidFill>
                          <a:latin typeface="IBM Plex Sans" pitchFamily="34" charset="0"/>
                          <a:ea typeface="IBM Plex Sans" pitchFamily="34" charset="-122"/>
                          <a:cs typeface="IBM Plex Sans" pitchFamily="34" charset="-120"/>
                        </a:rPr>
                        <a:t>Delivered</a:t>
                      </a:r>
                      <a:endParaRPr lang="en-US" sz="950" dirty="0">
                        <a:latin typeface="IBM Plex Sans" charset="0"/>
                        <a:ea typeface="IBM Plex Sans" charset="0"/>
                        <a:cs typeface="IBM Plex Sans" charset="0"/>
                      </a:endParaRPr>
                    </a:p>
                  </a:txBody>
                  <a:tcPr marL="0" marT="0" marB="0" anchor="ctr">
                    <a:lnL w="0" cap="flat" cmpd="sng" algn="ctr">
                      <a:noFill/>
                    </a:lnL>
                    <a:lnR w="0" cap="flat" cmpd="sng" algn="ctr">
                      <a:noFill/>
                    </a:lnR>
                    <a:lnT w="9525" cap="flat" cmpd="sng" algn="ctr">
                      <a:solidFill>
                        <a:srgbClr val="2E3033"/>
                      </a:solidFill>
                      <a:prstDash val="solid"/>
                      <a:round/>
                      <a:headEnd type="none" w="med" len="med"/>
                      <a:tailEnd type="none" w="med" len="med"/>
                    </a:lnT>
                    <a:lnB w="9525" cap="flat" cmpd="sng" algn="ctr">
                      <a:solidFill>
                        <a:srgbClr val="2E3033"/>
                      </a:solidFill>
                      <a:prstDash val="solid"/>
                      <a:round/>
                      <a:headEnd type="none" w="med" len="med"/>
                      <a:tailEnd type="none" w="med" len="med"/>
                    </a:lnB>
                    <a:solidFill>
                      <a:srgbClr val="0A0B0C"/>
                    </a:solidFill>
                  </a:tcPr>
                </a:tc>
                <a:extLst>
                  <a:ext uri="{0D108BD9-81ED-4DB2-BD59-A6C34878D82A}">
                    <a16:rowId xmlns:a16="http://schemas.microsoft.com/office/drawing/2014/main" val="10012"/>
                  </a:ext>
                </a:extLst>
              </a:tr>
              <a:tr h="301752">
                <a:tc>
                  <a:txBody>
                    <a:bodyPr/>
                    <a:lstStyle/>
                    <a:p>
                      <a:pPr marL="0" indent="0">
                        <a:buNone/>
                      </a:pPr>
                      <a:r>
                        <a:rPr lang="en-US" sz="1050" b="1" dirty="0">
                          <a:solidFill>
                            <a:srgbClr val="FFFFFF"/>
                          </a:solidFill>
                          <a:latin typeface="Space Grotesk" pitchFamily="34" charset="0"/>
                          <a:ea typeface="Space Grotesk" pitchFamily="34" charset="-122"/>
                          <a:cs typeface="Space Grotesk" pitchFamily="34" charset="-120"/>
                        </a:rPr>
                        <a:t>Enterprise Cyber Complaint &amp; Content Governance Dashboard</a:t>
                      </a:r>
                      <a:endParaRPr lang="en-US" sz="1050" dirty="0">
                        <a:latin typeface="Space Grotesk" charset="0"/>
                        <a:ea typeface="Space Grotesk" charset="0"/>
                        <a:cs typeface="Space Grotesk" charset="0"/>
                      </a:endParaRPr>
                    </a:p>
                  </a:txBody>
                  <a:tcPr marL="0" marT="0" marB="0" anchor="ctr">
                    <a:lnL w="0" cap="flat" cmpd="sng" algn="ctr">
                      <a:noFill/>
                    </a:lnL>
                    <a:lnR w="0" cap="flat" cmpd="sng" algn="ctr">
                      <a:noFill/>
                    </a:lnR>
                    <a:lnT w="9525" cap="flat" cmpd="sng" algn="ctr">
                      <a:solidFill>
                        <a:srgbClr val="2E3033"/>
                      </a:solidFill>
                      <a:prstDash val="solid"/>
                      <a:round/>
                      <a:headEnd type="none" w="med" len="med"/>
                      <a:tailEnd type="none" w="med" len="med"/>
                    </a:lnT>
                    <a:lnB w="9525" cap="flat" cmpd="sng" algn="ctr">
                      <a:solidFill>
                        <a:srgbClr val="2E3033"/>
                      </a:solidFill>
                      <a:prstDash val="solid"/>
                      <a:round/>
                      <a:headEnd type="none" w="med" len="med"/>
                      <a:tailEnd type="none" w="med" len="med"/>
                    </a:lnB>
                    <a:solidFill>
                      <a:srgbClr val="0A0B0C"/>
                    </a:solidFill>
                  </a:tcPr>
                </a:tc>
                <a:tc>
                  <a:txBody>
                    <a:bodyPr/>
                    <a:lstStyle/>
                    <a:p>
                      <a:pPr marL="0" indent="0">
                        <a:buNone/>
                      </a:pPr>
                      <a:r>
                        <a:rPr lang="en-US" sz="950" dirty="0">
                          <a:solidFill>
                            <a:srgbClr val="B6B7B8"/>
                          </a:solidFill>
                          <a:latin typeface="IBM Plex Sans" pitchFamily="34" charset="0"/>
                          <a:ea typeface="IBM Plex Sans" pitchFamily="34" charset="-122"/>
                          <a:cs typeface="IBM Plex Sans" pitchFamily="34" charset="-120"/>
                        </a:rPr>
                        <a:t>Telecommunications &amp; Cyber Regulatory Governance</a:t>
                      </a:r>
                      <a:endParaRPr lang="en-US" sz="950" dirty="0">
                        <a:latin typeface="IBM Plex Sans" charset="0"/>
                        <a:ea typeface="IBM Plex Sans" charset="0"/>
                        <a:cs typeface="IBM Plex Sans" charset="0"/>
                      </a:endParaRPr>
                    </a:p>
                  </a:txBody>
                  <a:tcPr marL="0" marT="0" marB="0" anchor="ctr">
                    <a:lnL w="0" cap="flat" cmpd="sng" algn="ctr">
                      <a:noFill/>
                    </a:lnL>
                    <a:lnR w="0" cap="flat" cmpd="sng" algn="ctr">
                      <a:noFill/>
                    </a:lnR>
                    <a:lnT w="9525" cap="flat" cmpd="sng" algn="ctr">
                      <a:solidFill>
                        <a:srgbClr val="2E3033"/>
                      </a:solidFill>
                      <a:prstDash val="solid"/>
                      <a:round/>
                      <a:headEnd type="none" w="med" len="med"/>
                      <a:tailEnd type="none" w="med" len="med"/>
                    </a:lnT>
                    <a:lnB w="9525" cap="flat" cmpd="sng" algn="ctr">
                      <a:solidFill>
                        <a:srgbClr val="2E3033"/>
                      </a:solidFill>
                      <a:prstDash val="solid"/>
                      <a:round/>
                      <a:headEnd type="none" w="med" len="med"/>
                      <a:tailEnd type="none" w="med" len="med"/>
                    </a:lnB>
                    <a:solidFill>
                      <a:srgbClr val="0A0B0C"/>
                    </a:solidFill>
                  </a:tcPr>
                </a:tc>
                <a:tc>
                  <a:txBody>
                    <a:bodyPr/>
                    <a:lstStyle/>
                    <a:p>
                      <a:pPr marL="0" indent="0">
                        <a:buNone/>
                      </a:pPr>
                      <a:r>
                        <a:rPr lang="en-US" sz="950" dirty="0">
                          <a:solidFill>
                            <a:srgbClr val="B6B7B8"/>
                          </a:solidFill>
                          <a:latin typeface="IBM Plex Sans" pitchFamily="34" charset="0"/>
                          <a:ea typeface="IBM Plex Sans" pitchFamily="34" charset="-122"/>
                          <a:cs typeface="IBM Plex Sans" pitchFamily="34" charset="-120"/>
                        </a:rPr>
                        <a:t>Cyber security</a:t>
                      </a:r>
                      <a:endParaRPr lang="en-US" sz="950" dirty="0">
                        <a:latin typeface="IBM Plex Sans" charset="0"/>
                        <a:ea typeface="IBM Plex Sans" charset="0"/>
                        <a:cs typeface="IBM Plex Sans" charset="0"/>
                      </a:endParaRPr>
                    </a:p>
                  </a:txBody>
                  <a:tcPr marL="0" marT="0" marB="0" anchor="ctr">
                    <a:lnL w="0" cap="flat" cmpd="sng" algn="ctr">
                      <a:noFill/>
                    </a:lnL>
                    <a:lnR w="0" cap="flat" cmpd="sng" algn="ctr">
                      <a:noFill/>
                    </a:lnR>
                    <a:lnT w="9525" cap="flat" cmpd="sng" algn="ctr">
                      <a:solidFill>
                        <a:srgbClr val="2E3033"/>
                      </a:solidFill>
                      <a:prstDash val="solid"/>
                      <a:round/>
                      <a:headEnd type="none" w="med" len="med"/>
                      <a:tailEnd type="none" w="med" len="med"/>
                    </a:lnT>
                    <a:lnB w="9525" cap="flat" cmpd="sng" algn="ctr">
                      <a:solidFill>
                        <a:srgbClr val="2E3033"/>
                      </a:solidFill>
                      <a:prstDash val="solid"/>
                      <a:round/>
                      <a:headEnd type="none" w="med" len="med"/>
                      <a:tailEnd type="none" w="med" len="med"/>
                    </a:lnB>
                    <a:solidFill>
                      <a:srgbClr val="0A0B0C"/>
                    </a:solidFill>
                  </a:tcPr>
                </a:tc>
                <a:tc>
                  <a:txBody>
                    <a:bodyPr/>
                    <a:lstStyle/>
                    <a:p>
                      <a:pPr marL="0" indent="0">
                        <a:buNone/>
                      </a:pPr>
                      <a:r>
                        <a:rPr lang="en-US" sz="950" dirty="0">
                          <a:solidFill>
                            <a:srgbClr val="B6B7B8"/>
                          </a:solidFill>
                          <a:latin typeface="IBM Plex Mono" pitchFamily="34" charset="0"/>
                          <a:ea typeface="IBM Plex Mono" pitchFamily="34" charset="-122"/>
                          <a:cs typeface="IBM Plex Mono" pitchFamily="34" charset="-120"/>
                        </a:rPr>
                        <a:t>2024</a:t>
                      </a:r>
                      <a:endParaRPr lang="en-US" sz="950" dirty="0">
                        <a:latin typeface="IBM Plex Mono" charset="0"/>
                        <a:ea typeface="IBM Plex Mono" charset="0"/>
                        <a:cs typeface="IBM Plex Mono" charset="0"/>
                      </a:endParaRPr>
                    </a:p>
                  </a:txBody>
                  <a:tcPr marL="0" marT="0" marB="0" anchor="ctr">
                    <a:lnL w="0" cap="flat" cmpd="sng" algn="ctr">
                      <a:noFill/>
                    </a:lnL>
                    <a:lnR w="0" cap="flat" cmpd="sng" algn="ctr">
                      <a:noFill/>
                    </a:lnR>
                    <a:lnT w="9525" cap="flat" cmpd="sng" algn="ctr">
                      <a:solidFill>
                        <a:srgbClr val="2E3033"/>
                      </a:solidFill>
                      <a:prstDash val="solid"/>
                      <a:round/>
                      <a:headEnd type="none" w="med" len="med"/>
                      <a:tailEnd type="none" w="med" len="med"/>
                    </a:lnT>
                    <a:lnB w="9525" cap="flat" cmpd="sng" algn="ctr">
                      <a:solidFill>
                        <a:srgbClr val="2E3033"/>
                      </a:solidFill>
                      <a:prstDash val="solid"/>
                      <a:round/>
                      <a:headEnd type="none" w="med" len="med"/>
                      <a:tailEnd type="none" w="med" len="med"/>
                    </a:lnB>
                    <a:solidFill>
                      <a:srgbClr val="0A0B0C"/>
                    </a:solidFill>
                  </a:tcPr>
                </a:tc>
                <a:tc>
                  <a:txBody>
                    <a:bodyPr/>
                    <a:lstStyle/>
                    <a:p>
                      <a:pPr marL="0" indent="0">
                        <a:buNone/>
                      </a:pPr>
                      <a:r>
                        <a:rPr lang="en-US" sz="950" dirty="0">
                          <a:solidFill>
                            <a:srgbClr val="B6B7B8"/>
                          </a:solidFill>
                          <a:latin typeface="IBM Plex Sans" pitchFamily="34" charset="0"/>
                          <a:ea typeface="IBM Plex Sans" pitchFamily="34" charset="-122"/>
                          <a:cs typeface="IBM Plex Sans" pitchFamily="34" charset="-120"/>
                        </a:rPr>
                        <a:t>8 weeks</a:t>
                      </a:r>
                      <a:endParaRPr lang="en-US" sz="950" dirty="0">
                        <a:latin typeface="IBM Plex Sans" charset="0"/>
                        <a:ea typeface="IBM Plex Sans" charset="0"/>
                        <a:cs typeface="IBM Plex Sans" charset="0"/>
                      </a:endParaRPr>
                    </a:p>
                  </a:txBody>
                  <a:tcPr marL="0" marT="0" marB="0" anchor="ctr">
                    <a:lnL w="0" cap="flat" cmpd="sng" algn="ctr">
                      <a:noFill/>
                    </a:lnL>
                    <a:lnR w="0" cap="flat" cmpd="sng" algn="ctr">
                      <a:noFill/>
                    </a:lnR>
                    <a:lnT w="9525" cap="flat" cmpd="sng" algn="ctr">
                      <a:solidFill>
                        <a:srgbClr val="2E3033"/>
                      </a:solidFill>
                      <a:prstDash val="solid"/>
                      <a:round/>
                      <a:headEnd type="none" w="med" len="med"/>
                      <a:tailEnd type="none" w="med" len="med"/>
                    </a:lnT>
                    <a:lnB w="9525" cap="flat" cmpd="sng" algn="ctr">
                      <a:solidFill>
                        <a:srgbClr val="2E3033"/>
                      </a:solidFill>
                      <a:prstDash val="solid"/>
                      <a:round/>
                      <a:headEnd type="none" w="med" len="med"/>
                      <a:tailEnd type="none" w="med" len="med"/>
                    </a:lnB>
                    <a:solidFill>
                      <a:srgbClr val="0A0B0C"/>
                    </a:solidFill>
                  </a:tcPr>
                </a:tc>
                <a:tc>
                  <a:txBody>
                    <a:bodyPr/>
                    <a:lstStyle/>
                    <a:p>
                      <a:pPr marL="0" indent="0">
                        <a:buNone/>
                      </a:pPr>
                      <a:r>
                        <a:rPr lang="en-US" sz="950" dirty="0">
                          <a:solidFill>
                            <a:srgbClr val="B6B7B8"/>
                          </a:solidFill>
                          <a:latin typeface="IBM Plex Sans" pitchFamily="34" charset="0"/>
                          <a:ea typeface="IBM Plex Sans" pitchFamily="34" charset="-122"/>
                          <a:cs typeface="IBM Plex Sans" pitchFamily="34" charset="-120"/>
                        </a:rPr>
                        <a:t>Delivered</a:t>
                      </a:r>
                      <a:endParaRPr lang="en-US" sz="950" dirty="0">
                        <a:latin typeface="IBM Plex Sans" charset="0"/>
                        <a:ea typeface="IBM Plex Sans" charset="0"/>
                        <a:cs typeface="IBM Plex Sans" charset="0"/>
                      </a:endParaRPr>
                    </a:p>
                  </a:txBody>
                  <a:tcPr marL="0" marT="0" marB="0" anchor="ctr">
                    <a:lnL w="0" cap="flat" cmpd="sng" algn="ctr">
                      <a:noFill/>
                    </a:lnL>
                    <a:lnR w="0" cap="flat" cmpd="sng" algn="ctr">
                      <a:noFill/>
                    </a:lnR>
                    <a:lnT w="9525" cap="flat" cmpd="sng" algn="ctr">
                      <a:solidFill>
                        <a:srgbClr val="2E3033"/>
                      </a:solidFill>
                      <a:prstDash val="solid"/>
                      <a:round/>
                      <a:headEnd type="none" w="med" len="med"/>
                      <a:tailEnd type="none" w="med" len="med"/>
                    </a:lnT>
                    <a:lnB w="9525" cap="flat" cmpd="sng" algn="ctr">
                      <a:solidFill>
                        <a:srgbClr val="2E3033"/>
                      </a:solidFill>
                      <a:prstDash val="solid"/>
                      <a:round/>
                      <a:headEnd type="none" w="med" len="med"/>
                      <a:tailEnd type="none" w="med" len="med"/>
                    </a:lnB>
                    <a:solidFill>
                      <a:srgbClr val="0A0B0C"/>
                    </a:solidFill>
                  </a:tcPr>
                </a:tc>
                <a:extLst>
                  <a:ext uri="{0D108BD9-81ED-4DB2-BD59-A6C34878D82A}">
                    <a16:rowId xmlns:a16="http://schemas.microsoft.com/office/drawing/2014/main" val="10013"/>
                  </a:ext>
                </a:extLst>
              </a:tr>
              <a:tr h="301752">
                <a:tc>
                  <a:txBody>
                    <a:bodyPr/>
                    <a:lstStyle/>
                    <a:p>
                      <a:pPr marL="0" indent="0">
                        <a:buNone/>
                      </a:pPr>
                      <a:r>
                        <a:rPr lang="en-US" sz="1050" b="1" dirty="0">
                          <a:solidFill>
                            <a:srgbClr val="FFFFFF"/>
                          </a:solidFill>
                          <a:latin typeface="Space Grotesk" pitchFamily="34" charset="0"/>
                          <a:ea typeface="Space Grotesk" pitchFamily="34" charset="-122"/>
                          <a:cs typeface="Space Grotesk" pitchFamily="34" charset="-120"/>
                        </a:rPr>
                        <a:t>Enterprise Real-Time Website Analysis Dashboard</a:t>
                      </a:r>
                      <a:endParaRPr lang="en-US" sz="1050" dirty="0">
                        <a:latin typeface="Space Grotesk" charset="0"/>
                        <a:ea typeface="Space Grotesk" charset="0"/>
                        <a:cs typeface="Space Grotesk" charset="0"/>
                      </a:endParaRPr>
                    </a:p>
                  </a:txBody>
                  <a:tcPr marL="0" marT="0" marB="0" anchor="ctr">
                    <a:lnL w="0" cap="flat" cmpd="sng" algn="ctr">
                      <a:noFill/>
                    </a:lnL>
                    <a:lnR w="0" cap="flat" cmpd="sng" algn="ctr">
                      <a:noFill/>
                    </a:lnR>
                    <a:lnT w="9525" cap="flat" cmpd="sng" algn="ctr">
                      <a:solidFill>
                        <a:srgbClr val="2E3033"/>
                      </a:solidFill>
                      <a:prstDash val="solid"/>
                      <a:round/>
                      <a:headEnd type="none" w="med" len="med"/>
                      <a:tailEnd type="none" w="med" len="med"/>
                    </a:lnT>
                    <a:lnB w="9525" cap="flat" cmpd="sng" algn="ctr">
                      <a:solidFill>
                        <a:srgbClr val="2E3033"/>
                      </a:solidFill>
                      <a:prstDash val="solid"/>
                      <a:round/>
                      <a:headEnd type="none" w="med" len="med"/>
                      <a:tailEnd type="none" w="med" len="med"/>
                    </a:lnB>
                    <a:solidFill>
                      <a:srgbClr val="0A0B0C"/>
                    </a:solidFill>
                  </a:tcPr>
                </a:tc>
                <a:tc>
                  <a:txBody>
                    <a:bodyPr/>
                    <a:lstStyle/>
                    <a:p>
                      <a:pPr marL="0" indent="0">
                        <a:buNone/>
                      </a:pPr>
                      <a:r>
                        <a:rPr lang="en-US" sz="950" dirty="0">
                          <a:solidFill>
                            <a:srgbClr val="B6B7B8"/>
                          </a:solidFill>
                          <a:latin typeface="IBM Plex Sans" pitchFamily="34" charset="0"/>
                          <a:ea typeface="IBM Plex Sans" pitchFamily="34" charset="-122"/>
                          <a:cs typeface="IBM Plex Sans" pitchFamily="34" charset="-120"/>
                        </a:rPr>
                        <a:t>Open-Source Intelligence (OSINT) &amp; Cybersecurity Analytics</a:t>
                      </a:r>
                      <a:endParaRPr lang="en-US" sz="950" dirty="0">
                        <a:latin typeface="IBM Plex Sans" charset="0"/>
                        <a:ea typeface="IBM Plex Sans" charset="0"/>
                        <a:cs typeface="IBM Plex Sans" charset="0"/>
                      </a:endParaRPr>
                    </a:p>
                  </a:txBody>
                  <a:tcPr marL="0" marT="0" marB="0" anchor="ctr">
                    <a:lnL w="0" cap="flat" cmpd="sng" algn="ctr">
                      <a:noFill/>
                    </a:lnL>
                    <a:lnR w="0" cap="flat" cmpd="sng" algn="ctr">
                      <a:noFill/>
                    </a:lnR>
                    <a:lnT w="9525" cap="flat" cmpd="sng" algn="ctr">
                      <a:solidFill>
                        <a:srgbClr val="2E3033"/>
                      </a:solidFill>
                      <a:prstDash val="solid"/>
                      <a:round/>
                      <a:headEnd type="none" w="med" len="med"/>
                      <a:tailEnd type="none" w="med" len="med"/>
                    </a:lnT>
                    <a:lnB w="9525" cap="flat" cmpd="sng" algn="ctr">
                      <a:solidFill>
                        <a:srgbClr val="2E3033"/>
                      </a:solidFill>
                      <a:prstDash val="solid"/>
                      <a:round/>
                      <a:headEnd type="none" w="med" len="med"/>
                      <a:tailEnd type="none" w="med" len="med"/>
                    </a:lnB>
                    <a:solidFill>
                      <a:srgbClr val="0A0B0C"/>
                    </a:solidFill>
                  </a:tcPr>
                </a:tc>
                <a:tc>
                  <a:txBody>
                    <a:bodyPr/>
                    <a:lstStyle/>
                    <a:p>
                      <a:pPr marL="0" indent="0">
                        <a:buNone/>
                      </a:pPr>
                      <a:r>
                        <a:rPr lang="en-US" sz="950" dirty="0">
                          <a:solidFill>
                            <a:srgbClr val="B6B7B8"/>
                          </a:solidFill>
                          <a:latin typeface="IBM Plex Sans" pitchFamily="34" charset="0"/>
                          <a:ea typeface="IBM Plex Sans" pitchFamily="34" charset="-122"/>
                          <a:cs typeface="IBM Plex Sans" pitchFamily="34" charset="-120"/>
                        </a:rPr>
                        <a:t>Data analytics</a:t>
                      </a:r>
                      <a:endParaRPr lang="en-US" sz="950" dirty="0">
                        <a:latin typeface="IBM Plex Sans" charset="0"/>
                        <a:ea typeface="IBM Plex Sans" charset="0"/>
                        <a:cs typeface="IBM Plex Sans" charset="0"/>
                      </a:endParaRPr>
                    </a:p>
                  </a:txBody>
                  <a:tcPr marL="0" marT="0" marB="0" anchor="ctr">
                    <a:lnL w="0" cap="flat" cmpd="sng" algn="ctr">
                      <a:noFill/>
                    </a:lnL>
                    <a:lnR w="0" cap="flat" cmpd="sng" algn="ctr">
                      <a:noFill/>
                    </a:lnR>
                    <a:lnT w="9525" cap="flat" cmpd="sng" algn="ctr">
                      <a:solidFill>
                        <a:srgbClr val="2E3033"/>
                      </a:solidFill>
                      <a:prstDash val="solid"/>
                      <a:round/>
                      <a:headEnd type="none" w="med" len="med"/>
                      <a:tailEnd type="none" w="med" len="med"/>
                    </a:lnT>
                    <a:lnB w="9525" cap="flat" cmpd="sng" algn="ctr">
                      <a:solidFill>
                        <a:srgbClr val="2E3033"/>
                      </a:solidFill>
                      <a:prstDash val="solid"/>
                      <a:round/>
                      <a:headEnd type="none" w="med" len="med"/>
                      <a:tailEnd type="none" w="med" len="med"/>
                    </a:lnB>
                    <a:solidFill>
                      <a:srgbClr val="0A0B0C"/>
                    </a:solidFill>
                  </a:tcPr>
                </a:tc>
                <a:tc>
                  <a:txBody>
                    <a:bodyPr/>
                    <a:lstStyle/>
                    <a:p>
                      <a:pPr marL="0" indent="0">
                        <a:buNone/>
                      </a:pPr>
                      <a:r>
                        <a:rPr lang="en-US" sz="950" dirty="0">
                          <a:solidFill>
                            <a:srgbClr val="B6B7B8"/>
                          </a:solidFill>
                          <a:latin typeface="IBM Plex Mono" pitchFamily="34" charset="0"/>
                          <a:ea typeface="IBM Plex Mono" pitchFamily="34" charset="-122"/>
                          <a:cs typeface="IBM Plex Mono" pitchFamily="34" charset="-120"/>
                        </a:rPr>
                        <a:t>2024</a:t>
                      </a:r>
                      <a:endParaRPr lang="en-US" sz="950" dirty="0">
                        <a:latin typeface="IBM Plex Mono" charset="0"/>
                        <a:ea typeface="IBM Plex Mono" charset="0"/>
                        <a:cs typeface="IBM Plex Mono" charset="0"/>
                      </a:endParaRPr>
                    </a:p>
                  </a:txBody>
                  <a:tcPr marL="0" marT="0" marB="0" anchor="ctr">
                    <a:lnL w="0" cap="flat" cmpd="sng" algn="ctr">
                      <a:noFill/>
                    </a:lnL>
                    <a:lnR w="0" cap="flat" cmpd="sng" algn="ctr">
                      <a:noFill/>
                    </a:lnR>
                    <a:lnT w="9525" cap="flat" cmpd="sng" algn="ctr">
                      <a:solidFill>
                        <a:srgbClr val="2E3033"/>
                      </a:solidFill>
                      <a:prstDash val="solid"/>
                      <a:round/>
                      <a:headEnd type="none" w="med" len="med"/>
                      <a:tailEnd type="none" w="med" len="med"/>
                    </a:lnT>
                    <a:lnB w="9525" cap="flat" cmpd="sng" algn="ctr">
                      <a:solidFill>
                        <a:srgbClr val="2E3033"/>
                      </a:solidFill>
                      <a:prstDash val="solid"/>
                      <a:round/>
                      <a:headEnd type="none" w="med" len="med"/>
                      <a:tailEnd type="none" w="med" len="med"/>
                    </a:lnB>
                    <a:solidFill>
                      <a:srgbClr val="0A0B0C"/>
                    </a:solidFill>
                  </a:tcPr>
                </a:tc>
                <a:tc>
                  <a:txBody>
                    <a:bodyPr/>
                    <a:lstStyle/>
                    <a:p>
                      <a:pPr marL="0" indent="0">
                        <a:buNone/>
                      </a:pPr>
                      <a:r>
                        <a:rPr lang="en-US" sz="950" dirty="0">
                          <a:solidFill>
                            <a:srgbClr val="B6B7B8"/>
                          </a:solidFill>
                          <a:latin typeface="IBM Plex Sans" pitchFamily="34" charset="0"/>
                          <a:ea typeface="IBM Plex Sans" pitchFamily="34" charset="-122"/>
                          <a:cs typeface="IBM Plex Sans" pitchFamily="34" charset="-120"/>
                        </a:rPr>
                        <a:t>6 weeks</a:t>
                      </a:r>
                      <a:endParaRPr lang="en-US" sz="950" dirty="0">
                        <a:latin typeface="IBM Plex Sans" charset="0"/>
                        <a:ea typeface="IBM Plex Sans" charset="0"/>
                        <a:cs typeface="IBM Plex Sans" charset="0"/>
                      </a:endParaRPr>
                    </a:p>
                  </a:txBody>
                  <a:tcPr marL="0" marT="0" marB="0" anchor="ctr">
                    <a:lnL w="0" cap="flat" cmpd="sng" algn="ctr">
                      <a:noFill/>
                    </a:lnL>
                    <a:lnR w="0" cap="flat" cmpd="sng" algn="ctr">
                      <a:noFill/>
                    </a:lnR>
                    <a:lnT w="9525" cap="flat" cmpd="sng" algn="ctr">
                      <a:solidFill>
                        <a:srgbClr val="2E3033"/>
                      </a:solidFill>
                      <a:prstDash val="solid"/>
                      <a:round/>
                      <a:headEnd type="none" w="med" len="med"/>
                      <a:tailEnd type="none" w="med" len="med"/>
                    </a:lnT>
                    <a:lnB w="9525" cap="flat" cmpd="sng" algn="ctr">
                      <a:solidFill>
                        <a:srgbClr val="2E3033"/>
                      </a:solidFill>
                      <a:prstDash val="solid"/>
                      <a:round/>
                      <a:headEnd type="none" w="med" len="med"/>
                      <a:tailEnd type="none" w="med" len="med"/>
                    </a:lnB>
                    <a:solidFill>
                      <a:srgbClr val="0A0B0C"/>
                    </a:solidFill>
                  </a:tcPr>
                </a:tc>
                <a:tc>
                  <a:txBody>
                    <a:bodyPr/>
                    <a:lstStyle/>
                    <a:p>
                      <a:pPr marL="0" indent="0">
                        <a:buNone/>
                      </a:pPr>
                      <a:r>
                        <a:rPr lang="en-US" sz="950" dirty="0">
                          <a:solidFill>
                            <a:srgbClr val="B6B7B8"/>
                          </a:solidFill>
                          <a:latin typeface="IBM Plex Sans" pitchFamily="34" charset="0"/>
                          <a:ea typeface="IBM Plex Sans" pitchFamily="34" charset="-122"/>
                          <a:cs typeface="IBM Plex Sans" pitchFamily="34" charset="-120"/>
                        </a:rPr>
                        <a:t>Delivered</a:t>
                      </a:r>
                      <a:endParaRPr lang="en-US" sz="950" dirty="0">
                        <a:latin typeface="IBM Plex Sans" charset="0"/>
                        <a:ea typeface="IBM Plex Sans" charset="0"/>
                        <a:cs typeface="IBM Plex Sans" charset="0"/>
                      </a:endParaRPr>
                    </a:p>
                  </a:txBody>
                  <a:tcPr marL="0" marT="0" marB="0" anchor="ctr">
                    <a:lnL w="0" cap="flat" cmpd="sng" algn="ctr">
                      <a:noFill/>
                    </a:lnL>
                    <a:lnR w="0" cap="flat" cmpd="sng" algn="ctr">
                      <a:noFill/>
                    </a:lnR>
                    <a:lnT w="9525" cap="flat" cmpd="sng" algn="ctr">
                      <a:solidFill>
                        <a:srgbClr val="2E3033"/>
                      </a:solidFill>
                      <a:prstDash val="solid"/>
                      <a:round/>
                      <a:headEnd type="none" w="med" len="med"/>
                      <a:tailEnd type="none" w="med" len="med"/>
                    </a:lnT>
                    <a:lnB w="9525" cap="flat" cmpd="sng" algn="ctr">
                      <a:solidFill>
                        <a:srgbClr val="2E3033"/>
                      </a:solidFill>
                      <a:prstDash val="solid"/>
                      <a:round/>
                      <a:headEnd type="none" w="med" len="med"/>
                      <a:tailEnd type="none" w="med" len="med"/>
                    </a:lnB>
                    <a:solidFill>
                      <a:srgbClr val="0A0B0C"/>
                    </a:solidFill>
                  </a:tcPr>
                </a:tc>
                <a:extLst>
                  <a:ext uri="{0D108BD9-81ED-4DB2-BD59-A6C34878D82A}">
                    <a16:rowId xmlns:a16="http://schemas.microsoft.com/office/drawing/2014/main" val="10014"/>
                  </a:ext>
                </a:extLst>
              </a:tr>
            </a:tbl>
          </a:graphicData>
        </a:graphic>
      </p:graphicFrame>
      <p:sp>
        <p:nvSpPr>
          <p:cNvPr id="6" name="Text 3"/>
          <p:cNvSpPr/>
          <p:nvPr/>
        </p:nvSpPr>
        <p:spPr>
          <a:xfrm>
            <a:off x="640080" y="6473952"/>
            <a:ext cx="6400800" cy="164592"/>
          </a:xfrm>
          <a:prstGeom prst="rect">
            <a:avLst/>
          </a:prstGeom>
          <a:noFill/>
          <a:ln/>
        </p:spPr>
        <p:txBody>
          <a:bodyPr wrap="square" lIns="0" tIns="0" rIns="0" bIns="0" rtlCol="0" anchor="t"/>
          <a:lstStyle/>
          <a:p>
            <a:pPr marL="0" indent="0">
              <a:buNone/>
            </a:pPr>
            <a:r>
              <a:rPr lang="en-US" sz="700" kern="0" spc="150" dirty="0">
                <a:solidFill>
                  <a:srgbClr val="8B8D8F"/>
                </a:solidFill>
                <a:latin typeface="IBM Plex Mono" pitchFamily="34" charset="0"/>
                <a:ea typeface="IBM Plex Mono" pitchFamily="34" charset="-122"/>
                <a:cs typeface="IBM Plex Mono" pitchFamily="34" charset="-120"/>
              </a:rPr>
              <a:t>BOLTER TECHNOLOGIES PRIVATE LIMITED  ·  COMPANY PROFILE</a:t>
            </a:r>
            <a:endParaRPr lang="en-US" sz="700" dirty="0"/>
          </a:p>
        </p:txBody>
      </p:sp>
      <p:sp>
        <p:nvSpPr>
          <p:cNvPr id="7" name="Text 4"/>
          <p:cNvSpPr/>
          <p:nvPr/>
        </p:nvSpPr>
        <p:spPr>
          <a:xfrm>
            <a:off x="9722815" y="6473952"/>
            <a:ext cx="1828800" cy="164592"/>
          </a:xfrm>
          <a:prstGeom prst="rect">
            <a:avLst/>
          </a:prstGeom>
          <a:noFill/>
          <a:ln/>
        </p:spPr>
        <p:txBody>
          <a:bodyPr wrap="square" lIns="0" tIns="0" rIns="0" bIns="0" rtlCol="0" anchor="t"/>
          <a:lstStyle/>
          <a:p>
            <a:pPr marL="0" indent="0" algn="r">
              <a:buNone/>
            </a:pPr>
            <a:r>
              <a:rPr lang="en-US" sz="700" kern="0" spc="150" dirty="0">
                <a:solidFill>
                  <a:srgbClr val="8B8D8F"/>
                </a:solidFill>
                <a:latin typeface="IBM Plex Mono" pitchFamily="34" charset="0"/>
                <a:ea typeface="IBM Plex Mono" pitchFamily="34" charset="-122"/>
                <a:cs typeface="IBM Plex Mono" pitchFamily="34" charset="-120"/>
              </a:rPr>
              <a:t>19 / 23</a:t>
            </a:r>
            <a:endParaRPr lang="en-US" sz="7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3F1ED"/>
        </a:solidFill>
        <a:effectLst/>
      </p:bgPr>
    </p:bg>
    <p:spTree>
      <p:nvGrpSpPr>
        <p:cNvPr id="1" name=""/>
        <p:cNvGrpSpPr/>
        <p:nvPr/>
      </p:nvGrpSpPr>
      <p:grpSpPr>
        <a:xfrm>
          <a:off x="0" y="0"/>
          <a:ext cx="0" cy="0"/>
          <a:chOff x="0" y="0"/>
          <a:chExt cx="0" cy="0"/>
        </a:xfrm>
      </p:grpSpPr>
      <p:sp>
        <p:nvSpPr>
          <p:cNvPr id="2" name="Shape 0"/>
          <p:cNvSpPr/>
          <p:nvPr/>
        </p:nvSpPr>
        <p:spPr>
          <a:xfrm>
            <a:off x="640080" y="571500"/>
            <a:ext cx="219456" cy="32004"/>
          </a:xfrm>
          <a:prstGeom prst="rect">
            <a:avLst/>
          </a:prstGeom>
          <a:solidFill>
            <a:srgbClr val="8F5D0A"/>
          </a:solidFill>
          <a:ln/>
        </p:spPr>
        <p:txBody>
          <a:bodyPr/>
          <a:lstStyle/>
          <a:p>
            <a:endParaRPr lang="en-PK"/>
          </a:p>
        </p:txBody>
      </p:sp>
      <p:sp>
        <p:nvSpPr>
          <p:cNvPr id="3" name="Text 1"/>
          <p:cNvSpPr/>
          <p:nvPr/>
        </p:nvSpPr>
        <p:spPr>
          <a:xfrm>
            <a:off x="969264" y="502920"/>
            <a:ext cx="8229600" cy="182880"/>
          </a:xfrm>
          <a:prstGeom prst="rect">
            <a:avLst/>
          </a:prstGeom>
          <a:noFill/>
          <a:ln/>
        </p:spPr>
        <p:txBody>
          <a:bodyPr wrap="square" lIns="0" tIns="0" rIns="0" bIns="0" rtlCol="0" anchor="t"/>
          <a:lstStyle/>
          <a:p>
            <a:pPr marL="0" indent="0">
              <a:buNone/>
            </a:pPr>
            <a:r>
              <a:rPr lang="en-US" sz="900" b="1" kern="0" spc="200" dirty="0">
                <a:solidFill>
                  <a:srgbClr val="8F5D0A"/>
                </a:solidFill>
                <a:latin typeface="IBM Plex Mono" pitchFamily="34" charset="0"/>
                <a:ea typeface="IBM Plex Mono" pitchFamily="34" charset="-122"/>
                <a:cs typeface="IBM Plex Mono" pitchFamily="34" charset="-120"/>
              </a:rPr>
              <a:t>06  CLIENTS</a:t>
            </a:r>
            <a:endParaRPr lang="en-US" sz="900" dirty="0"/>
          </a:p>
        </p:txBody>
      </p:sp>
      <p:sp>
        <p:nvSpPr>
          <p:cNvPr id="4" name="Text 2"/>
          <p:cNvSpPr/>
          <p:nvPr/>
        </p:nvSpPr>
        <p:spPr>
          <a:xfrm>
            <a:off x="640080" y="777240"/>
            <a:ext cx="10911535" cy="685800"/>
          </a:xfrm>
          <a:prstGeom prst="rect">
            <a:avLst/>
          </a:prstGeom>
          <a:noFill/>
          <a:ln/>
        </p:spPr>
        <p:txBody>
          <a:bodyPr wrap="square" lIns="0" tIns="0" rIns="0" bIns="0" rtlCol="0" anchor="t"/>
          <a:lstStyle/>
          <a:p>
            <a:pPr marL="0" indent="0">
              <a:buNone/>
            </a:pPr>
            <a:r>
              <a:rPr lang="en-US" sz="3400" b="1" dirty="0">
                <a:solidFill>
                  <a:srgbClr val="14161A"/>
                </a:solidFill>
                <a:latin typeface="Space Grotesk" pitchFamily="34" charset="0"/>
                <a:ea typeface="Space Grotesk" pitchFamily="34" charset="-122"/>
                <a:cs typeface="Space Grotesk" pitchFamily="34" charset="-120"/>
              </a:rPr>
              <a:t>In our clients’ words</a:t>
            </a:r>
            <a:endParaRPr lang="en-US" sz="3400" dirty="0"/>
          </a:p>
        </p:txBody>
      </p:sp>
      <p:sp>
        <p:nvSpPr>
          <p:cNvPr id="5" name="Shape 3"/>
          <p:cNvSpPr/>
          <p:nvPr/>
        </p:nvSpPr>
        <p:spPr>
          <a:xfrm>
            <a:off x="640080" y="1645920"/>
            <a:ext cx="5318608" cy="2194560"/>
          </a:xfrm>
          <a:prstGeom prst="roundRect">
            <a:avLst>
              <a:gd name="adj" fmla="val 2083"/>
            </a:avLst>
          </a:prstGeom>
          <a:solidFill>
            <a:srgbClr val="FFFFFF"/>
          </a:solidFill>
          <a:ln/>
        </p:spPr>
        <p:txBody>
          <a:bodyPr/>
          <a:lstStyle/>
          <a:p>
            <a:endParaRPr lang="en-PK"/>
          </a:p>
        </p:txBody>
      </p:sp>
      <p:sp>
        <p:nvSpPr>
          <p:cNvPr id="6" name="Shape 4"/>
          <p:cNvSpPr/>
          <p:nvPr/>
        </p:nvSpPr>
        <p:spPr>
          <a:xfrm>
            <a:off x="640080" y="1920240"/>
            <a:ext cx="45720" cy="1645920"/>
          </a:xfrm>
          <a:prstGeom prst="rect">
            <a:avLst/>
          </a:prstGeom>
          <a:solidFill>
            <a:srgbClr val="8F5D0A"/>
          </a:solidFill>
          <a:ln/>
        </p:spPr>
        <p:txBody>
          <a:bodyPr/>
          <a:lstStyle/>
          <a:p>
            <a:endParaRPr lang="en-PK"/>
          </a:p>
        </p:txBody>
      </p:sp>
      <p:sp>
        <p:nvSpPr>
          <p:cNvPr id="7" name="Text 5"/>
          <p:cNvSpPr/>
          <p:nvPr/>
        </p:nvSpPr>
        <p:spPr>
          <a:xfrm>
            <a:off x="1005840" y="1901952"/>
            <a:ext cx="4587088" cy="182880"/>
          </a:xfrm>
          <a:prstGeom prst="rect">
            <a:avLst/>
          </a:prstGeom>
          <a:noFill/>
          <a:ln/>
        </p:spPr>
        <p:txBody>
          <a:bodyPr wrap="square" lIns="0" tIns="0" rIns="0" bIns="0" rtlCol="0" anchor="t"/>
          <a:lstStyle/>
          <a:p>
            <a:pPr marL="0" indent="0">
              <a:buNone/>
            </a:pPr>
            <a:r>
              <a:rPr lang="en-US" sz="750" b="1" kern="0" spc="120" dirty="0">
                <a:solidFill>
                  <a:srgbClr val="8F5D0A"/>
                </a:solidFill>
                <a:latin typeface="IBM Plex Mono" pitchFamily="34" charset="0"/>
                <a:ea typeface="IBM Plex Mono" pitchFamily="34" charset="-122"/>
                <a:cs typeface="IBM Plex Mono" pitchFamily="34" charset="-120"/>
              </a:rPr>
              <a:t>CURRENT BY LOGMATE</a:t>
            </a:r>
            <a:endParaRPr lang="en-US" sz="750" dirty="0"/>
          </a:p>
        </p:txBody>
      </p:sp>
      <p:sp>
        <p:nvSpPr>
          <p:cNvPr id="8" name="Text 6"/>
          <p:cNvSpPr/>
          <p:nvPr/>
        </p:nvSpPr>
        <p:spPr>
          <a:xfrm>
            <a:off x="1005840" y="2157984"/>
            <a:ext cx="4587088" cy="1097280"/>
          </a:xfrm>
          <a:prstGeom prst="rect">
            <a:avLst/>
          </a:prstGeom>
          <a:noFill/>
          <a:ln/>
        </p:spPr>
        <p:txBody>
          <a:bodyPr wrap="square" lIns="0" tIns="0" rIns="0" bIns="0" rtlCol="0" anchor="t"/>
          <a:lstStyle/>
          <a:p>
            <a:pPr marL="0" indent="0">
              <a:lnSpc>
                <a:spcPct val="112000"/>
              </a:lnSpc>
              <a:buNone/>
            </a:pPr>
            <a:r>
              <a:rPr lang="en-US" sz="1700" dirty="0">
                <a:solidFill>
                  <a:srgbClr val="14161A"/>
                </a:solidFill>
                <a:latin typeface="Space Grotesk" pitchFamily="34" charset="0"/>
                <a:ea typeface="Space Grotesk" pitchFamily="34" charset="-122"/>
                <a:cs typeface="Space Grotesk" pitchFamily="34" charset="-120"/>
              </a:rPr>
              <a:t>“This product has effectively reduced our workload by three quarters.”</a:t>
            </a:r>
            <a:endParaRPr lang="en-US" sz="1700" dirty="0"/>
          </a:p>
        </p:txBody>
      </p:sp>
      <p:sp>
        <p:nvSpPr>
          <p:cNvPr id="9" name="Text 7"/>
          <p:cNvSpPr/>
          <p:nvPr/>
        </p:nvSpPr>
        <p:spPr>
          <a:xfrm>
            <a:off x="1005840" y="3273552"/>
            <a:ext cx="4587088" cy="219456"/>
          </a:xfrm>
          <a:prstGeom prst="rect">
            <a:avLst/>
          </a:prstGeom>
          <a:noFill/>
          <a:ln/>
        </p:spPr>
        <p:txBody>
          <a:bodyPr wrap="square" lIns="0" tIns="0" rIns="0" bIns="0" rtlCol="0" anchor="t"/>
          <a:lstStyle/>
          <a:p>
            <a:pPr marL="0" indent="0">
              <a:buNone/>
            </a:pPr>
            <a:r>
              <a:rPr lang="en-US" sz="1100" b="1" dirty="0">
                <a:solidFill>
                  <a:srgbClr val="14161A"/>
                </a:solidFill>
                <a:latin typeface="IBM Plex Sans" pitchFamily="34" charset="0"/>
                <a:ea typeface="IBM Plex Sans" pitchFamily="34" charset="-122"/>
                <a:cs typeface="IBM Plex Sans" pitchFamily="34" charset="-120"/>
              </a:rPr>
              <a:t>Hamid Mehmood</a:t>
            </a:r>
            <a:endParaRPr lang="en-US" sz="1100" dirty="0"/>
          </a:p>
        </p:txBody>
      </p:sp>
      <p:sp>
        <p:nvSpPr>
          <p:cNvPr id="10" name="Text 8"/>
          <p:cNvSpPr/>
          <p:nvPr/>
        </p:nvSpPr>
        <p:spPr>
          <a:xfrm>
            <a:off x="1005840" y="3511296"/>
            <a:ext cx="4587088" cy="182880"/>
          </a:xfrm>
          <a:prstGeom prst="rect">
            <a:avLst/>
          </a:prstGeom>
          <a:noFill/>
          <a:ln/>
        </p:spPr>
        <p:txBody>
          <a:bodyPr wrap="square" lIns="0" tIns="0" rIns="0" bIns="0" rtlCol="0" anchor="t"/>
          <a:lstStyle/>
          <a:p>
            <a:pPr marL="0" indent="0">
              <a:buNone/>
            </a:pPr>
            <a:r>
              <a:rPr lang="en-US" sz="750" kern="0" spc="100" dirty="0">
                <a:solidFill>
                  <a:srgbClr val="6F6A5F"/>
                </a:solidFill>
                <a:latin typeface="IBM Plex Mono" pitchFamily="34" charset="0"/>
                <a:ea typeface="IBM Plex Mono" pitchFamily="34" charset="-122"/>
                <a:cs typeface="IBM Plex Mono" pitchFamily="34" charset="-120"/>
              </a:rPr>
              <a:t>CHIEF OPERATING OFFICER, LOGMATE</a:t>
            </a:r>
            <a:endParaRPr lang="en-US" sz="750" dirty="0"/>
          </a:p>
        </p:txBody>
      </p:sp>
      <p:sp>
        <p:nvSpPr>
          <p:cNvPr id="11" name="Shape 9"/>
          <p:cNvSpPr/>
          <p:nvPr/>
        </p:nvSpPr>
        <p:spPr>
          <a:xfrm>
            <a:off x="6233008" y="1645920"/>
            <a:ext cx="5318608" cy="2194560"/>
          </a:xfrm>
          <a:prstGeom prst="roundRect">
            <a:avLst>
              <a:gd name="adj" fmla="val 2083"/>
            </a:avLst>
          </a:prstGeom>
          <a:solidFill>
            <a:srgbClr val="FFFFFF"/>
          </a:solidFill>
          <a:ln/>
        </p:spPr>
        <p:txBody>
          <a:bodyPr/>
          <a:lstStyle/>
          <a:p>
            <a:endParaRPr lang="en-PK"/>
          </a:p>
        </p:txBody>
      </p:sp>
      <p:sp>
        <p:nvSpPr>
          <p:cNvPr id="12" name="Shape 10"/>
          <p:cNvSpPr/>
          <p:nvPr/>
        </p:nvSpPr>
        <p:spPr>
          <a:xfrm>
            <a:off x="6233008" y="1920240"/>
            <a:ext cx="45720" cy="1645920"/>
          </a:xfrm>
          <a:prstGeom prst="rect">
            <a:avLst/>
          </a:prstGeom>
          <a:solidFill>
            <a:srgbClr val="8F5D0A"/>
          </a:solidFill>
          <a:ln/>
        </p:spPr>
        <p:txBody>
          <a:bodyPr/>
          <a:lstStyle/>
          <a:p>
            <a:endParaRPr lang="en-PK"/>
          </a:p>
        </p:txBody>
      </p:sp>
      <p:sp>
        <p:nvSpPr>
          <p:cNvPr id="13" name="Text 11"/>
          <p:cNvSpPr/>
          <p:nvPr/>
        </p:nvSpPr>
        <p:spPr>
          <a:xfrm>
            <a:off x="6598768" y="1901952"/>
            <a:ext cx="4587088" cy="182880"/>
          </a:xfrm>
          <a:prstGeom prst="rect">
            <a:avLst/>
          </a:prstGeom>
          <a:noFill/>
          <a:ln/>
        </p:spPr>
        <p:txBody>
          <a:bodyPr wrap="square" lIns="0" tIns="0" rIns="0" bIns="0" rtlCol="0" anchor="t"/>
          <a:lstStyle/>
          <a:p>
            <a:pPr marL="0" indent="0">
              <a:buNone/>
            </a:pPr>
            <a:r>
              <a:rPr lang="en-US" sz="750" b="1" kern="0" spc="120" dirty="0">
                <a:solidFill>
                  <a:srgbClr val="8F5D0A"/>
                </a:solidFill>
                <a:latin typeface="IBM Plex Mono" pitchFamily="34" charset="0"/>
                <a:ea typeface="IBM Plex Mono" pitchFamily="34" charset="-122"/>
                <a:cs typeface="IBM Plex Mono" pitchFamily="34" charset="-120"/>
              </a:rPr>
              <a:t>ENTERPRISE CYBER COMPLAINT &amp; CONTENT GOVERNANCE DASHBOARD</a:t>
            </a:r>
            <a:endParaRPr lang="en-US" sz="750" dirty="0"/>
          </a:p>
        </p:txBody>
      </p:sp>
      <p:sp>
        <p:nvSpPr>
          <p:cNvPr id="14" name="Text 12"/>
          <p:cNvSpPr/>
          <p:nvPr/>
        </p:nvSpPr>
        <p:spPr>
          <a:xfrm>
            <a:off x="6598768" y="2157984"/>
            <a:ext cx="4587088" cy="1097280"/>
          </a:xfrm>
          <a:prstGeom prst="rect">
            <a:avLst/>
          </a:prstGeom>
          <a:noFill/>
          <a:ln/>
        </p:spPr>
        <p:txBody>
          <a:bodyPr wrap="square" lIns="0" tIns="0" rIns="0" bIns="0" rtlCol="0" anchor="t"/>
          <a:lstStyle/>
          <a:p>
            <a:pPr marL="0" indent="0">
              <a:lnSpc>
                <a:spcPct val="112000"/>
              </a:lnSpc>
              <a:buNone/>
            </a:pPr>
            <a:r>
              <a:rPr lang="en-US" sz="1150" dirty="0">
                <a:solidFill>
                  <a:srgbClr val="14161A"/>
                </a:solidFill>
                <a:latin typeface="Space Grotesk" pitchFamily="34" charset="0"/>
                <a:ea typeface="Space Grotesk" pitchFamily="34" charset="-122"/>
                <a:cs typeface="Space Grotesk" pitchFamily="34" charset="-120"/>
              </a:rPr>
              <a:t>“Boltertech delivered an enterprise platform that transformed our compliance monitoring capabilities. The combination of real-time data visualizations, cloud evidence storage, and automated reporting has given our team unprecedented control and clarity over digital content governance.”</a:t>
            </a:r>
            <a:endParaRPr lang="en-US" sz="1150" dirty="0"/>
          </a:p>
        </p:txBody>
      </p:sp>
      <p:sp>
        <p:nvSpPr>
          <p:cNvPr id="15" name="Text 13"/>
          <p:cNvSpPr/>
          <p:nvPr/>
        </p:nvSpPr>
        <p:spPr>
          <a:xfrm>
            <a:off x="6598768" y="3273552"/>
            <a:ext cx="4587088" cy="219456"/>
          </a:xfrm>
          <a:prstGeom prst="rect">
            <a:avLst/>
          </a:prstGeom>
          <a:noFill/>
          <a:ln/>
        </p:spPr>
        <p:txBody>
          <a:bodyPr wrap="square" lIns="0" tIns="0" rIns="0" bIns="0" rtlCol="0" anchor="t"/>
          <a:lstStyle/>
          <a:p>
            <a:pPr marL="0" indent="0">
              <a:buNone/>
            </a:pPr>
            <a:r>
              <a:rPr lang="en-US" sz="1100" b="1" dirty="0">
                <a:solidFill>
                  <a:srgbClr val="14161A"/>
                </a:solidFill>
                <a:latin typeface="IBM Plex Sans" pitchFamily="34" charset="0"/>
                <a:ea typeface="IBM Plex Sans" pitchFamily="34" charset="-122"/>
                <a:cs typeface="IBM Plex Sans" pitchFamily="34" charset="-120"/>
              </a:rPr>
              <a:t>Hasib Ahmad</a:t>
            </a:r>
            <a:endParaRPr lang="en-US" sz="1100" dirty="0"/>
          </a:p>
        </p:txBody>
      </p:sp>
      <p:sp>
        <p:nvSpPr>
          <p:cNvPr id="16" name="Text 14"/>
          <p:cNvSpPr/>
          <p:nvPr/>
        </p:nvSpPr>
        <p:spPr>
          <a:xfrm>
            <a:off x="6598768" y="3511296"/>
            <a:ext cx="4587088" cy="182880"/>
          </a:xfrm>
          <a:prstGeom prst="rect">
            <a:avLst/>
          </a:prstGeom>
          <a:noFill/>
          <a:ln/>
        </p:spPr>
        <p:txBody>
          <a:bodyPr wrap="square" lIns="0" tIns="0" rIns="0" bIns="0" rtlCol="0" anchor="t"/>
          <a:lstStyle/>
          <a:p>
            <a:pPr marL="0" indent="0">
              <a:buNone/>
            </a:pPr>
            <a:r>
              <a:rPr lang="en-US" sz="750" kern="0" spc="100" dirty="0">
                <a:solidFill>
                  <a:srgbClr val="6F6A5F"/>
                </a:solidFill>
                <a:latin typeface="IBM Plex Mono" pitchFamily="34" charset="0"/>
                <a:ea typeface="IBM Plex Mono" pitchFamily="34" charset="-122"/>
                <a:cs typeface="IBM Plex Mono" pitchFamily="34" charset="-120"/>
              </a:rPr>
              <a:t>TEAM LEAD, DEVTROVE</a:t>
            </a:r>
            <a:endParaRPr lang="en-US" sz="750" dirty="0"/>
          </a:p>
        </p:txBody>
      </p:sp>
      <p:sp>
        <p:nvSpPr>
          <p:cNvPr id="17" name="Shape 15"/>
          <p:cNvSpPr/>
          <p:nvPr/>
        </p:nvSpPr>
        <p:spPr>
          <a:xfrm>
            <a:off x="640080" y="4114800"/>
            <a:ext cx="5318608" cy="2194560"/>
          </a:xfrm>
          <a:prstGeom prst="roundRect">
            <a:avLst>
              <a:gd name="adj" fmla="val 2083"/>
            </a:avLst>
          </a:prstGeom>
          <a:solidFill>
            <a:srgbClr val="FFFFFF"/>
          </a:solidFill>
          <a:ln/>
        </p:spPr>
        <p:txBody>
          <a:bodyPr/>
          <a:lstStyle/>
          <a:p>
            <a:endParaRPr lang="en-PK"/>
          </a:p>
        </p:txBody>
      </p:sp>
      <p:sp>
        <p:nvSpPr>
          <p:cNvPr id="18" name="Shape 16"/>
          <p:cNvSpPr/>
          <p:nvPr/>
        </p:nvSpPr>
        <p:spPr>
          <a:xfrm>
            <a:off x="640080" y="4389120"/>
            <a:ext cx="45720" cy="1645920"/>
          </a:xfrm>
          <a:prstGeom prst="rect">
            <a:avLst/>
          </a:prstGeom>
          <a:solidFill>
            <a:srgbClr val="8F5D0A"/>
          </a:solidFill>
          <a:ln/>
        </p:spPr>
        <p:txBody>
          <a:bodyPr/>
          <a:lstStyle/>
          <a:p>
            <a:endParaRPr lang="en-PK"/>
          </a:p>
        </p:txBody>
      </p:sp>
      <p:sp>
        <p:nvSpPr>
          <p:cNvPr id="19" name="Text 17"/>
          <p:cNvSpPr/>
          <p:nvPr/>
        </p:nvSpPr>
        <p:spPr>
          <a:xfrm>
            <a:off x="1005840" y="4370832"/>
            <a:ext cx="4587088" cy="182880"/>
          </a:xfrm>
          <a:prstGeom prst="rect">
            <a:avLst/>
          </a:prstGeom>
          <a:noFill/>
          <a:ln/>
        </p:spPr>
        <p:txBody>
          <a:bodyPr wrap="square" lIns="0" tIns="0" rIns="0" bIns="0" rtlCol="0" anchor="t"/>
          <a:lstStyle/>
          <a:p>
            <a:pPr marL="0" indent="0">
              <a:buNone/>
            </a:pPr>
            <a:r>
              <a:rPr lang="en-US" sz="750" b="1" kern="0" spc="120" dirty="0">
                <a:solidFill>
                  <a:srgbClr val="8F5D0A"/>
                </a:solidFill>
                <a:latin typeface="IBM Plex Mono" pitchFamily="34" charset="0"/>
                <a:ea typeface="IBM Plex Mono" pitchFamily="34" charset="-122"/>
                <a:cs typeface="IBM Plex Mono" pitchFamily="34" charset="-120"/>
              </a:rPr>
              <a:t>ENTERPRISE OMNICHANNEL MEDIA &amp; SOCIAL ANALYTICS PLATFORM</a:t>
            </a:r>
            <a:endParaRPr lang="en-US" sz="750" dirty="0"/>
          </a:p>
        </p:txBody>
      </p:sp>
      <p:sp>
        <p:nvSpPr>
          <p:cNvPr id="20" name="Text 18"/>
          <p:cNvSpPr/>
          <p:nvPr/>
        </p:nvSpPr>
        <p:spPr>
          <a:xfrm>
            <a:off x="1005840" y="4626864"/>
            <a:ext cx="4587088" cy="1097280"/>
          </a:xfrm>
          <a:prstGeom prst="rect">
            <a:avLst/>
          </a:prstGeom>
          <a:noFill/>
          <a:ln/>
        </p:spPr>
        <p:txBody>
          <a:bodyPr wrap="square" lIns="0" tIns="0" rIns="0" bIns="0" rtlCol="0" anchor="t"/>
          <a:lstStyle/>
          <a:p>
            <a:pPr marL="0" indent="0">
              <a:lnSpc>
                <a:spcPct val="112000"/>
              </a:lnSpc>
              <a:buNone/>
            </a:pPr>
            <a:r>
              <a:rPr lang="en-US" sz="1150" dirty="0">
                <a:solidFill>
                  <a:srgbClr val="14161A"/>
                </a:solidFill>
                <a:latin typeface="Space Grotesk" pitchFamily="34" charset="0"/>
                <a:ea typeface="Space Grotesk" pitchFamily="34" charset="-122"/>
                <a:cs typeface="Space Grotesk" pitchFamily="34" charset="-120"/>
              </a:rPr>
              <a:t>“Bolter Tech delivered a tailored solution that completely transformed how our newsroom and marketing teams track audience engagement. Having our 8 major channels reporting real-time metrics in a single, high-speed dashboard has significantly improved our decision-making speed.”</a:t>
            </a:r>
            <a:endParaRPr lang="en-US" sz="1150" dirty="0"/>
          </a:p>
        </p:txBody>
      </p:sp>
      <p:sp>
        <p:nvSpPr>
          <p:cNvPr id="21" name="Text 19"/>
          <p:cNvSpPr/>
          <p:nvPr/>
        </p:nvSpPr>
        <p:spPr>
          <a:xfrm>
            <a:off x="1005840" y="5742432"/>
            <a:ext cx="4587088" cy="219456"/>
          </a:xfrm>
          <a:prstGeom prst="rect">
            <a:avLst/>
          </a:prstGeom>
          <a:noFill/>
          <a:ln/>
        </p:spPr>
        <p:txBody>
          <a:bodyPr wrap="square" lIns="0" tIns="0" rIns="0" bIns="0" rtlCol="0" anchor="t"/>
          <a:lstStyle/>
          <a:p>
            <a:pPr marL="0" indent="0">
              <a:buNone/>
            </a:pPr>
            <a:r>
              <a:rPr lang="en-US" sz="1100" b="1" dirty="0">
                <a:solidFill>
                  <a:srgbClr val="14161A"/>
                </a:solidFill>
                <a:latin typeface="IBM Plex Sans" pitchFamily="34" charset="0"/>
                <a:ea typeface="IBM Plex Sans" pitchFamily="34" charset="-122"/>
                <a:cs typeface="IBM Plex Sans" pitchFamily="34" charset="-120"/>
              </a:rPr>
              <a:t>Fayyaz Siddiqui</a:t>
            </a:r>
            <a:endParaRPr lang="en-US" sz="1100" dirty="0"/>
          </a:p>
        </p:txBody>
      </p:sp>
      <p:sp>
        <p:nvSpPr>
          <p:cNvPr id="22" name="Text 20"/>
          <p:cNvSpPr/>
          <p:nvPr/>
        </p:nvSpPr>
        <p:spPr>
          <a:xfrm>
            <a:off x="1005840" y="5980176"/>
            <a:ext cx="4587088" cy="182880"/>
          </a:xfrm>
          <a:prstGeom prst="rect">
            <a:avLst/>
          </a:prstGeom>
          <a:noFill/>
          <a:ln/>
        </p:spPr>
        <p:txBody>
          <a:bodyPr wrap="square" lIns="0" tIns="0" rIns="0" bIns="0" rtlCol="0" anchor="t"/>
          <a:lstStyle/>
          <a:p>
            <a:pPr marL="0" indent="0">
              <a:buNone/>
            </a:pPr>
            <a:r>
              <a:rPr lang="en-US" sz="750" kern="0" spc="100" dirty="0">
                <a:solidFill>
                  <a:srgbClr val="6F6A5F"/>
                </a:solidFill>
                <a:latin typeface="IBM Plex Mono" pitchFamily="34" charset="0"/>
                <a:ea typeface="IBM Plex Mono" pitchFamily="34" charset="-122"/>
                <a:cs typeface="IBM Plex Mono" pitchFamily="34" charset="-120"/>
              </a:rPr>
              <a:t>MEDIA NETWORK DIRECTOR, CSCCC</a:t>
            </a:r>
            <a:endParaRPr lang="en-US" sz="750" dirty="0"/>
          </a:p>
        </p:txBody>
      </p:sp>
      <p:sp>
        <p:nvSpPr>
          <p:cNvPr id="23" name="Shape 21"/>
          <p:cNvSpPr/>
          <p:nvPr/>
        </p:nvSpPr>
        <p:spPr>
          <a:xfrm>
            <a:off x="6233008" y="4114800"/>
            <a:ext cx="5318608" cy="2194560"/>
          </a:xfrm>
          <a:prstGeom prst="roundRect">
            <a:avLst>
              <a:gd name="adj" fmla="val 2083"/>
            </a:avLst>
          </a:prstGeom>
          <a:solidFill>
            <a:srgbClr val="FFFFFF"/>
          </a:solidFill>
          <a:ln/>
        </p:spPr>
        <p:txBody>
          <a:bodyPr/>
          <a:lstStyle/>
          <a:p>
            <a:endParaRPr lang="en-PK"/>
          </a:p>
        </p:txBody>
      </p:sp>
      <p:sp>
        <p:nvSpPr>
          <p:cNvPr id="24" name="Shape 22"/>
          <p:cNvSpPr/>
          <p:nvPr/>
        </p:nvSpPr>
        <p:spPr>
          <a:xfrm>
            <a:off x="6233008" y="4389120"/>
            <a:ext cx="45720" cy="1645920"/>
          </a:xfrm>
          <a:prstGeom prst="rect">
            <a:avLst/>
          </a:prstGeom>
          <a:solidFill>
            <a:srgbClr val="8F5D0A"/>
          </a:solidFill>
          <a:ln/>
        </p:spPr>
        <p:txBody>
          <a:bodyPr/>
          <a:lstStyle/>
          <a:p>
            <a:endParaRPr lang="en-PK"/>
          </a:p>
        </p:txBody>
      </p:sp>
      <p:sp>
        <p:nvSpPr>
          <p:cNvPr id="25" name="Text 23"/>
          <p:cNvSpPr/>
          <p:nvPr/>
        </p:nvSpPr>
        <p:spPr>
          <a:xfrm>
            <a:off x="6598768" y="4370832"/>
            <a:ext cx="4587088" cy="182880"/>
          </a:xfrm>
          <a:prstGeom prst="rect">
            <a:avLst/>
          </a:prstGeom>
          <a:noFill/>
          <a:ln/>
        </p:spPr>
        <p:txBody>
          <a:bodyPr wrap="square" lIns="0" tIns="0" rIns="0" bIns="0" rtlCol="0" anchor="t"/>
          <a:lstStyle/>
          <a:p>
            <a:pPr marL="0" indent="0">
              <a:buNone/>
            </a:pPr>
            <a:r>
              <a:rPr lang="en-US" sz="750" b="1" kern="0" spc="120" dirty="0">
                <a:solidFill>
                  <a:srgbClr val="8F5D0A"/>
                </a:solidFill>
                <a:latin typeface="IBM Plex Mono" pitchFamily="34" charset="0"/>
                <a:ea typeface="IBM Plex Mono" pitchFamily="34" charset="-122"/>
                <a:cs typeface="IBM Plex Mono" pitchFamily="34" charset="-120"/>
              </a:rPr>
              <a:t>ENTERPRISE REAL-TIME WEBSITE ANALYSIS DASHBOARD</a:t>
            </a:r>
            <a:endParaRPr lang="en-US" sz="750" dirty="0"/>
          </a:p>
        </p:txBody>
      </p:sp>
      <p:sp>
        <p:nvSpPr>
          <p:cNvPr id="26" name="Text 24"/>
          <p:cNvSpPr/>
          <p:nvPr/>
        </p:nvSpPr>
        <p:spPr>
          <a:xfrm>
            <a:off x="6598768" y="4626864"/>
            <a:ext cx="4587088" cy="1097280"/>
          </a:xfrm>
          <a:prstGeom prst="rect">
            <a:avLst/>
          </a:prstGeom>
          <a:noFill/>
          <a:ln/>
        </p:spPr>
        <p:txBody>
          <a:bodyPr wrap="square" lIns="0" tIns="0" rIns="0" bIns="0" rtlCol="0" anchor="t"/>
          <a:lstStyle/>
          <a:p>
            <a:pPr marL="0" indent="0">
              <a:lnSpc>
                <a:spcPct val="112000"/>
              </a:lnSpc>
              <a:buNone/>
            </a:pPr>
            <a:r>
              <a:rPr lang="en-US" sz="1200" dirty="0">
                <a:solidFill>
                  <a:srgbClr val="14161A"/>
                </a:solidFill>
                <a:latin typeface="Space Grotesk" pitchFamily="34" charset="0"/>
                <a:ea typeface="Space Grotesk" pitchFamily="34" charset="-122"/>
                <a:cs typeface="Space Grotesk" pitchFamily="34" charset="-120"/>
              </a:rPr>
              <a:t>“BolterTech transformed our website evaluation workflow into a seamless, single-pane-of-glass dashboard. Their expertise in modern React architectures and intuitive SOC design made this project an outstanding success.”</a:t>
            </a:r>
            <a:endParaRPr lang="en-US" sz="1200" dirty="0"/>
          </a:p>
        </p:txBody>
      </p:sp>
      <p:sp>
        <p:nvSpPr>
          <p:cNvPr id="27" name="Text 25"/>
          <p:cNvSpPr/>
          <p:nvPr/>
        </p:nvSpPr>
        <p:spPr>
          <a:xfrm>
            <a:off x="6598768" y="5742432"/>
            <a:ext cx="4587088" cy="219456"/>
          </a:xfrm>
          <a:prstGeom prst="rect">
            <a:avLst/>
          </a:prstGeom>
          <a:noFill/>
          <a:ln/>
        </p:spPr>
        <p:txBody>
          <a:bodyPr wrap="square" lIns="0" tIns="0" rIns="0" bIns="0" rtlCol="0" anchor="t"/>
          <a:lstStyle/>
          <a:p>
            <a:pPr marL="0" indent="0">
              <a:buNone/>
            </a:pPr>
            <a:r>
              <a:rPr lang="en-US" sz="1100" b="1" dirty="0">
                <a:solidFill>
                  <a:srgbClr val="14161A"/>
                </a:solidFill>
                <a:latin typeface="IBM Plex Sans" pitchFamily="34" charset="0"/>
                <a:ea typeface="IBM Plex Sans" pitchFamily="34" charset="-122"/>
                <a:cs typeface="IBM Plex Sans" pitchFamily="34" charset="-120"/>
              </a:rPr>
              <a:t>Asif Usman</a:t>
            </a:r>
            <a:endParaRPr lang="en-US" sz="1100" dirty="0"/>
          </a:p>
        </p:txBody>
      </p:sp>
      <p:sp>
        <p:nvSpPr>
          <p:cNvPr id="28" name="Text 26"/>
          <p:cNvSpPr/>
          <p:nvPr/>
        </p:nvSpPr>
        <p:spPr>
          <a:xfrm>
            <a:off x="6598768" y="5980176"/>
            <a:ext cx="4587088" cy="182880"/>
          </a:xfrm>
          <a:prstGeom prst="rect">
            <a:avLst/>
          </a:prstGeom>
          <a:noFill/>
          <a:ln/>
        </p:spPr>
        <p:txBody>
          <a:bodyPr wrap="square" lIns="0" tIns="0" rIns="0" bIns="0" rtlCol="0" anchor="t"/>
          <a:lstStyle/>
          <a:p>
            <a:pPr marL="0" indent="0">
              <a:buNone/>
            </a:pPr>
            <a:r>
              <a:rPr lang="en-US" sz="750" kern="0" spc="100" dirty="0">
                <a:solidFill>
                  <a:srgbClr val="6F6A5F"/>
                </a:solidFill>
                <a:latin typeface="IBM Plex Mono" pitchFamily="34" charset="0"/>
                <a:ea typeface="IBM Plex Mono" pitchFamily="34" charset="-122"/>
                <a:cs typeface="IBM Plex Mono" pitchFamily="34" charset="-120"/>
              </a:rPr>
              <a:t>LEAD SECURITY &amp; OSINT ANALYST, TENBYTES</a:t>
            </a:r>
            <a:endParaRPr lang="en-US" sz="750" dirty="0"/>
          </a:p>
        </p:txBody>
      </p:sp>
      <p:sp>
        <p:nvSpPr>
          <p:cNvPr id="29" name="Text 27"/>
          <p:cNvSpPr/>
          <p:nvPr/>
        </p:nvSpPr>
        <p:spPr>
          <a:xfrm>
            <a:off x="640080" y="6473952"/>
            <a:ext cx="6400800" cy="164592"/>
          </a:xfrm>
          <a:prstGeom prst="rect">
            <a:avLst/>
          </a:prstGeom>
          <a:noFill/>
          <a:ln/>
        </p:spPr>
        <p:txBody>
          <a:bodyPr wrap="square" lIns="0" tIns="0" rIns="0" bIns="0" rtlCol="0" anchor="t"/>
          <a:lstStyle/>
          <a:p>
            <a:pPr marL="0" indent="0">
              <a:buNone/>
            </a:pPr>
            <a:r>
              <a:rPr lang="en-US" sz="700" kern="0" spc="150" dirty="0">
                <a:solidFill>
                  <a:srgbClr val="6F6A5F"/>
                </a:solidFill>
                <a:latin typeface="IBM Plex Mono" pitchFamily="34" charset="0"/>
                <a:ea typeface="IBM Plex Mono" pitchFamily="34" charset="-122"/>
                <a:cs typeface="IBM Plex Mono" pitchFamily="34" charset="-120"/>
              </a:rPr>
              <a:t>BOLTER TECHNOLOGIES PRIVATE LIMITED  ·  COMPANY PROFILE</a:t>
            </a:r>
            <a:endParaRPr lang="en-US" sz="700" dirty="0"/>
          </a:p>
        </p:txBody>
      </p:sp>
      <p:sp>
        <p:nvSpPr>
          <p:cNvPr id="30" name="Text 28"/>
          <p:cNvSpPr/>
          <p:nvPr/>
        </p:nvSpPr>
        <p:spPr>
          <a:xfrm>
            <a:off x="9722815" y="6473952"/>
            <a:ext cx="1828800" cy="164592"/>
          </a:xfrm>
          <a:prstGeom prst="rect">
            <a:avLst/>
          </a:prstGeom>
          <a:noFill/>
          <a:ln/>
        </p:spPr>
        <p:txBody>
          <a:bodyPr wrap="square" lIns="0" tIns="0" rIns="0" bIns="0" rtlCol="0" anchor="t"/>
          <a:lstStyle/>
          <a:p>
            <a:pPr marL="0" indent="0" algn="r">
              <a:buNone/>
            </a:pPr>
            <a:r>
              <a:rPr lang="en-US" sz="700" kern="0" spc="150" dirty="0">
                <a:solidFill>
                  <a:srgbClr val="6F6A5F"/>
                </a:solidFill>
                <a:latin typeface="IBM Plex Mono" pitchFamily="34" charset="0"/>
                <a:ea typeface="IBM Plex Mono" pitchFamily="34" charset="-122"/>
                <a:cs typeface="IBM Plex Mono" pitchFamily="34" charset="-120"/>
              </a:rPr>
              <a:t>20 / 23</a:t>
            </a:r>
            <a:endParaRPr lang="en-US" sz="7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A0B0C"/>
        </a:solidFill>
        <a:effectLst/>
      </p:bgPr>
    </p:bg>
    <p:spTree>
      <p:nvGrpSpPr>
        <p:cNvPr id="1" name=""/>
        <p:cNvGrpSpPr/>
        <p:nvPr/>
      </p:nvGrpSpPr>
      <p:grpSpPr>
        <a:xfrm>
          <a:off x="0" y="0"/>
          <a:ext cx="0" cy="0"/>
          <a:chOff x="0" y="0"/>
          <a:chExt cx="0" cy="0"/>
        </a:xfrm>
      </p:grpSpPr>
      <p:sp>
        <p:nvSpPr>
          <p:cNvPr id="2" name="Shape 0"/>
          <p:cNvSpPr/>
          <p:nvPr/>
        </p:nvSpPr>
        <p:spPr>
          <a:xfrm>
            <a:off x="640080" y="571500"/>
            <a:ext cx="219456" cy="32004"/>
          </a:xfrm>
          <a:prstGeom prst="rect">
            <a:avLst/>
          </a:prstGeom>
          <a:solidFill>
            <a:srgbClr val="E8A33D"/>
          </a:solidFill>
          <a:ln/>
        </p:spPr>
        <p:txBody>
          <a:bodyPr/>
          <a:lstStyle/>
          <a:p>
            <a:endParaRPr lang="en-PK"/>
          </a:p>
        </p:txBody>
      </p:sp>
      <p:sp>
        <p:nvSpPr>
          <p:cNvPr id="3" name="Text 1"/>
          <p:cNvSpPr/>
          <p:nvPr/>
        </p:nvSpPr>
        <p:spPr>
          <a:xfrm>
            <a:off x="969264" y="502920"/>
            <a:ext cx="8229600" cy="182880"/>
          </a:xfrm>
          <a:prstGeom prst="rect">
            <a:avLst/>
          </a:prstGeom>
          <a:noFill/>
          <a:ln/>
        </p:spPr>
        <p:txBody>
          <a:bodyPr wrap="square" lIns="0" tIns="0" rIns="0" bIns="0" rtlCol="0" anchor="t"/>
          <a:lstStyle/>
          <a:p>
            <a:pPr marL="0" indent="0">
              <a:buNone/>
            </a:pPr>
            <a:r>
              <a:rPr lang="en-US" sz="900" b="1" kern="0" spc="200" dirty="0">
                <a:solidFill>
                  <a:srgbClr val="E8A33D"/>
                </a:solidFill>
                <a:latin typeface="IBM Plex Mono" pitchFamily="34" charset="0"/>
                <a:ea typeface="IBM Plex Mono" pitchFamily="34" charset="-122"/>
                <a:cs typeface="IBM Plex Mono" pitchFamily="34" charset="-120"/>
              </a:rPr>
              <a:t>07  PEOPLE</a:t>
            </a:r>
            <a:endParaRPr lang="en-US" sz="900" dirty="0"/>
          </a:p>
        </p:txBody>
      </p:sp>
      <p:sp>
        <p:nvSpPr>
          <p:cNvPr id="4" name="Text 2"/>
          <p:cNvSpPr/>
          <p:nvPr/>
        </p:nvSpPr>
        <p:spPr>
          <a:xfrm>
            <a:off x="640080" y="777240"/>
            <a:ext cx="10911535" cy="685800"/>
          </a:xfrm>
          <a:prstGeom prst="rect">
            <a:avLst/>
          </a:prstGeom>
          <a:noFill/>
          <a:ln/>
        </p:spPr>
        <p:txBody>
          <a:bodyPr wrap="square" lIns="0" tIns="0" rIns="0" bIns="0" rtlCol="0" anchor="t"/>
          <a:lstStyle/>
          <a:p>
            <a:pPr marL="0" indent="0">
              <a:buNone/>
            </a:pPr>
            <a:r>
              <a:rPr lang="en-US" sz="3400" b="1" dirty="0">
                <a:solidFill>
                  <a:srgbClr val="FFFFFF"/>
                </a:solidFill>
                <a:latin typeface="Space Grotesk" pitchFamily="34" charset="0"/>
                <a:ea typeface="Space Grotesk" pitchFamily="34" charset="-122"/>
                <a:cs typeface="Space Grotesk" pitchFamily="34" charset="-120"/>
              </a:rPr>
              <a:t>Founders</a:t>
            </a:r>
            <a:endParaRPr lang="en-US" sz="3400" dirty="0"/>
          </a:p>
        </p:txBody>
      </p:sp>
      <p:sp>
        <p:nvSpPr>
          <p:cNvPr id="5" name="Text 3"/>
          <p:cNvSpPr/>
          <p:nvPr/>
        </p:nvSpPr>
        <p:spPr>
          <a:xfrm>
            <a:off x="640080" y="1828800"/>
            <a:ext cx="1005840" cy="1005840"/>
          </a:xfrm>
          <a:prstGeom prst="roundRect">
            <a:avLst>
              <a:gd name="adj" fmla="val 7273"/>
            </a:avLst>
          </a:prstGeom>
          <a:solidFill>
            <a:srgbClr val="0E1011"/>
          </a:solidFill>
          <a:ln w="9525">
            <a:solidFill>
              <a:srgbClr val="2E3033"/>
            </a:solidFill>
          </a:ln>
        </p:spPr>
        <p:txBody>
          <a:bodyPr wrap="square" lIns="0" tIns="0" rIns="0" bIns="0" rtlCol="0" anchor="ctr"/>
          <a:lstStyle/>
          <a:p>
            <a:pPr marL="0" indent="0" algn="ctr">
              <a:buNone/>
            </a:pPr>
            <a:r>
              <a:rPr lang="en-US" sz="3000" b="1" dirty="0">
                <a:solidFill>
                  <a:srgbClr val="E8A33D"/>
                </a:solidFill>
                <a:latin typeface="Space Grotesk" pitchFamily="34" charset="0"/>
                <a:ea typeface="Space Grotesk" pitchFamily="34" charset="-122"/>
                <a:cs typeface="Space Grotesk" pitchFamily="34" charset="-120"/>
              </a:rPr>
              <a:t>TM</a:t>
            </a:r>
            <a:endParaRPr lang="en-US" sz="3000" dirty="0"/>
          </a:p>
        </p:txBody>
      </p:sp>
      <p:sp>
        <p:nvSpPr>
          <p:cNvPr id="6" name="Text 4"/>
          <p:cNvSpPr/>
          <p:nvPr/>
        </p:nvSpPr>
        <p:spPr>
          <a:xfrm>
            <a:off x="640080" y="3108960"/>
            <a:ext cx="3362858" cy="411480"/>
          </a:xfrm>
          <a:prstGeom prst="rect">
            <a:avLst/>
          </a:prstGeom>
          <a:noFill/>
          <a:ln/>
        </p:spPr>
        <p:txBody>
          <a:bodyPr wrap="square" lIns="0" tIns="0" rIns="0" bIns="0" rtlCol="0" anchor="t"/>
          <a:lstStyle/>
          <a:p>
            <a:pPr marL="0" indent="0">
              <a:buNone/>
            </a:pPr>
            <a:r>
              <a:rPr lang="en-US" sz="2000" b="1" dirty="0">
                <a:solidFill>
                  <a:srgbClr val="FFFFFF"/>
                </a:solidFill>
                <a:latin typeface="Space Grotesk" pitchFamily="34" charset="0"/>
                <a:ea typeface="Space Grotesk" pitchFamily="34" charset="-122"/>
                <a:cs typeface="Space Grotesk" pitchFamily="34" charset="-120"/>
              </a:rPr>
              <a:t>Tariq Mehmood</a:t>
            </a:r>
            <a:endParaRPr lang="en-US" sz="2000" dirty="0"/>
          </a:p>
        </p:txBody>
      </p:sp>
      <p:sp>
        <p:nvSpPr>
          <p:cNvPr id="7" name="Text 5"/>
          <p:cNvSpPr/>
          <p:nvPr/>
        </p:nvSpPr>
        <p:spPr>
          <a:xfrm>
            <a:off x="640080" y="3547872"/>
            <a:ext cx="3362858" cy="201168"/>
          </a:xfrm>
          <a:prstGeom prst="rect">
            <a:avLst/>
          </a:prstGeom>
          <a:noFill/>
          <a:ln/>
        </p:spPr>
        <p:txBody>
          <a:bodyPr wrap="square" lIns="0" tIns="0" rIns="0" bIns="0" rtlCol="0" anchor="t"/>
          <a:lstStyle/>
          <a:p>
            <a:pPr marL="0" indent="0">
              <a:buNone/>
            </a:pPr>
            <a:r>
              <a:rPr lang="en-US" sz="900" b="1" kern="0" spc="150" dirty="0">
                <a:solidFill>
                  <a:srgbClr val="E8A33D"/>
                </a:solidFill>
                <a:latin typeface="IBM Plex Mono" pitchFamily="34" charset="0"/>
                <a:ea typeface="IBM Plex Mono" pitchFamily="34" charset="-122"/>
                <a:cs typeface="IBM Plex Mono" pitchFamily="34" charset="-120"/>
              </a:rPr>
              <a:t>CEO  ·  BUSINESS &amp; STRATEGY</a:t>
            </a:r>
            <a:endParaRPr lang="en-US" sz="900" dirty="0"/>
          </a:p>
        </p:txBody>
      </p:sp>
      <p:sp>
        <p:nvSpPr>
          <p:cNvPr id="8" name="Text 6"/>
          <p:cNvSpPr/>
          <p:nvPr/>
        </p:nvSpPr>
        <p:spPr>
          <a:xfrm>
            <a:off x="640080" y="3931920"/>
            <a:ext cx="3362858" cy="1645920"/>
          </a:xfrm>
          <a:prstGeom prst="rect">
            <a:avLst/>
          </a:prstGeom>
          <a:noFill/>
          <a:ln/>
        </p:spPr>
        <p:txBody>
          <a:bodyPr wrap="square" lIns="0" tIns="0" rIns="0" bIns="0" rtlCol="0" anchor="t"/>
          <a:lstStyle/>
          <a:p>
            <a:pPr marL="0" indent="0">
              <a:lnSpc>
                <a:spcPct val="130000"/>
              </a:lnSpc>
              <a:buNone/>
            </a:pPr>
            <a:r>
              <a:rPr lang="en-US" sz="1300" dirty="0">
                <a:solidFill>
                  <a:srgbClr val="B6B7B8"/>
                </a:solidFill>
                <a:latin typeface="IBM Plex Sans" pitchFamily="34" charset="0"/>
                <a:ea typeface="IBM Plex Sans" pitchFamily="34" charset="-122"/>
                <a:cs typeface="IBM Plex Sans" pitchFamily="34" charset="-120"/>
              </a:rPr>
              <a:t>Tariq leads Bolter’s vision, strategy, partnerships, and growth.</a:t>
            </a:r>
            <a:endParaRPr lang="en-US" sz="1300" dirty="0"/>
          </a:p>
        </p:txBody>
      </p:sp>
      <p:sp>
        <p:nvSpPr>
          <p:cNvPr id="9" name="Shape 7"/>
          <p:cNvSpPr/>
          <p:nvPr/>
        </p:nvSpPr>
        <p:spPr>
          <a:xfrm>
            <a:off x="640080" y="5623560"/>
            <a:ext cx="3362858" cy="0"/>
          </a:xfrm>
          <a:prstGeom prst="line">
            <a:avLst/>
          </a:prstGeom>
          <a:noFill/>
          <a:ln w="9525">
            <a:solidFill>
              <a:srgbClr val="2E3033"/>
            </a:solidFill>
            <a:prstDash val="solid"/>
          </a:ln>
        </p:spPr>
        <p:txBody>
          <a:bodyPr/>
          <a:lstStyle/>
          <a:p>
            <a:endParaRPr lang="en-PK"/>
          </a:p>
        </p:txBody>
      </p:sp>
      <p:sp>
        <p:nvSpPr>
          <p:cNvPr id="10" name="Text 8"/>
          <p:cNvSpPr/>
          <p:nvPr/>
        </p:nvSpPr>
        <p:spPr>
          <a:xfrm>
            <a:off x="640080" y="5760720"/>
            <a:ext cx="3362858" cy="502920"/>
          </a:xfrm>
          <a:prstGeom prst="rect">
            <a:avLst/>
          </a:prstGeom>
          <a:noFill/>
          <a:ln/>
        </p:spPr>
        <p:txBody>
          <a:bodyPr wrap="square" lIns="0" tIns="0" rIns="0" bIns="0" rtlCol="0" anchor="t"/>
          <a:lstStyle/>
          <a:p>
            <a:pPr marL="0" indent="0">
              <a:lnSpc>
                <a:spcPct val="140000"/>
              </a:lnSpc>
              <a:buNone/>
            </a:pPr>
            <a:r>
              <a:rPr lang="en-US" sz="1000" u="sng" dirty="0">
                <a:solidFill>
                  <a:srgbClr val="FFFFFF"/>
                </a:solidFill>
                <a:latin typeface="IBM Plex Mono" pitchFamily="34" charset="0"/>
                <a:ea typeface="IBM Plex Mono" pitchFamily="34" charset="-122"/>
                <a:cs typeface="IBM Plex Mono" pitchFamily="34" charset="-120"/>
                <a:hlinkClick r:id="rId3">
                  <a:extLst>
                    <a:ext uri="{A12FA001-AC4F-418D-AE19-62706E023703}">
                      <ahyp:hlinkClr xmlns:ahyp="http://schemas.microsoft.com/office/drawing/2018/hyperlinkcolor" val="tx"/>
                    </a:ext>
                  </a:extLst>
                </a:hlinkClick>
              </a:rPr>
              <a:t>ceo@boltertech.com</a:t>
            </a:r>
            <a:endParaRPr lang="en-US" sz="1000" dirty="0"/>
          </a:p>
        </p:txBody>
      </p:sp>
      <p:sp>
        <p:nvSpPr>
          <p:cNvPr id="11" name="Text 9"/>
          <p:cNvSpPr/>
          <p:nvPr/>
        </p:nvSpPr>
        <p:spPr>
          <a:xfrm>
            <a:off x="4414418" y="1828800"/>
            <a:ext cx="1005840" cy="1005840"/>
          </a:xfrm>
          <a:prstGeom prst="roundRect">
            <a:avLst>
              <a:gd name="adj" fmla="val 7273"/>
            </a:avLst>
          </a:prstGeom>
          <a:solidFill>
            <a:srgbClr val="0E1011"/>
          </a:solidFill>
          <a:ln w="9525">
            <a:solidFill>
              <a:srgbClr val="2E3033"/>
            </a:solidFill>
          </a:ln>
        </p:spPr>
        <p:txBody>
          <a:bodyPr wrap="square" lIns="0" tIns="0" rIns="0" bIns="0" rtlCol="0" anchor="ctr"/>
          <a:lstStyle/>
          <a:p>
            <a:pPr marL="0" indent="0" algn="ctr">
              <a:buNone/>
            </a:pPr>
            <a:r>
              <a:rPr lang="en-US" sz="3000" b="1" dirty="0">
                <a:solidFill>
                  <a:srgbClr val="E8A33D"/>
                </a:solidFill>
                <a:latin typeface="Space Grotesk" pitchFamily="34" charset="0"/>
                <a:ea typeface="Space Grotesk" pitchFamily="34" charset="-122"/>
                <a:cs typeface="Space Grotesk" pitchFamily="34" charset="-120"/>
              </a:rPr>
              <a:t>MJ</a:t>
            </a:r>
            <a:endParaRPr lang="en-US" sz="3000" dirty="0"/>
          </a:p>
        </p:txBody>
      </p:sp>
      <p:sp>
        <p:nvSpPr>
          <p:cNvPr id="12" name="Text 10"/>
          <p:cNvSpPr/>
          <p:nvPr/>
        </p:nvSpPr>
        <p:spPr>
          <a:xfrm>
            <a:off x="4414418" y="3108960"/>
            <a:ext cx="3362858" cy="411480"/>
          </a:xfrm>
          <a:prstGeom prst="rect">
            <a:avLst/>
          </a:prstGeom>
          <a:noFill/>
          <a:ln/>
        </p:spPr>
        <p:txBody>
          <a:bodyPr wrap="square" lIns="0" tIns="0" rIns="0" bIns="0" rtlCol="0" anchor="t"/>
          <a:lstStyle/>
          <a:p>
            <a:pPr marL="0" indent="0">
              <a:buNone/>
            </a:pPr>
            <a:r>
              <a:rPr lang="en-US" sz="2000" b="1" dirty="0">
                <a:solidFill>
                  <a:srgbClr val="FFFFFF"/>
                </a:solidFill>
                <a:latin typeface="Space Grotesk" pitchFamily="34" charset="0"/>
                <a:ea typeface="Space Grotesk" pitchFamily="34" charset="-122"/>
                <a:cs typeface="Space Grotesk" pitchFamily="34" charset="-120"/>
              </a:rPr>
              <a:t>Muhammad Hamza Javaid</a:t>
            </a:r>
            <a:endParaRPr lang="en-US" sz="2000" dirty="0"/>
          </a:p>
        </p:txBody>
      </p:sp>
      <p:sp>
        <p:nvSpPr>
          <p:cNvPr id="13" name="Text 11"/>
          <p:cNvSpPr/>
          <p:nvPr/>
        </p:nvSpPr>
        <p:spPr>
          <a:xfrm>
            <a:off x="4414418" y="3547872"/>
            <a:ext cx="3362858" cy="201168"/>
          </a:xfrm>
          <a:prstGeom prst="rect">
            <a:avLst/>
          </a:prstGeom>
          <a:noFill/>
          <a:ln/>
        </p:spPr>
        <p:txBody>
          <a:bodyPr wrap="square" lIns="0" tIns="0" rIns="0" bIns="0" rtlCol="0" anchor="t"/>
          <a:lstStyle/>
          <a:p>
            <a:pPr marL="0" indent="0">
              <a:buNone/>
            </a:pPr>
            <a:r>
              <a:rPr lang="en-US" sz="900" b="1" kern="0" spc="150" dirty="0">
                <a:solidFill>
                  <a:srgbClr val="E8A33D"/>
                </a:solidFill>
                <a:latin typeface="IBM Plex Mono" pitchFamily="34" charset="0"/>
                <a:ea typeface="IBM Plex Mono" pitchFamily="34" charset="-122"/>
                <a:cs typeface="IBM Plex Mono" pitchFamily="34" charset="-120"/>
              </a:rPr>
              <a:t>COO  ·  OPERATIONS &amp; DELIVERY</a:t>
            </a:r>
            <a:endParaRPr lang="en-US" sz="900" dirty="0"/>
          </a:p>
        </p:txBody>
      </p:sp>
      <p:sp>
        <p:nvSpPr>
          <p:cNvPr id="14" name="Text 12"/>
          <p:cNvSpPr/>
          <p:nvPr/>
        </p:nvSpPr>
        <p:spPr>
          <a:xfrm>
            <a:off x="4414418" y="3931920"/>
            <a:ext cx="3362858" cy="1645920"/>
          </a:xfrm>
          <a:prstGeom prst="rect">
            <a:avLst/>
          </a:prstGeom>
          <a:noFill/>
          <a:ln/>
        </p:spPr>
        <p:txBody>
          <a:bodyPr wrap="square" lIns="0" tIns="0" rIns="0" bIns="0" rtlCol="0" anchor="t"/>
          <a:lstStyle/>
          <a:p>
            <a:pPr marL="0" indent="0">
              <a:lnSpc>
                <a:spcPct val="130000"/>
              </a:lnSpc>
              <a:buNone/>
            </a:pPr>
            <a:r>
              <a:rPr lang="en-US" sz="1300" dirty="0">
                <a:solidFill>
                  <a:srgbClr val="B6B7B8"/>
                </a:solidFill>
                <a:latin typeface="IBM Plex Sans" pitchFamily="34" charset="0"/>
                <a:ea typeface="IBM Plex Sans" pitchFamily="34" charset="-122"/>
                <a:cs typeface="IBM Plex Sans" pitchFamily="34" charset="-120"/>
              </a:rPr>
              <a:t>Hamza runs Bolter’s day-to-day delivery — scoping client engagements, coordinating the engineering team, and keeping every project on schedule from kickoff to handover.</a:t>
            </a:r>
            <a:endParaRPr lang="en-US" sz="1300" dirty="0"/>
          </a:p>
        </p:txBody>
      </p:sp>
      <p:sp>
        <p:nvSpPr>
          <p:cNvPr id="15" name="Shape 13"/>
          <p:cNvSpPr/>
          <p:nvPr/>
        </p:nvSpPr>
        <p:spPr>
          <a:xfrm>
            <a:off x="4414418" y="5623560"/>
            <a:ext cx="3362858" cy="0"/>
          </a:xfrm>
          <a:prstGeom prst="line">
            <a:avLst/>
          </a:prstGeom>
          <a:noFill/>
          <a:ln w="9525">
            <a:solidFill>
              <a:srgbClr val="2E3033"/>
            </a:solidFill>
            <a:prstDash val="solid"/>
          </a:ln>
        </p:spPr>
        <p:txBody>
          <a:bodyPr/>
          <a:lstStyle/>
          <a:p>
            <a:endParaRPr lang="en-PK"/>
          </a:p>
        </p:txBody>
      </p:sp>
      <p:sp>
        <p:nvSpPr>
          <p:cNvPr id="16" name="Text 14"/>
          <p:cNvSpPr/>
          <p:nvPr/>
        </p:nvSpPr>
        <p:spPr>
          <a:xfrm>
            <a:off x="4414418" y="5760720"/>
            <a:ext cx="3362858" cy="502920"/>
          </a:xfrm>
          <a:prstGeom prst="rect">
            <a:avLst/>
          </a:prstGeom>
          <a:noFill/>
          <a:ln/>
        </p:spPr>
        <p:txBody>
          <a:bodyPr wrap="square" lIns="0" tIns="0" rIns="0" bIns="0" rtlCol="0" anchor="t"/>
          <a:lstStyle/>
          <a:p>
            <a:pPr marL="0" indent="0">
              <a:lnSpc>
                <a:spcPct val="140000"/>
              </a:lnSpc>
              <a:buNone/>
            </a:pPr>
            <a:r>
              <a:rPr lang="en-US" sz="1000" u="sng" dirty="0">
                <a:solidFill>
                  <a:srgbClr val="FFFFFF"/>
                </a:solidFill>
                <a:latin typeface="IBM Plex Mono" pitchFamily="34" charset="0"/>
                <a:ea typeface="IBM Plex Mono" pitchFamily="34" charset="-122"/>
                <a:cs typeface="IBM Plex Mono" pitchFamily="34" charset="-120"/>
                <a:hlinkClick r:id="rId4">
                  <a:extLst>
                    <a:ext uri="{A12FA001-AC4F-418D-AE19-62706E023703}">
                      <ahyp:hlinkClr xmlns:ahyp="http://schemas.microsoft.com/office/drawing/2018/hyperlinkcolor" val="tx"/>
                    </a:ext>
                  </a:extLst>
                </a:hlinkClick>
              </a:rPr>
              <a:t>coo@boltertech.com</a:t>
            </a:r>
            <a:endParaRPr lang="en-US" sz="1000" dirty="0"/>
          </a:p>
          <a:p>
            <a:pPr marL="0" indent="0">
              <a:lnSpc>
                <a:spcPct val="140000"/>
              </a:lnSpc>
              <a:buNone/>
            </a:pPr>
            <a:r>
              <a:rPr lang="en-US" sz="1000" u="sng" dirty="0">
                <a:solidFill>
                  <a:srgbClr val="B6B7B8"/>
                </a:solidFill>
                <a:latin typeface="IBM Plex Mono" pitchFamily="34" charset="0"/>
                <a:ea typeface="IBM Plex Mono" pitchFamily="34" charset="-122"/>
                <a:cs typeface="IBM Plex Mono" pitchFamily="34" charset="-120"/>
                <a:hlinkClick r:id="rId5">
                  <a:extLst>
                    <a:ext uri="{A12FA001-AC4F-418D-AE19-62706E023703}">
                      <ahyp:hlinkClr xmlns:ahyp="http://schemas.microsoft.com/office/drawing/2018/hyperlinkcolor" val="tx"/>
                    </a:ext>
                  </a:extLst>
                </a:hlinkClick>
              </a:rPr>
              <a:t>linkedin.com/in/HamzaJBandesha</a:t>
            </a:r>
            <a:endParaRPr lang="en-US" sz="1000" dirty="0"/>
          </a:p>
        </p:txBody>
      </p:sp>
      <p:sp>
        <p:nvSpPr>
          <p:cNvPr id="17" name="Text 15"/>
          <p:cNvSpPr/>
          <p:nvPr/>
        </p:nvSpPr>
        <p:spPr>
          <a:xfrm>
            <a:off x="8188757" y="1828800"/>
            <a:ext cx="1005840" cy="1005840"/>
          </a:xfrm>
          <a:prstGeom prst="roundRect">
            <a:avLst>
              <a:gd name="adj" fmla="val 7273"/>
            </a:avLst>
          </a:prstGeom>
          <a:solidFill>
            <a:srgbClr val="0E1011"/>
          </a:solidFill>
          <a:ln w="9525">
            <a:solidFill>
              <a:srgbClr val="2E3033"/>
            </a:solidFill>
          </a:ln>
        </p:spPr>
        <p:txBody>
          <a:bodyPr wrap="square" lIns="0" tIns="0" rIns="0" bIns="0" rtlCol="0" anchor="ctr"/>
          <a:lstStyle/>
          <a:p>
            <a:pPr marL="0" indent="0" algn="ctr">
              <a:buNone/>
            </a:pPr>
            <a:r>
              <a:rPr lang="en-US" sz="3000" b="1" dirty="0">
                <a:solidFill>
                  <a:srgbClr val="E8A33D"/>
                </a:solidFill>
                <a:latin typeface="Space Grotesk" pitchFamily="34" charset="0"/>
                <a:ea typeface="Space Grotesk" pitchFamily="34" charset="-122"/>
                <a:cs typeface="Space Grotesk" pitchFamily="34" charset="-120"/>
              </a:rPr>
              <a:t>MR</a:t>
            </a:r>
            <a:endParaRPr lang="en-US" sz="3000" dirty="0"/>
          </a:p>
        </p:txBody>
      </p:sp>
      <p:sp>
        <p:nvSpPr>
          <p:cNvPr id="18" name="Text 16"/>
          <p:cNvSpPr/>
          <p:nvPr/>
        </p:nvSpPr>
        <p:spPr>
          <a:xfrm>
            <a:off x="8188757" y="3108960"/>
            <a:ext cx="3362858" cy="411480"/>
          </a:xfrm>
          <a:prstGeom prst="rect">
            <a:avLst/>
          </a:prstGeom>
          <a:noFill/>
          <a:ln/>
        </p:spPr>
        <p:txBody>
          <a:bodyPr wrap="square" lIns="0" tIns="0" rIns="0" bIns="0" rtlCol="0" anchor="t"/>
          <a:lstStyle/>
          <a:p>
            <a:pPr marL="0" indent="0">
              <a:buNone/>
            </a:pPr>
            <a:r>
              <a:rPr lang="en-US" sz="2000" b="1" dirty="0">
                <a:solidFill>
                  <a:srgbClr val="FFFFFF"/>
                </a:solidFill>
                <a:latin typeface="Space Grotesk" pitchFamily="34" charset="0"/>
                <a:ea typeface="Space Grotesk" pitchFamily="34" charset="-122"/>
                <a:cs typeface="Space Grotesk" pitchFamily="34" charset="-120"/>
              </a:rPr>
              <a:t>Muhammad Sadiq Raza</a:t>
            </a:r>
            <a:endParaRPr lang="en-US" sz="2000" dirty="0"/>
          </a:p>
        </p:txBody>
      </p:sp>
      <p:sp>
        <p:nvSpPr>
          <p:cNvPr id="19" name="Text 17"/>
          <p:cNvSpPr/>
          <p:nvPr/>
        </p:nvSpPr>
        <p:spPr>
          <a:xfrm>
            <a:off x="8188757" y="3547872"/>
            <a:ext cx="3362858" cy="201168"/>
          </a:xfrm>
          <a:prstGeom prst="rect">
            <a:avLst/>
          </a:prstGeom>
          <a:noFill/>
          <a:ln/>
        </p:spPr>
        <p:txBody>
          <a:bodyPr wrap="square" lIns="0" tIns="0" rIns="0" bIns="0" rtlCol="0" anchor="t"/>
          <a:lstStyle/>
          <a:p>
            <a:pPr marL="0" indent="0">
              <a:buNone/>
            </a:pPr>
            <a:r>
              <a:rPr lang="en-US" sz="900" b="1" kern="0" spc="150" dirty="0">
                <a:solidFill>
                  <a:srgbClr val="E8A33D"/>
                </a:solidFill>
                <a:latin typeface="IBM Plex Mono" pitchFamily="34" charset="0"/>
                <a:ea typeface="IBM Plex Mono" pitchFamily="34" charset="-122"/>
                <a:cs typeface="IBM Plex Mono" pitchFamily="34" charset="-120"/>
              </a:rPr>
              <a:t>CTO  ·  TECHNOLOGY &amp; ENGINEERING</a:t>
            </a:r>
            <a:endParaRPr lang="en-US" sz="900" dirty="0"/>
          </a:p>
        </p:txBody>
      </p:sp>
      <p:sp>
        <p:nvSpPr>
          <p:cNvPr id="20" name="Text 18"/>
          <p:cNvSpPr/>
          <p:nvPr/>
        </p:nvSpPr>
        <p:spPr>
          <a:xfrm>
            <a:off x="8188757" y="3931920"/>
            <a:ext cx="3362858" cy="1645920"/>
          </a:xfrm>
          <a:prstGeom prst="rect">
            <a:avLst/>
          </a:prstGeom>
          <a:noFill/>
          <a:ln/>
        </p:spPr>
        <p:txBody>
          <a:bodyPr wrap="square" lIns="0" tIns="0" rIns="0" bIns="0" rtlCol="0" anchor="t"/>
          <a:lstStyle/>
          <a:p>
            <a:pPr marL="0" indent="0">
              <a:lnSpc>
                <a:spcPct val="130000"/>
              </a:lnSpc>
              <a:buNone/>
            </a:pPr>
            <a:r>
              <a:rPr lang="en-US" sz="1300" dirty="0">
                <a:solidFill>
                  <a:srgbClr val="B6B7B8"/>
                </a:solidFill>
                <a:latin typeface="IBM Plex Sans" pitchFamily="34" charset="0"/>
                <a:ea typeface="IBM Plex Sans" pitchFamily="34" charset="-122"/>
                <a:cs typeface="IBM Plex Sans" pitchFamily="34" charset="-120"/>
              </a:rPr>
              <a:t>Sadiq leads software architecture, development, integrations, and technical delivery.</a:t>
            </a:r>
            <a:endParaRPr lang="en-US" sz="1300" dirty="0"/>
          </a:p>
        </p:txBody>
      </p:sp>
      <p:sp>
        <p:nvSpPr>
          <p:cNvPr id="21" name="Shape 19"/>
          <p:cNvSpPr/>
          <p:nvPr/>
        </p:nvSpPr>
        <p:spPr>
          <a:xfrm>
            <a:off x="8188757" y="5623560"/>
            <a:ext cx="3362858" cy="0"/>
          </a:xfrm>
          <a:prstGeom prst="line">
            <a:avLst/>
          </a:prstGeom>
          <a:noFill/>
          <a:ln w="9525">
            <a:solidFill>
              <a:srgbClr val="2E3033"/>
            </a:solidFill>
            <a:prstDash val="solid"/>
          </a:ln>
        </p:spPr>
        <p:txBody>
          <a:bodyPr/>
          <a:lstStyle/>
          <a:p>
            <a:endParaRPr lang="en-PK"/>
          </a:p>
        </p:txBody>
      </p:sp>
      <p:sp>
        <p:nvSpPr>
          <p:cNvPr id="22" name="Text 20"/>
          <p:cNvSpPr/>
          <p:nvPr/>
        </p:nvSpPr>
        <p:spPr>
          <a:xfrm>
            <a:off x="8188757" y="5760720"/>
            <a:ext cx="3362858" cy="502920"/>
          </a:xfrm>
          <a:prstGeom prst="rect">
            <a:avLst/>
          </a:prstGeom>
          <a:noFill/>
          <a:ln/>
        </p:spPr>
        <p:txBody>
          <a:bodyPr wrap="square" lIns="0" tIns="0" rIns="0" bIns="0" rtlCol="0" anchor="t"/>
          <a:lstStyle/>
          <a:p>
            <a:pPr marL="0" indent="0">
              <a:lnSpc>
                <a:spcPct val="140000"/>
              </a:lnSpc>
              <a:buNone/>
            </a:pPr>
            <a:r>
              <a:rPr lang="en-US" sz="1000" u="sng" dirty="0">
                <a:solidFill>
                  <a:srgbClr val="FFFFFF"/>
                </a:solidFill>
                <a:latin typeface="IBM Plex Mono" pitchFamily="34" charset="0"/>
                <a:ea typeface="IBM Plex Mono" pitchFamily="34" charset="-122"/>
                <a:cs typeface="IBM Plex Mono" pitchFamily="34" charset="-120"/>
                <a:hlinkClick r:id="rId6">
                  <a:extLst>
                    <a:ext uri="{A12FA001-AC4F-418D-AE19-62706E023703}">
                      <ahyp:hlinkClr xmlns:ahyp="http://schemas.microsoft.com/office/drawing/2018/hyperlinkcolor" val="tx"/>
                    </a:ext>
                  </a:extLst>
                </a:hlinkClick>
              </a:rPr>
              <a:t>cto@boltertech.com</a:t>
            </a:r>
            <a:endParaRPr lang="en-US" sz="1000" dirty="0"/>
          </a:p>
          <a:p>
            <a:pPr marL="0" indent="0">
              <a:lnSpc>
                <a:spcPct val="140000"/>
              </a:lnSpc>
              <a:buNone/>
            </a:pPr>
            <a:r>
              <a:rPr lang="en-US" sz="1000" u="sng" dirty="0">
                <a:solidFill>
                  <a:srgbClr val="B6B7B8"/>
                </a:solidFill>
                <a:latin typeface="IBM Plex Mono" pitchFamily="34" charset="0"/>
                <a:ea typeface="IBM Plex Mono" pitchFamily="34" charset="-122"/>
                <a:cs typeface="IBM Plex Mono" pitchFamily="34" charset="-120"/>
                <a:hlinkClick r:id="rId7">
                  <a:extLst>
                    <a:ext uri="{A12FA001-AC4F-418D-AE19-62706E023703}">
                      <ahyp:hlinkClr xmlns:ahyp="http://schemas.microsoft.com/office/drawing/2018/hyperlinkcolor" val="tx"/>
                    </a:ext>
                  </a:extLst>
                </a:hlinkClick>
              </a:rPr>
              <a:t>linkedin.com/in/blackstarin</a:t>
            </a:r>
            <a:endParaRPr lang="en-US" sz="1000" dirty="0"/>
          </a:p>
        </p:txBody>
      </p:sp>
      <p:sp>
        <p:nvSpPr>
          <p:cNvPr id="23" name="Text 21"/>
          <p:cNvSpPr/>
          <p:nvPr/>
        </p:nvSpPr>
        <p:spPr>
          <a:xfrm>
            <a:off x="640080" y="6473952"/>
            <a:ext cx="6400800" cy="164592"/>
          </a:xfrm>
          <a:prstGeom prst="rect">
            <a:avLst/>
          </a:prstGeom>
          <a:noFill/>
          <a:ln/>
        </p:spPr>
        <p:txBody>
          <a:bodyPr wrap="square" lIns="0" tIns="0" rIns="0" bIns="0" rtlCol="0" anchor="t"/>
          <a:lstStyle/>
          <a:p>
            <a:pPr marL="0" indent="0">
              <a:buNone/>
            </a:pPr>
            <a:r>
              <a:rPr lang="en-US" sz="700" kern="0" spc="150" dirty="0">
                <a:solidFill>
                  <a:srgbClr val="8B8D8F"/>
                </a:solidFill>
                <a:latin typeface="IBM Plex Mono" pitchFamily="34" charset="0"/>
                <a:ea typeface="IBM Plex Mono" pitchFamily="34" charset="-122"/>
                <a:cs typeface="IBM Plex Mono" pitchFamily="34" charset="-120"/>
              </a:rPr>
              <a:t>BOLTER TECHNOLOGIES PRIVATE LIMITED  ·  COMPANY PROFILE</a:t>
            </a:r>
            <a:endParaRPr lang="en-US" sz="700" dirty="0"/>
          </a:p>
        </p:txBody>
      </p:sp>
      <p:sp>
        <p:nvSpPr>
          <p:cNvPr id="24" name="Text 22"/>
          <p:cNvSpPr/>
          <p:nvPr/>
        </p:nvSpPr>
        <p:spPr>
          <a:xfrm>
            <a:off x="9722815" y="6473952"/>
            <a:ext cx="1828800" cy="164592"/>
          </a:xfrm>
          <a:prstGeom prst="rect">
            <a:avLst/>
          </a:prstGeom>
          <a:noFill/>
          <a:ln/>
        </p:spPr>
        <p:txBody>
          <a:bodyPr wrap="square" lIns="0" tIns="0" rIns="0" bIns="0" rtlCol="0" anchor="t"/>
          <a:lstStyle/>
          <a:p>
            <a:pPr marL="0" indent="0" algn="r">
              <a:buNone/>
            </a:pPr>
            <a:r>
              <a:rPr lang="en-US" sz="700" kern="0" spc="150" dirty="0">
                <a:solidFill>
                  <a:srgbClr val="8B8D8F"/>
                </a:solidFill>
                <a:latin typeface="IBM Plex Mono" pitchFamily="34" charset="0"/>
                <a:ea typeface="IBM Plex Mono" pitchFamily="34" charset="-122"/>
                <a:cs typeface="IBM Plex Mono" pitchFamily="34" charset="-120"/>
              </a:rPr>
              <a:t>21 / 23</a:t>
            </a:r>
            <a:endParaRPr lang="en-US" sz="7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3F1ED"/>
        </a:solidFill>
        <a:effectLst/>
      </p:bgPr>
    </p:bg>
    <p:spTree>
      <p:nvGrpSpPr>
        <p:cNvPr id="1" name=""/>
        <p:cNvGrpSpPr/>
        <p:nvPr/>
      </p:nvGrpSpPr>
      <p:grpSpPr>
        <a:xfrm>
          <a:off x="0" y="0"/>
          <a:ext cx="0" cy="0"/>
          <a:chOff x="0" y="0"/>
          <a:chExt cx="0" cy="0"/>
        </a:xfrm>
      </p:grpSpPr>
      <p:sp>
        <p:nvSpPr>
          <p:cNvPr id="2" name="Shape 0"/>
          <p:cNvSpPr/>
          <p:nvPr/>
        </p:nvSpPr>
        <p:spPr>
          <a:xfrm>
            <a:off x="640080" y="571500"/>
            <a:ext cx="219456" cy="32004"/>
          </a:xfrm>
          <a:prstGeom prst="rect">
            <a:avLst/>
          </a:prstGeom>
          <a:solidFill>
            <a:srgbClr val="8F5D0A"/>
          </a:solidFill>
          <a:ln/>
        </p:spPr>
        <p:txBody>
          <a:bodyPr/>
          <a:lstStyle/>
          <a:p>
            <a:endParaRPr lang="en-PK"/>
          </a:p>
        </p:txBody>
      </p:sp>
      <p:sp>
        <p:nvSpPr>
          <p:cNvPr id="3" name="Text 1"/>
          <p:cNvSpPr/>
          <p:nvPr/>
        </p:nvSpPr>
        <p:spPr>
          <a:xfrm>
            <a:off x="969264" y="502920"/>
            <a:ext cx="8229600" cy="182880"/>
          </a:xfrm>
          <a:prstGeom prst="rect">
            <a:avLst/>
          </a:prstGeom>
          <a:noFill/>
          <a:ln/>
        </p:spPr>
        <p:txBody>
          <a:bodyPr wrap="square" lIns="0" tIns="0" rIns="0" bIns="0" rtlCol="0" anchor="t"/>
          <a:lstStyle/>
          <a:p>
            <a:pPr marL="0" indent="0">
              <a:buNone/>
            </a:pPr>
            <a:r>
              <a:rPr lang="en-US" sz="900" b="1" kern="0" spc="200" dirty="0">
                <a:solidFill>
                  <a:srgbClr val="8F5D0A"/>
                </a:solidFill>
                <a:latin typeface="IBM Plex Mono" pitchFamily="34" charset="0"/>
                <a:ea typeface="IBM Plex Mono" pitchFamily="34" charset="-122"/>
                <a:cs typeface="IBM Plex Mono" pitchFamily="34" charset="-120"/>
              </a:rPr>
              <a:t>08  WORKING TOGETHER</a:t>
            </a:r>
            <a:endParaRPr lang="en-US" sz="900" dirty="0"/>
          </a:p>
        </p:txBody>
      </p:sp>
      <p:sp>
        <p:nvSpPr>
          <p:cNvPr id="4" name="Text 2"/>
          <p:cNvSpPr/>
          <p:nvPr/>
        </p:nvSpPr>
        <p:spPr>
          <a:xfrm>
            <a:off x="640080" y="777240"/>
            <a:ext cx="10911535" cy="685800"/>
          </a:xfrm>
          <a:prstGeom prst="rect">
            <a:avLst/>
          </a:prstGeom>
          <a:noFill/>
          <a:ln/>
        </p:spPr>
        <p:txBody>
          <a:bodyPr wrap="square" lIns="0" tIns="0" rIns="0" bIns="0" rtlCol="0" anchor="t"/>
          <a:lstStyle/>
          <a:p>
            <a:pPr marL="0" indent="0">
              <a:buNone/>
            </a:pPr>
            <a:r>
              <a:rPr lang="en-US" sz="3400" b="1" dirty="0">
                <a:solidFill>
                  <a:srgbClr val="14161A"/>
                </a:solidFill>
                <a:latin typeface="Space Grotesk" pitchFamily="34" charset="0"/>
                <a:ea typeface="Space Grotesk" pitchFamily="34" charset="-122"/>
                <a:cs typeface="Space Grotesk" pitchFamily="34" charset="-120"/>
              </a:rPr>
              <a:t>Questions we get asked</a:t>
            </a:r>
            <a:endParaRPr lang="en-US" sz="3400" dirty="0"/>
          </a:p>
        </p:txBody>
      </p:sp>
      <p:sp>
        <p:nvSpPr>
          <p:cNvPr id="5" name="Shape 3"/>
          <p:cNvSpPr/>
          <p:nvPr/>
        </p:nvSpPr>
        <p:spPr>
          <a:xfrm>
            <a:off x="640080" y="1508760"/>
            <a:ext cx="5227168" cy="0"/>
          </a:xfrm>
          <a:prstGeom prst="line">
            <a:avLst/>
          </a:prstGeom>
          <a:noFill/>
          <a:ln w="9525">
            <a:solidFill>
              <a:srgbClr val="DCD8D0"/>
            </a:solidFill>
            <a:prstDash val="solid"/>
          </a:ln>
        </p:spPr>
        <p:txBody>
          <a:bodyPr/>
          <a:lstStyle/>
          <a:p>
            <a:endParaRPr lang="en-PK"/>
          </a:p>
        </p:txBody>
      </p:sp>
      <p:sp>
        <p:nvSpPr>
          <p:cNvPr id="6" name="Text 4"/>
          <p:cNvSpPr/>
          <p:nvPr/>
        </p:nvSpPr>
        <p:spPr>
          <a:xfrm>
            <a:off x="640080" y="1636776"/>
            <a:ext cx="5227168" cy="237744"/>
          </a:xfrm>
          <a:prstGeom prst="rect">
            <a:avLst/>
          </a:prstGeom>
          <a:noFill/>
          <a:ln/>
        </p:spPr>
        <p:txBody>
          <a:bodyPr wrap="square" lIns="0" tIns="0" rIns="0" bIns="0" rtlCol="0" anchor="t"/>
          <a:lstStyle/>
          <a:p>
            <a:pPr marL="0" indent="0">
              <a:buNone/>
            </a:pPr>
            <a:r>
              <a:rPr lang="en-US" sz="1300" b="1" dirty="0">
                <a:solidFill>
                  <a:srgbClr val="14161A"/>
                </a:solidFill>
                <a:latin typeface="Space Grotesk" pitchFamily="34" charset="0"/>
                <a:ea typeface="Space Grotesk" pitchFamily="34" charset="-122"/>
                <a:cs typeface="Space Grotesk" pitchFamily="34" charset="-120"/>
              </a:rPr>
              <a:t>Who owns the code and the intellectual property?</a:t>
            </a:r>
            <a:endParaRPr lang="en-US" sz="1300" dirty="0"/>
          </a:p>
        </p:txBody>
      </p:sp>
      <p:sp>
        <p:nvSpPr>
          <p:cNvPr id="7" name="Text 5"/>
          <p:cNvSpPr/>
          <p:nvPr/>
        </p:nvSpPr>
        <p:spPr>
          <a:xfrm>
            <a:off x="640080" y="1947672"/>
            <a:ext cx="5227168" cy="1088136"/>
          </a:xfrm>
          <a:prstGeom prst="rect">
            <a:avLst/>
          </a:prstGeom>
          <a:noFill/>
          <a:ln/>
        </p:spPr>
        <p:txBody>
          <a:bodyPr wrap="square" lIns="0" tIns="0" rIns="0" bIns="0" rtlCol="0" anchor="t"/>
          <a:lstStyle/>
          <a:p>
            <a:pPr marL="0" indent="0">
              <a:lnSpc>
                <a:spcPct val="120000"/>
              </a:lnSpc>
              <a:buNone/>
            </a:pPr>
            <a:r>
              <a:rPr lang="en-US" sz="1000" dirty="0">
                <a:solidFill>
                  <a:srgbClr val="5B6066"/>
                </a:solidFill>
                <a:latin typeface="IBM Plex Sans" pitchFamily="34" charset="0"/>
                <a:ea typeface="IBM Plex Sans" pitchFamily="34" charset="-122"/>
                <a:cs typeface="IBM Plex Sans" pitchFamily="34" charset="-120"/>
              </a:rPr>
              <a:t>You do, on final payment, in full. That includes the source, the infrastructure definitions, and the documentation. We keep no licence over your systems and we do not reuse client code in other engagements.</a:t>
            </a:r>
            <a:endParaRPr lang="en-US" sz="1000" dirty="0"/>
          </a:p>
        </p:txBody>
      </p:sp>
      <p:sp>
        <p:nvSpPr>
          <p:cNvPr id="8" name="Shape 6"/>
          <p:cNvSpPr/>
          <p:nvPr/>
        </p:nvSpPr>
        <p:spPr>
          <a:xfrm>
            <a:off x="6324448" y="1508760"/>
            <a:ext cx="5227168" cy="0"/>
          </a:xfrm>
          <a:prstGeom prst="line">
            <a:avLst/>
          </a:prstGeom>
          <a:noFill/>
          <a:ln w="9525">
            <a:solidFill>
              <a:srgbClr val="DCD8D0"/>
            </a:solidFill>
            <a:prstDash val="solid"/>
          </a:ln>
        </p:spPr>
        <p:txBody>
          <a:bodyPr/>
          <a:lstStyle/>
          <a:p>
            <a:endParaRPr lang="en-PK"/>
          </a:p>
        </p:txBody>
      </p:sp>
      <p:sp>
        <p:nvSpPr>
          <p:cNvPr id="9" name="Text 7"/>
          <p:cNvSpPr/>
          <p:nvPr/>
        </p:nvSpPr>
        <p:spPr>
          <a:xfrm>
            <a:off x="6324448" y="1636776"/>
            <a:ext cx="5227168" cy="237744"/>
          </a:xfrm>
          <a:prstGeom prst="rect">
            <a:avLst/>
          </a:prstGeom>
          <a:noFill/>
          <a:ln/>
        </p:spPr>
        <p:txBody>
          <a:bodyPr wrap="square" lIns="0" tIns="0" rIns="0" bIns="0" rtlCol="0" anchor="t"/>
          <a:lstStyle/>
          <a:p>
            <a:pPr marL="0" indent="0">
              <a:buNone/>
            </a:pPr>
            <a:r>
              <a:rPr lang="en-US" sz="1300" b="1" dirty="0">
                <a:solidFill>
                  <a:srgbClr val="14161A"/>
                </a:solidFill>
                <a:latin typeface="Space Grotesk" pitchFamily="34" charset="0"/>
                <a:ea typeface="Space Grotesk" pitchFamily="34" charset="-122"/>
                <a:cs typeface="Space Grotesk" pitchFamily="34" charset="-120"/>
              </a:rPr>
              <a:t>What timezone overlap do we actually get?</a:t>
            </a:r>
            <a:endParaRPr lang="en-US" sz="1300" dirty="0"/>
          </a:p>
        </p:txBody>
      </p:sp>
      <p:sp>
        <p:nvSpPr>
          <p:cNvPr id="10" name="Text 8"/>
          <p:cNvSpPr/>
          <p:nvPr/>
        </p:nvSpPr>
        <p:spPr>
          <a:xfrm>
            <a:off x="6324448" y="1947672"/>
            <a:ext cx="5227168" cy="1088136"/>
          </a:xfrm>
          <a:prstGeom prst="rect">
            <a:avLst/>
          </a:prstGeom>
          <a:noFill/>
          <a:ln/>
        </p:spPr>
        <p:txBody>
          <a:bodyPr wrap="square" lIns="0" tIns="0" rIns="0" bIns="0" rtlCol="0" anchor="t"/>
          <a:lstStyle/>
          <a:p>
            <a:pPr marL="0" indent="0">
              <a:lnSpc>
                <a:spcPct val="120000"/>
              </a:lnSpc>
              <a:buNone/>
            </a:pPr>
            <a:r>
              <a:rPr lang="en-US" sz="1000" dirty="0">
                <a:solidFill>
                  <a:srgbClr val="5B6066"/>
                </a:solidFill>
                <a:latin typeface="IBM Plex Sans" pitchFamily="34" charset="0"/>
                <a:ea typeface="IBM Plex Sans" pitchFamily="34" charset="-122"/>
                <a:cs typeface="IBM Plex Sans" pitchFamily="34" charset="-120"/>
              </a:rPr>
              <a:t>We operate in UTC+5. That is a full working morning overlapping Europe and an afternoon overlapping the US East Coast. We commit to a fixed daily overlap window in writing before a project starts rather than leaving it to chance.</a:t>
            </a:r>
            <a:endParaRPr lang="en-US" sz="1000" dirty="0"/>
          </a:p>
        </p:txBody>
      </p:sp>
      <p:sp>
        <p:nvSpPr>
          <p:cNvPr id="11" name="Shape 9"/>
          <p:cNvSpPr/>
          <p:nvPr/>
        </p:nvSpPr>
        <p:spPr>
          <a:xfrm>
            <a:off x="640080" y="3108960"/>
            <a:ext cx="5227168" cy="0"/>
          </a:xfrm>
          <a:prstGeom prst="line">
            <a:avLst/>
          </a:prstGeom>
          <a:noFill/>
          <a:ln w="9525">
            <a:solidFill>
              <a:srgbClr val="DCD8D0"/>
            </a:solidFill>
            <a:prstDash val="solid"/>
          </a:ln>
        </p:spPr>
        <p:txBody>
          <a:bodyPr/>
          <a:lstStyle/>
          <a:p>
            <a:endParaRPr lang="en-PK"/>
          </a:p>
        </p:txBody>
      </p:sp>
      <p:sp>
        <p:nvSpPr>
          <p:cNvPr id="12" name="Text 10"/>
          <p:cNvSpPr/>
          <p:nvPr/>
        </p:nvSpPr>
        <p:spPr>
          <a:xfrm>
            <a:off x="640080" y="3236976"/>
            <a:ext cx="5227168" cy="237744"/>
          </a:xfrm>
          <a:prstGeom prst="rect">
            <a:avLst/>
          </a:prstGeom>
          <a:noFill/>
          <a:ln/>
        </p:spPr>
        <p:txBody>
          <a:bodyPr wrap="square" lIns="0" tIns="0" rIns="0" bIns="0" rtlCol="0" anchor="t"/>
          <a:lstStyle/>
          <a:p>
            <a:pPr marL="0" indent="0">
              <a:buNone/>
            </a:pPr>
            <a:r>
              <a:rPr lang="en-US" sz="1300" b="1" dirty="0">
                <a:solidFill>
                  <a:srgbClr val="14161A"/>
                </a:solidFill>
                <a:latin typeface="Space Grotesk" pitchFamily="34" charset="0"/>
                <a:ea typeface="Space Grotesk" pitchFamily="34" charset="-122"/>
                <a:cs typeface="Space Grotesk" pitchFamily="34" charset="-120"/>
              </a:rPr>
              <a:t>How do you scope and price a project?</a:t>
            </a:r>
            <a:endParaRPr lang="en-US" sz="1300" dirty="0"/>
          </a:p>
        </p:txBody>
      </p:sp>
      <p:sp>
        <p:nvSpPr>
          <p:cNvPr id="13" name="Text 11"/>
          <p:cNvSpPr/>
          <p:nvPr/>
        </p:nvSpPr>
        <p:spPr>
          <a:xfrm>
            <a:off x="640080" y="3547872"/>
            <a:ext cx="5227168" cy="1088136"/>
          </a:xfrm>
          <a:prstGeom prst="rect">
            <a:avLst/>
          </a:prstGeom>
          <a:noFill/>
          <a:ln/>
        </p:spPr>
        <p:txBody>
          <a:bodyPr wrap="square" lIns="0" tIns="0" rIns="0" bIns="0" rtlCol="0" anchor="t"/>
          <a:lstStyle/>
          <a:p>
            <a:pPr marL="0" indent="0">
              <a:lnSpc>
                <a:spcPct val="120000"/>
              </a:lnSpc>
              <a:buNone/>
            </a:pPr>
            <a:r>
              <a:rPr lang="en-US" sz="1000" dirty="0">
                <a:solidFill>
                  <a:srgbClr val="5B6066"/>
                </a:solidFill>
                <a:latin typeface="IBM Plex Sans" pitchFamily="34" charset="0"/>
                <a:ea typeface="IBM Plex Sans" pitchFamily="34" charset="-122"/>
                <a:cs typeface="IBM Plex Sans" pitchFamily="34" charset="-120"/>
              </a:rPr>
              <a:t>We start with a conversation to understand what you need, how the work is done today, and what the project needs to achieve. We then turn that into a written scope with clear deliverables, timelines, assumptions, and pricing, with larger projects broken into defined phases. If something changes along the way, we discuss the impact on scope, timeline, and cost before doing the additional work, so there are no unexpected charges.</a:t>
            </a:r>
            <a:endParaRPr lang="en-US" sz="1000" dirty="0"/>
          </a:p>
        </p:txBody>
      </p:sp>
      <p:sp>
        <p:nvSpPr>
          <p:cNvPr id="14" name="Shape 12"/>
          <p:cNvSpPr/>
          <p:nvPr/>
        </p:nvSpPr>
        <p:spPr>
          <a:xfrm>
            <a:off x="6324448" y="3108960"/>
            <a:ext cx="5227168" cy="0"/>
          </a:xfrm>
          <a:prstGeom prst="line">
            <a:avLst/>
          </a:prstGeom>
          <a:noFill/>
          <a:ln w="9525">
            <a:solidFill>
              <a:srgbClr val="DCD8D0"/>
            </a:solidFill>
            <a:prstDash val="solid"/>
          </a:ln>
        </p:spPr>
        <p:txBody>
          <a:bodyPr/>
          <a:lstStyle/>
          <a:p>
            <a:endParaRPr lang="en-PK"/>
          </a:p>
        </p:txBody>
      </p:sp>
      <p:sp>
        <p:nvSpPr>
          <p:cNvPr id="15" name="Text 13"/>
          <p:cNvSpPr/>
          <p:nvPr/>
        </p:nvSpPr>
        <p:spPr>
          <a:xfrm>
            <a:off x="6324448" y="3236976"/>
            <a:ext cx="5227168" cy="237744"/>
          </a:xfrm>
          <a:prstGeom prst="rect">
            <a:avLst/>
          </a:prstGeom>
          <a:noFill/>
          <a:ln/>
        </p:spPr>
        <p:txBody>
          <a:bodyPr wrap="square" lIns="0" tIns="0" rIns="0" bIns="0" rtlCol="0" anchor="t"/>
          <a:lstStyle/>
          <a:p>
            <a:pPr marL="0" indent="0">
              <a:buNone/>
            </a:pPr>
            <a:r>
              <a:rPr lang="en-US" sz="1300" b="1" dirty="0">
                <a:solidFill>
                  <a:srgbClr val="14161A"/>
                </a:solidFill>
                <a:latin typeface="Space Grotesk" pitchFamily="34" charset="0"/>
                <a:ea typeface="Space Grotesk" pitchFamily="34" charset="-122"/>
                <a:cs typeface="Space Grotesk" pitchFamily="34" charset="-120"/>
              </a:rPr>
              <a:t>Do you use AI to write our code, and will you tell us?</a:t>
            </a:r>
            <a:endParaRPr lang="en-US" sz="1300" dirty="0"/>
          </a:p>
        </p:txBody>
      </p:sp>
      <p:sp>
        <p:nvSpPr>
          <p:cNvPr id="16" name="Text 14"/>
          <p:cNvSpPr/>
          <p:nvPr/>
        </p:nvSpPr>
        <p:spPr>
          <a:xfrm>
            <a:off x="6324448" y="3547872"/>
            <a:ext cx="5227168" cy="1088136"/>
          </a:xfrm>
          <a:prstGeom prst="rect">
            <a:avLst/>
          </a:prstGeom>
          <a:noFill/>
          <a:ln/>
        </p:spPr>
        <p:txBody>
          <a:bodyPr wrap="square" lIns="0" tIns="0" rIns="0" bIns="0" rtlCol="0" anchor="t"/>
          <a:lstStyle/>
          <a:p>
            <a:pPr marL="0" indent="0">
              <a:lnSpc>
                <a:spcPct val="120000"/>
              </a:lnSpc>
              <a:buNone/>
            </a:pPr>
            <a:r>
              <a:rPr lang="en-US" sz="1000" dirty="0">
                <a:solidFill>
                  <a:srgbClr val="5B6066"/>
                </a:solidFill>
                <a:latin typeface="IBM Plex Sans" pitchFamily="34" charset="0"/>
                <a:ea typeface="IBM Plex Sans" pitchFamily="34" charset="-122"/>
                <a:cs typeface="IBM Plex Sans" pitchFamily="34" charset="-120"/>
              </a:rPr>
              <a:t>Yes, we use AI tools where they can improve speed, research, testing, documentation, and development efficiency. AI-generated work is reviewed, tested, and validated by our engineers before it becomes part of your solution, and we remain responsible for the quality, security, and functionality of what we deliver. If AI is used in a material part of your project, we will be transparent about how it is being used and what human review is applied.</a:t>
            </a:r>
            <a:endParaRPr lang="en-US" sz="1000" dirty="0"/>
          </a:p>
        </p:txBody>
      </p:sp>
      <p:sp>
        <p:nvSpPr>
          <p:cNvPr id="17" name="Shape 15"/>
          <p:cNvSpPr/>
          <p:nvPr/>
        </p:nvSpPr>
        <p:spPr>
          <a:xfrm>
            <a:off x="640080" y="4709160"/>
            <a:ext cx="5227168" cy="0"/>
          </a:xfrm>
          <a:prstGeom prst="line">
            <a:avLst/>
          </a:prstGeom>
          <a:noFill/>
          <a:ln w="9525">
            <a:solidFill>
              <a:srgbClr val="DCD8D0"/>
            </a:solidFill>
            <a:prstDash val="solid"/>
          </a:ln>
        </p:spPr>
        <p:txBody>
          <a:bodyPr/>
          <a:lstStyle/>
          <a:p>
            <a:endParaRPr lang="en-PK"/>
          </a:p>
        </p:txBody>
      </p:sp>
      <p:sp>
        <p:nvSpPr>
          <p:cNvPr id="18" name="Text 16"/>
          <p:cNvSpPr/>
          <p:nvPr/>
        </p:nvSpPr>
        <p:spPr>
          <a:xfrm>
            <a:off x="640080" y="4837176"/>
            <a:ext cx="5227168" cy="438912"/>
          </a:xfrm>
          <a:prstGeom prst="rect">
            <a:avLst/>
          </a:prstGeom>
          <a:noFill/>
          <a:ln/>
        </p:spPr>
        <p:txBody>
          <a:bodyPr wrap="square" lIns="0" tIns="0" rIns="0" bIns="0" rtlCol="0" anchor="t"/>
          <a:lstStyle/>
          <a:p>
            <a:pPr marL="0" indent="0">
              <a:buNone/>
            </a:pPr>
            <a:r>
              <a:rPr lang="en-US" sz="1300" b="1" dirty="0">
                <a:solidFill>
                  <a:srgbClr val="14161A"/>
                </a:solidFill>
                <a:latin typeface="Space Grotesk" pitchFamily="34" charset="0"/>
                <a:ea typeface="Space Grotesk" pitchFamily="34" charset="-122"/>
                <a:cs typeface="Space Grotesk" pitchFamily="34" charset="-120"/>
              </a:rPr>
              <a:t>Can you work with our existing systems, or do we need to start from scratch?</a:t>
            </a:r>
            <a:endParaRPr lang="en-US" sz="1300" dirty="0"/>
          </a:p>
        </p:txBody>
      </p:sp>
      <p:sp>
        <p:nvSpPr>
          <p:cNvPr id="19" name="Text 17"/>
          <p:cNvSpPr/>
          <p:nvPr/>
        </p:nvSpPr>
        <p:spPr>
          <a:xfrm>
            <a:off x="640080" y="5349240"/>
            <a:ext cx="5227168" cy="886968"/>
          </a:xfrm>
          <a:prstGeom prst="rect">
            <a:avLst/>
          </a:prstGeom>
          <a:noFill/>
          <a:ln/>
        </p:spPr>
        <p:txBody>
          <a:bodyPr wrap="square" lIns="0" tIns="0" rIns="0" bIns="0" rtlCol="0" anchor="t"/>
          <a:lstStyle/>
          <a:p>
            <a:pPr marL="0" indent="0">
              <a:lnSpc>
                <a:spcPct val="120000"/>
              </a:lnSpc>
              <a:buNone/>
            </a:pPr>
            <a:r>
              <a:rPr lang="en-US" sz="1000" dirty="0">
                <a:solidFill>
                  <a:srgbClr val="5B6066"/>
                </a:solidFill>
                <a:latin typeface="IBM Plex Sans" pitchFamily="34" charset="0"/>
                <a:ea typeface="IBM Plex Sans" pitchFamily="34" charset="-122"/>
                <a:cs typeface="IBM Plex Sans" pitchFamily="34" charset="-120"/>
              </a:rPr>
              <a:t>We can work with what you already have. Whether you need to improve an existing application, connect different systems, automate a manual process, add AI capabilities, or build something completely new, we first assess your current setup and recommend the most practical approach. We do not rebuild something from scratch simply because it is easier for us.</a:t>
            </a:r>
            <a:endParaRPr lang="en-US" sz="1000" dirty="0"/>
          </a:p>
        </p:txBody>
      </p:sp>
      <p:sp>
        <p:nvSpPr>
          <p:cNvPr id="20" name="Shape 18"/>
          <p:cNvSpPr/>
          <p:nvPr/>
        </p:nvSpPr>
        <p:spPr>
          <a:xfrm>
            <a:off x="6324448" y="4709160"/>
            <a:ext cx="5227168" cy="0"/>
          </a:xfrm>
          <a:prstGeom prst="line">
            <a:avLst/>
          </a:prstGeom>
          <a:noFill/>
          <a:ln w="9525">
            <a:solidFill>
              <a:srgbClr val="DCD8D0"/>
            </a:solidFill>
            <a:prstDash val="solid"/>
          </a:ln>
        </p:spPr>
        <p:txBody>
          <a:bodyPr/>
          <a:lstStyle/>
          <a:p>
            <a:endParaRPr lang="en-PK"/>
          </a:p>
        </p:txBody>
      </p:sp>
      <p:sp>
        <p:nvSpPr>
          <p:cNvPr id="21" name="Text 19"/>
          <p:cNvSpPr/>
          <p:nvPr/>
        </p:nvSpPr>
        <p:spPr>
          <a:xfrm>
            <a:off x="6324448" y="4837176"/>
            <a:ext cx="5227168" cy="237744"/>
          </a:xfrm>
          <a:prstGeom prst="rect">
            <a:avLst/>
          </a:prstGeom>
          <a:noFill/>
          <a:ln/>
        </p:spPr>
        <p:txBody>
          <a:bodyPr wrap="square" lIns="0" tIns="0" rIns="0" bIns="0" rtlCol="0" anchor="t"/>
          <a:lstStyle/>
          <a:p>
            <a:pPr marL="0" indent="0">
              <a:buNone/>
            </a:pPr>
            <a:r>
              <a:rPr lang="en-US" sz="1300" b="1" dirty="0">
                <a:solidFill>
                  <a:srgbClr val="14161A"/>
                </a:solidFill>
                <a:latin typeface="Space Grotesk" pitchFamily="34" charset="0"/>
                <a:ea typeface="Space Grotesk" pitchFamily="34" charset="-122"/>
                <a:cs typeface="Space Grotesk" pitchFamily="34" charset="-120"/>
              </a:rPr>
              <a:t>What if our needs change during the project?</a:t>
            </a:r>
            <a:endParaRPr lang="en-US" sz="1300" dirty="0"/>
          </a:p>
        </p:txBody>
      </p:sp>
      <p:sp>
        <p:nvSpPr>
          <p:cNvPr id="22" name="Text 20"/>
          <p:cNvSpPr/>
          <p:nvPr/>
        </p:nvSpPr>
        <p:spPr>
          <a:xfrm>
            <a:off x="6324448" y="5148072"/>
            <a:ext cx="5227168" cy="1088136"/>
          </a:xfrm>
          <a:prstGeom prst="rect">
            <a:avLst/>
          </a:prstGeom>
          <a:noFill/>
          <a:ln/>
        </p:spPr>
        <p:txBody>
          <a:bodyPr wrap="square" lIns="0" tIns="0" rIns="0" bIns="0" rtlCol="0" anchor="t"/>
          <a:lstStyle/>
          <a:p>
            <a:pPr marL="0" indent="0">
              <a:lnSpc>
                <a:spcPct val="120000"/>
              </a:lnSpc>
              <a:buNone/>
            </a:pPr>
            <a:r>
              <a:rPr lang="en-US" sz="1000" dirty="0">
                <a:solidFill>
                  <a:srgbClr val="5B6066"/>
                </a:solidFill>
                <a:latin typeface="IBM Plex Sans" pitchFamily="34" charset="0"/>
                <a:ea typeface="IBM Plex Sans" pitchFamily="34" charset="-122"/>
                <a:cs typeface="IBM Plex Sans" pitchFamily="34" charset="-120"/>
              </a:rPr>
              <a:t>We plan in phases and communicate regularly, so changes can be discussed and incorporated as we go. If something new is needed, we will clarify the impact on scope, timeline, and cost before proceeding.</a:t>
            </a:r>
            <a:endParaRPr lang="en-US" sz="1000" dirty="0"/>
          </a:p>
        </p:txBody>
      </p:sp>
      <p:sp>
        <p:nvSpPr>
          <p:cNvPr id="23" name="Text 21"/>
          <p:cNvSpPr/>
          <p:nvPr/>
        </p:nvSpPr>
        <p:spPr>
          <a:xfrm>
            <a:off x="640080" y="6473952"/>
            <a:ext cx="6400800" cy="164592"/>
          </a:xfrm>
          <a:prstGeom prst="rect">
            <a:avLst/>
          </a:prstGeom>
          <a:noFill/>
          <a:ln/>
        </p:spPr>
        <p:txBody>
          <a:bodyPr wrap="square" lIns="0" tIns="0" rIns="0" bIns="0" rtlCol="0" anchor="t"/>
          <a:lstStyle/>
          <a:p>
            <a:pPr marL="0" indent="0">
              <a:buNone/>
            </a:pPr>
            <a:r>
              <a:rPr lang="en-US" sz="700" kern="0" spc="150" dirty="0">
                <a:solidFill>
                  <a:srgbClr val="6F6A5F"/>
                </a:solidFill>
                <a:latin typeface="IBM Plex Mono" pitchFamily="34" charset="0"/>
                <a:ea typeface="IBM Plex Mono" pitchFamily="34" charset="-122"/>
                <a:cs typeface="IBM Plex Mono" pitchFamily="34" charset="-120"/>
              </a:rPr>
              <a:t>BOLTER TECHNOLOGIES PRIVATE LIMITED  ·  COMPANY PROFILE</a:t>
            </a:r>
            <a:endParaRPr lang="en-US" sz="700" dirty="0"/>
          </a:p>
        </p:txBody>
      </p:sp>
      <p:sp>
        <p:nvSpPr>
          <p:cNvPr id="24" name="Text 22"/>
          <p:cNvSpPr/>
          <p:nvPr/>
        </p:nvSpPr>
        <p:spPr>
          <a:xfrm>
            <a:off x="9722815" y="6473952"/>
            <a:ext cx="1828800" cy="164592"/>
          </a:xfrm>
          <a:prstGeom prst="rect">
            <a:avLst/>
          </a:prstGeom>
          <a:noFill/>
          <a:ln/>
        </p:spPr>
        <p:txBody>
          <a:bodyPr wrap="square" lIns="0" tIns="0" rIns="0" bIns="0" rtlCol="0" anchor="t"/>
          <a:lstStyle/>
          <a:p>
            <a:pPr marL="0" indent="0" algn="r">
              <a:buNone/>
            </a:pPr>
            <a:r>
              <a:rPr lang="en-US" sz="700" kern="0" spc="150" dirty="0">
                <a:solidFill>
                  <a:srgbClr val="6F6A5F"/>
                </a:solidFill>
                <a:latin typeface="IBM Plex Mono" pitchFamily="34" charset="0"/>
                <a:ea typeface="IBM Plex Mono" pitchFamily="34" charset="-122"/>
                <a:cs typeface="IBM Plex Mono" pitchFamily="34" charset="-120"/>
              </a:rPr>
              <a:t>22 / 23</a:t>
            </a:r>
            <a:endParaRPr lang="en-US" sz="7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A0B0C"/>
        </a:solidFill>
        <a:effectLst/>
      </p:bgPr>
    </p:bg>
    <p:spTree>
      <p:nvGrpSpPr>
        <p:cNvPr id="1" name=""/>
        <p:cNvGrpSpPr/>
        <p:nvPr/>
      </p:nvGrpSpPr>
      <p:grpSpPr>
        <a:xfrm>
          <a:off x="0" y="0"/>
          <a:ext cx="0" cy="0"/>
          <a:chOff x="0" y="0"/>
          <a:chExt cx="0" cy="0"/>
        </a:xfrm>
      </p:grpSpPr>
      <p:pic>
        <p:nvPicPr>
          <p:cNvPr id="2" name="Image 0" descr="X:\code\personal\boltertech.com\public\yellow-logo.png"/>
          <p:cNvPicPr>
            <a:picLocks noChangeAspect="1"/>
          </p:cNvPicPr>
          <p:nvPr/>
        </p:nvPicPr>
        <p:blipFill>
          <a:blip r:embed="rId3"/>
          <a:stretch>
            <a:fillRect/>
          </a:stretch>
        </p:blipFill>
        <p:spPr>
          <a:xfrm>
            <a:off x="8549640" y="1143000"/>
            <a:ext cx="2926080" cy="3158809"/>
          </a:xfrm>
          <a:prstGeom prst="rect">
            <a:avLst/>
          </a:prstGeom>
        </p:spPr>
      </p:pic>
      <p:sp>
        <p:nvSpPr>
          <p:cNvPr id="3" name="Shape 0"/>
          <p:cNvSpPr/>
          <p:nvPr/>
        </p:nvSpPr>
        <p:spPr>
          <a:xfrm>
            <a:off x="640080" y="1257300"/>
            <a:ext cx="219456" cy="32004"/>
          </a:xfrm>
          <a:prstGeom prst="rect">
            <a:avLst/>
          </a:prstGeom>
          <a:solidFill>
            <a:srgbClr val="E8A33D"/>
          </a:solidFill>
          <a:ln/>
        </p:spPr>
        <p:txBody>
          <a:bodyPr/>
          <a:lstStyle/>
          <a:p>
            <a:endParaRPr lang="en-PK"/>
          </a:p>
        </p:txBody>
      </p:sp>
      <p:sp>
        <p:nvSpPr>
          <p:cNvPr id="4" name="Text 1"/>
          <p:cNvSpPr/>
          <p:nvPr/>
        </p:nvSpPr>
        <p:spPr>
          <a:xfrm>
            <a:off x="969264" y="1188720"/>
            <a:ext cx="8229600" cy="182880"/>
          </a:xfrm>
          <a:prstGeom prst="rect">
            <a:avLst/>
          </a:prstGeom>
          <a:noFill/>
          <a:ln/>
        </p:spPr>
        <p:txBody>
          <a:bodyPr wrap="square" lIns="0" tIns="0" rIns="0" bIns="0" rtlCol="0" anchor="t"/>
          <a:lstStyle/>
          <a:p>
            <a:pPr marL="0" indent="0">
              <a:buNone/>
            </a:pPr>
            <a:r>
              <a:rPr lang="en-US" sz="900" b="1" kern="0" spc="200" dirty="0">
                <a:solidFill>
                  <a:srgbClr val="E8A33D"/>
                </a:solidFill>
                <a:latin typeface="IBM Plex Mono" pitchFamily="34" charset="0"/>
                <a:ea typeface="IBM Plex Mono" pitchFamily="34" charset="-122"/>
                <a:cs typeface="IBM Plex Mono" pitchFamily="34" charset="-120"/>
              </a:rPr>
              <a:t>09  CONTACT</a:t>
            </a:r>
            <a:endParaRPr lang="en-US" sz="900" dirty="0"/>
          </a:p>
        </p:txBody>
      </p:sp>
      <p:sp>
        <p:nvSpPr>
          <p:cNvPr id="5" name="Text 2"/>
          <p:cNvSpPr/>
          <p:nvPr/>
        </p:nvSpPr>
        <p:spPr>
          <a:xfrm>
            <a:off x="640080" y="1508760"/>
            <a:ext cx="7498080" cy="1005840"/>
          </a:xfrm>
          <a:prstGeom prst="rect">
            <a:avLst/>
          </a:prstGeom>
          <a:noFill/>
          <a:ln/>
        </p:spPr>
        <p:txBody>
          <a:bodyPr wrap="square" lIns="0" tIns="0" rIns="0" bIns="0" rtlCol="0" anchor="t"/>
          <a:lstStyle/>
          <a:p>
            <a:pPr marL="0" indent="0">
              <a:buNone/>
            </a:pPr>
            <a:r>
              <a:rPr lang="en-US" sz="6400" b="1" dirty="0">
                <a:solidFill>
                  <a:srgbClr val="FFFFFF"/>
                </a:solidFill>
                <a:latin typeface="Space Grotesk" pitchFamily="34" charset="0"/>
                <a:ea typeface="Space Grotesk" pitchFamily="34" charset="-122"/>
                <a:cs typeface="Space Grotesk" pitchFamily="34" charset="-120"/>
              </a:rPr>
              <a:t>Start a project</a:t>
            </a:r>
            <a:endParaRPr lang="en-US" sz="6400" dirty="0"/>
          </a:p>
        </p:txBody>
      </p:sp>
      <p:sp>
        <p:nvSpPr>
          <p:cNvPr id="6" name="Text 3"/>
          <p:cNvSpPr/>
          <p:nvPr/>
        </p:nvSpPr>
        <p:spPr>
          <a:xfrm>
            <a:off x="640080" y="2697480"/>
            <a:ext cx="6583680" cy="822960"/>
          </a:xfrm>
          <a:prstGeom prst="rect">
            <a:avLst/>
          </a:prstGeom>
          <a:noFill/>
          <a:ln/>
        </p:spPr>
        <p:txBody>
          <a:bodyPr wrap="square" lIns="0" tIns="0" rIns="0" bIns="0" rtlCol="0" anchor="t"/>
          <a:lstStyle/>
          <a:p>
            <a:pPr marL="0" indent="0">
              <a:lnSpc>
                <a:spcPct val="120000"/>
              </a:lnSpc>
              <a:buNone/>
            </a:pPr>
            <a:r>
              <a:rPr lang="en-US" sz="2000" dirty="0">
                <a:solidFill>
                  <a:srgbClr val="B6B7B8"/>
                </a:solidFill>
                <a:latin typeface="IBM Plex Sans" pitchFamily="34" charset="0"/>
                <a:ea typeface="IBM Plex Sans" pitchFamily="34" charset="-122"/>
                <a:cs typeface="IBM Plex Sans" pitchFamily="34" charset="-120"/>
              </a:rPr>
              <a:t>Tell us what is slowing your team down. We reply within one business day.</a:t>
            </a:r>
            <a:endParaRPr lang="en-US" sz="2000" dirty="0"/>
          </a:p>
        </p:txBody>
      </p:sp>
      <p:sp>
        <p:nvSpPr>
          <p:cNvPr id="7" name="Shape 4"/>
          <p:cNvSpPr/>
          <p:nvPr/>
        </p:nvSpPr>
        <p:spPr>
          <a:xfrm>
            <a:off x="640080" y="4114800"/>
            <a:ext cx="3657600" cy="0"/>
          </a:xfrm>
          <a:prstGeom prst="line">
            <a:avLst/>
          </a:prstGeom>
          <a:noFill/>
          <a:ln w="9525">
            <a:solidFill>
              <a:srgbClr val="2E3033"/>
            </a:solidFill>
            <a:prstDash val="solid"/>
          </a:ln>
        </p:spPr>
        <p:txBody>
          <a:bodyPr/>
          <a:lstStyle/>
          <a:p>
            <a:endParaRPr lang="en-PK"/>
          </a:p>
        </p:txBody>
      </p:sp>
      <p:sp>
        <p:nvSpPr>
          <p:cNvPr id="8" name="Text 5"/>
          <p:cNvSpPr/>
          <p:nvPr/>
        </p:nvSpPr>
        <p:spPr>
          <a:xfrm>
            <a:off x="640080" y="4242816"/>
            <a:ext cx="3657600" cy="182880"/>
          </a:xfrm>
          <a:prstGeom prst="rect">
            <a:avLst/>
          </a:prstGeom>
          <a:noFill/>
          <a:ln/>
        </p:spPr>
        <p:txBody>
          <a:bodyPr wrap="square" lIns="0" tIns="0" rIns="0" bIns="0" rtlCol="0" anchor="t"/>
          <a:lstStyle/>
          <a:p>
            <a:pPr marL="0" indent="0">
              <a:buNone/>
            </a:pPr>
            <a:r>
              <a:rPr lang="en-US" sz="800" kern="0" spc="150" dirty="0">
                <a:solidFill>
                  <a:srgbClr val="8B8D8F"/>
                </a:solidFill>
                <a:latin typeface="IBM Plex Mono" pitchFamily="34" charset="0"/>
                <a:ea typeface="IBM Plex Mono" pitchFamily="34" charset="-122"/>
                <a:cs typeface="IBM Plex Mono" pitchFamily="34" charset="-120"/>
              </a:rPr>
              <a:t>EMAIL</a:t>
            </a:r>
            <a:endParaRPr lang="en-US" sz="800" dirty="0"/>
          </a:p>
        </p:txBody>
      </p:sp>
      <p:sp>
        <p:nvSpPr>
          <p:cNvPr id="9" name="Text 6"/>
          <p:cNvSpPr/>
          <p:nvPr/>
        </p:nvSpPr>
        <p:spPr>
          <a:xfrm>
            <a:off x="640080" y="4480560"/>
            <a:ext cx="3657600" cy="548640"/>
          </a:xfrm>
          <a:prstGeom prst="rect">
            <a:avLst/>
          </a:prstGeom>
          <a:noFill/>
          <a:ln/>
        </p:spPr>
        <p:txBody>
          <a:bodyPr wrap="square" lIns="0" tIns="0" rIns="0" bIns="0" rtlCol="0" anchor="t"/>
          <a:lstStyle/>
          <a:p>
            <a:pPr marL="0" indent="0">
              <a:lnSpc>
                <a:spcPct val="115000"/>
              </a:lnSpc>
              <a:buNone/>
            </a:pPr>
            <a:r>
              <a:rPr lang="en-US" sz="1500" u="sng" dirty="0">
                <a:solidFill>
                  <a:srgbClr val="FFFFFF"/>
                </a:solidFill>
                <a:latin typeface="IBM Plex Sans" pitchFamily="34" charset="0"/>
                <a:ea typeface="IBM Plex Sans" pitchFamily="34" charset="-122"/>
                <a:cs typeface="IBM Plex Sans" pitchFamily="34" charset="-120"/>
                <a:hlinkClick r:id="rId4">
                  <a:extLst>
                    <a:ext uri="{A12FA001-AC4F-418D-AE19-62706E023703}">
                      <ahyp:hlinkClr xmlns:ahyp="http://schemas.microsoft.com/office/drawing/2018/hyperlinkcolor" val="tx"/>
                    </a:ext>
                  </a:extLst>
                </a:hlinkClick>
              </a:rPr>
              <a:t>contact@boltertech.com</a:t>
            </a:r>
            <a:endParaRPr lang="en-US" sz="1500" dirty="0"/>
          </a:p>
        </p:txBody>
      </p:sp>
      <p:sp>
        <p:nvSpPr>
          <p:cNvPr id="10" name="Shape 7"/>
          <p:cNvSpPr/>
          <p:nvPr/>
        </p:nvSpPr>
        <p:spPr>
          <a:xfrm>
            <a:off x="4663440" y="4114800"/>
            <a:ext cx="3657600" cy="0"/>
          </a:xfrm>
          <a:prstGeom prst="line">
            <a:avLst/>
          </a:prstGeom>
          <a:noFill/>
          <a:ln w="9525">
            <a:solidFill>
              <a:srgbClr val="2E3033"/>
            </a:solidFill>
            <a:prstDash val="solid"/>
          </a:ln>
        </p:spPr>
        <p:txBody>
          <a:bodyPr/>
          <a:lstStyle/>
          <a:p>
            <a:endParaRPr lang="en-PK"/>
          </a:p>
        </p:txBody>
      </p:sp>
      <p:sp>
        <p:nvSpPr>
          <p:cNvPr id="11" name="Text 8"/>
          <p:cNvSpPr/>
          <p:nvPr/>
        </p:nvSpPr>
        <p:spPr>
          <a:xfrm>
            <a:off x="4663440" y="4242816"/>
            <a:ext cx="3657600" cy="182880"/>
          </a:xfrm>
          <a:prstGeom prst="rect">
            <a:avLst/>
          </a:prstGeom>
          <a:noFill/>
          <a:ln/>
        </p:spPr>
        <p:txBody>
          <a:bodyPr wrap="square" lIns="0" tIns="0" rIns="0" bIns="0" rtlCol="0" anchor="t"/>
          <a:lstStyle/>
          <a:p>
            <a:pPr marL="0" indent="0">
              <a:buNone/>
            </a:pPr>
            <a:r>
              <a:rPr lang="en-US" sz="800" kern="0" spc="150" dirty="0">
                <a:solidFill>
                  <a:srgbClr val="8B8D8F"/>
                </a:solidFill>
                <a:latin typeface="IBM Plex Mono" pitchFamily="34" charset="0"/>
                <a:ea typeface="IBM Plex Mono" pitchFamily="34" charset="-122"/>
                <a:cs typeface="IBM Plex Mono" pitchFamily="34" charset="-120"/>
              </a:rPr>
              <a:t>PHONE</a:t>
            </a:r>
            <a:endParaRPr lang="en-US" sz="800" dirty="0"/>
          </a:p>
        </p:txBody>
      </p:sp>
      <p:sp>
        <p:nvSpPr>
          <p:cNvPr id="12" name="Text 9"/>
          <p:cNvSpPr/>
          <p:nvPr/>
        </p:nvSpPr>
        <p:spPr>
          <a:xfrm>
            <a:off x="4663440" y="4480560"/>
            <a:ext cx="3657600" cy="548640"/>
          </a:xfrm>
          <a:prstGeom prst="rect">
            <a:avLst/>
          </a:prstGeom>
          <a:noFill/>
          <a:ln/>
        </p:spPr>
        <p:txBody>
          <a:bodyPr wrap="square" lIns="0" tIns="0" rIns="0" bIns="0" rtlCol="0" anchor="t"/>
          <a:lstStyle/>
          <a:p>
            <a:pPr marL="0" indent="0">
              <a:lnSpc>
                <a:spcPct val="115000"/>
              </a:lnSpc>
              <a:buNone/>
            </a:pPr>
            <a:r>
              <a:rPr lang="en-US" sz="1500" u="sng" dirty="0">
                <a:solidFill>
                  <a:srgbClr val="FFFFFF"/>
                </a:solidFill>
                <a:latin typeface="IBM Plex Sans" pitchFamily="34" charset="0"/>
                <a:ea typeface="IBM Plex Sans" pitchFamily="34" charset="-122"/>
                <a:cs typeface="IBM Plex Sans" pitchFamily="34" charset="-120"/>
                <a:hlinkClick r:id="rId5">
                  <a:extLst>
                    <a:ext uri="{A12FA001-AC4F-418D-AE19-62706E023703}">
                      <ahyp:hlinkClr xmlns:ahyp="http://schemas.microsoft.com/office/drawing/2018/hyperlinkcolor" val="tx"/>
                    </a:ext>
                  </a:extLst>
                </a:hlinkClick>
              </a:rPr>
              <a:t>+92 334 707 0209</a:t>
            </a:r>
            <a:endParaRPr lang="en-US" sz="1500" dirty="0"/>
          </a:p>
        </p:txBody>
      </p:sp>
      <p:sp>
        <p:nvSpPr>
          <p:cNvPr id="13" name="Shape 10"/>
          <p:cNvSpPr/>
          <p:nvPr/>
        </p:nvSpPr>
        <p:spPr>
          <a:xfrm>
            <a:off x="640080" y="5074920"/>
            <a:ext cx="3657600" cy="0"/>
          </a:xfrm>
          <a:prstGeom prst="line">
            <a:avLst/>
          </a:prstGeom>
          <a:noFill/>
          <a:ln w="9525">
            <a:solidFill>
              <a:srgbClr val="2E3033"/>
            </a:solidFill>
            <a:prstDash val="solid"/>
          </a:ln>
        </p:spPr>
        <p:txBody>
          <a:bodyPr/>
          <a:lstStyle/>
          <a:p>
            <a:endParaRPr lang="en-PK"/>
          </a:p>
        </p:txBody>
      </p:sp>
      <p:sp>
        <p:nvSpPr>
          <p:cNvPr id="14" name="Text 11"/>
          <p:cNvSpPr/>
          <p:nvPr/>
        </p:nvSpPr>
        <p:spPr>
          <a:xfrm>
            <a:off x="640080" y="5202936"/>
            <a:ext cx="3657600" cy="182880"/>
          </a:xfrm>
          <a:prstGeom prst="rect">
            <a:avLst/>
          </a:prstGeom>
          <a:noFill/>
          <a:ln/>
        </p:spPr>
        <p:txBody>
          <a:bodyPr wrap="square" lIns="0" tIns="0" rIns="0" bIns="0" rtlCol="0" anchor="t"/>
          <a:lstStyle/>
          <a:p>
            <a:pPr marL="0" indent="0">
              <a:buNone/>
            </a:pPr>
            <a:r>
              <a:rPr lang="en-US" sz="800" kern="0" spc="150" dirty="0">
                <a:solidFill>
                  <a:srgbClr val="8B8D8F"/>
                </a:solidFill>
                <a:latin typeface="IBM Plex Mono" pitchFamily="34" charset="0"/>
                <a:ea typeface="IBM Plex Mono" pitchFamily="34" charset="-122"/>
                <a:cs typeface="IBM Plex Mono" pitchFamily="34" charset="-120"/>
              </a:rPr>
              <a:t>WEBSITE</a:t>
            </a:r>
            <a:endParaRPr lang="en-US" sz="800" dirty="0"/>
          </a:p>
        </p:txBody>
      </p:sp>
      <p:sp>
        <p:nvSpPr>
          <p:cNvPr id="15" name="Text 12"/>
          <p:cNvSpPr/>
          <p:nvPr/>
        </p:nvSpPr>
        <p:spPr>
          <a:xfrm>
            <a:off x="640080" y="5440680"/>
            <a:ext cx="3657600" cy="548640"/>
          </a:xfrm>
          <a:prstGeom prst="rect">
            <a:avLst/>
          </a:prstGeom>
          <a:noFill/>
          <a:ln/>
        </p:spPr>
        <p:txBody>
          <a:bodyPr wrap="square" lIns="0" tIns="0" rIns="0" bIns="0" rtlCol="0" anchor="t"/>
          <a:lstStyle/>
          <a:p>
            <a:pPr marL="0" indent="0">
              <a:lnSpc>
                <a:spcPct val="115000"/>
              </a:lnSpc>
              <a:buNone/>
            </a:pPr>
            <a:r>
              <a:rPr lang="en-US" sz="1500" u="sng" dirty="0">
                <a:solidFill>
                  <a:srgbClr val="FFFFFF"/>
                </a:solidFill>
                <a:latin typeface="IBM Plex Sans" pitchFamily="34" charset="0"/>
                <a:ea typeface="IBM Plex Sans" pitchFamily="34" charset="-122"/>
                <a:cs typeface="IBM Plex Sans" pitchFamily="34" charset="-120"/>
                <a:hlinkClick r:id="rId6">
                  <a:extLst>
                    <a:ext uri="{A12FA001-AC4F-418D-AE19-62706E023703}">
                      <ahyp:hlinkClr xmlns:ahyp="http://schemas.microsoft.com/office/drawing/2018/hyperlinkcolor" val="tx"/>
                    </a:ext>
                  </a:extLst>
                </a:hlinkClick>
              </a:rPr>
              <a:t>boltertech.com</a:t>
            </a:r>
            <a:r>
              <a:rPr lang="en-US" sz="1500" u="sng" dirty="0">
                <a:solidFill>
                  <a:srgbClr val="FFFFFF"/>
                </a:solidFill>
                <a:latin typeface="IBM Plex Sans" pitchFamily="34" charset="0"/>
                <a:ea typeface="IBM Plex Sans" pitchFamily="34" charset="-122"/>
                <a:cs typeface="IBM Plex Sans" pitchFamily="34" charset="-120"/>
              </a:rPr>
              <a:t>/</a:t>
            </a:r>
            <a:r>
              <a:rPr lang="en-US" sz="1500" u="sng" dirty="0" err="1">
                <a:solidFill>
                  <a:srgbClr val="FFFFFF"/>
                </a:solidFill>
                <a:latin typeface="IBM Plex Sans" pitchFamily="34" charset="0"/>
                <a:ea typeface="IBM Plex Sans" pitchFamily="34" charset="-122"/>
                <a:cs typeface="IBM Plex Sans" pitchFamily="34" charset="-120"/>
              </a:rPr>
              <a:t>en</a:t>
            </a:r>
            <a:r>
              <a:rPr lang="en-US" sz="1500" u="sng" dirty="0">
                <a:solidFill>
                  <a:srgbClr val="FFFFFF"/>
                </a:solidFill>
                <a:latin typeface="IBM Plex Sans" pitchFamily="34" charset="0"/>
                <a:ea typeface="IBM Plex Sans" pitchFamily="34" charset="-122"/>
                <a:cs typeface="IBM Plex Sans" pitchFamily="34" charset="-120"/>
              </a:rPr>
              <a:t>/contact</a:t>
            </a:r>
            <a:endParaRPr lang="en-US" sz="1500" dirty="0"/>
          </a:p>
        </p:txBody>
      </p:sp>
      <p:sp>
        <p:nvSpPr>
          <p:cNvPr id="16" name="Shape 13"/>
          <p:cNvSpPr/>
          <p:nvPr/>
        </p:nvSpPr>
        <p:spPr>
          <a:xfrm>
            <a:off x="4663440" y="5074920"/>
            <a:ext cx="3657600" cy="0"/>
          </a:xfrm>
          <a:prstGeom prst="line">
            <a:avLst/>
          </a:prstGeom>
          <a:noFill/>
          <a:ln w="9525">
            <a:solidFill>
              <a:srgbClr val="2E3033"/>
            </a:solidFill>
            <a:prstDash val="solid"/>
          </a:ln>
        </p:spPr>
        <p:txBody>
          <a:bodyPr/>
          <a:lstStyle/>
          <a:p>
            <a:endParaRPr lang="en-PK"/>
          </a:p>
        </p:txBody>
      </p:sp>
      <p:sp>
        <p:nvSpPr>
          <p:cNvPr id="17" name="Text 14"/>
          <p:cNvSpPr/>
          <p:nvPr/>
        </p:nvSpPr>
        <p:spPr>
          <a:xfrm>
            <a:off x="4663440" y="5202936"/>
            <a:ext cx="3657600" cy="182880"/>
          </a:xfrm>
          <a:prstGeom prst="rect">
            <a:avLst/>
          </a:prstGeom>
          <a:noFill/>
          <a:ln/>
        </p:spPr>
        <p:txBody>
          <a:bodyPr wrap="square" lIns="0" tIns="0" rIns="0" bIns="0" rtlCol="0" anchor="t"/>
          <a:lstStyle/>
          <a:p>
            <a:pPr marL="0" indent="0">
              <a:buNone/>
            </a:pPr>
            <a:r>
              <a:rPr lang="en-US" sz="800" kern="0" spc="150" dirty="0">
                <a:solidFill>
                  <a:srgbClr val="8B8D8F"/>
                </a:solidFill>
                <a:latin typeface="IBM Plex Mono" pitchFamily="34" charset="0"/>
                <a:ea typeface="IBM Plex Mono" pitchFamily="34" charset="-122"/>
                <a:cs typeface="IBM Plex Mono" pitchFamily="34" charset="-120"/>
              </a:rPr>
              <a:t>OFFICE</a:t>
            </a:r>
            <a:endParaRPr lang="en-US" sz="800" dirty="0"/>
          </a:p>
        </p:txBody>
      </p:sp>
      <p:sp>
        <p:nvSpPr>
          <p:cNvPr id="18" name="Text 15"/>
          <p:cNvSpPr/>
          <p:nvPr/>
        </p:nvSpPr>
        <p:spPr>
          <a:xfrm>
            <a:off x="4663440" y="5440680"/>
            <a:ext cx="3657600" cy="548640"/>
          </a:xfrm>
          <a:prstGeom prst="rect">
            <a:avLst/>
          </a:prstGeom>
          <a:noFill/>
          <a:ln/>
        </p:spPr>
        <p:txBody>
          <a:bodyPr wrap="square" lIns="0" tIns="0" rIns="0" bIns="0" rtlCol="0" anchor="t"/>
          <a:lstStyle/>
          <a:p>
            <a:pPr marL="0" indent="0">
              <a:lnSpc>
                <a:spcPct val="115000"/>
              </a:lnSpc>
              <a:buNone/>
            </a:pPr>
            <a:r>
              <a:rPr lang="en-US" sz="1100" u="sng" dirty="0">
                <a:solidFill>
                  <a:srgbClr val="FFFFFF"/>
                </a:solidFill>
                <a:latin typeface="IBM Plex Sans" pitchFamily="34" charset="0"/>
                <a:ea typeface="IBM Plex Sans" pitchFamily="34" charset="-122"/>
                <a:cs typeface="IBM Plex Sans" pitchFamily="34" charset="-120"/>
                <a:hlinkClick r:id="rId7">
                  <a:extLst>
                    <a:ext uri="{A12FA001-AC4F-418D-AE19-62706E023703}">
                      <ahyp:hlinkClr xmlns:ahyp="http://schemas.microsoft.com/office/drawing/2018/hyperlinkcolor" val="tx"/>
                    </a:ext>
                  </a:extLst>
                </a:hlinkClick>
              </a:rPr>
              <a:t>303, 3rd Floor, Mehran Business Square, Plaza 3-H, Kunwar Block, Topcity-1, Islamabad, Pakistan</a:t>
            </a:r>
            <a:endParaRPr lang="en-US" sz="1100" dirty="0"/>
          </a:p>
        </p:txBody>
      </p:sp>
      <p:sp>
        <p:nvSpPr>
          <p:cNvPr id="19" name="Text 16"/>
          <p:cNvSpPr/>
          <p:nvPr/>
        </p:nvSpPr>
        <p:spPr>
          <a:xfrm>
            <a:off x="640080" y="6473952"/>
            <a:ext cx="6400800" cy="164592"/>
          </a:xfrm>
          <a:prstGeom prst="rect">
            <a:avLst/>
          </a:prstGeom>
          <a:noFill/>
          <a:ln/>
        </p:spPr>
        <p:txBody>
          <a:bodyPr wrap="square" lIns="0" tIns="0" rIns="0" bIns="0" rtlCol="0" anchor="t"/>
          <a:lstStyle/>
          <a:p>
            <a:pPr marL="0" indent="0">
              <a:buNone/>
            </a:pPr>
            <a:r>
              <a:rPr lang="en-US" sz="700" kern="0" spc="150" dirty="0">
                <a:solidFill>
                  <a:srgbClr val="8B8D8F"/>
                </a:solidFill>
                <a:latin typeface="IBM Plex Mono" pitchFamily="34" charset="0"/>
                <a:ea typeface="IBM Plex Mono" pitchFamily="34" charset="-122"/>
                <a:cs typeface="IBM Plex Mono" pitchFamily="34" charset="-120"/>
              </a:rPr>
              <a:t>BOLTER TECHNOLOGIES PRIVATE LIMITED  ·  COMPANY PROFILE</a:t>
            </a:r>
            <a:endParaRPr lang="en-US" sz="700" dirty="0"/>
          </a:p>
        </p:txBody>
      </p:sp>
      <p:sp>
        <p:nvSpPr>
          <p:cNvPr id="20" name="Text 17"/>
          <p:cNvSpPr/>
          <p:nvPr/>
        </p:nvSpPr>
        <p:spPr>
          <a:xfrm>
            <a:off x="9722815" y="6473952"/>
            <a:ext cx="1828800" cy="164592"/>
          </a:xfrm>
          <a:prstGeom prst="rect">
            <a:avLst/>
          </a:prstGeom>
          <a:noFill/>
          <a:ln/>
        </p:spPr>
        <p:txBody>
          <a:bodyPr wrap="square" lIns="0" tIns="0" rIns="0" bIns="0" rtlCol="0" anchor="t"/>
          <a:lstStyle/>
          <a:p>
            <a:pPr marL="0" indent="0" algn="r">
              <a:buNone/>
            </a:pPr>
            <a:r>
              <a:rPr lang="en-US" sz="700" kern="0" spc="150" dirty="0">
                <a:solidFill>
                  <a:srgbClr val="8B8D8F"/>
                </a:solidFill>
                <a:latin typeface="IBM Plex Mono" pitchFamily="34" charset="0"/>
                <a:ea typeface="IBM Plex Mono" pitchFamily="34" charset="-122"/>
                <a:cs typeface="IBM Plex Mono" pitchFamily="34" charset="-120"/>
              </a:rPr>
              <a:t>23 / 23</a:t>
            </a:r>
            <a:endParaRPr lang="en-US" sz="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Space Grotesk"/>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BM Plex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10</TotalTime>
  <Words>4007</Words>
  <Application>Microsoft Office PowerPoint</Application>
  <PresentationFormat>Widescreen</PresentationFormat>
  <Paragraphs>641</Paragraphs>
  <Slides>23</Slides>
  <Notes>23</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23</vt:i4>
      </vt:variant>
    </vt:vector>
  </HeadingPairs>
  <TitlesOfParts>
    <vt:vector size="28" baseType="lpstr">
      <vt:lpstr>Arial</vt:lpstr>
      <vt:lpstr>IBM Plex Mono</vt:lpstr>
      <vt:lpstr>IBM Plex Sans</vt:lpstr>
      <vt:lpstr>Space Grotesk</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Bolter Technologies Private Limited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Bolter Technologies — Company Profile</dc:title>
  <dc:subject>PptxGenJS Presentation</dc:subject>
  <dc:creator>Bolter Technologies Private Limited</dc:creator>
  <cp:lastModifiedBy>Muhammad Sadiq Raza</cp:lastModifiedBy>
  <cp:revision>2</cp:revision>
  <dcterms:created xsi:type="dcterms:W3CDTF">2026-09-16T08:04:29Z</dcterms:created>
  <dcterms:modified xsi:type="dcterms:W3CDTF">2026-09-16T08:22:37Z</dcterms:modified>
</cp:coreProperties>
</file>