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3.xml" ContentType="application/vnd.openxmlformats-officedocument.drawingml.chart+xml"/>
  <Override PartName="/ppt/notesSlides/notesSlide20.xml" ContentType="application/vnd.openxmlformats-officedocument.presentationml.notesSlide+xml"/>
  <Override PartName="/ppt/charts/chart4.xml" ContentType="application/vnd.openxmlformats-officedocument.drawingml.chart+xml"/>
  <Override PartName="/ppt/notesSlides/notesSlide21.xml" ContentType="application/vnd.openxmlformats-officedocument.presentationml.notesSlide+xml"/>
  <Override PartName="/ppt/charts/chart5.xml" ContentType="application/vnd.openxmlformats-officedocument.drawingml.chart+xml"/>
  <Override PartName="/ppt/notesSlides/notesSlide22.xml" ContentType="application/vnd.openxmlformats-officedocument.presentationml.notesSlide+xml"/>
  <Override PartName="/ppt/charts/chart6.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7.xml" ContentType="application/vnd.openxmlformats-officedocument.drawingml.chart+xml"/>
  <Override PartName="/ppt/notesSlides/notesSlide25.xml" ContentType="application/vnd.openxmlformats-officedocument.presentationml.notesSlide+xml"/>
  <Override PartName="/ppt/charts/chart8.xml" ContentType="application/vnd.openxmlformats-officedocument.drawingml.chart+xml"/>
  <Override PartName="/ppt/notesSlides/notesSlide26.xml" ContentType="application/vnd.openxmlformats-officedocument.presentationml.notesSlide+xml"/>
  <Override PartName="/ppt/charts/chart9.xml" ContentType="application/vnd.openxmlformats-officedocument.drawingml.chart+xml"/>
  <Override PartName="/ppt/notesSlides/notesSlide27.xml" ContentType="application/vnd.openxmlformats-officedocument.presentationml.notesSlide+xml"/>
  <Override PartName="/ppt/charts/chart10.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325" r:id="rId3"/>
    <p:sldId id="303" r:id="rId4"/>
    <p:sldId id="356" r:id="rId5"/>
    <p:sldId id="376" r:id="rId6"/>
    <p:sldId id="306" r:id="rId7"/>
    <p:sldId id="328" r:id="rId8"/>
    <p:sldId id="329" r:id="rId9"/>
    <p:sldId id="330" r:id="rId10"/>
    <p:sldId id="310" r:id="rId11"/>
    <p:sldId id="358" r:id="rId12"/>
    <p:sldId id="359" r:id="rId13"/>
    <p:sldId id="360" r:id="rId14"/>
    <p:sldId id="361" r:id="rId15"/>
    <p:sldId id="362" r:id="rId16"/>
    <p:sldId id="363" r:id="rId17"/>
    <p:sldId id="364" r:id="rId18"/>
    <p:sldId id="365" r:id="rId19"/>
    <p:sldId id="366" r:id="rId20"/>
    <p:sldId id="367" r:id="rId21"/>
    <p:sldId id="368" r:id="rId22"/>
    <p:sldId id="369" r:id="rId23"/>
    <p:sldId id="370" r:id="rId24"/>
    <p:sldId id="371" r:id="rId25"/>
    <p:sldId id="372" r:id="rId26"/>
    <p:sldId id="373" r:id="rId27"/>
    <p:sldId id="347" r:id="rId28"/>
    <p:sldId id="348" r:id="rId29"/>
    <p:sldId id="349" r:id="rId30"/>
    <p:sldId id="350" r:id="rId31"/>
    <p:sldId id="351" r:id="rId32"/>
    <p:sldId id="352" r:id="rId33"/>
    <p:sldId id="374"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F5D0A"/>
    <a:srgbClr val="E6EB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93" autoAdjust="0"/>
    <p:restoredTop sz="94610"/>
  </p:normalViewPr>
  <p:slideViewPr>
    <p:cSldViewPr snapToGrid="0" snapToObjects="1">
      <p:cViewPr varScale="1">
        <p:scale>
          <a:sx n="101" d="100"/>
          <a:sy n="101" d="100"/>
        </p:scale>
        <p:origin x="126" y="318"/>
      </p:cViewPr>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Before</c:v>
                </c:pt>
              </c:strCache>
            </c:strRef>
          </c:tx>
          <c:spPr>
            <a:solidFill>
              <a:srgbClr val="D3CEC4"/>
            </a:solidFill>
            <a:effectLst/>
          </c:spPr>
          <c:invertIfNegative val="0"/>
          <c:cat>
            <c:strRef>
              <c:f>Sheet1!$A$2:$A$13</c:f>
              <c:strCache>
                <c:ptCount val="12"/>
                <c:pt idx="0">
                  <c:v>Baseline</c:v>
                </c:pt>
                <c:pt idx="7">
                  <c:v>Automated</c:v>
                </c:pt>
                <c:pt idx="11">
                  <c:v>Steady-state</c:v>
                </c:pt>
              </c:strCache>
            </c:strRef>
          </c:cat>
          <c:val>
            <c:numRef>
              <c:f>Sheet1!$B$2:$B$13</c:f>
              <c:numCache>
                <c:formatCode>General</c:formatCode>
                <c:ptCount val="12"/>
                <c:pt idx="0">
                  <c:v>98</c:v>
                </c:pt>
                <c:pt idx="1">
                  <c:v>95</c:v>
                </c:pt>
                <c:pt idx="2">
                  <c:v>90</c:v>
                </c:pt>
                <c:pt idx="3">
                  <c:v>85</c:v>
                </c:pt>
                <c:pt idx="4">
                  <c:v>76</c:v>
                </c:pt>
                <c:pt idx="5">
                  <c:v>60</c:v>
                </c:pt>
                <c:pt idx="6">
                  <c:v>42</c:v>
                </c:pt>
                <c:pt idx="7">
                  <c:v>0</c:v>
                </c:pt>
                <c:pt idx="8">
                  <c:v>0</c:v>
                </c:pt>
                <c:pt idx="9">
                  <c:v>0</c:v>
                </c:pt>
                <c:pt idx="10">
                  <c:v>0</c:v>
                </c:pt>
                <c:pt idx="11">
                  <c:v>0</c:v>
                </c:pt>
              </c:numCache>
            </c:numRef>
          </c:val>
          <c:extLst>
            <c:ext xmlns:c16="http://schemas.microsoft.com/office/drawing/2014/chart" uri="{C3380CC4-5D6E-409C-BE32-E72D297353CC}">
              <c16:uniqueId val="{00000000-EDDB-41E4-88A5-A5462DD2FC7B}"/>
            </c:ext>
          </c:extLst>
        </c:ser>
        <c:ser>
          <c:idx val="1"/>
          <c:order val="1"/>
          <c:tx>
            <c:strRef>
              <c:f>Sheet1!$C$1</c:f>
              <c:strCache>
                <c:ptCount val="1"/>
                <c:pt idx="0">
                  <c:v>After</c:v>
                </c:pt>
              </c:strCache>
            </c:strRef>
          </c:tx>
          <c:spPr>
            <a:solidFill>
              <a:srgbClr val="8F5D0A"/>
            </a:solidFill>
            <a:effectLst/>
          </c:spPr>
          <c:invertIfNegative val="0"/>
          <c:cat>
            <c:strRef>
              <c:f>Sheet1!$A$2:$A$13</c:f>
              <c:strCache>
                <c:ptCount val="12"/>
                <c:pt idx="0">
                  <c:v>Baseline</c:v>
                </c:pt>
                <c:pt idx="7">
                  <c:v>Automated</c:v>
                </c:pt>
                <c:pt idx="11">
                  <c:v>Steady-state</c:v>
                </c:pt>
              </c:strCache>
            </c:strRef>
          </c:cat>
          <c:val>
            <c:numRef>
              <c:f>Sheet1!$C$2:$C$13</c:f>
              <c:numCache>
                <c:formatCode>General</c:formatCode>
                <c:ptCount val="12"/>
                <c:pt idx="0">
                  <c:v>0</c:v>
                </c:pt>
                <c:pt idx="1">
                  <c:v>0</c:v>
                </c:pt>
                <c:pt idx="2">
                  <c:v>0</c:v>
                </c:pt>
                <c:pt idx="3">
                  <c:v>0</c:v>
                </c:pt>
                <c:pt idx="4">
                  <c:v>0</c:v>
                </c:pt>
                <c:pt idx="5">
                  <c:v>0</c:v>
                </c:pt>
                <c:pt idx="6">
                  <c:v>0</c:v>
                </c:pt>
                <c:pt idx="7">
                  <c:v>28</c:v>
                </c:pt>
                <c:pt idx="8">
                  <c:v>18</c:v>
                </c:pt>
                <c:pt idx="9">
                  <c:v>12</c:v>
                </c:pt>
                <c:pt idx="10">
                  <c:v>8</c:v>
                </c:pt>
                <c:pt idx="11">
                  <c:v>5</c:v>
                </c:pt>
              </c:numCache>
            </c:numRef>
          </c:val>
          <c:extLst>
            <c:ext xmlns:c16="http://schemas.microsoft.com/office/drawing/2014/chart" uri="{C3380CC4-5D6E-409C-BE32-E72D297353CC}">
              <c16:uniqueId val="{00000001-EDDB-41E4-88A5-A5462DD2FC7B}"/>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D8D0"/>
            </a:solidFill>
            <a:prstDash val="solid"/>
            <a:round/>
          </a:ln>
        </c:spPr>
        <c:txPr>
          <a:bodyPr/>
          <a:lstStyle/>
          <a:p>
            <a:pPr>
              <a:defRPr sz="800" b="0" i="0" u="none" strike="noStrike">
                <a:solidFill>
                  <a:srgbClr val="6F6A5F"/>
                </a:solidFill>
                <a:latin typeface="IBM Plex Mono"/>
              </a:defRPr>
            </a:pPr>
            <a:endParaRPr lang="en-US"/>
          </a:p>
        </c:txPr>
        <c:crossAx val="2094734552"/>
        <c:crosses val="autoZero"/>
        <c:auto val="1"/>
        <c:lblAlgn val="ctr"/>
        <c:lblOffset val="100"/>
        <c:noMultiLvlLbl val="1"/>
      </c:catAx>
      <c:valAx>
        <c:axId val="2094734552"/>
        <c:scaling>
          <c:orientation val="minMax"/>
          <c:max val="100"/>
          <c:min val="0"/>
        </c:scaling>
        <c:delete val="1"/>
        <c:axPos val="l"/>
        <c:majorGridlines>
          <c:spPr>
            <a:ln w="6350" cap="flat">
              <a:solidFill>
                <a:srgbClr val="DCD8D0"/>
              </a:solidFill>
              <a:prstDash val="dash"/>
              <a:round/>
            </a:ln>
          </c:spPr>
        </c:majorGridlines>
        <c:numFmt formatCode="General" sourceLinked="0"/>
        <c:majorTickMark val="out"/>
        <c:minorTickMark val="none"/>
        <c:tickLblPos val="nextTo"/>
        <c:crossAx val="2094734554"/>
        <c:crosses val="autoZero"/>
        <c:crossBetween val="between"/>
      </c:valAx>
      <c:spPr>
        <a:solidFill>
          <a:srgbClr val="F3F1ED"/>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Before</c:v>
                </c:pt>
              </c:strCache>
            </c:strRef>
          </c:tx>
          <c:spPr>
            <a:solidFill>
              <a:srgbClr val="D3CEC4"/>
            </a:solidFill>
            <a:effectLst/>
          </c:spPr>
          <c:invertIfNegative val="0"/>
          <c:cat>
            <c:strRef>
              <c:f>Sheet1!$A$2:$A$13</c:f>
              <c:strCache>
                <c:ptCount val="12"/>
                <c:pt idx="0">
                  <c:v>Baseline</c:v>
                </c:pt>
                <c:pt idx="7">
                  <c:v>Automated</c:v>
                </c:pt>
                <c:pt idx="11">
                  <c:v>Steady-state</c:v>
                </c:pt>
              </c:strCache>
            </c:strRef>
          </c:cat>
          <c:val>
            <c:numRef>
              <c:f>Sheet1!$B$2:$B$13</c:f>
              <c:numCache>
                <c:formatCode>General</c:formatCode>
                <c:ptCount val="12"/>
                <c:pt idx="0">
                  <c:v>95</c:v>
                </c:pt>
                <c:pt idx="1">
                  <c:v>92</c:v>
                </c:pt>
                <c:pt idx="2">
                  <c:v>88</c:v>
                </c:pt>
                <c:pt idx="3">
                  <c:v>82</c:v>
                </c:pt>
                <c:pt idx="4">
                  <c:v>70</c:v>
                </c:pt>
                <c:pt idx="5">
                  <c:v>56</c:v>
                </c:pt>
                <c:pt idx="6">
                  <c:v>42</c:v>
                </c:pt>
                <c:pt idx="7">
                  <c:v>0</c:v>
                </c:pt>
                <c:pt idx="8">
                  <c:v>0</c:v>
                </c:pt>
                <c:pt idx="9">
                  <c:v>0</c:v>
                </c:pt>
                <c:pt idx="10">
                  <c:v>0</c:v>
                </c:pt>
                <c:pt idx="11">
                  <c:v>0</c:v>
                </c:pt>
              </c:numCache>
            </c:numRef>
          </c:val>
          <c:extLst>
            <c:ext xmlns:c16="http://schemas.microsoft.com/office/drawing/2014/chart" uri="{C3380CC4-5D6E-409C-BE32-E72D297353CC}">
              <c16:uniqueId val="{00000000-8C78-4232-8E25-5658ECAF312D}"/>
            </c:ext>
          </c:extLst>
        </c:ser>
        <c:ser>
          <c:idx val="1"/>
          <c:order val="1"/>
          <c:tx>
            <c:strRef>
              <c:f>Sheet1!$C$1</c:f>
              <c:strCache>
                <c:ptCount val="1"/>
                <c:pt idx="0">
                  <c:v>After</c:v>
                </c:pt>
              </c:strCache>
            </c:strRef>
          </c:tx>
          <c:spPr>
            <a:solidFill>
              <a:srgbClr val="8F5D0A"/>
            </a:solidFill>
            <a:effectLst/>
          </c:spPr>
          <c:invertIfNegative val="0"/>
          <c:cat>
            <c:strRef>
              <c:f>Sheet1!$A$2:$A$13</c:f>
              <c:strCache>
                <c:ptCount val="12"/>
                <c:pt idx="0">
                  <c:v>Baseline</c:v>
                </c:pt>
                <c:pt idx="7">
                  <c:v>Automated</c:v>
                </c:pt>
                <c:pt idx="11">
                  <c:v>Steady-state</c:v>
                </c:pt>
              </c:strCache>
            </c:strRef>
          </c:cat>
          <c:val>
            <c:numRef>
              <c:f>Sheet1!$C$2:$C$13</c:f>
              <c:numCache>
                <c:formatCode>General</c:formatCode>
                <c:ptCount val="12"/>
                <c:pt idx="0">
                  <c:v>0</c:v>
                </c:pt>
                <c:pt idx="1">
                  <c:v>0</c:v>
                </c:pt>
                <c:pt idx="2">
                  <c:v>0</c:v>
                </c:pt>
                <c:pt idx="3">
                  <c:v>0</c:v>
                </c:pt>
                <c:pt idx="4">
                  <c:v>0</c:v>
                </c:pt>
                <c:pt idx="5">
                  <c:v>0</c:v>
                </c:pt>
                <c:pt idx="6">
                  <c:v>0</c:v>
                </c:pt>
                <c:pt idx="7">
                  <c:v>30</c:v>
                </c:pt>
                <c:pt idx="8">
                  <c:v>22</c:v>
                </c:pt>
                <c:pt idx="9">
                  <c:v>16</c:v>
                </c:pt>
                <c:pt idx="10">
                  <c:v>12</c:v>
                </c:pt>
                <c:pt idx="11">
                  <c:v>9</c:v>
                </c:pt>
              </c:numCache>
            </c:numRef>
          </c:val>
          <c:extLst>
            <c:ext xmlns:c16="http://schemas.microsoft.com/office/drawing/2014/chart" uri="{C3380CC4-5D6E-409C-BE32-E72D297353CC}">
              <c16:uniqueId val="{00000001-8C78-4232-8E25-5658ECAF312D}"/>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D8D0"/>
            </a:solidFill>
            <a:prstDash val="solid"/>
            <a:round/>
          </a:ln>
        </c:spPr>
        <c:txPr>
          <a:bodyPr/>
          <a:lstStyle/>
          <a:p>
            <a:pPr>
              <a:defRPr sz="800" b="0" i="0" u="none" strike="noStrike">
                <a:solidFill>
                  <a:srgbClr val="6F6A5F"/>
                </a:solidFill>
                <a:latin typeface="IBM Plex Mono"/>
              </a:defRPr>
            </a:pPr>
            <a:endParaRPr lang="en-US"/>
          </a:p>
        </c:txPr>
        <c:crossAx val="2094734552"/>
        <c:crosses val="autoZero"/>
        <c:auto val="1"/>
        <c:lblAlgn val="ctr"/>
        <c:lblOffset val="100"/>
        <c:noMultiLvlLbl val="1"/>
      </c:catAx>
      <c:valAx>
        <c:axId val="2094734552"/>
        <c:scaling>
          <c:orientation val="minMax"/>
          <c:max val="100"/>
          <c:min val="0"/>
        </c:scaling>
        <c:delete val="1"/>
        <c:axPos val="l"/>
        <c:majorGridlines>
          <c:spPr>
            <a:ln w="6350" cap="flat">
              <a:solidFill>
                <a:srgbClr val="DCD8D0"/>
              </a:solidFill>
              <a:prstDash val="dash"/>
              <a:round/>
            </a:ln>
          </c:spPr>
        </c:majorGridlines>
        <c:numFmt formatCode="General" sourceLinked="0"/>
        <c:majorTickMark val="out"/>
        <c:minorTickMark val="none"/>
        <c:tickLblPos val="nextTo"/>
        <c:crossAx val="2094734554"/>
        <c:crosses val="autoZero"/>
        <c:crossBetween val="between"/>
      </c:valAx>
      <c:spPr>
        <a:solidFill>
          <a:srgbClr val="F3F1ED"/>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Before</c:v>
                </c:pt>
              </c:strCache>
            </c:strRef>
          </c:tx>
          <c:spPr>
            <a:solidFill>
              <a:srgbClr val="D3CEC4"/>
            </a:solidFill>
            <a:effectLst/>
          </c:spPr>
          <c:invertIfNegative val="0"/>
          <c:cat>
            <c:strRef>
              <c:f>Sheet1!$A$2:$A$13</c:f>
              <c:strCache>
                <c:ptCount val="12"/>
                <c:pt idx="0">
                  <c:v>Baseline</c:v>
                </c:pt>
                <c:pt idx="7">
                  <c:v>Automated</c:v>
                </c:pt>
                <c:pt idx="11">
                  <c:v>Steady-state</c:v>
                </c:pt>
              </c:strCache>
            </c:strRef>
          </c:cat>
          <c:val>
            <c:numRef>
              <c:f>Sheet1!$B$2:$B$13</c:f>
              <c:numCache>
                <c:formatCode>General</c:formatCode>
                <c:ptCount val="12"/>
                <c:pt idx="0">
                  <c:v>95</c:v>
                </c:pt>
                <c:pt idx="1">
                  <c:v>92</c:v>
                </c:pt>
                <c:pt idx="2">
                  <c:v>86</c:v>
                </c:pt>
                <c:pt idx="3">
                  <c:v>78</c:v>
                </c:pt>
                <c:pt idx="4">
                  <c:v>68</c:v>
                </c:pt>
                <c:pt idx="5">
                  <c:v>54</c:v>
                </c:pt>
                <c:pt idx="6">
                  <c:v>38</c:v>
                </c:pt>
                <c:pt idx="7">
                  <c:v>0</c:v>
                </c:pt>
                <c:pt idx="8">
                  <c:v>0</c:v>
                </c:pt>
                <c:pt idx="9">
                  <c:v>0</c:v>
                </c:pt>
                <c:pt idx="10">
                  <c:v>0</c:v>
                </c:pt>
                <c:pt idx="11">
                  <c:v>0</c:v>
                </c:pt>
              </c:numCache>
            </c:numRef>
          </c:val>
          <c:extLst>
            <c:ext xmlns:c16="http://schemas.microsoft.com/office/drawing/2014/chart" uri="{C3380CC4-5D6E-409C-BE32-E72D297353CC}">
              <c16:uniqueId val="{00000000-FF5F-4B4C-A6BF-59B81BF2D5FC}"/>
            </c:ext>
          </c:extLst>
        </c:ser>
        <c:ser>
          <c:idx val="1"/>
          <c:order val="1"/>
          <c:tx>
            <c:strRef>
              <c:f>Sheet1!$C$1</c:f>
              <c:strCache>
                <c:ptCount val="1"/>
                <c:pt idx="0">
                  <c:v>After</c:v>
                </c:pt>
              </c:strCache>
            </c:strRef>
          </c:tx>
          <c:spPr>
            <a:solidFill>
              <a:srgbClr val="8F5D0A"/>
            </a:solidFill>
            <a:effectLst/>
          </c:spPr>
          <c:invertIfNegative val="0"/>
          <c:cat>
            <c:strRef>
              <c:f>Sheet1!$A$2:$A$13</c:f>
              <c:strCache>
                <c:ptCount val="12"/>
                <c:pt idx="0">
                  <c:v>Baseline</c:v>
                </c:pt>
                <c:pt idx="7">
                  <c:v>Automated</c:v>
                </c:pt>
                <c:pt idx="11">
                  <c:v>Steady-state</c:v>
                </c:pt>
              </c:strCache>
            </c:strRef>
          </c:cat>
          <c:val>
            <c:numRef>
              <c:f>Sheet1!$C$2:$C$13</c:f>
              <c:numCache>
                <c:formatCode>General</c:formatCode>
                <c:ptCount val="12"/>
                <c:pt idx="0">
                  <c:v>0</c:v>
                </c:pt>
                <c:pt idx="1">
                  <c:v>0</c:v>
                </c:pt>
                <c:pt idx="2">
                  <c:v>0</c:v>
                </c:pt>
                <c:pt idx="3">
                  <c:v>0</c:v>
                </c:pt>
                <c:pt idx="4">
                  <c:v>0</c:v>
                </c:pt>
                <c:pt idx="5">
                  <c:v>0</c:v>
                </c:pt>
                <c:pt idx="6">
                  <c:v>0</c:v>
                </c:pt>
                <c:pt idx="7">
                  <c:v>26</c:v>
                </c:pt>
                <c:pt idx="8">
                  <c:v>18</c:v>
                </c:pt>
                <c:pt idx="9">
                  <c:v>14</c:v>
                </c:pt>
                <c:pt idx="10">
                  <c:v>11</c:v>
                </c:pt>
                <c:pt idx="11">
                  <c:v>8</c:v>
                </c:pt>
              </c:numCache>
            </c:numRef>
          </c:val>
          <c:extLst>
            <c:ext xmlns:c16="http://schemas.microsoft.com/office/drawing/2014/chart" uri="{C3380CC4-5D6E-409C-BE32-E72D297353CC}">
              <c16:uniqueId val="{00000001-FF5F-4B4C-A6BF-59B81BF2D5FC}"/>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D8D0"/>
            </a:solidFill>
            <a:prstDash val="solid"/>
            <a:round/>
          </a:ln>
        </c:spPr>
        <c:txPr>
          <a:bodyPr/>
          <a:lstStyle/>
          <a:p>
            <a:pPr>
              <a:defRPr sz="800" b="0" i="0" u="none" strike="noStrike">
                <a:solidFill>
                  <a:srgbClr val="6F6A5F"/>
                </a:solidFill>
                <a:latin typeface="IBM Plex Mono"/>
              </a:defRPr>
            </a:pPr>
            <a:endParaRPr lang="en-US"/>
          </a:p>
        </c:txPr>
        <c:crossAx val="2094734552"/>
        <c:crosses val="autoZero"/>
        <c:auto val="1"/>
        <c:lblAlgn val="ctr"/>
        <c:lblOffset val="100"/>
        <c:noMultiLvlLbl val="1"/>
      </c:catAx>
      <c:valAx>
        <c:axId val="2094734552"/>
        <c:scaling>
          <c:orientation val="minMax"/>
          <c:max val="100"/>
          <c:min val="0"/>
        </c:scaling>
        <c:delete val="1"/>
        <c:axPos val="l"/>
        <c:majorGridlines>
          <c:spPr>
            <a:ln w="6350" cap="flat">
              <a:solidFill>
                <a:srgbClr val="DCD8D0"/>
              </a:solidFill>
              <a:prstDash val="dash"/>
              <a:round/>
            </a:ln>
          </c:spPr>
        </c:majorGridlines>
        <c:numFmt formatCode="General" sourceLinked="0"/>
        <c:majorTickMark val="out"/>
        <c:minorTickMark val="none"/>
        <c:tickLblPos val="nextTo"/>
        <c:crossAx val="2094734554"/>
        <c:crosses val="autoZero"/>
        <c:crossBetween val="between"/>
      </c:valAx>
      <c:spPr>
        <a:solidFill>
          <a:srgbClr val="F3F1ED"/>
        </a:solid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Before</c:v>
                </c:pt>
              </c:strCache>
            </c:strRef>
          </c:tx>
          <c:spPr>
            <a:solidFill>
              <a:srgbClr val="3A3C3F"/>
            </a:solidFill>
            <a:effectLst/>
          </c:spPr>
          <c:invertIfNegative val="0"/>
          <c:cat>
            <c:strRef>
              <c:f>Sheet1!$A$2:$A$13</c:f>
              <c:strCache>
                <c:ptCount val="12"/>
                <c:pt idx="0">
                  <c:v>Baseline</c:v>
                </c:pt>
                <c:pt idx="7">
                  <c:v>Automated</c:v>
                </c:pt>
                <c:pt idx="11">
                  <c:v>Steady-state</c:v>
                </c:pt>
              </c:strCache>
            </c:strRef>
          </c:cat>
          <c:val>
            <c:numRef>
              <c:f>Sheet1!$B$2:$B$13</c:f>
              <c:numCache>
                <c:formatCode>General</c:formatCode>
                <c:ptCount val="12"/>
                <c:pt idx="0">
                  <c:v>88</c:v>
                </c:pt>
                <c:pt idx="1">
                  <c:v>85</c:v>
                </c:pt>
                <c:pt idx="2">
                  <c:v>82</c:v>
                </c:pt>
                <c:pt idx="3">
                  <c:v>75</c:v>
                </c:pt>
                <c:pt idx="4">
                  <c:v>65</c:v>
                </c:pt>
                <c:pt idx="5">
                  <c:v>50</c:v>
                </c:pt>
                <c:pt idx="6">
                  <c:v>36</c:v>
                </c:pt>
                <c:pt idx="7">
                  <c:v>0</c:v>
                </c:pt>
                <c:pt idx="8">
                  <c:v>0</c:v>
                </c:pt>
                <c:pt idx="9">
                  <c:v>0</c:v>
                </c:pt>
                <c:pt idx="10">
                  <c:v>0</c:v>
                </c:pt>
                <c:pt idx="11">
                  <c:v>0</c:v>
                </c:pt>
              </c:numCache>
            </c:numRef>
          </c:val>
          <c:extLst>
            <c:ext xmlns:c16="http://schemas.microsoft.com/office/drawing/2014/chart" uri="{C3380CC4-5D6E-409C-BE32-E72D297353CC}">
              <c16:uniqueId val="{00000000-E7C3-4FCC-87A4-707E16B12364}"/>
            </c:ext>
          </c:extLst>
        </c:ser>
        <c:ser>
          <c:idx val="1"/>
          <c:order val="1"/>
          <c:tx>
            <c:strRef>
              <c:f>Sheet1!$C$1</c:f>
              <c:strCache>
                <c:ptCount val="1"/>
                <c:pt idx="0">
                  <c:v>After</c:v>
                </c:pt>
              </c:strCache>
            </c:strRef>
          </c:tx>
          <c:spPr>
            <a:solidFill>
              <a:srgbClr val="E8A33D"/>
            </a:solidFill>
            <a:effectLst/>
          </c:spPr>
          <c:invertIfNegative val="0"/>
          <c:cat>
            <c:strRef>
              <c:f>Sheet1!$A$2:$A$13</c:f>
              <c:strCache>
                <c:ptCount val="12"/>
                <c:pt idx="0">
                  <c:v>Baseline</c:v>
                </c:pt>
                <c:pt idx="7">
                  <c:v>Automated</c:v>
                </c:pt>
                <c:pt idx="11">
                  <c:v>Steady-state</c:v>
                </c:pt>
              </c:strCache>
            </c:strRef>
          </c:cat>
          <c:val>
            <c:numRef>
              <c:f>Sheet1!$C$2:$C$13</c:f>
              <c:numCache>
                <c:formatCode>General</c:formatCode>
                <c:ptCount val="12"/>
                <c:pt idx="0">
                  <c:v>0</c:v>
                </c:pt>
                <c:pt idx="1">
                  <c:v>0</c:v>
                </c:pt>
                <c:pt idx="2">
                  <c:v>0</c:v>
                </c:pt>
                <c:pt idx="3">
                  <c:v>0</c:v>
                </c:pt>
                <c:pt idx="4">
                  <c:v>0</c:v>
                </c:pt>
                <c:pt idx="5">
                  <c:v>0</c:v>
                </c:pt>
                <c:pt idx="6">
                  <c:v>0</c:v>
                </c:pt>
                <c:pt idx="7">
                  <c:v>25</c:v>
                </c:pt>
                <c:pt idx="8">
                  <c:v>18</c:v>
                </c:pt>
                <c:pt idx="9">
                  <c:v>14</c:v>
                </c:pt>
                <c:pt idx="10">
                  <c:v>10</c:v>
                </c:pt>
                <c:pt idx="11">
                  <c:v>8</c:v>
                </c:pt>
              </c:numCache>
            </c:numRef>
          </c:val>
          <c:extLst>
            <c:ext xmlns:c16="http://schemas.microsoft.com/office/drawing/2014/chart" uri="{C3380CC4-5D6E-409C-BE32-E72D297353CC}">
              <c16:uniqueId val="{00000001-E7C3-4FCC-87A4-707E16B12364}"/>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2E3033"/>
            </a:solidFill>
            <a:prstDash val="solid"/>
            <a:round/>
          </a:ln>
        </c:spPr>
        <c:txPr>
          <a:bodyPr/>
          <a:lstStyle/>
          <a:p>
            <a:pPr>
              <a:defRPr sz="800" b="0" i="0" u="none" strike="noStrike">
                <a:solidFill>
                  <a:srgbClr val="8B8D8F"/>
                </a:solidFill>
                <a:latin typeface="IBM Plex Mono"/>
              </a:defRPr>
            </a:pPr>
            <a:endParaRPr lang="en-US"/>
          </a:p>
        </c:txPr>
        <c:crossAx val="2094734552"/>
        <c:crosses val="autoZero"/>
        <c:auto val="1"/>
        <c:lblAlgn val="ctr"/>
        <c:lblOffset val="100"/>
        <c:noMultiLvlLbl val="1"/>
      </c:catAx>
      <c:valAx>
        <c:axId val="2094734552"/>
        <c:scaling>
          <c:orientation val="minMax"/>
          <c:max val="100"/>
          <c:min val="0"/>
        </c:scaling>
        <c:delete val="1"/>
        <c:axPos val="l"/>
        <c:majorGridlines>
          <c:spPr>
            <a:ln w="6350" cap="flat">
              <a:solidFill>
                <a:srgbClr val="2E3033"/>
              </a:solidFill>
              <a:prstDash val="dash"/>
              <a:round/>
            </a:ln>
          </c:spPr>
        </c:majorGridlines>
        <c:numFmt formatCode="General" sourceLinked="0"/>
        <c:majorTickMark val="out"/>
        <c:minorTickMark val="none"/>
        <c:tickLblPos val="nextTo"/>
        <c:crossAx val="2094734554"/>
        <c:crosses val="autoZero"/>
        <c:crossBetween val="between"/>
      </c:valAx>
      <c:spPr>
        <a:solidFill>
          <a:srgbClr val="0A0B0C"/>
        </a:solid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Before</c:v>
                </c:pt>
              </c:strCache>
            </c:strRef>
          </c:tx>
          <c:spPr>
            <a:solidFill>
              <a:srgbClr val="D3CEC4"/>
            </a:solidFill>
            <a:effectLst/>
          </c:spPr>
          <c:invertIfNegative val="0"/>
          <c:cat>
            <c:strRef>
              <c:f>Sheet1!$A$2:$A$13</c:f>
              <c:strCache>
                <c:ptCount val="12"/>
                <c:pt idx="0">
                  <c:v>Baseline</c:v>
                </c:pt>
                <c:pt idx="7">
                  <c:v>Automated</c:v>
                </c:pt>
                <c:pt idx="11">
                  <c:v>Steady-state</c:v>
                </c:pt>
              </c:strCache>
            </c:strRef>
          </c:cat>
          <c:val>
            <c:numRef>
              <c:f>Sheet1!$B$2:$B$13</c:f>
              <c:numCache>
                <c:formatCode>General</c:formatCode>
                <c:ptCount val="12"/>
                <c:pt idx="0">
                  <c:v>94</c:v>
                </c:pt>
                <c:pt idx="1">
                  <c:v>91</c:v>
                </c:pt>
                <c:pt idx="2">
                  <c:v>87</c:v>
                </c:pt>
                <c:pt idx="3">
                  <c:v>80</c:v>
                </c:pt>
                <c:pt idx="4">
                  <c:v>70</c:v>
                </c:pt>
                <c:pt idx="5">
                  <c:v>56</c:v>
                </c:pt>
                <c:pt idx="6">
                  <c:v>42</c:v>
                </c:pt>
                <c:pt idx="7">
                  <c:v>0</c:v>
                </c:pt>
                <c:pt idx="8">
                  <c:v>0</c:v>
                </c:pt>
                <c:pt idx="9">
                  <c:v>0</c:v>
                </c:pt>
                <c:pt idx="10">
                  <c:v>0</c:v>
                </c:pt>
                <c:pt idx="11">
                  <c:v>0</c:v>
                </c:pt>
              </c:numCache>
            </c:numRef>
          </c:val>
          <c:extLst>
            <c:ext xmlns:c16="http://schemas.microsoft.com/office/drawing/2014/chart" uri="{C3380CC4-5D6E-409C-BE32-E72D297353CC}">
              <c16:uniqueId val="{00000000-FC6F-4D4B-97D2-F0DCB376A547}"/>
            </c:ext>
          </c:extLst>
        </c:ser>
        <c:ser>
          <c:idx val="1"/>
          <c:order val="1"/>
          <c:tx>
            <c:strRef>
              <c:f>Sheet1!$C$1</c:f>
              <c:strCache>
                <c:ptCount val="1"/>
                <c:pt idx="0">
                  <c:v>After</c:v>
                </c:pt>
              </c:strCache>
            </c:strRef>
          </c:tx>
          <c:spPr>
            <a:solidFill>
              <a:srgbClr val="8F5D0A"/>
            </a:solidFill>
            <a:effectLst/>
          </c:spPr>
          <c:invertIfNegative val="0"/>
          <c:cat>
            <c:strRef>
              <c:f>Sheet1!$A$2:$A$13</c:f>
              <c:strCache>
                <c:ptCount val="12"/>
                <c:pt idx="0">
                  <c:v>Baseline</c:v>
                </c:pt>
                <c:pt idx="7">
                  <c:v>Automated</c:v>
                </c:pt>
                <c:pt idx="11">
                  <c:v>Steady-state</c:v>
                </c:pt>
              </c:strCache>
            </c:strRef>
          </c:cat>
          <c:val>
            <c:numRef>
              <c:f>Sheet1!$C$2:$C$13</c:f>
              <c:numCache>
                <c:formatCode>General</c:formatCode>
                <c:ptCount val="12"/>
                <c:pt idx="0">
                  <c:v>0</c:v>
                </c:pt>
                <c:pt idx="1">
                  <c:v>0</c:v>
                </c:pt>
                <c:pt idx="2">
                  <c:v>0</c:v>
                </c:pt>
                <c:pt idx="3">
                  <c:v>0</c:v>
                </c:pt>
                <c:pt idx="4">
                  <c:v>0</c:v>
                </c:pt>
                <c:pt idx="5">
                  <c:v>0</c:v>
                </c:pt>
                <c:pt idx="6">
                  <c:v>0</c:v>
                </c:pt>
                <c:pt idx="7">
                  <c:v>30</c:v>
                </c:pt>
                <c:pt idx="8">
                  <c:v>22</c:v>
                </c:pt>
                <c:pt idx="9">
                  <c:v>16</c:v>
                </c:pt>
                <c:pt idx="10">
                  <c:v>12</c:v>
                </c:pt>
                <c:pt idx="11">
                  <c:v>10</c:v>
                </c:pt>
              </c:numCache>
            </c:numRef>
          </c:val>
          <c:extLst>
            <c:ext xmlns:c16="http://schemas.microsoft.com/office/drawing/2014/chart" uri="{C3380CC4-5D6E-409C-BE32-E72D297353CC}">
              <c16:uniqueId val="{00000001-FC6F-4D4B-97D2-F0DCB376A547}"/>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D8D0"/>
            </a:solidFill>
            <a:prstDash val="solid"/>
            <a:round/>
          </a:ln>
        </c:spPr>
        <c:txPr>
          <a:bodyPr/>
          <a:lstStyle/>
          <a:p>
            <a:pPr>
              <a:defRPr sz="800" b="0" i="0" u="none" strike="noStrike">
                <a:solidFill>
                  <a:srgbClr val="6F6A5F"/>
                </a:solidFill>
                <a:latin typeface="IBM Plex Mono"/>
              </a:defRPr>
            </a:pPr>
            <a:endParaRPr lang="en-US"/>
          </a:p>
        </c:txPr>
        <c:crossAx val="2094734552"/>
        <c:crosses val="autoZero"/>
        <c:auto val="1"/>
        <c:lblAlgn val="ctr"/>
        <c:lblOffset val="100"/>
        <c:noMultiLvlLbl val="1"/>
      </c:catAx>
      <c:valAx>
        <c:axId val="2094734552"/>
        <c:scaling>
          <c:orientation val="minMax"/>
          <c:max val="100"/>
          <c:min val="0"/>
        </c:scaling>
        <c:delete val="1"/>
        <c:axPos val="l"/>
        <c:majorGridlines>
          <c:spPr>
            <a:ln w="6350" cap="flat">
              <a:solidFill>
                <a:srgbClr val="DCD8D0"/>
              </a:solidFill>
              <a:prstDash val="dash"/>
              <a:round/>
            </a:ln>
          </c:spPr>
        </c:majorGridlines>
        <c:numFmt formatCode="General" sourceLinked="0"/>
        <c:majorTickMark val="out"/>
        <c:minorTickMark val="none"/>
        <c:tickLblPos val="nextTo"/>
        <c:crossAx val="2094734554"/>
        <c:crosses val="autoZero"/>
        <c:crossBetween val="between"/>
      </c:valAx>
      <c:spPr>
        <a:solidFill>
          <a:srgbClr val="F3F1ED"/>
        </a:solid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Before</c:v>
                </c:pt>
              </c:strCache>
            </c:strRef>
          </c:tx>
          <c:spPr>
            <a:solidFill>
              <a:srgbClr val="3A3C3F"/>
            </a:solidFill>
            <a:effectLst/>
          </c:spPr>
          <c:invertIfNegative val="0"/>
          <c:cat>
            <c:strRef>
              <c:f>Sheet1!$A$2:$A$13</c:f>
              <c:strCache>
                <c:ptCount val="12"/>
                <c:pt idx="0">
                  <c:v>Baseline</c:v>
                </c:pt>
                <c:pt idx="7">
                  <c:v>Automated</c:v>
                </c:pt>
                <c:pt idx="11">
                  <c:v>Steady-state</c:v>
                </c:pt>
              </c:strCache>
            </c:strRef>
          </c:cat>
          <c:val>
            <c:numRef>
              <c:f>Sheet1!$B$2:$B$13</c:f>
              <c:numCache>
                <c:formatCode>General</c:formatCode>
                <c:ptCount val="12"/>
                <c:pt idx="0">
                  <c:v>90</c:v>
                </c:pt>
                <c:pt idx="1">
                  <c:v>88</c:v>
                </c:pt>
                <c:pt idx="2">
                  <c:v>84</c:v>
                </c:pt>
                <c:pt idx="3">
                  <c:v>76</c:v>
                </c:pt>
                <c:pt idx="4">
                  <c:v>65</c:v>
                </c:pt>
                <c:pt idx="5">
                  <c:v>50</c:v>
                </c:pt>
                <c:pt idx="6">
                  <c:v>36</c:v>
                </c:pt>
                <c:pt idx="7">
                  <c:v>0</c:v>
                </c:pt>
                <c:pt idx="8">
                  <c:v>0</c:v>
                </c:pt>
                <c:pt idx="9">
                  <c:v>0</c:v>
                </c:pt>
                <c:pt idx="10">
                  <c:v>0</c:v>
                </c:pt>
                <c:pt idx="11">
                  <c:v>0</c:v>
                </c:pt>
              </c:numCache>
            </c:numRef>
          </c:val>
          <c:extLst>
            <c:ext xmlns:c16="http://schemas.microsoft.com/office/drawing/2014/chart" uri="{C3380CC4-5D6E-409C-BE32-E72D297353CC}">
              <c16:uniqueId val="{00000000-419C-449D-8947-45E4EAC26A1B}"/>
            </c:ext>
          </c:extLst>
        </c:ser>
        <c:ser>
          <c:idx val="1"/>
          <c:order val="1"/>
          <c:tx>
            <c:strRef>
              <c:f>Sheet1!$C$1</c:f>
              <c:strCache>
                <c:ptCount val="1"/>
                <c:pt idx="0">
                  <c:v>After</c:v>
                </c:pt>
              </c:strCache>
            </c:strRef>
          </c:tx>
          <c:spPr>
            <a:solidFill>
              <a:srgbClr val="E8A33D"/>
            </a:solidFill>
            <a:effectLst/>
          </c:spPr>
          <c:invertIfNegative val="0"/>
          <c:cat>
            <c:strRef>
              <c:f>Sheet1!$A$2:$A$13</c:f>
              <c:strCache>
                <c:ptCount val="12"/>
                <c:pt idx="0">
                  <c:v>Baseline</c:v>
                </c:pt>
                <c:pt idx="7">
                  <c:v>Automated</c:v>
                </c:pt>
                <c:pt idx="11">
                  <c:v>Steady-state</c:v>
                </c:pt>
              </c:strCache>
            </c:strRef>
          </c:cat>
          <c:val>
            <c:numRef>
              <c:f>Sheet1!$C$2:$C$13</c:f>
              <c:numCache>
                <c:formatCode>General</c:formatCode>
                <c:ptCount val="12"/>
                <c:pt idx="0">
                  <c:v>0</c:v>
                </c:pt>
                <c:pt idx="1">
                  <c:v>0</c:v>
                </c:pt>
                <c:pt idx="2">
                  <c:v>0</c:v>
                </c:pt>
                <c:pt idx="3">
                  <c:v>0</c:v>
                </c:pt>
                <c:pt idx="4">
                  <c:v>0</c:v>
                </c:pt>
                <c:pt idx="5">
                  <c:v>0</c:v>
                </c:pt>
                <c:pt idx="6">
                  <c:v>0</c:v>
                </c:pt>
                <c:pt idx="7">
                  <c:v>26</c:v>
                </c:pt>
                <c:pt idx="8">
                  <c:v>18</c:v>
                </c:pt>
                <c:pt idx="9">
                  <c:v>14</c:v>
                </c:pt>
                <c:pt idx="10">
                  <c:v>11</c:v>
                </c:pt>
                <c:pt idx="11">
                  <c:v>8</c:v>
                </c:pt>
              </c:numCache>
            </c:numRef>
          </c:val>
          <c:extLst>
            <c:ext xmlns:c16="http://schemas.microsoft.com/office/drawing/2014/chart" uri="{C3380CC4-5D6E-409C-BE32-E72D297353CC}">
              <c16:uniqueId val="{00000001-419C-449D-8947-45E4EAC26A1B}"/>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2E3033"/>
            </a:solidFill>
            <a:prstDash val="solid"/>
            <a:round/>
          </a:ln>
        </c:spPr>
        <c:txPr>
          <a:bodyPr/>
          <a:lstStyle/>
          <a:p>
            <a:pPr>
              <a:defRPr sz="800" b="0" i="0" u="none" strike="noStrike">
                <a:solidFill>
                  <a:srgbClr val="8B8D8F"/>
                </a:solidFill>
                <a:latin typeface="IBM Plex Mono"/>
              </a:defRPr>
            </a:pPr>
            <a:endParaRPr lang="en-US"/>
          </a:p>
        </c:txPr>
        <c:crossAx val="2094734552"/>
        <c:crosses val="autoZero"/>
        <c:auto val="1"/>
        <c:lblAlgn val="ctr"/>
        <c:lblOffset val="100"/>
        <c:noMultiLvlLbl val="1"/>
      </c:catAx>
      <c:valAx>
        <c:axId val="2094734552"/>
        <c:scaling>
          <c:orientation val="minMax"/>
          <c:max val="100"/>
          <c:min val="0"/>
        </c:scaling>
        <c:delete val="1"/>
        <c:axPos val="l"/>
        <c:majorGridlines>
          <c:spPr>
            <a:ln w="6350" cap="flat">
              <a:solidFill>
                <a:srgbClr val="2E3033"/>
              </a:solidFill>
              <a:prstDash val="dash"/>
              <a:round/>
            </a:ln>
          </c:spPr>
        </c:majorGridlines>
        <c:numFmt formatCode="General" sourceLinked="0"/>
        <c:majorTickMark val="out"/>
        <c:minorTickMark val="none"/>
        <c:tickLblPos val="nextTo"/>
        <c:crossAx val="2094734554"/>
        <c:crosses val="autoZero"/>
        <c:crossBetween val="between"/>
      </c:valAx>
      <c:spPr>
        <a:solidFill>
          <a:srgbClr val="0A0B0C"/>
        </a:solid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Before</c:v>
                </c:pt>
              </c:strCache>
            </c:strRef>
          </c:tx>
          <c:spPr>
            <a:solidFill>
              <a:srgbClr val="3A3C3F"/>
            </a:solidFill>
            <a:effectLst/>
          </c:spPr>
          <c:invertIfNegative val="0"/>
          <c:cat>
            <c:strRef>
              <c:f>Sheet1!$A$2:$A$13</c:f>
              <c:strCache>
                <c:ptCount val="12"/>
                <c:pt idx="0">
                  <c:v>Baseline</c:v>
                </c:pt>
                <c:pt idx="7">
                  <c:v>Automated</c:v>
                </c:pt>
                <c:pt idx="11">
                  <c:v>Steady-state</c:v>
                </c:pt>
              </c:strCache>
            </c:strRef>
          </c:cat>
          <c:val>
            <c:numRef>
              <c:f>Sheet1!$B$2:$B$13</c:f>
              <c:numCache>
                <c:formatCode>General</c:formatCode>
                <c:ptCount val="12"/>
                <c:pt idx="0">
                  <c:v>88</c:v>
                </c:pt>
                <c:pt idx="1">
                  <c:v>86</c:v>
                </c:pt>
                <c:pt idx="2">
                  <c:v>82</c:v>
                </c:pt>
                <c:pt idx="3">
                  <c:v>79</c:v>
                </c:pt>
                <c:pt idx="4">
                  <c:v>70</c:v>
                </c:pt>
                <c:pt idx="5">
                  <c:v>58</c:v>
                </c:pt>
                <c:pt idx="6">
                  <c:v>48</c:v>
                </c:pt>
                <c:pt idx="7">
                  <c:v>0</c:v>
                </c:pt>
                <c:pt idx="8">
                  <c:v>0</c:v>
                </c:pt>
                <c:pt idx="9">
                  <c:v>0</c:v>
                </c:pt>
                <c:pt idx="10">
                  <c:v>0</c:v>
                </c:pt>
                <c:pt idx="11">
                  <c:v>0</c:v>
                </c:pt>
              </c:numCache>
            </c:numRef>
          </c:val>
          <c:extLst>
            <c:ext xmlns:c16="http://schemas.microsoft.com/office/drawing/2014/chart" uri="{C3380CC4-5D6E-409C-BE32-E72D297353CC}">
              <c16:uniqueId val="{00000000-2004-4EA3-8B8F-5E1A7842274F}"/>
            </c:ext>
          </c:extLst>
        </c:ser>
        <c:ser>
          <c:idx val="1"/>
          <c:order val="1"/>
          <c:tx>
            <c:strRef>
              <c:f>Sheet1!$C$1</c:f>
              <c:strCache>
                <c:ptCount val="1"/>
                <c:pt idx="0">
                  <c:v>After</c:v>
                </c:pt>
              </c:strCache>
            </c:strRef>
          </c:tx>
          <c:spPr>
            <a:solidFill>
              <a:srgbClr val="E8A33D"/>
            </a:solidFill>
            <a:effectLst/>
          </c:spPr>
          <c:invertIfNegative val="0"/>
          <c:cat>
            <c:strRef>
              <c:f>Sheet1!$A$2:$A$13</c:f>
              <c:strCache>
                <c:ptCount val="12"/>
                <c:pt idx="0">
                  <c:v>Baseline</c:v>
                </c:pt>
                <c:pt idx="7">
                  <c:v>Automated</c:v>
                </c:pt>
                <c:pt idx="11">
                  <c:v>Steady-state</c:v>
                </c:pt>
              </c:strCache>
            </c:strRef>
          </c:cat>
          <c:val>
            <c:numRef>
              <c:f>Sheet1!$C$2:$C$13</c:f>
              <c:numCache>
                <c:formatCode>General</c:formatCode>
                <c:ptCount val="12"/>
                <c:pt idx="0">
                  <c:v>0</c:v>
                </c:pt>
                <c:pt idx="1">
                  <c:v>0</c:v>
                </c:pt>
                <c:pt idx="2">
                  <c:v>0</c:v>
                </c:pt>
                <c:pt idx="3">
                  <c:v>0</c:v>
                </c:pt>
                <c:pt idx="4">
                  <c:v>0</c:v>
                </c:pt>
                <c:pt idx="5">
                  <c:v>0</c:v>
                </c:pt>
                <c:pt idx="6">
                  <c:v>0</c:v>
                </c:pt>
                <c:pt idx="7">
                  <c:v>38</c:v>
                </c:pt>
                <c:pt idx="8">
                  <c:v>30</c:v>
                </c:pt>
                <c:pt idx="9">
                  <c:v>26</c:v>
                </c:pt>
                <c:pt idx="10">
                  <c:v>22</c:v>
                </c:pt>
                <c:pt idx="11">
                  <c:v>19</c:v>
                </c:pt>
              </c:numCache>
            </c:numRef>
          </c:val>
          <c:extLst>
            <c:ext xmlns:c16="http://schemas.microsoft.com/office/drawing/2014/chart" uri="{C3380CC4-5D6E-409C-BE32-E72D297353CC}">
              <c16:uniqueId val="{00000001-2004-4EA3-8B8F-5E1A7842274F}"/>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2E3033"/>
            </a:solidFill>
            <a:prstDash val="solid"/>
            <a:round/>
          </a:ln>
        </c:spPr>
        <c:txPr>
          <a:bodyPr/>
          <a:lstStyle/>
          <a:p>
            <a:pPr>
              <a:defRPr sz="800" b="0" i="0" u="none" strike="noStrike">
                <a:solidFill>
                  <a:srgbClr val="8B8D8F"/>
                </a:solidFill>
                <a:latin typeface="IBM Plex Mono"/>
              </a:defRPr>
            </a:pPr>
            <a:endParaRPr lang="en-US"/>
          </a:p>
        </c:txPr>
        <c:crossAx val="2094734552"/>
        <c:crosses val="autoZero"/>
        <c:auto val="1"/>
        <c:lblAlgn val="ctr"/>
        <c:lblOffset val="100"/>
        <c:noMultiLvlLbl val="1"/>
      </c:catAx>
      <c:valAx>
        <c:axId val="2094734552"/>
        <c:scaling>
          <c:orientation val="minMax"/>
          <c:max val="100"/>
          <c:min val="0"/>
        </c:scaling>
        <c:delete val="1"/>
        <c:axPos val="l"/>
        <c:majorGridlines>
          <c:spPr>
            <a:ln w="6350" cap="flat">
              <a:solidFill>
                <a:srgbClr val="2E3033"/>
              </a:solidFill>
              <a:prstDash val="dash"/>
              <a:round/>
            </a:ln>
          </c:spPr>
        </c:majorGridlines>
        <c:numFmt formatCode="General" sourceLinked="0"/>
        <c:majorTickMark val="out"/>
        <c:minorTickMark val="none"/>
        <c:tickLblPos val="nextTo"/>
        <c:crossAx val="2094734554"/>
        <c:crosses val="autoZero"/>
        <c:crossBetween val="between"/>
      </c:valAx>
      <c:spPr>
        <a:solidFill>
          <a:srgbClr val="0A0B0C"/>
        </a:solid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Before</c:v>
                </c:pt>
              </c:strCache>
            </c:strRef>
          </c:tx>
          <c:spPr>
            <a:solidFill>
              <a:srgbClr val="D3CEC4"/>
            </a:solidFill>
            <a:effectLst/>
          </c:spPr>
          <c:invertIfNegative val="0"/>
          <c:cat>
            <c:strRef>
              <c:f>Sheet1!$A$2:$A$13</c:f>
              <c:strCache>
                <c:ptCount val="12"/>
                <c:pt idx="0">
                  <c:v>Baseline</c:v>
                </c:pt>
                <c:pt idx="7">
                  <c:v>Automated</c:v>
                </c:pt>
                <c:pt idx="11">
                  <c:v>Steady-state</c:v>
                </c:pt>
              </c:strCache>
            </c:strRef>
          </c:cat>
          <c:val>
            <c:numRef>
              <c:f>Sheet1!$B$2:$B$13</c:f>
              <c:numCache>
                <c:formatCode>General</c:formatCode>
                <c:ptCount val="12"/>
                <c:pt idx="0">
                  <c:v>92</c:v>
                </c:pt>
                <c:pt idx="1">
                  <c:v>89</c:v>
                </c:pt>
                <c:pt idx="2">
                  <c:v>85</c:v>
                </c:pt>
                <c:pt idx="3">
                  <c:v>78</c:v>
                </c:pt>
                <c:pt idx="4">
                  <c:v>68</c:v>
                </c:pt>
                <c:pt idx="5">
                  <c:v>54</c:v>
                </c:pt>
                <c:pt idx="6">
                  <c:v>40</c:v>
                </c:pt>
                <c:pt idx="7">
                  <c:v>0</c:v>
                </c:pt>
                <c:pt idx="8">
                  <c:v>0</c:v>
                </c:pt>
                <c:pt idx="9">
                  <c:v>0</c:v>
                </c:pt>
                <c:pt idx="10">
                  <c:v>0</c:v>
                </c:pt>
                <c:pt idx="11">
                  <c:v>0</c:v>
                </c:pt>
              </c:numCache>
            </c:numRef>
          </c:val>
          <c:extLst>
            <c:ext xmlns:c16="http://schemas.microsoft.com/office/drawing/2014/chart" uri="{C3380CC4-5D6E-409C-BE32-E72D297353CC}">
              <c16:uniqueId val="{00000000-7110-4514-A283-78DD8ED45E69}"/>
            </c:ext>
          </c:extLst>
        </c:ser>
        <c:ser>
          <c:idx val="1"/>
          <c:order val="1"/>
          <c:tx>
            <c:strRef>
              <c:f>Sheet1!$C$1</c:f>
              <c:strCache>
                <c:ptCount val="1"/>
                <c:pt idx="0">
                  <c:v>After</c:v>
                </c:pt>
              </c:strCache>
            </c:strRef>
          </c:tx>
          <c:spPr>
            <a:solidFill>
              <a:srgbClr val="8F5D0A"/>
            </a:solidFill>
            <a:effectLst/>
          </c:spPr>
          <c:invertIfNegative val="0"/>
          <c:cat>
            <c:strRef>
              <c:f>Sheet1!$A$2:$A$13</c:f>
              <c:strCache>
                <c:ptCount val="12"/>
                <c:pt idx="0">
                  <c:v>Baseline</c:v>
                </c:pt>
                <c:pt idx="7">
                  <c:v>Automated</c:v>
                </c:pt>
                <c:pt idx="11">
                  <c:v>Steady-state</c:v>
                </c:pt>
              </c:strCache>
            </c:strRef>
          </c:cat>
          <c:val>
            <c:numRef>
              <c:f>Sheet1!$C$2:$C$13</c:f>
              <c:numCache>
                <c:formatCode>General</c:formatCode>
                <c:ptCount val="12"/>
                <c:pt idx="0">
                  <c:v>0</c:v>
                </c:pt>
                <c:pt idx="1">
                  <c:v>0</c:v>
                </c:pt>
                <c:pt idx="2">
                  <c:v>0</c:v>
                </c:pt>
                <c:pt idx="3">
                  <c:v>0</c:v>
                </c:pt>
                <c:pt idx="4">
                  <c:v>0</c:v>
                </c:pt>
                <c:pt idx="5">
                  <c:v>0</c:v>
                </c:pt>
                <c:pt idx="6">
                  <c:v>0</c:v>
                </c:pt>
                <c:pt idx="7">
                  <c:v>28</c:v>
                </c:pt>
                <c:pt idx="8">
                  <c:v>20</c:v>
                </c:pt>
                <c:pt idx="9">
                  <c:v>15</c:v>
                </c:pt>
                <c:pt idx="10">
                  <c:v>12</c:v>
                </c:pt>
                <c:pt idx="11">
                  <c:v>9</c:v>
                </c:pt>
              </c:numCache>
            </c:numRef>
          </c:val>
          <c:extLst>
            <c:ext xmlns:c16="http://schemas.microsoft.com/office/drawing/2014/chart" uri="{C3380CC4-5D6E-409C-BE32-E72D297353CC}">
              <c16:uniqueId val="{00000001-7110-4514-A283-78DD8ED45E69}"/>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D8D0"/>
            </a:solidFill>
            <a:prstDash val="solid"/>
            <a:round/>
          </a:ln>
        </c:spPr>
        <c:txPr>
          <a:bodyPr/>
          <a:lstStyle/>
          <a:p>
            <a:pPr>
              <a:defRPr sz="800" b="0" i="0" u="none" strike="noStrike">
                <a:solidFill>
                  <a:srgbClr val="6F6A5F"/>
                </a:solidFill>
                <a:latin typeface="IBM Plex Mono"/>
              </a:defRPr>
            </a:pPr>
            <a:endParaRPr lang="en-US"/>
          </a:p>
        </c:txPr>
        <c:crossAx val="2094734552"/>
        <c:crosses val="autoZero"/>
        <c:auto val="1"/>
        <c:lblAlgn val="ctr"/>
        <c:lblOffset val="100"/>
        <c:noMultiLvlLbl val="1"/>
      </c:catAx>
      <c:valAx>
        <c:axId val="2094734552"/>
        <c:scaling>
          <c:orientation val="minMax"/>
          <c:max val="100"/>
          <c:min val="0"/>
        </c:scaling>
        <c:delete val="1"/>
        <c:axPos val="l"/>
        <c:majorGridlines>
          <c:spPr>
            <a:ln w="6350" cap="flat">
              <a:solidFill>
                <a:srgbClr val="DCD8D0"/>
              </a:solidFill>
              <a:prstDash val="dash"/>
              <a:round/>
            </a:ln>
          </c:spPr>
        </c:majorGridlines>
        <c:numFmt formatCode="General" sourceLinked="0"/>
        <c:majorTickMark val="out"/>
        <c:minorTickMark val="none"/>
        <c:tickLblPos val="nextTo"/>
        <c:crossAx val="2094734554"/>
        <c:crosses val="autoZero"/>
        <c:crossBetween val="between"/>
      </c:valAx>
      <c:spPr>
        <a:solidFill>
          <a:srgbClr val="F3F1ED"/>
        </a:solid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Before</c:v>
                </c:pt>
              </c:strCache>
            </c:strRef>
          </c:tx>
          <c:spPr>
            <a:solidFill>
              <a:srgbClr val="3A3C3F"/>
            </a:solidFill>
            <a:effectLst/>
          </c:spPr>
          <c:invertIfNegative val="0"/>
          <c:cat>
            <c:strRef>
              <c:f>Sheet1!$A$2:$A$13</c:f>
              <c:strCache>
                <c:ptCount val="12"/>
                <c:pt idx="0">
                  <c:v>Baseline</c:v>
                </c:pt>
                <c:pt idx="7">
                  <c:v>Automated</c:v>
                </c:pt>
                <c:pt idx="11">
                  <c:v>Steady-state</c:v>
                </c:pt>
              </c:strCache>
            </c:strRef>
          </c:cat>
          <c:val>
            <c:numRef>
              <c:f>Sheet1!$B$2:$B$13</c:f>
              <c:numCache>
                <c:formatCode>General</c:formatCode>
                <c:ptCount val="12"/>
                <c:pt idx="0">
                  <c:v>90</c:v>
                </c:pt>
                <c:pt idx="1">
                  <c:v>88</c:v>
                </c:pt>
                <c:pt idx="2">
                  <c:v>85</c:v>
                </c:pt>
                <c:pt idx="3">
                  <c:v>80</c:v>
                </c:pt>
                <c:pt idx="4">
                  <c:v>71</c:v>
                </c:pt>
                <c:pt idx="5">
                  <c:v>56</c:v>
                </c:pt>
                <c:pt idx="6">
                  <c:v>42</c:v>
                </c:pt>
                <c:pt idx="7">
                  <c:v>0</c:v>
                </c:pt>
                <c:pt idx="8">
                  <c:v>0</c:v>
                </c:pt>
                <c:pt idx="9">
                  <c:v>0</c:v>
                </c:pt>
                <c:pt idx="10">
                  <c:v>0</c:v>
                </c:pt>
                <c:pt idx="11">
                  <c:v>0</c:v>
                </c:pt>
              </c:numCache>
            </c:numRef>
          </c:val>
          <c:extLst>
            <c:ext xmlns:c16="http://schemas.microsoft.com/office/drawing/2014/chart" uri="{C3380CC4-5D6E-409C-BE32-E72D297353CC}">
              <c16:uniqueId val="{00000000-9E18-41AC-9944-8949B7DC907F}"/>
            </c:ext>
          </c:extLst>
        </c:ser>
        <c:ser>
          <c:idx val="1"/>
          <c:order val="1"/>
          <c:tx>
            <c:strRef>
              <c:f>Sheet1!$C$1</c:f>
              <c:strCache>
                <c:ptCount val="1"/>
                <c:pt idx="0">
                  <c:v>After</c:v>
                </c:pt>
              </c:strCache>
            </c:strRef>
          </c:tx>
          <c:spPr>
            <a:solidFill>
              <a:srgbClr val="E8A33D"/>
            </a:solidFill>
            <a:effectLst/>
          </c:spPr>
          <c:invertIfNegative val="0"/>
          <c:cat>
            <c:strRef>
              <c:f>Sheet1!$A$2:$A$13</c:f>
              <c:strCache>
                <c:ptCount val="12"/>
                <c:pt idx="0">
                  <c:v>Baseline</c:v>
                </c:pt>
                <c:pt idx="7">
                  <c:v>Automated</c:v>
                </c:pt>
                <c:pt idx="11">
                  <c:v>Steady-state</c:v>
                </c:pt>
              </c:strCache>
            </c:strRef>
          </c:cat>
          <c:val>
            <c:numRef>
              <c:f>Sheet1!$C$2:$C$13</c:f>
              <c:numCache>
                <c:formatCode>General</c:formatCode>
                <c:ptCount val="12"/>
                <c:pt idx="0">
                  <c:v>0</c:v>
                </c:pt>
                <c:pt idx="1">
                  <c:v>0</c:v>
                </c:pt>
                <c:pt idx="2">
                  <c:v>0</c:v>
                </c:pt>
                <c:pt idx="3">
                  <c:v>0</c:v>
                </c:pt>
                <c:pt idx="4">
                  <c:v>0</c:v>
                </c:pt>
                <c:pt idx="5">
                  <c:v>0</c:v>
                </c:pt>
                <c:pt idx="6">
                  <c:v>0</c:v>
                </c:pt>
                <c:pt idx="7">
                  <c:v>32</c:v>
                </c:pt>
                <c:pt idx="8">
                  <c:v>24</c:v>
                </c:pt>
                <c:pt idx="9">
                  <c:v>18</c:v>
                </c:pt>
                <c:pt idx="10">
                  <c:v>15</c:v>
                </c:pt>
                <c:pt idx="11">
                  <c:v>11</c:v>
                </c:pt>
              </c:numCache>
            </c:numRef>
          </c:val>
          <c:extLst>
            <c:ext xmlns:c16="http://schemas.microsoft.com/office/drawing/2014/chart" uri="{C3380CC4-5D6E-409C-BE32-E72D297353CC}">
              <c16:uniqueId val="{00000001-9E18-41AC-9944-8949B7DC907F}"/>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2E3033"/>
            </a:solidFill>
            <a:prstDash val="solid"/>
            <a:round/>
          </a:ln>
        </c:spPr>
        <c:txPr>
          <a:bodyPr/>
          <a:lstStyle/>
          <a:p>
            <a:pPr>
              <a:defRPr sz="800" b="0" i="0" u="none" strike="noStrike">
                <a:solidFill>
                  <a:srgbClr val="8B8D8F"/>
                </a:solidFill>
                <a:latin typeface="IBM Plex Mono"/>
              </a:defRPr>
            </a:pPr>
            <a:endParaRPr lang="en-US"/>
          </a:p>
        </c:txPr>
        <c:crossAx val="2094734552"/>
        <c:crosses val="autoZero"/>
        <c:auto val="1"/>
        <c:lblAlgn val="ctr"/>
        <c:lblOffset val="100"/>
        <c:noMultiLvlLbl val="1"/>
      </c:catAx>
      <c:valAx>
        <c:axId val="2094734552"/>
        <c:scaling>
          <c:orientation val="minMax"/>
          <c:max val="100"/>
          <c:min val="0"/>
        </c:scaling>
        <c:delete val="1"/>
        <c:axPos val="l"/>
        <c:majorGridlines>
          <c:spPr>
            <a:ln w="6350" cap="flat">
              <a:solidFill>
                <a:srgbClr val="2E3033"/>
              </a:solidFill>
              <a:prstDash val="dash"/>
              <a:round/>
            </a:ln>
          </c:spPr>
        </c:majorGridlines>
        <c:numFmt formatCode="General" sourceLinked="0"/>
        <c:majorTickMark val="out"/>
        <c:minorTickMark val="none"/>
        <c:tickLblPos val="nextTo"/>
        <c:crossAx val="2094734554"/>
        <c:crosses val="autoZero"/>
        <c:crossBetween val="between"/>
      </c:valAx>
      <c:spPr>
        <a:solidFill>
          <a:srgbClr val="0A0B0C"/>
        </a:solid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Before</c:v>
                </c:pt>
              </c:strCache>
            </c:strRef>
          </c:tx>
          <c:spPr>
            <a:solidFill>
              <a:srgbClr val="D3CEC4"/>
            </a:solidFill>
            <a:effectLst/>
          </c:spPr>
          <c:invertIfNegative val="0"/>
          <c:cat>
            <c:strRef>
              <c:f>Sheet1!$A$2:$A$13</c:f>
              <c:strCache>
                <c:ptCount val="12"/>
                <c:pt idx="0">
                  <c:v>Before</c:v>
                </c:pt>
                <c:pt idx="7">
                  <c:v>Launched</c:v>
                </c:pt>
                <c:pt idx="11">
                  <c:v>Steady-state</c:v>
                </c:pt>
              </c:strCache>
            </c:strRef>
          </c:cat>
          <c:val>
            <c:numRef>
              <c:f>Sheet1!$B$2:$B$13</c:f>
              <c:numCache>
                <c:formatCode>General</c:formatCode>
                <c:ptCount val="12"/>
                <c:pt idx="0">
                  <c:v>42</c:v>
                </c:pt>
                <c:pt idx="1">
                  <c:v>44</c:v>
                </c:pt>
                <c:pt idx="2">
                  <c:v>41</c:v>
                </c:pt>
                <c:pt idx="3">
                  <c:v>45</c:v>
                </c:pt>
                <c:pt idx="4">
                  <c:v>43</c:v>
                </c:pt>
                <c:pt idx="5">
                  <c:v>40</c:v>
                </c:pt>
                <c:pt idx="6">
                  <c:v>42</c:v>
                </c:pt>
                <c:pt idx="7">
                  <c:v>0</c:v>
                </c:pt>
                <c:pt idx="8">
                  <c:v>0</c:v>
                </c:pt>
                <c:pt idx="9">
                  <c:v>0</c:v>
                </c:pt>
                <c:pt idx="10">
                  <c:v>0</c:v>
                </c:pt>
                <c:pt idx="11">
                  <c:v>0</c:v>
                </c:pt>
              </c:numCache>
            </c:numRef>
          </c:val>
          <c:extLst>
            <c:ext xmlns:c16="http://schemas.microsoft.com/office/drawing/2014/chart" uri="{C3380CC4-5D6E-409C-BE32-E72D297353CC}">
              <c16:uniqueId val="{00000000-9E18-41AC-9944-8949B7DC907F}"/>
            </c:ext>
          </c:extLst>
        </c:ser>
        <c:ser>
          <c:idx val="1"/>
          <c:order val="1"/>
          <c:tx>
            <c:strRef>
              <c:f>Sheet1!$C$1</c:f>
              <c:strCache>
                <c:ptCount val="1"/>
                <c:pt idx="0">
                  <c:v>After</c:v>
                </c:pt>
              </c:strCache>
            </c:strRef>
          </c:tx>
          <c:spPr>
            <a:solidFill>
              <a:srgbClr val="8F5D0A"/>
            </a:solidFill>
            <a:effectLst/>
          </c:spPr>
          <c:invertIfNegative val="0"/>
          <c:cat>
            <c:strRef>
              <c:f>Sheet1!$A$2:$A$13</c:f>
              <c:strCache>
                <c:ptCount val="12"/>
                <c:pt idx="0">
                  <c:v>Before</c:v>
                </c:pt>
                <c:pt idx="7">
                  <c:v>Launched</c:v>
                </c:pt>
                <c:pt idx="11">
                  <c:v>Steady-state</c:v>
                </c:pt>
              </c:strCache>
            </c:strRef>
          </c:cat>
          <c:val>
            <c:numRef>
              <c:f>Sheet1!$C$2:$C$13</c:f>
              <c:numCache>
                <c:formatCode>General</c:formatCode>
                <c:ptCount val="12"/>
                <c:pt idx="0">
                  <c:v>0</c:v>
                </c:pt>
                <c:pt idx="1">
                  <c:v>0</c:v>
                </c:pt>
                <c:pt idx="2">
                  <c:v>0</c:v>
                </c:pt>
                <c:pt idx="3">
                  <c:v>0</c:v>
                </c:pt>
                <c:pt idx="4">
                  <c:v>0</c:v>
                </c:pt>
                <c:pt idx="5">
                  <c:v>0</c:v>
                </c:pt>
                <c:pt idx="6">
                  <c:v>0</c:v>
                </c:pt>
                <c:pt idx="7">
                  <c:v>12</c:v>
                </c:pt>
                <c:pt idx="8">
                  <c:v>6</c:v>
                </c:pt>
                <c:pt idx="9">
                  <c:v>3</c:v>
                </c:pt>
                <c:pt idx="10">
                  <c:v>2</c:v>
                </c:pt>
                <c:pt idx="11">
                  <c:v>2</c:v>
                </c:pt>
              </c:numCache>
            </c:numRef>
          </c:val>
          <c:extLst>
            <c:ext xmlns:c16="http://schemas.microsoft.com/office/drawing/2014/chart" uri="{C3380CC4-5D6E-409C-BE32-E72D297353CC}">
              <c16:uniqueId val="{00000001-9E18-41AC-9944-8949B7DC907F}"/>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D8D0"/>
            </a:solidFill>
            <a:prstDash val="solid"/>
            <a:round/>
          </a:ln>
        </c:spPr>
        <c:txPr>
          <a:bodyPr/>
          <a:lstStyle/>
          <a:p>
            <a:pPr>
              <a:defRPr sz="800" b="0" i="0" u="none" strike="noStrike">
                <a:solidFill>
                  <a:srgbClr val="6F6A5F"/>
                </a:solidFill>
                <a:latin typeface="IBM Plex Mono"/>
              </a:defRPr>
            </a:pPr>
            <a:endParaRPr lang="en-US"/>
          </a:p>
        </c:txPr>
        <c:crossAx val="2094734552"/>
        <c:crosses val="autoZero"/>
        <c:auto val="1"/>
        <c:lblAlgn val="ctr"/>
        <c:lblOffset val="100"/>
        <c:noMultiLvlLbl val="1"/>
      </c:catAx>
      <c:valAx>
        <c:axId val="2094734552"/>
        <c:scaling>
          <c:orientation val="minMax"/>
          <c:max val="50"/>
          <c:min val="0"/>
        </c:scaling>
        <c:delete val="1"/>
        <c:axPos val="l"/>
        <c:majorGridlines>
          <c:spPr>
            <a:ln w="6350" cap="flat">
              <a:solidFill>
                <a:srgbClr val="DCD8D0"/>
              </a:solidFill>
              <a:prstDash val="dash"/>
              <a:round/>
            </a:ln>
          </c:spPr>
        </c:majorGridlines>
        <c:numFmt formatCode="General" sourceLinked="0"/>
        <c:majorTickMark val="out"/>
        <c:minorTickMark val="none"/>
        <c:tickLblPos val="nextTo"/>
        <c:crossAx val="2094734554"/>
        <c:crosses val="autoZero"/>
        <c:crossBetween val="between"/>
      </c:valAx>
      <c:spPr>
        <a:solidFill>
          <a:srgbClr val="F3F1ED"/>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6241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boltertec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mailto:ceo@boltertech.com" TargetMode="External"/><Relationship Id="rId7" Type="http://schemas.openxmlformats.org/officeDocument/2006/relationships/hyperlink" Target="https://www.linkedin.com/in/blackstarin/"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mailto:cto@boltertech.com" TargetMode="External"/><Relationship Id="rId5" Type="http://schemas.openxmlformats.org/officeDocument/2006/relationships/hyperlink" Target="https://www.linkedin.com/in/HamzaJBandesha/" TargetMode="External"/><Relationship Id="rId4" Type="http://schemas.openxmlformats.org/officeDocument/2006/relationships/hyperlink" Target="mailto:coo@boltertech.com"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boltertech.com/estimate"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maps.app.goo.gl/Hn2xWVfHc56vTKj88"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hyperlink" Target="https://boltertech.com" TargetMode="External"/><Relationship Id="rId5" Type="http://schemas.openxmlformats.org/officeDocument/2006/relationships/hyperlink" Target="tel:+923347070209" TargetMode="External"/><Relationship Id="rId4" Type="http://schemas.openxmlformats.org/officeDocument/2006/relationships/hyperlink" Target="mailto:contact@boltertech.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B0C"/>
        </a:solidFill>
        <a:effectLst/>
      </p:bgPr>
    </p:bg>
    <p:spTree>
      <p:nvGrpSpPr>
        <p:cNvPr id="1" name=""/>
        <p:cNvGrpSpPr/>
        <p:nvPr/>
      </p:nvGrpSpPr>
      <p:grpSpPr>
        <a:xfrm>
          <a:off x="0" y="0"/>
          <a:ext cx="0" cy="0"/>
          <a:chOff x="0" y="0"/>
          <a:chExt cx="0" cy="0"/>
        </a:xfrm>
      </p:grpSpPr>
      <p:pic>
        <p:nvPicPr>
          <p:cNvPr id="2" name="Image 0" descr="X:\code\personal\boltertech.com\public\yellow-logo.png"/>
          <p:cNvPicPr>
            <a:picLocks noChangeAspect="1"/>
          </p:cNvPicPr>
          <p:nvPr/>
        </p:nvPicPr>
        <p:blipFill>
          <a:blip r:embed="rId3"/>
          <a:stretch>
            <a:fillRect/>
          </a:stretch>
        </p:blipFill>
        <p:spPr>
          <a:xfrm>
            <a:off x="7726680" y="1097280"/>
            <a:ext cx="3749040" cy="4047224"/>
          </a:xfrm>
          <a:prstGeom prst="rect">
            <a:avLst/>
          </a:prstGeom>
        </p:spPr>
      </p:pic>
      <p:sp>
        <p:nvSpPr>
          <p:cNvPr id="3" name="Shape 0"/>
          <p:cNvSpPr/>
          <p:nvPr/>
        </p:nvSpPr>
        <p:spPr>
          <a:xfrm>
            <a:off x="640080" y="1623060"/>
            <a:ext cx="219456" cy="32004"/>
          </a:xfrm>
          <a:prstGeom prst="rect">
            <a:avLst/>
          </a:prstGeom>
          <a:solidFill>
            <a:srgbClr val="E8A33D"/>
          </a:solidFill>
          <a:ln/>
        </p:spPr>
        <p:txBody>
          <a:bodyPr/>
          <a:lstStyle/>
          <a:p>
            <a:endParaRPr lang="en-PK"/>
          </a:p>
        </p:txBody>
      </p:sp>
      <p:sp>
        <p:nvSpPr>
          <p:cNvPr id="4" name="Text 1"/>
          <p:cNvSpPr/>
          <p:nvPr/>
        </p:nvSpPr>
        <p:spPr>
          <a:xfrm>
            <a:off x="969264" y="155448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COMPANY PROFILE  ·  2026</a:t>
            </a:r>
            <a:endParaRPr lang="en-US" sz="900" dirty="0"/>
          </a:p>
        </p:txBody>
      </p:sp>
      <p:sp>
        <p:nvSpPr>
          <p:cNvPr id="5" name="Text 2"/>
          <p:cNvSpPr/>
          <p:nvPr/>
        </p:nvSpPr>
        <p:spPr>
          <a:xfrm>
            <a:off x="640080" y="1874520"/>
            <a:ext cx="6766560" cy="2103120"/>
          </a:xfrm>
          <a:prstGeom prst="rect">
            <a:avLst/>
          </a:prstGeom>
          <a:noFill/>
          <a:ln/>
        </p:spPr>
        <p:txBody>
          <a:bodyPr wrap="square" lIns="0" tIns="0" rIns="0" bIns="0" rtlCol="0" anchor="t"/>
          <a:lstStyle/>
          <a:p>
            <a:pPr marL="0" indent="0">
              <a:lnSpc>
                <a:spcPct val="88000"/>
              </a:lnSpc>
              <a:buNone/>
            </a:pPr>
            <a:r>
              <a:rPr lang="en-US" sz="6600" b="1" dirty="0">
                <a:solidFill>
                  <a:srgbClr val="FFFFFF"/>
                </a:solidFill>
                <a:latin typeface="Space Grotesk" pitchFamily="34" charset="0"/>
                <a:ea typeface="Space Grotesk" pitchFamily="34" charset="-122"/>
                <a:cs typeface="Space Grotesk" pitchFamily="34" charset="-120"/>
              </a:rPr>
              <a:t>Bolter</a:t>
            </a:r>
            <a:endParaRPr lang="en-US" sz="6600" dirty="0"/>
          </a:p>
          <a:p>
            <a:pPr marL="0" indent="0">
              <a:lnSpc>
                <a:spcPct val="88000"/>
              </a:lnSpc>
              <a:buNone/>
            </a:pPr>
            <a:r>
              <a:rPr lang="en-US" sz="6600" b="1" dirty="0">
                <a:solidFill>
                  <a:srgbClr val="FFFFFF"/>
                </a:solidFill>
                <a:latin typeface="Space Grotesk" pitchFamily="34" charset="0"/>
                <a:ea typeface="Space Grotesk" pitchFamily="34" charset="-122"/>
                <a:cs typeface="Space Grotesk" pitchFamily="34" charset="-120"/>
              </a:rPr>
              <a:t>Technologies</a:t>
            </a:r>
            <a:endParaRPr lang="en-US" sz="6600" dirty="0"/>
          </a:p>
        </p:txBody>
      </p:sp>
      <p:sp>
        <p:nvSpPr>
          <p:cNvPr id="6" name="Text 3"/>
          <p:cNvSpPr/>
          <p:nvPr/>
        </p:nvSpPr>
        <p:spPr>
          <a:xfrm>
            <a:off x="640080" y="4069080"/>
            <a:ext cx="6766560" cy="822960"/>
          </a:xfrm>
          <a:prstGeom prst="rect">
            <a:avLst/>
          </a:prstGeom>
          <a:noFill/>
          <a:ln/>
        </p:spPr>
        <p:txBody>
          <a:bodyPr wrap="square" lIns="0" tIns="0" rIns="0" bIns="0" rtlCol="0" anchor="t"/>
          <a:lstStyle/>
          <a:p>
            <a:pPr marL="0" indent="0">
              <a:lnSpc>
                <a:spcPct val="115000"/>
              </a:lnSpc>
              <a:buNone/>
            </a:pPr>
            <a:r>
              <a:rPr lang="en-US" sz="2000" dirty="0">
                <a:solidFill>
                  <a:srgbClr val="B6B7B8"/>
                </a:solidFill>
                <a:latin typeface="IBM Plex Sans" pitchFamily="34" charset="0"/>
                <a:ea typeface="IBM Plex Sans" pitchFamily="34" charset="-122"/>
                <a:cs typeface="IBM Plex Sans" pitchFamily="34" charset="-120"/>
              </a:rPr>
              <a:t>We build software that works, and we stand behind it.</a:t>
            </a:r>
            <a:endParaRPr lang="en-US" sz="2000" dirty="0"/>
          </a:p>
        </p:txBody>
      </p:sp>
      <p:sp>
        <p:nvSpPr>
          <p:cNvPr id="7" name="Shape 4"/>
          <p:cNvSpPr/>
          <p:nvPr/>
        </p:nvSpPr>
        <p:spPr>
          <a:xfrm>
            <a:off x="640080" y="5532120"/>
            <a:ext cx="10911535" cy="0"/>
          </a:xfrm>
          <a:prstGeom prst="line">
            <a:avLst/>
          </a:prstGeom>
          <a:noFill/>
          <a:ln w="9525">
            <a:solidFill>
              <a:srgbClr val="2E3033"/>
            </a:solidFill>
            <a:prstDash val="solid"/>
          </a:ln>
        </p:spPr>
        <p:txBody>
          <a:bodyPr/>
          <a:lstStyle/>
          <a:p>
            <a:endParaRPr lang="en-PK"/>
          </a:p>
        </p:txBody>
      </p:sp>
      <p:sp>
        <p:nvSpPr>
          <p:cNvPr id="8" name="Text 5"/>
          <p:cNvSpPr/>
          <p:nvPr/>
        </p:nvSpPr>
        <p:spPr>
          <a:xfrm>
            <a:off x="640080" y="5715000"/>
            <a:ext cx="2727884" cy="182880"/>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ESTABLISHED</a:t>
            </a:r>
            <a:endParaRPr lang="en-US" sz="800" dirty="0"/>
          </a:p>
        </p:txBody>
      </p:sp>
      <p:sp>
        <p:nvSpPr>
          <p:cNvPr id="9" name="Text 6"/>
          <p:cNvSpPr/>
          <p:nvPr/>
        </p:nvSpPr>
        <p:spPr>
          <a:xfrm>
            <a:off x="640080" y="5943600"/>
            <a:ext cx="2727884" cy="274320"/>
          </a:xfrm>
          <a:prstGeom prst="rect">
            <a:avLst/>
          </a:prstGeom>
          <a:noFill/>
          <a:ln/>
        </p:spPr>
        <p:txBody>
          <a:bodyPr wrap="square" lIns="0" tIns="0" rIns="0" bIns="0" rtlCol="0" anchor="t"/>
          <a:lstStyle/>
          <a:p>
            <a:pPr marL="0" indent="0">
              <a:buNone/>
            </a:pPr>
            <a:r>
              <a:rPr lang="en-US" sz="1300" dirty="0">
                <a:solidFill>
                  <a:srgbClr val="FFFFFF"/>
                </a:solidFill>
                <a:latin typeface="IBM Plex Sans" pitchFamily="34" charset="0"/>
                <a:ea typeface="IBM Plex Sans" pitchFamily="34" charset="-122"/>
                <a:cs typeface="IBM Plex Sans" pitchFamily="34" charset="-120"/>
              </a:rPr>
              <a:t>2024</a:t>
            </a:r>
            <a:endParaRPr lang="en-US" sz="1300" dirty="0"/>
          </a:p>
        </p:txBody>
      </p:sp>
      <p:sp>
        <p:nvSpPr>
          <p:cNvPr id="10" name="Text 7"/>
          <p:cNvSpPr/>
          <p:nvPr/>
        </p:nvSpPr>
        <p:spPr>
          <a:xfrm>
            <a:off x="3367964" y="5715000"/>
            <a:ext cx="2727884" cy="182880"/>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HEADQUARTERS</a:t>
            </a:r>
            <a:endParaRPr lang="en-US" sz="800" dirty="0"/>
          </a:p>
        </p:txBody>
      </p:sp>
      <p:sp>
        <p:nvSpPr>
          <p:cNvPr id="11" name="Text 8"/>
          <p:cNvSpPr/>
          <p:nvPr/>
        </p:nvSpPr>
        <p:spPr>
          <a:xfrm>
            <a:off x="3367964" y="5943600"/>
            <a:ext cx="2727884" cy="274320"/>
          </a:xfrm>
          <a:prstGeom prst="rect">
            <a:avLst/>
          </a:prstGeom>
          <a:noFill/>
          <a:ln/>
        </p:spPr>
        <p:txBody>
          <a:bodyPr wrap="square" lIns="0" tIns="0" rIns="0" bIns="0" rtlCol="0" anchor="t"/>
          <a:lstStyle/>
          <a:p>
            <a:pPr marL="0" indent="0">
              <a:buNone/>
            </a:pPr>
            <a:r>
              <a:rPr lang="en-US" sz="1300" dirty="0">
                <a:solidFill>
                  <a:srgbClr val="FFFFFF"/>
                </a:solidFill>
                <a:latin typeface="IBM Plex Sans" pitchFamily="34" charset="0"/>
                <a:ea typeface="IBM Plex Sans" pitchFamily="34" charset="-122"/>
                <a:cs typeface="IBM Plex Sans" pitchFamily="34" charset="-120"/>
              </a:rPr>
              <a:t>Islamabad, Pakistan</a:t>
            </a:r>
            <a:endParaRPr lang="en-US" sz="1300" dirty="0"/>
          </a:p>
        </p:txBody>
      </p:sp>
      <p:sp>
        <p:nvSpPr>
          <p:cNvPr id="12" name="Text 9"/>
          <p:cNvSpPr/>
          <p:nvPr/>
        </p:nvSpPr>
        <p:spPr>
          <a:xfrm>
            <a:off x="6095848" y="5715000"/>
            <a:ext cx="2727884" cy="182880"/>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WEBSITE</a:t>
            </a:r>
            <a:endParaRPr lang="en-US" sz="800" dirty="0"/>
          </a:p>
        </p:txBody>
      </p:sp>
      <p:sp>
        <p:nvSpPr>
          <p:cNvPr id="13" name="Text 10"/>
          <p:cNvSpPr/>
          <p:nvPr/>
        </p:nvSpPr>
        <p:spPr>
          <a:xfrm>
            <a:off x="6095848" y="5943600"/>
            <a:ext cx="2727884" cy="274320"/>
          </a:xfrm>
          <a:prstGeom prst="rect">
            <a:avLst/>
          </a:prstGeom>
          <a:noFill/>
          <a:ln/>
        </p:spPr>
        <p:txBody>
          <a:bodyPr wrap="square" lIns="0" tIns="0" rIns="0" bIns="0" rtlCol="0" anchor="t"/>
          <a:lstStyle/>
          <a:p>
            <a:pPr marL="0" indent="0">
              <a:buNone/>
            </a:pPr>
            <a:r>
              <a:rPr lang="en-US" sz="1300" dirty="0">
                <a:solidFill>
                  <a:srgbClr val="FFFFFF"/>
                </a:solidFill>
                <a:latin typeface="IBM Plex Sans" pitchFamily="34" charset="0"/>
                <a:ea typeface="IBM Plex Sans" pitchFamily="34" charset="-122"/>
                <a:cs typeface="IBM Plex Sans" pitchFamily="34" charset="-120"/>
                <a:hlinkClick r:id="rId4"/>
              </a:rPr>
              <a:t>boltertech.com</a:t>
            </a:r>
            <a:endParaRPr lang="en-US" sz="1300" dirty="0"/>
          </a:p>
        </p:txBody>
      </p:sp>
      <p:sp>
        <p:nvSpPr>
          <p:cNvPr id="14" name="Text 11"/>
          <p:cNvSpPr/>
          <p:nvPr/>
        </p:nvSpPr>
        <p:spPr>
          <a:xfrm>
            <a:off x="8823731" y="5715000"/>
            <a:ext cx="2727884" cy="182880"/>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CONTACT</a:t>
            </a:r>
            <a:endParaRPr lang="en-US" sz="800" dirty="0"/>
          </a:p>
        </p:txBody>
      </p:sp>
      <p:sp>
        <p:nvSpPr>
          <p:cNvPr id="15" name="Text 12"/>
          <p:cNvSpPr/>
          <p:nvPr/>
        </p:nvSpPr>
        <p:spPr>
          <a:xfrm>
            <a:off x="8823731" y="5943600"/>
            <a:ext cx="2727884" cy="274320"/>
          </a:xfrm>
          <a:prstGeom prst="rect">
            <a:avLst/>
          </a:prstGeom>
          <a:noFill/>
          <a:ln/>
        </p:spPr>
        <p:txBody>
          <a:bodyPr wrap="square" lIns="0" tIns="0" rIns="0" bIns="0" rtlCol="0" anchor="t"/>
          <a:lstStyle/>
          <a:p>
            <a:pPr marL="0" indent="0">
              <a:buNone/>
            </a:pPr>
            <a:r>
              <a:rPr lang="en-US" sz="1300" dirty="0">
                <a:solidFill>
                  <a:srgbClr val="FFFFFF"/>
                </a:solidFill>
                <a:latin typeface="IBM Plex Sans" pitchFamily="34" charset="0"/>
                <a:ea typeface="IBM Plex Sans" pitchFamily="34" charset="-122"/>
                <a:cs typeface="IBM Plex Sans" pitchFamily="34" charset="-120"/>
              </a:rPr>
              <a:t>contact@boltertech.com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01  COMPANY OVERVIEW</a:t>
            </a:r>
            <a:endParaRPr lang="en-US" sz="900" dirty="0"/>
          </a:p>
        </p:txBody>
      </p:sp>
      <p:sp>
        <p:nvSpPr>
          <p:cNvPr id="4" name="Text 2"/>
          <p:cNvSpPr/>
          <p:nvPr/>
        </p:nvSpPr>
        <p:spPr>
          <a:xfrm>
            <a:off x="640080" y="777240"/>
            <a:ext cx="10911535" cy="685800"/>
          </a:xfrm>
          <a:prstGeom prst="rect">
            <a:avLst/>
          </a:prstGeom>
          <a:noFill/>
          <a:ln/>
        </p:spPr>
        <p:txBody>
          <a:bodyPr wrap="square" lIns="0" tIns="0" rIns="0" bIns="0" rtlCol="0" anchor="t"/>
          <a:lstStyle/>
          <a:p>
            <a:pPr marL="0" indent="0">
              <a:buNone/>
            </a:pPr>
            <a:r>
              <a:rPr lang="en-US" sz="3400" b="1" dirty="0">
                <a:solidFill>
                  <a:srgbClr val="14161A"/>
                </a:solidFill>
                <a:latin typeface="Space Grotesk" pitchFamily="34" charset="0"/>
                <a:ea typeface="Space Grotesk" pitchFamily="34" charset="-122"/>
                <a:cs typeface="Space Grotesk" pitchFamily="34" charset="-120"/>
              </a:rPr>
              <a:t>Company Overview</a:t>
            </a:r>
            <a:br>
              <a:rPr lang="en-US" sz="3400" b="1" dirty="0">
                <a:solidFill>
                  <a:srgbClr val="14161A"/>
                </a:solidFill>
                <a:latin typeface="Space Grotesk" pitchFamily="34" charset="0"/>
                <a:ea typeface="Space Grotesk" pitchFamily="34" charset="-122"/>
                <a:cs typeface="Space Grotesk" pitchFamily="34" charset="-120"/>
              </a:rPr>
            </a:br>
            <a:endParaRPr lang="en-US" sz="3400" dirty="0"/>
          </a:p>
        </p:txBody>
      </p:sp>
      <p:sp>
        <p:nvSpPr>
          <p:cNvPr id="6" name="Text 4"/>
          <p:cNvSpPr/>
          <p:nvPr/>
        </p:nvSpPr>
        <p:spPr>
          <a:xfrm>
            <a:off x="640080" y="1463040"/>
            <a:ext cx="6583680" cy="4233670"/>
          </a:xfrm>
          <a:prstGeom prst="rect">
            <a:avLst/>
          </a:prstGeom>
          <a:noFill/>
          <a:ln/>
        </p:spPr>
        <p:txBody>
          <a:bodyPr wrap="square" lIns="0" tIns="0" rIns="0" bIns="0" rtlCol="0" anchor="t"/>
          <a:lstStyle/>
          <a:p>
            <a:pPr>
              <a:lnSpc>
                <a:spcPct val="130000"/>
              </a:lnSpc>
            </a:pPr>
            <a:r>
              <a:rPr lang="en-PK" sz="1400" dirty="0">
                <a:solidFill>
                  <a:srgbClr val="14161A"/>
                </a:solidFill>
                <a:latin typeface="IBM Plex Sans" pitchFamily="34" charset="0"/>
              </a:rPr>
              <a:t>Bolter Technologies is a Pakistan-based software and technology company headquartered in Islamabad, serving businesses and enterprise clients. Our work spans </a:t>
            </a:r>
            <a:r>
              <a:rPr lang="en-GB" sz="1400" dirty="0">
                <a:solidFill>
                  <a:srgbClr val="14161A"/>
                </a:solidFill>
                <a:latin typeface="IBM Plex Sans" pitchFamily="34" charset="0"/>
              </a:rPr>
              <a:t>AI</a:t>
            </a:r>
            <a:r>
              <a:rPr lang="en-PK" sz="1400" dirty="0">
                <a:solidFill>
                  <a:srgbClr val="14161A"/>
                </a:solidFill>
                <a:latin typeface="IBM Plex Sans" pitchFamily="34" charset="0"/>
              </a:rPr>
              <a:t>, automation, software development, data analytics, and cybersecurity, with a focus on technology that supports real business and operational needs.</a:t>
            </a:r>
            <a:endParaRPr lang="en-GB" sz="1400" dirty="0">
              <a:solidFill>
                <a:srgbClr val="14161A"/>
              </a:solidFill>
              <a:latin typeface="IBM Plex Sans" pitchFamily="34" charset="0"/>
            </a:endParaRPr>
          </a:p>
          <a:p>
            <a:pPr>
              <a:lnSpc>
                <a:spcPct val="130000"/>
              </a:lnSpc>
            </a:pPr>
            <a:endParaRPr lang="en-PK" sz="1400" dirty="0">
              <a:solidFill>
                <a:srgbClr val="14161A"/>
              </a:solidFill>
              <a:latin typeface="IBM Plex Sans" pitchFamily="34" charset="0"/>
            </a:endParaRPr>
          </a:p>
          <a:p>
            <a:pPr>
              <a:lnSpc>
                <a:spcPct val="130000"/>
              </a:lnSpc>
            </a:pPr>
            <a:r>
              <a:rPr lang="en-PK" sz="1400" dirty="0">
                <a:solidFill>
                  <a:srgbClr val="14161A"/>
                </a:solidFill>
                <a:latin typeface="IBM Plex Sans" pitchFamily="34" charset="0"/>
              </a:rPr>
              <a:t>Bolter is a relatively young company, but our senior team brings experience from established businesses and long-running projects. We are a sister company of Sigma Engineering, in business since 2008, giving us a broad business and technical foundation</a:t>
            </a:r>
            <a:r>
              <a:rPr lang="en-GB" sz="1400" dirty="0">
                <a:solidFill>
                  <a:srgbClr val="14161A"/>
                </a:solidFill>
                <a:latin typeface="IBM Plex Sans" pitchFamily="34" charset="0"/>
              </a:rPr>
              <a:t>.</a:t>
            </a:r>
          </a:p>
          <a:p>
            <a:pPr>
              <a:lnSpc>
                <a:spcPct val="130000"/>
              </a:lnSpc>
            </a:pPr>
            <a:endParaRPr lang="en-PK" sz="1400" dirty="0">
              <a:solidFill>
                <a:srgbClr val="14161A"/>
              </a:solidFill>
              <a:latin typeface="IBM Plex Sans" pitchFamily="34" charset="0"/>
            </a:endParaRPr>
          </a:p>
          <a:p>
            <a:pPr>
              <a:lnSpc>
                <a:spcPct val="130000"/>
              </a:lnSpc>
            </a:pPr>
            <a:r>
              <a:rPr lang="en-GB" sz="1400" dirty="0">
                <a:solidFill>
                  <a:srgbClr val="14161A"/>
                </a:solidFill>
                <a:latin typeface="IBM Plex Sans" pitchFamily="34" charset="0"/>
              </a:rPr>
              <a:t>Our company is built around a simple idea: technology should make life easier for everyone. We work across numerous fields of technology, helping businesses turn ideas, inefficient processes, and complex data into practical systems that actually work.</a:t>
            </a:r>
            <a:endParaRPr lang="en-US" sz="1500" dirty="0">
              <a:solidFill>
                <a:schemeClr val="accent3"/>
              </a:solidFill>
            </a:endParaRPr>
          </a:p>
        </p:txBody>
      </p:sp>
      <p:sp>
        <p:nvSpPr>
          <p:cNvPr id="7" name="Shape 5"/>
          <p:cNvSpPr/>
          <p:nvPr/>
        </p:nvSpPr>
        <p:spPr>
          <a:xfrm>
            <a:off x="8000998" y="1487194"/>
            <a:ext cx="3550615" cy="0"/>
          </a:xfrm>
          <a:prstGeom prst="line">
            <a:avLst/>
          </a:prstGeom>
          <a:noFill/>
          <a:ln w="9525">
            <a:solidFill>
              <a:srgbClr val="DCD8D0"/>
            </a:solidFill>
            <a:prstDash val="solid"/>
          </a:ln>
        </p:spPr>
        <p:txBody>
          <a:bodyPr/>
          <a:lstStyle/>
          <a:p>
            <a:endParaRPr lang="en-PK" sz="2400"/>
          </a:p>
        </p:txBody>
      </p:sp>
      <p:sp>
        <p:nvSpPr>
          <p:cNvPr id="8" name="Text 6"/>
          <p:cNvSpPr/>
          <p:nvPr/>
        </p:nvSpPr>
        <p:spPr>
          <a:xfrm>
            <a:off x="8000998" y="1549477"/>
            <a:ext cx="3550615" cy="182880"/>
          </a:xfrm>
          <a:prstGeom prst="rect">
            <a:avLst/>
          </a:prstGeom>
          <a:noFill/>
          <a:ln/>
        </p:spPr>
        <p:txBody>
          <a:bodyPr wrap="square" lIns="0" tIns="0" rIns="0" bIns="0" rtlCol="0" anchor="t"/>
          <a:lstStyle/>
          <a:p>
            <a:pPr marL="0" indent="0">
              <a:buNone/>
            </a:pPr>
            <a:r>
              <a:rPr lang="en-US" sz="1000" b="1" kern="0" spc="150" dirty="0">
                <a:solidFill>
                  <a:srgbClr val="8F5D0A"/>
                </a:solidFill>
                <a:latin typeface="IBM Plex Mono" pitchFamily="34" charset="0"/>
                <a:ea typeface="IBM Plex Mono" pitchFamily="34" charset="-122"/>
                <a:cs typeface="IBM Plex Mono" pitchFamily="34" charset="-120"/>
              </a:rPr>
              <a:t>LEGAL NAME</a:t>
            </a:r>
            <a:endParaRPr lang="en-US" sz="1000" b="1" dirty="0">
              <a:solidFill>
                <a:srgbClr val="8F5D0A"/>
              </a:solidFill>
            </a:endParaRPr>
          </a:p>
        </p:txBody>
      </p:sp>
      <p:sp>
        <p:nvSpPr>
          <p:cNvPr id="9" name="Text 7"/>
          <p:cNvSpPr/>
          <p:nvPr/>
        </p:nvSpPr>
        <p:spPr>
          <a:xfrm>
            <a:off x="8000998" y="1732357"/>
            <a:ext cx="3550615" cy="237744"/>
          </a:xfrm>
          <a:prstGeom prst="rect">
            <a:avLst/>
          </a:prstGeom>
          <a:noFill/>
          <a:ln/>
        </p:spPr>
        <p:txBody>
          <a:bodyPr wrap="square" lIns="0" tIns="0" rIns="0" bIns="0" rtlCol="0" anchor="t"/>
          <a:lstStyle/>
          <a:p>
            <a:pPr marL="0" indent="0">
              <a:buNone/>
            </a:pPr>
            <a:r>
              <a:rPr lang="en-US" sz="1400" dirty="0">
                <a:solidFill>
                  <a:srgbClr val="14161A"/>
                </a:solidFill>
                <a:latin typeface="IBM Plex Sans" pitchFamily="34" charset="0"/>
                <a:ea typeface="IBM Plex Sans" pitchFamily="34" charset="-122"/>
                <a:cs typeface="IBM Plex Sans" pitchFamily="34" charset="-120"/>
              </a:rPr>
              <a:t>Bolter Technologies Private Limited</a:t>
            </a:r>
            <a:endParaRPr lang="en-US" sz="1400" dirty="0"/>
          </a:p>
        </p:txBody>
      </p:sp>
      <p:sp>
        <p:nvSpPr>
          <p:cNvPr id="10" name="Shape 8"/>
          <p:cNvSpPr/>
          <p:nvPr/>
        </p:nvSpPr>
        <p:spPr>
          <a:xfrm>
            <a:off x="8000998" y="2130898"/>
            <a:ext cx="3550615" cy="0"/>
          </a:xfrm>
          <a:prstGeom prst="line">
            <a:avLst/>
          </a:prstGeom>
          <a:noFill/>
          <a:ln w="9525">
            <a:solidFill>
              <a:srgbClr val="DCD8D0"/>
            </a:solidFill>
            <a:prstDash val="solid"/>
          </a:ln>
        </p:spPr>
        <p:txBody>
          <a:bodyPr/>
          <a:lstStyle/>
          <a:p>
            <a:endParaRPr lang="en-PK" sz="2400"/>
          </a:p>
        </p:txBody>
      </p:sp>
      <p:sp>
        <p:nvSpPr>
          <p:cNvPr id="11" name="Text 9"/>
          <p:cNvSpPr/>
          <p:nvPr/>
        </p:nvSpPr>
        <p:spPr>
          <a:xfrm>
            <a:off x="8000997" y="2190680"/>
            <a:ext cx="3550615" cy="182880"/>
          </a:xfrm>
          <a:prstGeom prst="rect">
            <a:avLst/>
          </a:prstGeom>
          <a:noFill/>
          <a:ln/>
        </p:spPr>
        <p:txBody>
          <a:bodyPr wrap="square" lIns="0" tIns="0" rIns="0" bIns="0" rtlCol="0" anchor="t"/>
          <a:lstStyle/>
          <a:p>
            <a:pPr marL="0" indent="0">
              <a:buNone/>
            </a:pPr>
            <a:r>
              <a:rPr lang="en-US" sz="1000" b="1" kern="0" spc="150" dirty="0">
                <a:solidFill>
                  <a:srgbClr val="8F5D0A"/>
                </a:solidFill>
                <a:latin typeface="IBM Plex Mono" pitchFamily="34" charset="0"/>
              </a:rPr>
              <a:t>GROUP OF COMPANIES</a:t>
            </a:r>
            <a:endParaRPr lang="en-US" sz="1000" b="1" dirty="0">
              <a:solidFill>
                <a:srgbClr val="8F5D0A"/>
              </a:solidFill>
            </a:endParaRPr>
          </a:p>
        </p:txBody>
      </p:sp>
      <p:sp>
        <p:nvSpPr>
          <p:cNvPr id="12" name="Text 10"/>
          <p:cNvSpPr/>
          <p:nvPr/>
        </p:nvSpPr>
        <p:spPr>
          <a:xfrm>
            <a:off x="8000997" y="2373560"/>
            <a:ext cx="3550615" cy="237744"/>
          </a:xfrm>
          <a:prstGeom prst="rect">
            <a:avLst/>
          </a:prstGeom>
          <a:noFill/>
          <a:ln/>
        </p:spPr>
        <p:txBody>
          <a:bodyPr wrap="square" lIns="0" tIns="0" rIns="0" bIns="0" rtlCol="0" anchor="t"/>
          <a:lstStyle/>
          <a:p>
            <a:pPr marL="0" indent="0">
              <a:buNone/>
            </a:pPr>
            <a:r>
              <a:rPr lang="en-US" sz="1400" dirty="0">
                <a:solidFill>
                  <a:srgbClr val="14161A"/>
                </a:solidFill>
                <a:latin typeface="IBM Plex Sans" pitchFamily="34" charset="0"/>
                <a:ea typeface="IBM Plex Sans" pitchFamily="34" charset="-122"/>
                <a:cs typeface="IBM Plex Sans" pitchFamily="34" charset="-120"/>
              </a:rPr>
              <a:t>Sigma Engineering</a:t>
            </a:r>
            <a:endParaRPr lang="en-US" sz="1400" dirty="0"/>
          </a:p>
        </p:txBody>
      </p:sp>
      <p:sp>
        <p:nvSpPr>
          <p:cNvPr id="13" name="Shape 11"/>
          <p:cNvSpPr/>
          <p:nvPr/>
        </p:nvSpPr>
        <p:spPr>
          <a:xfrm>
            <a:off x="8000996" y="2778655"/>
            <a:ext cx="3550615" cy="0"/>
          </a:xfrm>
          <a:prstGeom prst="line">
            <a:avLst/>
          </a:prstGeom>
          <a:noFill/>
          <a:ln w="9525">
            <a:solidFill>
              <a:srgbClr val="DCD8D0"/>
            </a:solidFill>
            <a:prstDash val="solid"/>
          </a:ln>
        </p:spPr>
        <p:txBody>
          <a:bodyPr/>
          <a:lstStyle/>
          <a:p>
            <a:endParaRPr lang="en-PK" sz="2400" dirty="0"/>
          </a:p>
        </p:txBody>
      </p:sp>
      <p:sp>
        <p:nvSpPr>
          <p:cNvPr id="14" name="Text 12"/>
          <p:cNvSpPr/>
          <p:nvPr/>
        </p:nvSpPr>
        <p:spPr>
          <a:xfrm>
            <a:off x="8001000" y="2838436"/>
            <a:ext cx="3550615" cy="182880"/>
          </a:xfrm>
          <a:prstGeom prst="rect">
            <a:avLst/>
          </a:prstGeom>
          <a:noFill/>
          <a:ln/>
        </p:spPr>
        <p:txBody>
          <a:bodyPr wrap="square" lIns="0" tIns="0" rIns="0" bIns="0" rtlCol="0" anchor="t"/>
          <a:lstStyle/>
          <a:p>
            <a:pPr marL="0" indent="0">
              <a:buNone/>
            </a:pPr>
            <a:r>
              <a:rPr lang="en-US" sz="1000" b="1" kern="0" spc="150" dirty="0">
                <a:solidFill>
                  <a:srgbClr val="8F5D0A"/>
                </a:solidFill>
                <a:latin typeface="IBM Plex Mono" pitchFamily="34" charset="0"/>
                <a:ea typeface="IBM Plex Mono" pitchFamily="34" charset="-122"/>
                <a:cs typeface="IBM Plex Mono" pitchFamily="34" charset="-120"/>
              </a:rPr>
              <a:t>INDUSTRY</a:t>
            </a:r>
            <a:endParaRPr lang="en-US" sz="1000" b="1" dirty="0">
              <a:solidFill>
                <a:srgbClr val="8F5D0A"/>
              </a:solidFill>
            </a:endParaRPr>
          </a:p>
        </p:txBody>
      </p:sp>
      <p:sp>
        <p:nvSpPr>
          <p:cNvPr id="15" name="Text 13"/>
          <p:cNvSpPr/>
          <p:nvPr/>
        </p:nvSpPr>
        <p:spPr>
          <a:xfrm>
            <a:off x="8001000" y="3021316"/>
            <a:ext cx="3550615" cy="237744"/>
          </a:xfrm>
          <a:prstGeom prst="rect">
            <a:avLst/>
          </a:prstGeom>
          <a:noFill/>
          <a:ln/>
        </p:spPr>
        <p:txBody>
          <a:bodyPr wrap="square" lIns="0" tIns="0" rIns="0" bIns="0" rtlCol="0" anchor="t"/>
          <a:lstStyle/>
          <a:p>
            <a:pPr marL="0" indent="0">
              <a:buNone/>
            </a:pPr>
            <a:r>
              <a:rPr lang="en-US" sz="1400" dirty="0">
                <a:solidFill>
                  <a:srgbClr val="14161A"/>
                </a:solidFill>
                <a:latin typeface="IBM Plex Sans" pitchFamily="34" charset="0"/>
                <a:ea typeface="IBM Plex Sans" pitchFamily="34" charset="-122"/>
                <a:cs typeface="IBM Plex Sans" pitchFamily="34" charset="-120"/>
              </a:rPr>
              <a:t>IT </a:t>
            </a:r>
            <a:r>
              <a:rPr lang="en-US" sz="1400" dirty="0">
                <a:solidFill>
                  <a:srgbClr val="14161A"/>
                </a:solidFill>
                <a:latin typeface="IBM Plex Sans" pitchFamily="34" charset="0"/>
              </a:rPr>
              <a:t>Services</a:t>
            </a:r>
            <a:r>
              <a:rPr lang="en-US" sz="1400" dirty="0">
                <a:solidFill>
                  <a:srgbClr val="14161A"/>
                </a:solidFill>
                <a:latin typeface="IBM Plex Sans" pitchFamily="34" charset="0"/>
                <a:ea typeface="IBM Plex Sans" pitchFamily="34" charset="-122"/>
                <a:cs typeface="IBM Plex Sans" pitchFamily="34" charset="-120"/>
              </a:rPr>
              <a:t> and IT Consulting</a:t>
            </a:r>
            <a:endParaRPr lang="en-US" sz="1400" dirty="0"/>
          </a:p>
        </p:txBody>
      </p:sp>
      <p:sp>
        <p:nvSpPr>
          <p:cNvPr id="16" name="Shape 14"/>
          <p:cNvSpPr/>
          <p:nvPr/>
        </p:nvSpPr>
        <p:spPr>
          <a:xfrm>
            <a:off x="8001000" y="3463938"/>
            <a:ext cx="3550615" cy="0"/>
          </a:xfrm>
          <a:prstGeom prst="line">
            <a:avLst/>
          </a:prstGeom>
          <a:noFill/>
          <a:ln w="9525">
            <a:solidFill>
              <a:srgbClr val="DCD8D0"/>
            </a:solidFill>
            <a:prstDash val="solid"/>
          </a:ln>
        </p:spPr>
        <p:txBody>
          <a:bodyPr/>
          <a:lstStyle/>
          <a:p>
            <a:endParaRPr lang="en-PK" sz="2400"/>
          </a:p>
        </p:txBody>
      </p:sp>
      <p:sp>
        <p:nvSpPr>
          <p:cNvPr id="17" name="Text 15"/>
          <p:cNvSpPr/>
          <p:nvPr/>
        </p:nvSpPr>
        <p:spPr>
          <a:xfrm>
            <a:off x="8001000" y="4454969"/>
            <a:ext cx="3550615" cy="182880"/>
          </a:xfrm>
          <a:prstGeom prst="rect">
            <a:avLst/>
          </a:prstGeom>
          <a:noFill/>
          <a:ln/>
        </p:spPr>
        <p:txBody>
          <a:bodyPr wrap="square" lIns="0" tIns="0" rIns="0" bIns="0" rtlCol="0" anchor="t"/>
          <a:lstStyle/>
          <a:p>
            <a:pPr indent="0">
              <a:buNone/>
            </a:pPr>
            <a:r>
              <a:rPr lang="en-US" sz="1000" b="1" kern="0" spc="150" dirty="0">
                <a:solidFill>
                  <a:srgbClr val="8F5D0A"/>
                </a:solidFill>
                <a:latin typeface="IBM Plex Mono" pitchFamily="34" charset="0"/>
              </a:rPr>
              <a:t>CLIENT FOCUS</a:t>
            </a:r>
          </a:p>
        </p:txBody>
      </p:sp>
      <p:sp>
        <p:nvSpPr>
          <p:cNvPr id="18" name="Text 16"/>
          <p:cNvSpPr/>
          <p:nvPr/>
        </p:nvSpPr>
        <p:spPr>
          <a:xfrm>
            <a:off x="8001000" y="4637849"/>
            <a:ext cx="3550615" cy="237744"/>
          </a:xfrm>
          <a:prstGeom prst="rect">
            <a:avLst/>
          </a:prstGeom>
          <a:noFill/>
          <a:ln/>
        </p:spPr>
        <p:txBody>
          <a:bodyPr wrap="square" lIns="0" tIns="0" rIns="0" bIns="0" rtlCol="0" anchor="t"/>
          <a:lstStyle/>
          <a:p>
            <a:pPr marL="0" indent="0">
              <a:buNone/>
            </a:pPr>
            <a:r>
              <a:rPr lang="en-US" sz="1400" dirty="0">
                <a:solidFill>
                  <a:srgbClr val="14161A"/>
                </a:solidFill>
                <a:latin typeface="IBM Plex Sans" pitchFamily="34" charset="0"/>
                <a:ea typeface="IBM Plex Sans" pitchFamily="34" charset="-122"/>
                <a:cs typeface="IBM Plex Sans" pitchFamily="34" charset="-120"/>
              </a:rPr>
              <a:t>B2B &amp; Enterprise</a:t>
            </a:r>
            <a:endParaRPr lang="en-US" sz="1400" dirty="0"/>
          </a:p>
        </p:txBody>
      </p:sp>
      <p:sp>
        <p:nvSpPr>
          <p:cNvPr id="19" name="Shape 17"/>
          <p:cNvSpPr/>
          <p:nvPr/>
        </p:nvSpPr>
        <p:spPr>
          <a:xfrm>
            <a:off x="8001000" y="5061750"/>
            <a:ext cx="3550615" cy="0"/>
          </a:xfrm>
          <a:prstGeom prst="line">
            <a:avLst/>
          </a:prstGeom>
          <a:noFill/>
          <a:ln w="9525">
            <a:solidFill>
              <a:srgbClr val="DCD8D0"/>
            </a:solidFill>
            <a:prstDash val="solid"/>
          </a:ln>
        </p:spPr>
        <p:txBody>
          <a:bodyPr/>
          <a:lstStyle/>
          <a:p>
            <a:endParaRPr lang="en-PK" sz="2400"/>
          </a:p>
        </p:txBody>
      </p:sp>
      <p:sp>
        <p:nvSpPr>
          <p:cNvPr id="20" name="Text 18"/>
          <p:cNvSpPr/>
          <p:nvPr/>
        </p:nvSpPr>
        <p:spPr>
          <a:xfrm>
            <a:off x="8001000" y="5118195"/>
            <a:ext cx="3550615" cy="182880"/>
          </a:xfrm>
          <a:prstGeom prst="rect">
            <a:avLst/>
          </a:prstGeom>
          <a:noFill/>
          <a:ln/>
        </p:spPr>
        <p:txBody>
          <a:bodyPr wrap="square" lIns="0" tIns="0" rIns="0" bIns="0" rtlCol="0" anchor="t"/>
          <a:lstStyle/>
          <a:p>
            <a:r>
              <a:rPr lang="en-US" sz="1000" b="1" kern="0" spc="150" dirty="0">
                <a:solidFill>
                  <a:srgbClr val="8F5D0A"/>
                </a:solidFill>
                <a:latin typeface="IBM Plex Mono" pitchFamily="34" charset="0"/>
              </a:rPr>
              <a:t>HEADQUARTERS</a:t>
            </a:r>
          </a:p>
        </p:txBody>
      </p:sp>
      <p:sp>
        <p:nvSpPr>
          <p:cNvPr id="21" name="Text 19"/>
          <p:cNvSpPr/>
          <p:nvPr/>
        </p:nvSpPr>
        <p:spPr>
          <a:xfrm>
            <a:off x="8001000" y="5301075"/>
            <a:ext cx="3550615" cy="237744"/>
          </a:xfrm>
          <a:prstGeom prst="rect">
            <a:avLst/>
          </a:prstGeom>
          <a:noFill/>
          <a:ln/>
        </p:spPr>
        <p:txBody>
          <a:bodyPr wrap="square" lIns="0" tIns="0" rIns="0" bIns="0" rtlCol="0" anchor="t"/>
          <a:lstStyle/>
          <a:p>
            <a:pPr marL="0" indent="0">
              <a:buNone/>
            </a:pPr>
            <a:r>
              <a:rPr lang="en-US" sz="1400" dirty="0">
                <a:solidFill>
                  <a:srgbClr val="14161A"/>
                </a:solidFill>
                <a:latin typeface="IBM Plex Sans" pitchFamily="34" charset="0"/>
                <a:ea typeface="IBM Plex Sans" pitchFamily="34" charset="-122"/>
                <a:cs typeface="IBM Plex Sans" pitchFamily="34" charset="-120"/>
              </a:rPr>
              <a:t>Islamabad, Pakistan</a:t>
            </a:r>
            <a:endParaRPr lang="en-US" sz="1400" dirty="0"/>
          </a:p>
        </p:txBody>
      </p:sp>
      <p:sp>
        <p:nvSpPr>
          <p:cNvPr id="34" name="Text 32"/>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35" name="Text 33"/>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02 / 30</a:t>
            </a:r>
            <a:endParaRPr lang="en-US" sz="700" dirty="0"/>
          </a:p>
        </p:txBody>
      </p:sp>
      <p:sp>
        <p:nvSpPr>
          <p:cNvPr id="37" name="Shape 17">
            <a:extLst>
              <a:ext uri="{FF2B5EF4-FFF2-40B4-BE49-F238E27FC236}">
                <a16:creationId xmlns:a16="http://schemas.microsoft.com/office/drawing/2014/main" id="{22CDABBD-5701-4764-D18E-B6CF38BFBC35}"/>
              </a:ext>
            </a:extLst>
          </p:cNvPr>
          <p:cNvSpPr/>
          <p:nvPr/>
        </p:nvSpPr>
        <p:spPr>
          <a:xfrm>
            <a:off x="8000996" y="4393074"/>
            <a:ext cx="3550615" cy="0"/>
          </a:xfrm>
          <a:prstGeom prst="line">
            <a:avLst/>
          </a:prstGeom>
          <a:noFill/>
          <a:ln w="9525">
            <a:solidFill>
              <a:srgbClr val="DCD8D0"/>
            </a:solidFill>
            <a:prstDash val="solid"/>
          </a:ln>
        </p:spPr>
        <p:txBody>
          <a:bodyPr/>
          <a:lstStyle/>
          <a:p>
            <a:endParaRPr lang="en-PK" sz="2400"/>
          </a:p>
        </p:txBody>
      </p:sp>
      <p:sp>
        <p:nvSpPr>
          <p:cNvPr id="39" name="Text 18">
            <a:extLst>
              <a:ext uri="{FF2B5EF4-FFF2-40B4-BE49-F238E27FC236}">
                <a16:creationId xmlns:a16="http://schemas.microsoft.com/office/drawing/2014/main" id="{6C3AFA25-515C-7AC3-14A6-96B11A937FA8}"/>
              </a:ext>
            </a:extLst>
          </p:cNvPr>
          <p:cNvSpPr/>
          <p:nvPr/>
        </p:nvSpPr>
        <p:spPr>
          <a:xfrm>
            <a:off x="8001000" y="3525834"/>
            <a:ext cx="3550615" cy="182880"/>
          </a:xfrm>
          <a:prstGeom prst="rect">
            <a:avLst/>
          </a:prstGeom>
          <a:noFill/>
          <a:ln/>
        </p:spPr>
        <p:txBody>
          <a:bodyPr wrap="square" lIns="0" tIns="0" rIns="0" bIns="0" rtlCol="0" anchor="t"/>
          <a:lstStyle/>
          <a:p>
            <a:r>
              <a:rPr lang="en-US" sz="1000" b="1" kern="0" spc="150" dirty="0">
                <a:solidFill>
                  <a:srgbClr val="8F5D0A"/>
                </a:solidFill>
                <a:latin typeface="IBM Plex Mono" pitchFamily="34" charset="0"/>
              </a:rPr>
              <a:t>CORE FIELDS</a:t>
            </a:r>
          </a:p>
        </p:txBody>
      </p:sp>
      <p:sp>
        <p:nvSpPr>
          <p:cNvPr id="41" name="Text 19">
            <a:extLst>
              <a:ext uri="{FF2B5EF4-FFF2-40B4-BE49-F238E27FC236}">
                <a16:creationId xmlns:a16="http://schemas.microsoft.com/office/drawing/2014/main" id="{D82312E9-B38B-8F67-B6CE-EB49EB48B8E7}"/>
              </a:ext>
            </a:extLst>
          </p:cNvPr>
          <p:cNvSpPr/>
          <p:nvPr/>
        </p:nvSpPr>
        <p:spPr>
          <a:xfrm>
            <a:off x="8001000" y="3708713"/>
            <a:ext cx="3550615" cy="480347"/>
          </a:xfrm>
          <a:prstGeom prst="rect">
            <a:avLst/>
          </a:prstGeom>
          <a:noFill/>
          <a:ln/>
        </p:spPr>
        <p:txBody>
          <a:bodyPr wrap="square" lIns="0" tIns="0" rIns="0" bIns="0" rtlCol="0" anchor="t"/>
          <a:lstStyle/>
          <a:p>
            <a:r>
              <a:rPr lang="en-US" sz="1400" dirty="0">
                <a:solidFill>
                  <a:srgbClr val="14161A"/>
                </a:solidFill>
                <a:latin typeface="IBM Plex Sans" pitchFamily="34" charset="0"/>
                <a:ea typeface="IBM Plex Sans" pitchFamily="34" charset="-122"/>
                <a:cs typeface="IBM Plex Sans" pitchFamily="34" charset="-120"/>
              </a:rPr>
              <a:t>AI</a:t>
            </a:r>
            <a:r>
              <a:rPr lang="en-US" sz="1400" kern="0" spc="100" dirty="0">
                <a:solidFill>
                  <a:srgbClr val="8B8D8F"/>
                </a:solidFill>
                <a:latin typeface="IBM Plex Mono" pitchFamily="34" charset="0"/>
                <a:ea typeface="IBM Plex Mono" pitchFamily="34" charset="-122"/>
                <a:cs typeface="IBM Plex Mono" pitchFamily="34" charset="-120"/>
              </a:rPr>
              <a:t> · </a:t>
            </a:r>
            <a:r>
              <a:rPr lang="en-US" sz="1400" dirty="0">
                <a:solidFill>
                  <a:srgbClr val="14161A"/>
                </a:solidFill>
                <a:latin typeface="IBM Plex Sans" pitchFamily="34" charset="0"/>
                <a:ea typeface="IBM Plex Sans" pitchFamily="34" charset="-122"/>
                <a:cs typeface="IBM Plex Sans" pitchFamily="34" charset="-120"/>
              </a:rPr>
              <a:t>Automation</a:t>
            </a:r>
            <a:r>
              <a:rPr lang="en-US" sz="1400" kern="0" spc="100" dirty="0">
                <a:solidFill>
                  <a:srgbClr val="8B8D8F"/>
                </a:solidFill>
                <a:latin typeface="IBM Plex Mono" pitchFamily="34" charset="0"/>
                <a:ea typeface="IBM Plex Mono" pitchFamily="34" charset="-122"/>
                <a:cs typeface="IBM Plex Mono" pitchFamily="34" charset="-120"/>
              </a:rPr>
              <a:t> · </a:t>
            </a:r>
            <a:r>
              <a:rPr lang="en-US" sz="1400" dirty="0">
                <a:solidFill>
                  <a:srgbClr val="14161A"/>
                </a:solidFill>
                <a:latin typeface="IBM Plex Sans" pitchFamily="34" charset="0"/>
                <a:ea typeface="IBM Plex Sans" pitchFamily="34" charset="-122"/>
                <a:cs typeface="IBM Plex Sans" pitchFamily="34" charset="-120"/>
              </a:rPr>
              <a:t>Software</a:t>
            </a:r>
            <a:r>
              <a:rPr lang="en-US" sz="1400" kern="0" spc="100" dirty="0">
                <a:solidFill>
                  <a:srgbClr val="8B8D8F"/>
                </a:solidFill>
                <a:latin typeface="IBM Plex Mono" pitchFamily="34" charset="0"/>
                <a:ea typeface="IBM Plex Mono" pitchFamily="34" charset="-122"/>
                <a:cs typeface="IBM Plex Mono" pitchFamily="34" charset="-120"/>
              </a:rPr>
              <a:t> · </a:t>
            </a:r>
            <a:r>
              <a:rPr lang="en-US" sz="1400" dirty="0">
                <a:solidFill>
                  <a:srgbClr val="14161A"/>
                </a:solidFill>
                <a:latin typeface="IBM Plex Sans" pitchFamily="34" charset="0"/>
                <a:ea typeface="IBM Plex Sans" pitchFamily="34" charset="-122"/>
                <a:cs typeface="IBM Plex Sans" pitchFamily="34" charset="-120"/>
              </a:rPr>
              <a:t>Data</a:t>
            </a:r>
            <a:r>
              <a:rPr lang="en-US" sz="1400" kern="0" spc="100" dirty="0">
                <a:solidFill>
                  <a:srgbClr val="8B8D8F"/>
                </a:solidFill>
                <a:latin typeface="IBM Plex Mono" pitchFamily="34" charset="0"/>
                <a:ea typeface="IBM Plex Mono" pitchFamily="34" charset="-122"/>
                <a:cs typeface="IBM Plex Mono" pitchFamily="34" charset="-120"/>
              </a:rPr>
              <a:t> · </a:t>
            </a:r>
            <a:r>
              <a:rPr lang="en-US" sz="1400" dirty="0">
                <a:solidFill>
                  <a:srgbClr val="14161A"/>
                </a:solidFill>
                <a:latin typeface="IBM Plex Sans" pitchFamily="34" charset="0"/>
                <a:ea typeface="IBM Plex Sans" pitchFamily="34" charset="-122"/>
                <a:cs typeface="IBM Plex Sans" pitchFamily="34" charset="-120"/>
              </a:rPr>
              <a:t>Cyber Security</a:t>
            </a:r>
            <a:endParaRPr lang="en-US" sz="1400" dirty="0"/>
          </a:p>
        </p:txBody>
      </p:sp>
    </p:spTree>
    <p:extLst>
      <p:ext uri="{BB962C8B-B14F-4D97-AF65-F5344CB8AC3E}">
        <p14:creationId xmlns:p14="http://schemas.microsoft.com/office/powerpoint/2010/main" val="2644019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r>
              <a:rPr lang="en-US" sz="900" b="1" kern="0" spc="200" dirty="0">
                <a:solidFill>
                  <a:srgbClr val="E8A33D"/>
                </a:solidFill>
                <a:latin typeface="IBM Plex Mono" pitchFamily="34" charset="0"/>
                <a:ea typeface="IBM Plex Mono" pitchFamily="34" charset="-122"/>
                <a:cs typeface="IBM Plex Mono" pitchFamily="34" charset="-120"/>
              </a:rPr>
              <a:t>02  COMPANY OVERVIEW </a:t>
            </a:r>
            <a:endParaRPr lang="en-US" sz="900" dirty="0"/>
          </a:p>
        </p:txBody>
      </p:sp>
      <p:sp>
        <p:nvSpPr>
          <p:cNvPr id="4" name="Text 2"/>
          <p:cNvSpPr/>
          <p:nvPr/>
        </p:nvSpPr>
        <p:spPr>
          <a:xfrm>
            <a:off x="640080" y="777240"/>
            <a:ext cx="10911535" cy="685800"/>
          </a:xfrm>
          <a:prstGeom prst="rect">
            <a:avLst/>
          </a:prstGeom>
          <a:noFill/>
          <a:ln/>
        </p:spPr>
        <p:txBody>
          <a:bodyPr wrap="square" lIns="0" tIns="0" rIns="0" bIns="0" rtlCol="0" anchor="t"/>
          <a:lstStyle/>
          <a:p>
            <a:r>
              <a:rPr lang="en-US" sz="3400" b="1" dirty="0">
                <a:solidFill>
                  <a:srgbClr val="FFFFFF"/>
                </a:solidFill>
                <a:latin typeface="Space Grotesk" pitchFamily="34" charset="0"/>
                <a:ea typeface="Space Grotesk" pitchFamily="34" charset="-122"/>
                <a:cs typeface="Space Grotesk" pitchFamily="34" charset="-120"/>
              </a:rPr>
              <a:t>Company Overview </a:t>
            </a:r>
            <a:endParaRPr lang="en-US" sz="3400" dirty="0"/>
          </a:p>
        </p:txBody>
      </p:sp>
      <p:sp>
        <p:nvSpPr>
          <p:cNvPr id="5" name="Text 3"/>
          <p:cNvSpPr/>
          <p:nvPr/>
        </p:nvSpPr>
        <p:spPr>
          <a:xfrm>
            <a:off x="640080" y="1554480"/>
            <a:ext cx="6400800" cy="4343400"/>
          </a:xfrm>
          <a:prstGeom prst="rect">
            <a:avLst/>
          </a:prstGeom>
          <a:noFill/>
          <a:ln/>
        </p:spPr>
        <p:txBody>
          <a:bodyPr wrap="square" lIns="0" tIns="0" rIns="0" bIns="0" rtlCol="0" anchor="t"/>
          <a:lstStyle/>
          <a:p>
            <a:r>
              <a:rPr lang="en-PK" sz="1500" dirty="0">
                <a:solidFill>
                  <a:schemeClr val="accent3"/>
                </a:solidFill>
              </a:rPr>
              <a:t>Bolter Technologies Private Limited is a Pakistan-based software and technology company headquartered in Islamabad, serving businesses and enterprise clients. Our work spans artificial intelligence, automation, software development, data analytics, and cybersecurity, with a focus on technology that supports real business and operational needs.</a:t>
            </a:r>
          </a:p>
          <a:p>
            <a:r>
              <a:rPr lang="en-PK" sz="1500" dirty="0">
                <a:solidFill>
                  <a:schemeClr val="accent3"/>
                </a:solidFill>
              </a:rPr>
              <a:t>Bolter is a relatively young company, but our senior team brings experience from established businesses and long-running projects. We are a sister company of Sigma Engineering, in business since 2008, and Sigma Technologies, giving us a broader business and technical foundation than our own age suggests.</a:t>
            </a:r>
          </a:p>
          <a:p>
            <a:r>
              <a:rPr lang="en-PK" sz="1500" dirty="0">
                <a:solidFill>
                  <a:schemeClr val="accent3"/>
                </a:solidFill>
              </a:rPr>
              <a:t>Today, Bolter operates across a broad range of technology requirements, working with organisations that need software, data, AI, automation, or security as part of their business. Our clients are primarily B2B and enterprise organisations, and our work ranges from individual technology projects to larger systems built around specific business requirements.</a:t>
            </a:r>
          </a:p>
          <a:p>
            <a:pPr>
              <a:lnSpc>
                <a:spcPct val="130000"/>
              </a:lnSpc>
              <a:spcAft>
                <a:spcPts val="1000"/>
              </a:spcAft>
            </a:pPr>
            <a:endParaRPr lang="en-US" sz="1500" dirty="0">
              <a:solidFill>
                <a:schemeClr val="accent3"/>
              </a:solidFill>
            </a:endParaRPr>
          </a:p>
        </p:txBody>
      </p:sp>
      <p:sp>
        <p:nvSpPr>
          <p:cNvPr id="6" name="Text 4"/>
          <p:cNvSpPr/>
          <p:nvPr/>
        </p:nvSpPr>
        <p:spPr>
          <a:xfrm>
            <a:off x="7863840" y="1636776"/>
            <a:ext cx="3687775" cy="237744"/>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WE RUN THE TECHNOLOGY FOR</a:t>
            </a:r>
            <a:endParaRPr lang="en-US" sz="800" dirty="0"/>
          </a:p>
        </p:txBody>
      </p:sp>
      <p:sp>
        <p:nvSpPr>
          <p:cNvPr id="7" name="Shape 5"/>
          <p:cNvSpPr/>
          <p:nvPr/>
        </p:nvSpPr>
        <p:spPr>
          <a:xfrm>
            <a:off x="7863840" y="2011680"/>
            <a:ext cx="3687775" cy="0"/>
          </a:xfrm>
          <a:prstGeom prst="line">
            <a:avLst/>
          </a:prstGeom>
          <a:noFill/>
          <a:ln w="9525">
            <a:solidFill>
              <a:srgbClr val="2E3033"/>
            </a:solidFill>
            <a:prstDash val="solid"/>
          </a:ln>
        </p:spPr>
        <p:txBody>
          <a:bodyPr/>
          <a:lstStyle/>
          <a:p>
            <a:endParaRPr lang="en-PK"/>
          </a:p>
        </p:txBody>
      </p:sp>
      <p:sp>
        <p:nvSpPr>
          <p:cNvPr id="8" name="Text 6"/>
          <p:cNvSpPr/>
          <p:nvPr/>
        </p:nvSpPr>
        <p:spPr>
          <a:xfrm>
            <a:off x="7863840" y="2176272"/>
            <a:ext cx="3687775" cy="292608"/>
          </a:xfrm>
          <a:prstGeom prst="rect">
            <a:avLst/>
          </a:prstGeom>
          <a:noFill/>
          <a:ln/>
        </p:spPr>
        <p:txBody>
          <a:bodyPr wrap="square" lIns="0" tIns="0" rIns="0" bIns="0" rtlCol="0" anchor="t"/>
          <a:lstStyle/>
          <a:p>
            <a:pPr marL="0" indent="0">
              <a:buNone/>
            </a:pPr>
            <a:r>
              <a:rPr lang="en-US" sz="1700" b="1" dirty="0">
                <a:solidFill>
                  <a:srgbClr val="FFFFFF"/>
                </a:solidFill>
                <a:latin typeface="Space Grotesk" pitchFamily="34" charset="0"/>
                <a:ea typeface="Space Grotesk" pitchFamily="34" charset="-122"/>
                <a:cs typeface="Space Grotesk" pitchFamily="34" charset="-120"/>
              </a:rPr>
              <a:t>Sigma Engineering</a:t>
            </a:r>
            <a:endParaRPr lang="en-US" sz="1700" dirty="0"/>
          </a:p>
        </p:txBody>
      </p:sp>
      <p:sp>
        <p:nvSpPr>
          <p:cNvPr id="9" name="Text 7"/>
          <p:cNvSpPr/>
          <p:nvPr/>
        </p:nvSpPr>
        <p:spPr>
          <a:xfrm>
            <a:off x="7863840" y="2514600"/>
            <a:ext cx="3687775" cy="182880"/>
          </a:xfrm>
          <a:prstGeom prst="rect">
            <a:avLst/>
          </a:prstGeom>
          <a:noFill/>
          <a:ln/>
        </p:spPr>
        <p:txBody>
          <a:bodyPr wrap="square" lIns="0" tIns="0" rIns="0" bIns="0" rtlCol="0" anchor="t"/>
          <a:lstStyle/>
          <a:p>
            <a:pPr marL="0" indent="0">
              <a:buNone/>
            </a:pPr>
            <a:r>
              <a:rPr lang="en-US" sz="750" kern="0" spc="100" dirty="0">
                <a:solidFill>
                  <a:srgbClr val="8B8D8F"/>
                </a:solidFill>
                <a:latin typeface="IBM Plex Mono" pitchFamily="34" charset="0"/>
                <a:ea typeface="IBM Plex Mono" pitchFamily="34" charset="-122"/>
                <a:cs typeface="IBM Plex Mono" pitchFamily="34" charset="-120"/>
              </a:rPr>
              <a:t>SISTER COMPANY, ESTABLISHED 2008</a:t>
            </a:r>
            <a:endParaRPr lang="en-US" sz="750" dirty="0"/>
          </a:p>
        </p:txBody>
      </p:sp>
      <p:sp>
        <p:nvSpPr>
          <p:cNvPr id="10" name="Shape 8"/>
          <p:cNvSpPr/>
          <p:nvPr/>
        </p:nvSpPr>
        <p:spPr>
          <a:xfrm>
            <a:off x="7863840" y="2880360"/>
            <a:ext cx="3687775" cy="0"/>
          </a:xfrm>
          <a:prstGeom prst="line">
            <a:avLst/>
          </a:prstGeom>
          <a:noFill/>
          <a:ln w="9525">
            <a:solidFill>
              <a:srgbClr val="2E3033"/>
            </a:solidFill>
            <a:prstDash val="solid"/>
          </a:ln>
        </p:spPr>
        <p:txBody>
          <a:bodyPr/>
          <a:lstStyle/>
          <a:p>
            <a:endParaRPr lang="en-PK"/>
          </a:p>
        </p:txBody>
      </p:sp>
      <p:sp>
        <p:nvSpPr>
          <p:cNvPr id="14" name="Text 12"/>
          <p:cNvSpPr/>
          <p:nvPr/>
        </p:nvSpPr>
        <p:spPr>
          <a:xfrm>
            <a:off x="7863840" y="3049523"/>
            <a:ext cx="3687775" cy="292608"/>
          </a:xfrm>
          <a:prstGeom prst="rect">
            <a:avLst/>
          </a:prstGeom>
          <a:noFill/>
          <a:ln/>
        </p:spPr>
        <p:txBody>
          <a:bodyPr wrap="square" lIns="0" tIns="0" rIns="0" bIns="0" rtlCol="0" anchor="t"/>
          <a:lstStyle/>
          <a:p>
            <a:pPr marL="0" indent="0">
              <a:buNone/>
            </a:pPr>
            <a:r>
              <a:rPr lang="en-US" sz="1700" b="1" dirty="0">
                <a:solidFill>
                  <a:srgbClr val="FFFFFF"/>
                </a:solidFill>
                <a:latin typeface="Space Grotesk" pitchFamily="34" charset="0"/>
                <a:ea typeface="Space Grotesk" pitchFamily="34" charset="-122"/>
                <a:cs typeface="Space Grotesk" pitchFamily="34" charset="-120"/>
              </a:rPr>
              <a:t>Berkeley Technology</a:t>
            </a:r>
            <a:endParaRPr lang="en-US" sz="1700" dirty="0"/>
          </a:p>
        </p:txBody>
      </p:sp>
      <p:sp>
        <p:nvSpPr>
          <p:cNvPr id="15" name="Text 13"/>
          <p:cNvSpPr/>
          <p:nvPr/>
        </p:nvSpPr>
        <p:spPr>
          <a:xfrm>
            <a:off x="7863840" y="3387851"/>
            <a:ext cx="3687775" cy="182880"/>
          </a:xfrm>
          <a:prstGeom prst="rect">
            <a:avLst/>
          </a:prstGeom>
          <a:noFill/>
          <a:ln/>
        </p:spPr>
        <p:txBody>
          <a:bodyPr wrap="square" lIns="0" tIns="0" rIns="0" bIns="0" rtlCol="0" anchor="t"/>
          <a:lstStyle/>
          <a:p>
            <a:pPr marL="0" indent="0">
              <a:buNone/>
            </a:pPr>
            <a:r>
              <a:rPr lang="en-US" sz="750" kern="0" spc="100" dirty="0">
                <a:solidFill>
                  <a:srgbClr val="8B8D8F"/>
                </a:solidFill>
                <a:latin typeface="IBM Plex Mono" pitchFamily="34" charset="0"/>
                <a:ea typeface="IBM Plex Mono" pitchFamily="34" charset="-122"/>
                <a:cs typeface="IBM Plex Mono" pitchFamily="34" charset="-120"/>
              </a:rPr>
              <a:t>LONG-TERM CLIENT</a:t>
            </a:r>
            <a:endParaRPr lang="en-US" sz="750" dirty="0"/>
          </a:p>
        </p:txBody>
      </p:sp>
      <p:sp>
        <p:nvSpPr>
          <p:cNvPr id="16" name="Shape 14"/>
          <p:cNvSpPr/>
          <p:nvPr/>
        </p:nvSpPr>
        <p:spPr>
          <a:xfrm>
            <a:off x="7863840" y="3753611"/>
            <a:ext cx="3687775" cy="0"/>
          </a:xfrm>
          <a:prstGeom prst="line">
            <a:avLst/>
          </a:prstGeom>
          <a:noFill/>
          <a:ln w="9525">
            <a:solidFill>
              <a:srgbClr val="2E3033"/>
            </a:solidFill>
            <a:prstDash val="solid"/>
          </a:ln>
        </p:spPr>
        <p:txBody>
          <a:bodyPr/>
          <a:lstStyle/>
          <a:p>
            <a:endParaRPr lang="en-PK"/>
          </a:p>
        </p:txBody>
      </p:sp>
      <p:sp>
        <p:nvSpPr>
          <p:cNvPr id="17" name="Text 15"/>
          <p:cNvSpPr/>
          <p:nvPr/>
        </p:nvSpPr>
        <p:spPr>
          <a:xfrm>
            <a:off x="7863840" y="3918203"/>
            <a:ext cx="3687775" cy="292608"/>
          </a:xfrm>
          <a:prstGeom prst="rect">
            <a:avLst/>
          </a:prstGeom>
          <a:noFill/>
          <a:ln/>
        </p:spPr>
        <p:txBody>
          <a:bodyPr wrap="square" lIns="0" tIns="0" rIns="0" bIns="0" rtlCol="0" anchor="t"/>
          <a:lstStyle/>
          <a:p>
            <a:pPr marL="0" indent="0">
              <a:buNone/>
            </a:pPr>
            <a:r>
              <a:rPr lang="en-US" sz="1700" b="1" dirty="0">
                <a:solidFill>
                  <a:srgbClr val="FFFFFF"/>
                </a:solidFill>
                <a:latin typeface="Space Grotesk" pitchFamily="34" charset="0"/>
                <a:ea typeface="Space Grotesk" pitchFamily="34" charset="-122"/>
                <a:cs typeface="Space Grotesk" pitchFamily="34" charset="-120"/>
              </a:rPr>
              <a:t>Logmate Engineering and Services</a:t>
            </a:r>
            <a:endParaRPr lang="en-US" sz="1700" dirty="0"/>
          </a:p>
        </p:txBody>
      </p:sp>
      <p:sp>
        <p:nvSpPr>
          <p:cNvPr id="18" name="Text 16"/>
          <p:cNvSpPr/>
          <p:nvPr/>
        </p:nvSpPr>
        <p:spPr>
          <a:xfrm>
            <a:off x="7863840" y="4256531"/>
            <a:ext cx="3687775" cy="182880"/>
          </a:xfrm>
          <a:prstGeom prst="rect">
            <a:avLst/>
          </a:prstGeom>
          <a:noFill/>
          <a:ln/>
        </p:spPr>
        <p:txBody>
          <a:bodyPr wrap="square" lIns="0" tIns="0" rIns="0" bIns="0" rtlCol="0" anchor="t"/>
          <a:lstStyle/>
          <a:p>
            <a:pPr marL="0" indent="0">
              <a:buNone/>
            </a:pPr>
            <a:r>
              <a:rPr lang="en-US" sz="750" kern="0" spc="100" dirty="0">
                <a:solidFill>
                  <a:srgbClr val="8B8D8F"/>
                </a:solidFill>
                <a:latin typeface="IBM Plex Mono" pitchFamily="34" charset="0"/>
                <a:ea typeface="IBM Plex Mono" pitchFamily="34" charset="-122"/>
                <a:cs typeface="IBM Plex Mono" pitchFamily="34" charset="-120"/>
              </a:rPr>
              <a:t>LONG-TERM CLIENT</a:t>
            </a:r>
            <a:endParaRPr lang="en-US" sz="750" dirty="0"/>
          </a:p>
        </p:txBody>
      </p:sp>
      <p:sp>
        <p:nvSpPr>
          <p:cNvPr id="19" name="Shape 17"/>
          <p:cNvSpPr/>
          <p:nvPr/>
        </p:nvSpPr>
        <p:spPr>
          <a:xfrm>
            <a:off x="7863840" y="4622291"/>
            <a:ext cx="3687775" cy="0"/>
          </a:xfrm>
          <a:prstGeom prst="line">
            <a:avLst/>
          </a:prstGeom>
          <a:noFill/>
          <a:ln w="9525">
            <a:solidFill>
              <a:srgbClr val="2E3033"/>
            </a:solidFill>
            <a:prstDash val="solid"/>
          </a:ln>
        </p:spPr>
        <p:txBody>
          <a:bodyPr/>
          <a:lstStyle/>
          <a:p>
            <a:endParaRPr lang="en-PK"/>
          </a:p>
        </p:txBody>
      </p:sp>
      <p:sp>
        <p:nvSpPr>
          <p:cNvPr id="20" name="Text 18"/>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1" name="Text 19"/>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03 / 33</a:t>
            </a:r>
            <a:endParaRPr lang="en-US" sz="700" dirty="0"/>
          </a:p>
        </p:txBody>
      </p:sp>
    </p:spTree>
    <p:extLst>
      <p:ext uri="{BB962C8B-B14F-4D97-AF65-F5344CB8AC3E}">
        <p14:creationId xmlns:p14="http://schemas.microsoft.com/office/powerpoint/2010/main" val="2769152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03  VISION &amp; DIRECTION</a:t>
            </a:r>
            <a:endParaRPr lang="en-US" sz="900" dirty="0"/>
          </a:p>
        </p:txBody>
      </p:sp>
      <p:sp>
        <p:nvSpPr>
          <p:cNvPr id="4" name="Text 2"/>
          <p:cNvSpPr/>
          <p:nvPr/>
        </p:nvSpPr>
        <p:spPr>
          <a:xfrm>
            <a:off x="640080" y="777240"/>
            <a:ext cx="10911535" cy="685800"/>
          </a:xfrm>
          <a:prstGeom prst="rect">
            <a:avLst/>
          </a:prstGeom>
          <a:noFill/>
          <a:ln/>
        </p:spPr>
        <p:txBody>
          <a:bodyPr wrap="square" lIns="0" tIns="0" rIns="0" bIns="0" rtlCol="0" anchor="t"/>
          <a:lstStyle/>
          <a:p>
            <a:r>
              <a:rPr lang="en-US" sz="3400" b="1" dirty="0">
                <a:solidFill>
                  <a:srgbClr val="FFFFFF"/>
                </a:solidFill>
                <a:latin typeface="Space Grotesk" pitchFamily="34" charset="0"/>
                <a:ea typeface="Space Grotesk" pitchFamily="34" charset="-122"/>
                <a:cs typeface="Space Grotesk" pitchFamily="34" charset="-120"/>
              </a:rPr>
              <a:t>Vision &amp; Direction </a:t>
            </a:r>
            <a:endParaRPr lang="en-US" sz="3400" dirty="0"/>
          </a:p>
        </p:txBody>
      </p:sp>
      <p:sp>
        <p:nvSpPr>
          <p:cNvPr id="5" name="Text 3"/>
          <p:cNvSpPr/>
          <p:nvPr/>
        </p:nvSpPr>
        <p:spPr>
          <a:xfrm>
            <a:off x="640080" y="1737360"/>
            <a:ext cx="5669280" cy="4023360"/>
          </a:xfrm>
          <a:prstGeom prst="rect">
            <a:avLst/>
          </a:prstGeom>
          <a:noFill/>
          <a:ln/>
        </p:spPr>
        <p:txBody>
          <a:bodyPr wrap="square" lIns="0" tIns="0" rIns="0" bIns="0" rtlCol="0" anchor="t"/>
          <a:lstStyle/>
          <a:p>
            <a:pPr marL="0" indent="0">
              <a:spcAft>
                <a:spcPts val="500"/>
              </a:spcAft>
              <a:buNone/>
            </a:pPr>
            <a:r>
              <a:rPr lang="en-GB" sz="1100" b="1" kern="0" spc="200" dirty="0">
                <a:solidFill>
                  <a:srgbClr val="E8A33D"/>
                </a:solidFill>
                <a:latin typeface="IBM Plex Mono" pitchFamily="34" charset="0"/>
                <a:ea typeface="IBM Plex Mono" pitchFamily="34" charset="-122"/>
                <a:cs typeface="IBM Plex Mono" pitchFamily="34" charset="-120"/>
              </a:rPr>
              <a:t>VISION</a:t>
            </a:r>
          </a:p>
          <a:p>
            <a:pPr marL="0" indent="0">
              <a:lnSpc>
                <a:spcPct val="120000"/>
              </a:lnSpc>
              <a:spcAft>
                <a:spcPts val="2400"/>
              </a:spcAft>
              <a:buNone/>
            </a:pPr>
            <a:r>
              <a:rPr lang="en-GB" sz="1800" dirty="0">
                <a:solidFill>
                  <a:srgbClr val="FFFFFF"/>
                </a:solidFill>
                <a:latin typeface="IBM Plex Sans" pitchFamily="34" charset="0"/>
                <a:ea typeface="IBM Plex Sans" pitchFamily="34" charset="-122"/>
                <a:cs typeface="IBM Plex Sans" pitchFamily="34" charset="-120"/>
              </a:rPr>
              <a:t>Technology that makes work simpler for every business we serve.</a:t>
            </a:r>
          </a:p>
          <a:p>
            <a:pPr marL="0" indent="0">
              <a:spcAft>
                <a:spcPts val="500"/>
              </a:spcAft>
              <a:buNone/>
            </a:pPr>
            <a:r>
              <a:rPr lang="en-GB" sz="1100" b="1" kern="0" spc="200" dirty="0">
                <a:solidFill>
                  <a:srgbClr val="E8A33D"/>
                </a:solidFill>
                <a:latin typeface="IBM Plex Mono" pitchFamily="34" charset="0"/>
                <a:ea typeface="IBM Plex Mono" pitchFamily="34" charset="-122"/>
                <a:cs typeface="IBM Plex Mono" pitchFamily="34" charset="-120"/>
              </a:rPr>
              <a:t>MISSION</a:t>
            </a:r>
          </a:p>
          <a:p>
            <a:pPr marL="0" indent="0">
              <a:lnSpc>
                <a:spcPct val="120000"/>
              </a:lnSpc>
              <a:spcAft>
                <a:spcPts val="2400"/>
              </a:spcAft>
              <a:buNone/>
            </a:pPr>
            <a:r>
              <a:rPr lang="en-GB" sz="1800" dirty="0">
                <a:solidFill>
                  <a:srgbClr val="FFFFFF"/>
                </a:solidFill>
                <a:latin typeface="IBM Plex Sans" pitchFamily="34" charset="0"/>
                <a:ea typeface="IBM Plex Sans" pitchFamily="34" charset="-122"/>
                <a:cs typeface="IBM Plex Sans" pitchFamily="34" charset="-120"/>
              </a:rPr>
              <a:t>Build systems that </a:t>
            </a:r>
            <a:r>
              <a:rPr lang="en-GB" sz="1800" b="1" dirty="0">
                <a:solidFill>
                  <a:srgbClr val="FFFFFF"/>
                </a:solidFill>
                <a:latin typeface="IBM Plex Sans" pitchFamily="34" charset="0"/>
                <a:ea typeface="IBM Plex Sans" pitchFamily="34" charset="-122"/>
                <a:cs typeface="IBM Plex Sans" pitchFamily="34" charset="-120"/>
              </a:rPr>
              <a:t>fit how clients operate </a:t>
            </a:r>
            <a:r>
              <a:rPr lang="en-GB" sz="1800" dirty="0">
                <a:solidFill>
                  <a:srgbClr val="FFFFFF"/>
                </a:solidFill>
                <a:latin typeface="IBM Plex Sans" pitchFamily="34" charset="0"/>
                <a:ea typeface="IBM Plex Sans" pitchFamily="34" charset="-122"/>
                <a:cs typeface="IBM Plex Sans" pitchFamily="34" charset="-120"/>
              </a:rPr>
              <a:t>and keep working long after launch.</a:t>
            </a:r>
          </a:p>
          <a:p>
            <a:pPr marL="0" indent="0">
              <a:spcAft>
                <a:spcPts val="500"/>
              </a:spcAft>
              <a:buNone/>
            </a:pPr>
            <a:r>
              <a:rPr lang="en-GB" sz="1100" b="1" kern="0" spc="200" dirty="0">
                <a:solidFill>
                  <a:srgbClr val="E8A33D"/>
                </a:solidFill>
                <a:latin typeface="IBM Plex Mono" pitchFamily="34" charset="0"/>
                <a:ea typeface="IBM Plex Mono" pitchFamily="34" charset="-122"/>
                <a:cs typeface="IBM Plex Mono" pitchFamily="34" charset="-120"/>
              </a:rPr>
              <a:t>DIRECTION</a:t>
            </a:r>
          </a:p>
          <a:p>
            <a:pPr marL="0" indent="0">
              <a:lnSpc>
                <a:spcPct val="120000"/>
              </a:lnSpc>
              <a:spcAft>
                <a:spcPts val="0"/>
              </a:spcAft>
              <a:buNone/>
            </a:pPr>
            <a:r>
              <a:rPr lang="en-GB" sz="1800" dirty="0">
                <a:solidFill>
                  <a:srgbClr val="FFFFFF"/>
                </a:solidFill>
                <a:latin typeface="IBM Plex Sans" pitchFamily="34" charset="0"/>
                <a:ea typeface="IBM Plex Sans" pitchFamily="34" charset="-122"/>
                <a:cs typeface="IBM Plex Sans" pitchFamily="34" charset="-120"/>
              </a:rPr>
              <a:t>Grow from Islamabad into a technology partner for businesses across the globe.</a:t>
            </a:r>
          </a:p>
        </p:txBody>
      </p:sp>
      <p:sp>
        <p:nvSpPr>
          <p:cNvPr id="6" name="Shape 4"/>
          <p:cNvSpPr/>
          <p:nvPr/>
        </p:nvSpPr>
        <p:spPr>
          <a:xfrm>
            <a:off x="6949439" y="1737360"/>
            <a:ext cx="4602175" cy="4297680"/>
          </a:xfrm>
          <a:prstGeom prst="roundRect">
            <a:avLst>
              <a:gd name="adj" fmla="val 1064"/>
            </a:avLst>
          </a:prstGeom>
          <a:solidFill>
            <a:schemeClr val="accent3">
              <a:lumMod val="50000"/>
            </a:schemeClr>
          </a:solidFill>
          <a:ln/>
        </p:spPr>
        <p:txBody>
          <a:bodyPr/>
          <a:lstStyle/>
          <a:p>
            <a:endParaRPr lang="en-PK" dirty="0"/>
          </a:p>
        </p:txBody>
      </p:sp>
      <p:sp>
        <p:nvSpPr>
          <p:cNvPr id="7" name="Shape 5"/>
          <p:cNvSpPr/>
          <p:nvPr/>
        </p:nvSpPr>
        <p:spPr>
          <a:xfrm>
            <a:off x="6949440" y="2103120"/>
            <a:ext cx="45720" cy="3566160"/>
          </a:xfrm>
          <a:prstGeom prst="rect">
            <a:avLst/>
          </a:prstGeom>
          <a:solidFill>
            <a:srgbClr val="E8A33D"/>
          </a:solidFill>
          <a:ln/>
        </p:spPr>
        <p:txBody>
          <a:bodyPr/>
          <a:lstStyle/>
          <a:p>
            <a:endParaRPr lang="en-PK"/>
          </a:p>
        </p:txBody>
      </p:sp>
      <p:sp>
        <p:nvSpPr>
          <p:cNvPr id="8" name="Text 6"/>
          <p:cNvSpPr/>
          <p:nvPr/>
        </p:nvSpPr>
        <p:spPr>
          <a:xfrm>
            <a:off x="7333488" y="2175308"/>
            <a:ext cx="914400" cy="613611"/>
          </a:xfrm>
          <a:prstGeom prst="rect">
            <a:avLst/>
          </a:prstGeom>
          <a:noFill/>
          <a:ln/>
        </p:spPr>
        <p:txBody>
          <a:bodyPr wrap="square" lIns="0" tIns="0" rIns="0" bIns="0" rtlCol="0" anchor="t"/>
          <a:lstStyle/>
          <a:p>
            <a:pPr marL="0" indent="0">
              <a:buNone/>
            </a:pPr>
            <a:r>
              <a:rPr lang="en-US" sz="6000" b="1" dirty="0">
                <a:solidFill>
                  <a:srgbClr val="E8A33D"/>
                </a:solidFill>
                <a:latin typeface="Space Grotesk" pitchFamily="34" charset="0"/>
                <a:ea typeface="Space Grotesk" pitchFamily="34" charset="-122"/>
                <a:cs typeface="Space Grotesk" pitchFamily="34" charset="-120"/>
              </a:rPr>
              <a:t>“</a:t>
            </a:r>
            <a:endParaRPr lang="en-US" sz="6000" dirty="0"/>
          </a:p>
        </p:txBody>
      </p:sp>
      <p:sp>
        <p:nvSpPr>
          <p:cNvPr id="9" name="Text 7"/>
          <p:cNvSpPr/>
          <p:nvPr/>
        </p:nvSpPr>
        <p:spPr>
          <a:xfrm>
            <a:off x="7406640" y="2788920"/>
            <a:ext cx="3687775" cy="1519111"/>
          </a:xfrm>
          <a:prstGeom prst="rect">
            <a:avLst/>
          </a:prstGeom>
          <a:noFill/>
          <a:ln/>
        </p:spPr>
        <p:txBody>
          <a:bodyPr wrap="square" lIns="0" tIns="0" rIns="0" bIns="0" rtlCol="0" anchor="t"/>
          <a:lstStyle/>
          <a:p>
            <a:r>
              <a:rPr lang="en-PK" sz="3000" dirty="0">
                <a:solidFill>
                  <a:srgbClr val="FFFFFF"/>
                </a:solidFill>
              </a:rPr>
              <a:t>We start with what the customer needs and work backwards.</a:t>
            </a:r>
          </a:p>
        </p:txBody>
      </p:sp>
      <p:sp>
        <p:nvSpPr>
          <p:cNvPr id="10" name="Shape 8"/>
          <p:cNvSpPr/>
          <p:nvPr/>
        </p:nvSpPr>
        <p:spPr>
          <a:xfrm>
            <a:off x="7406640" y="5212080"/>
            <a:ext cx="3687775" cy="0"/>
          </a:xfrm>
          <a:prstGeom prst="line">
            <a:avLst/>
          </a:prstGeom>
          <a:noFill/>
          <a:ln w="9525">
            <a:solidFill>
              <a:srgbClr val="2E3033"/>
            </a:solidFill>
            <a:prstDash val="solid"/>
          </a:ln>
        </p:spPr>
        <p:txBody>
          <a:bodyPr/>
          <a:lstStyle/>
          <a:p>
            <a:endParaRPr lang="en-PK"/>
          </a:p>
        </p:txBody>
      </p:sp>
      <p:sp>
        <p:nvSpPr>
          <p:cNvPr id="11" name="Text 9"/>
          <p:cNvSpPr/>
          <p:nvPr/>
        </p:nvSpPr>
        <p:spPr>
          <a:xfrm>
            <a:off x="7406640" y="5340096"/>
            <a:ext cx="3687775" cy="256032"/>
          </a:xfrm>
          <a:prstGeom prst="rect">
            <a:avLst/>
          </a:prstGeom>
          <a:noFill/>
          <a:ln/>
        </p:spPr>
        <p:txBody>
          <a:bodyPr wrap="square" lIns="0" tIns="0" rIns="0" bIns="0" rtlCol="0" anchor="t"/>
          <a:lstStyle/>
          <a:p>
            <a:pPr marL="0" indent="0">
              <a:buNone/>
            </a:pPr>
            <a:r>
              <a:rPr lang="en-US" sz="1200" b="1" dirty="0">
                <a:solidFill>
                  <a:srgbClr val="FFFFFF"/>
                </a:solidFill>
                <a:latin typeface="IBM Plex Sans" pitchFamily="34" charset="0"/>
                <a:ea typeface="IBM Plex Sans" pitchFamily="34" charset="-122"/>
                <a:cs typeface="IBM Plex Sans" pitchFamily="34" charset="-120"/>
              </a:rPr>
              <a:t>Jeff Bezos</a:t>
            </a:r>
            <a:endParaRPr lang="en-US" sz="1200" dirty="0"/>
          </a:p>
        </p:txBody>
      </p:sp>
      <p:sp>
        <p:nvSpPr>
          <p:cNvPr id="12" name="Text 10"/>
          <p:cNvSpPr/>
          <p:nvPr/>
        </p:nvSpPr>
        <p:spPr>
          <a:xfrm>
            <a:off x="7406640" y="5614416"/>
            <a:ext cx="3687775" cy="182880"/>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FOUNDER, AMAZON</a:t>
            </a:r>
            <a:endParaRPr lang="en-US" sz="800" dirty="0"/>
          </a:p>
        </p:txBody>
      </p:sp>
      <p:sp>
        <p:nvSpPr>
          <p:cNvPr id="13" name="Text 11"/>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14" name="Text 12"/>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03 / 30</a:t>
            </a:r>
            <a:endParaRPr lang="en-US" sz="700" dirty="0"/>
          </a:p>
        </p:txBody>
      </p:sp>
      <p:sp>
        <p:nvSpPr>
          <p:cNvPr id="16" name="Text 6">
            <a:extLst>
              <a:ext uri="{FF2B5EF4-FFF2-40B4-BE49-F238E27FC236}">
                <a16:creationId xmlns:a16="http://schemas.microsoft.com/office/drawing/2014/main" id="{2C303EA9-A99E-27D3-4336-8799D09F1DED}"/>
              </a:ext>
            </a:extLst>
          </p:cNvPr>
          <p:cNvSpPr/>
          <p:nvPr/>
        </p:nvSpPr>
        <p:spPr>
          <a:xfrm flipV="1">
            <a:off x="10392282" y="4326320"/>
            <a:ext cx="489865" cy="446847"/>
          </a:xfrm>
          <a:prstGeom prst="rect">
            <a:avLst/>
          </a:prstGeom>
          <a:noFill/>
          <a:ln/>
        </p:spPr>
        <p:txBody>
          <a:bodyPr wrap="square" lIns="0" tIns="0" rIns="0" bIns="0" rtlCol="0" anchor="t"/>
          <a:lstStyle/>
          <a:p>
            <a:pPr marL="0" indent="0">
              <a:buNone/>
            </a:pPr>
            <a:r>
              <a:rPr lang="en-US" sz="6000" b="1" dirty="0">
                <a:solidFill>
                  <a:srgbClr val="E8A33D"/>
                </a:solidFill>
                <a:latin typeface="Space Grotesk" pitchFamily="34" charset="0"/>
                <a:ea typeface="Space Grotesk" pitchFamily="34" charset="-122"/>
                <a:cs typeface="Space Grotesk" pitchFamily="34" charset="-120"/>
              </a:rPr>
              <a:t>“</a:t>
            </a:r>
            <a:endParaRPr lang="en-US" sz="6000" dirty="0"/>
          </a:p>
        </p:txBody>
      </p:sp>
    </p:spTree>
    <p:extLst>
      <p:ext uri="{BB962C8B-B14F-4D97-AF65-F5344CB8AC3E}">
        <p14:creationId xmlns:p14="http://schemas.microsoft.com/office/powerpoint/2010/main" val="1079434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04  PEOPLE</a:t>
            </a:r>
            <a:endParaRPr lang="en-US" sz="900" dirty="0"/>
          </a:p>
        </p:txBody>
      </p:sp>
      <p:sp>
        <p:nvSpPr>
          <p:cNvPr id="4" name="Text 2"/>
          <p:cNvSpPr/>
          <p:nvPr/>
        </p:nvSpPr>
        <p:spPr>
          <a:xfrm>
            <a:off x="640080" y="777240"/>
            <a:ext cx="10911535" cy="685800"/>
          </a:xfrm>
          <a:prstGeom prst="rect">
            <a:avLst/>
          </a:prstGeom>
          <a:noFill/>
          <a:ln/>
        </p:spPr>
        <p:txBody>
          <a:bodyPr wrap="square" lIns="0" tIns="0" rIns="0" bIns="0" rtlCol="0" anchor="t"/>
          <a:lstStyle/>
          <a:p>
            <a:pPr marL="0" indent="0">
              <a:buNone/>
            </a:pPr>
            <a:r>
              <a:rPr lang="en-US" sz="3400" b="1" dirty="0">
                <a:solidFill>
                  <a:srgbClr val="14161A"/>
                </a:solidFill>
                <a:latin typeface="Space Grotesk" pitchFamily="34" charset="0"/>
                <a:ea typeface="Space Grotesk" pitchFamily="34" charset="-122"/>
                <a:cs typeface="Space Grotesk" pitchFamily="34" charset="-120"/>
              </a:rPr>
              <a:t>Leadership</a:t>
            </a:r>
            <a:endParaRPr lang="en-US" sz="3400" dirty="0"/>
          </a:p>
        </p:txBody>
      </p:sp>
      <p:sp>
        <p:nvSpPr>
          <p:cNvPr id="200" name="Leader card"/>
          <p:cNvSpPr/>
          <p:nvPr/>
        </p:nvSpPr>
        <p:spPr>
          <a:xfrm>
            <a:off x="635000" y="1752600"/>
            <a:ext cx="3471333" cy="4394200"/>
          </a:xfrm>
          <a:prstGeom prst="rect">
            <a:avLst/>
          </a:prstGeom>
          <a:solidFill>
            <a:srgbClr val="FFFFFF"/>
          </a:solidFill>
          <a:ln w="9525">
            <a:solidFill>
              <a:srgbClr val="DCD8D0"/>
            </a:solidFill>
          </a:ln>
        </p:spPr>
        <p:txBody>
          <a:bodyPr/>
          <a:lstStyle/>
          <a:p>
            <a:endParaRPr lang="en-GB"/>
          </a:p>
        </p:txBody>
      </p:sp>
      <p:sp>
        <p:nvSpPr>
          <p:cNvPr id="201" name="Card accent"/>
          <p:cNvSpPr/>
          <p:nvPr/>
        </p:nvSpPr>
        <p:spPr>
          <a:xfrm>
            <a:off x="635000" y="1752600"/>
            <a:ext cx="3471333" cy="50800"/>
          </a:xfrm>
          <a:prstGeom prst="rect">
            <a:avLst/>
          </a:prstGeom>
          <a:solidFill>
            <a:srgbClr val="8F5D0A"/>
          </a:solidFill>
          <a:ln>
            <a:noFill/>
          </a:ln>
        </p:spPr>
        <p:txBody>
          <a:bodyPr/>
          <a:lstStyle/>
          <a:p>
            <a:endParaRPr lang="en-GB"/>
          </a:p>
        </p:txBody>
      </p:sp>
      <p:sp>
        <p:nvSpPr>
          <p:cNvPr id="202" name="Initials"/>
          <p:cNvSpPr/>
          <p:nvPr/>
        </p:nvSpPr>
        <p:spPr>
          <a:xfrm>
            <a:off x="914400" y="2082800"/>
            <a:ext cx="609600" cy="609600"/>
          </a:xfrm>
          <a:prstGeom prst="ellipse">
            <a:avLst/>
          </a:prstGeom>
          <a:solidFill>
            <a:srgbClr val="F0E2C8"/>
          </a:solidFill>
          <a:ln>
            <a:noFill/>
          </a:ln>
        </p:spPr>
        <p:txBody>
          <a:bodyPr wrap="none" lIns="0" tIns="0" rIns="0" bIns="0" anchor="ctr"/>
          <a:lstStyle/>
          <a:p>
            <a:pPr algn="ctr"/>
            <a:r>
              <a:rPr lang="en-GB" sz="1600" b="1" dirty="0">
                <a:solidFill>
                  <a:srgbClr val="8F5D0A"/>
                </a:solidFill>
                <a:latin typeface="Space Grotesk" pitchFamily="34" charset="0"/>
              </a:rPr>
              <a:t>TM</a:t>
            </a:r>
          </a:p>
        </p:txBody>
      </p:sp>
      <p:sp>
        <p:nvSpPr>
          <p:cNvPr id="203" name="Leader card"/>
          <p:cNvSpPr/>
          <p:nvPr/>
        </p:nvSpPr>
        <p:spPr>
          <a:xfrm>
            <a:off x="4360333" y="1752600"/>
            <a:ext cx="3471333" cy="4394200"/>
          </a:xfrm>
          <a:prstGeom prst="rect">
            <a:avLst/>
          </a:prstGeom>
          <a:solidFill>
            <a:srgbClr val="FFFFFF"/>
          </a:solidFill>
          <a:ln w="9525">
            <a:solidFill>
              <a:srgbClr val="DCD8D0"/>
            </a:solidFill>
          </a:ln>
        </p:spPr>
        <p:txBody>
          <a:bodyPr/>
          <a:lstStyle/>
          <a:p>
            <a:endParaRPr lang="en-GB"/>
          </a:p>
        </p:txBody>
      </p:sp>
      <p:sp>
        <p:nvSpPr>
          <p:cNvPr id="204" name="Card accent"/>
          <p:cNvSpPr/>
          <p:nvPr/>
        </p:nvSpPr>
        <p:spPr>
          <a:xfrm>
            <a:off x="4360333" y="1752600"/>
            <a:ext cx="3471333" cy="50800"/>
          </a:xfrm>
          <a:prstGeom prst="rect">
            <a:avLst/>
          </a:prstGeom>
          <a:solidFill>
            <a:srgbClr val="8F5D0A"/>
          </a:solidFill>
          <a:ln>
            <a:noFill/>
          </a:ln>
        </p:spPr>
        <p:txBody>
          <a:bodyPr/>
          <a:lstStyle/>
          <a:p>
            <a:endParaRPr lang="en-GB"/>
          </a:p>
        </p:txBody>
      </p:sp>
      <p:sp>
        <p:nvSpPr>
          <p:cNvPr id="205" name="Initials"/>
          <p:cNvSpPr/>
          <p:nvPr/>
        </p:nvSpPr>
        <p:spPr>
          <a:xfrm>
            <a:off x="4639733" y="2082800"/>
            <a:ext cx="609600" cy="609600"/>
          </a:xfrm>
          <a:prstGeom prst="ellipse">
            <a:avLst/>
          </a:prstGeom>
          <a:solidFill>
            <a:srgbClr val="F0E2C8"/>
          </a:solidFill>
          <a:ln>
            <a:noFill/>
          </a:ln>
        </p:spPr>
        <p:txBody>
          <a:bodyPr wrap="none" lIns="0" tIns="0" rIns="0" bIns="0" anchor="ctr"/>
          <a:lstStyle/>
          <a:p>
            <a:pPr algn="ctr"/>
            <a:r>
              <a:rPr lang="en-GB" sz="1600" b="1" dirty="0">
                <a:solidFill>
                  <a:srgbClr val="8F5D0A"/>
                </a:solidFill>
                <a:latin typeface="Space Grotesk" pitchFamily="34" charset="0"/>
              </a:rPr>
              <a:t>MH</a:t>
            </a:r>
          </a:p>
        </p:txBody>
      </p:sp>
      <p:sp>
        <p:nvSpPr>
          <p:cNvPr id="206" name="Leader card"/>
          <p:cNvSpPr/>
          <p:nvPr/>
        </p:nvSpPr>
        <p:spPr>
          <a:xfrm>
            <a:off x="8085667" y="1752600"/>
            <a:ext cx="3471333" cy="4394200"/>
          </a:xfrm>
          <a:prstGeom prst="rect">
            <a:avLst/>
          </a:prstGeom>
          <a:solidFill>
            <a:srgbClr val="FFFFFF"/>
          </a:solidFill>
          <a:ln w="9525">
            <a:solidFill>
              <a:srgbClr val="DCD8D0"/>
            </a:solidFill>
          </a:ln>
        </p:spPr>
        <p:txBody>
          <a:bodyPr/>
          <a:lstStyle/>
          <a:p>
            <a:endParaRPr lang="en-GB"/>
          </a:p>
        </p:txBody>
      </p:sp>
      <p:sp>
        <p:nvSpPr>
          <p:cNvPr id="207" name="Card accent"/>
          <p:cNvSpPr/>
          <p:nvPr/>
        </p:nvSpPr>
        <p:spPr>
          <a:xfrm>
            <a:off x="8085667" y="1752600"/>
            <a:ext cx="3471333" cy="50800"/>
          </a:xfrm>
          <a:prstGeom prst="rect">
            <a:avLst/>
          </a:prstGeom>
          <a:solidFill>
            <a:srgbClr val="8F5D0A"/>
          </a:solidFill>
          <a:ln>
            <a:noFill/>
          </a:ln>
        </p:spPr>
        <p:txBody>
          <a:bodyPr/>
          <a:lstStyle/>
          <a:p>
            <a:endParaRPr lang="en-GB"/>
          </a:p>
        </p:txBody>
      </p:sp>
      <p:sp>
        <p:nvSpPr>
          <p:cNvPr id="208" name="Initials"/>
          <p:cNvSpPr/>
          <p:nvPr/>
        </p:nvSpPr>
        <p:spPr>
          <a:xfrm>
            <a:off x="8365067" y="2082800"/>
            <a:ext cx="609600" cy="609600"/>
          </a:xfrm>
          <a:prstGeom prst="ellipse">
            <a:avLst/>
          </a:prstGeom>
          <a:solidFill>
            <a:srgbClr val="F0E2C8"/>
          </a:solidFill>
          <a:ln>
            <a:noFill/>
          </a:ln>
        </p:spPr>
        <p:txBody>
          <a:bodyPr wrap="none" lIns="0" tIns="0" rIns="0" bIns="0" anchor="ctr"/>
          <a:lstStyle/>
          <a:p>
            <a:pPr algn="ctr"/>
            <a:r>
              <a:rPr lang="en-GB" sz="1600" b="1" dirty="0">
                <a:solidFill>
                  <a:srgbClr val="8F5D0A"/>
                </a:solidFill>
                <a:latin typeface="Space Grotesk" pitchFamily="34" charset="0"/>
              </a:rPr>
              <a:t>MS</a:t>
            </a:r>
          </a:p>
        </p:txBody>
      </p:sp>
      <p:sp>
        <p:nvSpPr>
          <p:cNvPr id="6" name="Text 4"/>
          <p:cNvSpPr/>
          <p:nvPr/>
        </p:nvSpPr>
        <p:spPr>
          <a:xfrm>
            <a:off x="914400" y="2895600"/>
            <a:ext cx="2912533" cy="355600"/>
          </a:xfrm>
          <a:prstGeom prst="rect">
            <a:avLst/>
          </a:prstGeom>
          <a:noFill/>
          <a:ln/>
        </p:spPr>
        <p:txBody>
          <a:bodyPr wrap="none" lIns="0" tIns="0" rIns="0" bIns="0" rtlCol="0" anchor="t"/>
          <a:lstStyle/>
          <a:p>
            <a:pPr marL="0" indent="0">
              <a:buNone/>
            </a:pPr>
            <a:r>
              <a:rPr lang="en-US" sz="2000" b="1" dirty="0">
                <a:solidFill>
                  <a:srgbClr val="14161A"/>
                </a:solidFill>
                <a:latin typeface="Space Grotesk" pitchFamily="34" charset="0"/>
                <a:ea typeface="Space Grotesk" pitchFamily="34" charset="-122"/>
                <a:cs typeface="Space Grotesk" pitchFamily="34" charset="-120"/>
              </a:rPr>
              <a:t>Tariq Mehmood</a:t>
            </a:r>
            <a:endParaRPr lang="en-US" sz="2400" dirty="0"/>
          </a:p>
        </p:txBody>
      </p:sp>
      <p:sp>
        <p:nvSpPr>
          <p:cNvPr id="7" name="Text 5"/>
          <p:cNvSpPr/>
          <p:nvPr/>
        </p:nvSpPr>
        <p:spPr>
          <a:xfrm>
            <a:off x="1701800" y="2082800"/>
            <a:ext cx="2125133" cy="609600"/>
          </a:xfrm>
          <a:prstGeom prst="rect">
            <a:avLst/>
          </a:prstGeom>
          <a:noFill/>
          <a:ln/>
        </p:spPr>
        <p:txBody>
          <a:bodyPr wrap="square" lIns="0" tIns="0" rIns="0" bIns="0" rtlCol="0" anchor="ctr"/>
          <a:lstStyle/>
          <a:p>
            <a:pPr marL="0" indent="0">
              <a:buNone/>
            </a:pPr>
            <a:r>
              <a:rPr lang="en-US" sz="1400" b="1" kern="0" spc="200" dirty="0">
                <a:solidFill>
                  <a:srgbClr val="8F5D0A"/>
                </a:solidFill>
                <a:latin typeface="IBM Plex Mono" pitchFamily="34" charset="0"/>
                <a:ea typeface="IBM Plex Mono" pitchFamily="34" charset="-122"/>
                <a:cs typeface="IBM Plex Mono" pitchFamily="34" charset="-120"/>
              </a:rPr>
              <a:t>CEO</a:t>
            </a:r>
            <a:endParaRPr lang="en-US" sz="2400" dirty="0"/>
          </a:p>
        </p:txBody>
      </p:sp>
      <p:sp>
        <p:nvSpPr>
          <p:cNvPr id="8" name="Text 6"/>
          <p:cNvSpPr/>
          <p:nvPr/>
        </p:nvSpPr>
        <p:spPr>
          <a:xfrm>
            <a:off x="914400" y="3352800"/>
            <a:ext cx="2912533" cy="508000"/>
          </a:xfrm>
          <a:prstGeom prst="rect">
            <a:avLst/>
          </a:prstGeom>
          <a:noFill/>
          <a:ln/>
        </p:spPr>
        <p:txBody>
          <a:bodyPr wrap="square" lIns="0" tIns="0" rIns="0" bIns="0" rtlCol="0" anchor="t" anchorCtr="0"/>
          <a:lstStyle/>
          <a:p>
            <a:pPr marL="0" indent="0">
              <a:buNone/>
            </a:pPr>
            <a:r>
              <a:rPr lang="en-US" sz="1400" b="1" dirty="0">
                <a:solidFill>
                  <a:schemeClr val="accent3"/>
                </a:solidFill>
                <a:latin typeface="IBM Plex Sans" pitchFamily="34" charset="0"/>
                <a:ea typeface="IBM Plex Sans" pitchFamily="34" charset="-122"/>
                <a:cs typeface="IBM Plex Sans" pitchFamily="34" charset="-120"/>
              </a:rPr>
              <a:t>27 years in business and operations</a:t>
            </a:r>
            <a:endParaRPr lang="en-US" sz="1400" b="1" dirty="0">
              <a:solidFill>
                <a:schemeClr val="accent3"/>
              </a:solidFill>
            </a:endParaRPr>
          </a:p>
        </p:txBody>
      </p:sp>
      <p:sp>
        <p:nvSpPr>
          <p:cNvPr id="9" name="Text 7"/>
          <p:cNvSpPr/>
          <p:nvPr/>
        </p:nvSpPr>
        <p:spPr>
          <a:xfrm>
            <a:off x="914400" y="3962400"/>
            <a:ext cx="2912533" cy="1270000"/>
          </a:xfrm>
          <a:prstGeom prst="rect">
            <a:avLst/>
          </a:prstGeom>
          <a:noFill/>
          <a:ln/>
        </p:spPr>
        <p:txBody>
          <a:bodyPr wrap="square" lIns="0" tIns="0" rIns="0" bIns="0" rtlCol="0" anchor="t"/>
          <a:lstStyle/>
          <a:p>
            <a:pPr marL="0" indent="0">
              <a:lnSpc>
                <a:spcPct val="130000"/>
              </a:lnSpc>
              <a:buNone/>
            </a:pPr>
            <a:r>
              <a:rPr lang="en-US" sz="1400" dirty="0">
                <a:solidFill>
                  <a:srgbClr val="5B6066"/>
                </a:solidFill>
                <a:latin typeface="IBM Plex Sans" pitchFamily="34" charset="0"/>
                <a:ea typeface="IBM Plex Sans" pitchFamily="34" charset="-122"/>
                <a:cs typeface="IBM Plex Sans" pitchFamily="34" charset="-120"/>
              </a:rPr>
              <a:t>Tariq leads Bolter’s vision, strategy, partnerships, and growth.</a:t>
            </a:r>
            <a:endParaRPr lang="en-US" sz="1400" dirty="0"/>
          </a:p>
        </p:txBody>
      </p:sp>
      <p:sp>
        <p:nvSpPr>
          <p:cNvPr id="10" name="Shape 8"/>
          <p:cNvSpPr/>
          <p:nvPr/>
        </p:nvSpPr>
        <p:spPr>
          <a:xfrm>
            <a:off x="914400" y="5359400"/>
            <a:ext cx="2912533" cy="0"/>
          </a:xfrm>
          <a:prstGeom prst="line">
            <a:avLst/>
          </a:prstGeom>
          <a:noFill/>
          <a:ln w="9525">
            <a:solidFill>
              <a:srgbClr val="DCD8D0"/>
            </a:solidFill>
            <a:prstDash val="solid"/>
          </a:ln>
        </p:spPr>
        <p:txBody>
          <a:bodyPr/>
          <a:lstStyle/>
          <a:p>
            <a:endParaRPr lang="en-PK"/>
          </a:p>
        </p:txBody>
      </p:sp>
      <p:sp>
        <p:nvSpPr>
          <p:cNvPr id="11" name="Text 9"/>
          <p:cNvSpPr/>
          <p:nvPr/>
        </p:nvSpPr>
        <p:spPr>
          <a:xfrm>
            <a:off x="914400" y="5537200"/>
            <a:ext cx="2912533" cy="558800"/>
          </a:xfrm>
          <a:prstGeom prst="rect">
            <a:avLst/>
          </a:prstGeom>
          <a:noFill/>
          <a:ln/>
        </p:spPr>
        <p:txBody>
          <a:bodyPr wrap="square" lIns="0" tIns="0" rIns="0" bIns="0" rtlCol="0" anchor="t"/>
          <a:lstStyle/>
          <a:p>
            <a:pPr marL="0" indent="0">
              <a:lnSpc>
                <a:spcPct val="140000"/>
              </a:lnSpc>
              <a:buNone/>
            </a:pPr>
            <a:r>
              <a:rPr lang="en-US" sz="1000" u="sng" dirty="0">
                <a:solidFill>
                  <a:srgbClr val="14161A"/>
                </a:solidFill>
                <a:latin typeface="IBM Plex Mono" pitchFamily="34" charset="0"/>
                <a:ea typeface="IBM Plex Mono" pitchFamily="34" charset="-122"/>
                <a:cs typeface="IBM Plex Mono" pitchFamily="34" charset="-120"/>
                <a:hlinkClick r:id="rId3">
                  <a:extLst>
                    <a:ext uri="{A12FA001-AC4F-418D-AE19-62706E023703}">
                      <ahyp:hlinkClr xmlns:ahyp="http://schemas.microsoft.com/office/drawing/2018/hyperlinkcolor" val="tx"/>
                    </a:ext>
                  </a:extLst>
                </a:hlinkClick>
              </a:rPr>
              <a:t>ceo@boltertech.com</a:t>
            </a:r>
            <a:endParaRPr lang="en-US" sz="1000" dirty="0"/>
          </a:p>
        </p:txBody>
      </p:sp>
      <p:sp>
        <p:nvSpPr>
          <p:cNvPr id="13" name="Text 11"/>
          <p:cNvSpPr/>
          <p:nvPr/>
        </p:nvSpPr>
        <p:spPr>
          <a:xfrm>
            <a:off x="4639733" y="2895600"/>
            <a:ext cx="2912533" cy="355600"/>
          </a:xfrm>
          <a:prstGeom prst="rect">
            <a:avLst/>
          </a:prstGeom>
          <a:noFill/>
          <a:ln/>
        </p:spPr>
        <p:txBody>
          <a:bodyPr wrap="none" lIns="0" tIns="0" rIns="0" bIns="0" rtlCol="0" anchor="t"/>
          <a:lstStyle/>
          <a:p>
            <a:pPr marL="0" indent="0">
              <a:buNone/>
            </a:pPr>
            <a:r>
              <a:rPr lang="en-US" sz="2000" b="1" dirty="0">
                <a:solidFill>
                  <a:srgbClr val="14161A"/>
                </a:solidFill>
                <a:latin typeface="Space Grotesk" pitchFamily="34" charset="0"/>
                <a:ea typeface="Space Grotesk" pitchFamily="34" charset="-122"/>
                <a:cs typeface="Space Grotesk" pitchFamily="34" charset="-120"/>
              </a:rPr>
              <a:t>Muhammad Hamza Javaid</a:t>
            </a:r>
            <a:endParaRPr lang="en-US" sz="2400" dirty="0"/>
          </a:p>
        </p:txBody>
      </p:sp>
      <p:sp>
        <p:nvSpPr>
          <p:cNvPr id="14" name="Text 12"/>
          <p:cNvSpPr/>
          <p:nvPr/>
        </p:nvSpPr>
        <p:spPr>
          <a:xfrm>
            <a:off x="5427133" y="2082800"/>
            <a:ext cx="2125133" cy="609600"/>
          </a:xfrm>
          <a:prstGeom prst="rect">
            <a:avLst/>
          </a:prstGeom>
          <a:noFill/>
          <a:ln/>
        </p:spPr>
        <p:txBody>
          <a:bodyPr wrap="square" lIns="0" tIns="0" rIns="0" bIns="0" rtlCol="0" anchor="ctr"/>
          <a:lstStyle/>
          <a:p>
            <a:pPr marL="0" indent="0">
              <a:buNone/>
            </a:pPr>
            <a:r>
              <a:rPr lang="en-US" sz="1400" b="1" kern="0" spc="200" dirty="0">
                <a:solidFill>
                  <a:srgbClr val="8F5D0A"/>
                </a:solidFill>
                <a:latin typeface="IBM Plex Mono" pitchFamily="34" charset="0"/>
                <a:ea typeface="IBM Plex Mono" pitchFamily="34" charset="-122"/>
                <a:cs typeface="IBM Plex Mono" pitchFamily="34" charset="-120"/>
              </a:rPr>
              <a:t>COO</a:t>
            </a:r>
            <a:endParaRPr lang="en-US" sz="2400" dirty="0"/>
          </a:p>
        </p:txBody>
      </p:sp>
      <p:sp>
        <p:nvSpPr>
          <p:cNvPr id="15" name="Text 13"/>
          <p:cNvSpPr/>
          <p:nvPr/>
        </p:nvSpPr>
        <p:spPr>
          <a:xfrm>
            <a:off x="4639733" y="3352800"/>
            <a:ext cx="2912533" cy="508000"/>
          </a:xfrm>
          <a:prstGeom prst="rect">
            <a:avLst/>
          </a:prstGeom>
          <a:noFill/>
          <a:ln/>
        </p:spPr>
        <p:txBody>
          <a:bodyPr wrap="square" lIns="0" tIns="0" rIns="0" bIns="0" rtlCol="0" anchor="t" anchorCtr="0"/>
          <a:lstStyle/>
          <a:p>
            <a:pPr marL="0" indent="0">
              <a:buNone/>
            </a:pPr>
            <a:r>
              <a:rPr lang="en-US" sz="1400" b="1" dirty="0">
                <a:solidFill>
                  <a:schemeClr val="accent3"/>
                </a:solidFill>
                <a:latin typeface="IBM Plex Sans" pitchFamily="34" charset="0"/>
                <a:ea typeface="IBM Plex Sans" pitchFamily="34" charset="-122"/>
                <a:cs typeface="IBM Plex Sans" pitchFamily="34" charset="-120"/>
              </a:rPr>
              <a:t>Delivery and client engagements</a:t>
            </a:r>
            <a:endParaRPr lang="en-US" sz="1400" b="1" dirty="0">
              <a:solidFill>
                <a:schemeClr val="accent3"/>
              </a:solidFill>
            </a:endParaRPr>
          </a:p>
        </p:txBody>
      </p:sp>
      <p:sp>
        <p:nvSpPr>
          <p:cNvPr id="16" name="Text 14"/>
          <p:cNvSpPr/>
          <p:nvPr/>
        </p:nvSpPr>
        <p:spPr>
          <a:xfrm>
            <a:off x="4639733" y="3962400"/>
            <a:ext cx="2912533" cy="1270000"/>
          </a:xfrm>
          <a:prstGeom prst="rect">
            <a:avLst/>
          </a:prstGeom>
          <a:noFill/>
          <a:ln/>
        </p:spPr>
        <p:txBody>
          <a:bodyPr wrap="square" lIns="0" tIns="0" rIns="0" bIns="0" rtlCol="0" anchor="t"/>
          <a:lstStyle/>
          <a:p>
            <a:pPr marL="0" indent="0">
              <a:lnSpc>
                <a:spcPct val="130000"/>
              </a:lnSpc>
              <a:buNone/>
            </a:pPr>
            <a:r>
              <a:rPr lang="en-US" sz="1400" dirty="0">
                <a:solidFill>
                  <a:srgbClr val="5B6066"/>
                </a:solidFill>
                <a:latin typeface="IBM Plex Sans" pitchFamily="34" charset="0"/>
                <a:ea typeface="IBM Plex Sans" pitchFamily="34" charset="-122"/>
                <a:cs typeface="IBM Plex Sans" pitchFamily="34" charset="-120"/>
              </a:rPr>
              <a:t>Hamza runs Bolter’s day-to-day delivery: scoping client engagements and keeping every project on schedule.</a:t>
            </a:r>
            <a:endParaRPr lang="en-US" sz="1400" dirty="0"/>
          </a:p>
        </p:txBody>
      </p:sp>
      <p:sp>
        <p:nvSpPr>
          <p:cNvPr id="17" name="Shape 15"/>
          <p:cNvSpPr/>
          <p:nvPr/>
        </p:nvSpPr>
        <p:spPr>
          <a:xfrm>
            <a:off x="4639733" y="5359400"/>
            <a:ext cx="2912533" cy="0"/>
          </a:xfrm>
          <a:prstGeom prst="line">
            <a:avLst/>
          </a:prstGeom>
          <a:noFill/>
          <a:ln w="9525">
            <a:solidFill>
              <a:srgbClr val="DCD8D0"/>
            </a:solidFill>
            <a:prstDash val="solid"/>
          </a:ln>
        </p:spPr>
        <p:txBody>
          <a:bodyPr/>
          <a:lstStyle/>
          <a:p>
            <a:endParaRPr lang="en-PK"/>
          </a:p>
        </p:txBody>
      </p:sp>
      <p:sp>
        <p:nvSpPr>
          <p:cNvPr id="18" name="Text 16"/>
          <p:cNvSpPr/>
          <p:nvPr/>
        </p:nvSpPr>
        <p:spPr>
          <a:xfrm>
            <a:off x="4639733" y="5537200"/>
            <a:ext cx="2912533" cy="558800"/>
          </a:xfrm>
          <a:prstGeom prst="rect">
            <a:avLst/>
          </a:prstGeom>
          <a:noFill/>
          <a:ln/>
        </p:spPr>
        <p:txBody>
          <a:bodyPr wrap="square" lIns="0" tIns="0" rIns="0" bIns="0" rtlCol="0" anchor="t"/>
          <a:lstStyle/>
          <a:p>
            <a:pPr marL="0" indent="0">
              <a:lnSpc>
                <a:spcPct val="140000"/>
              </a:lnSpc>
              <a:buNone/>
            </a:pPr>
            <a:r>
              <a:rPr lang="en-US" sz="1000" u="sng" dirty="0">
                <a:solidFill>
                  <a:srgbClr val="14161A"/>
                </a:solidFill>
                <a:latin typeface="IBM Plex Mono" pitchFamily="34" charset="0"/>
                <a:ea typeface="IBM Plex Mono" pitchFamily="34" charset="-122"/>
                <a:cs typeface="IBM Plex Mono" pitchFamily="34" charset="-120"/>
                <a:hlinkClick r:id="rId4">
                  <a:extLst>
                    <a:ext uri="{A12FA001-AC4F-418D-AE19-62706E023703}">
                      <ahyp:hlinkClr xmlns:ahyp="http://schemas.microsoft.com/office/drawing/2018/hyperlinkcolor" val="tx"/>
                    </a:ext>
                  </a:extLst>
                </a:hlinkClick>
              </a:rPr>
              <a:t>coo@boltertech.com</a:t>
            </a:r>
            <a:endParaRPr lang="en-US" sz="1000" dirty="0"/>
          </a:p>
          <a:p>
            <a:pPr marL="0" indent="0">
              <a:lnSpc>
                <a:spcPct val="140000"/>
              </a:lnSpc>
              <a:buNone/>
            </a:pPr>
            <a:r>
              <a:rPr lang="en-US" sz="1000" u="sng" dirty="0">
                <a:solidFill>
                  <a:srgbClr val="5B6066"/>
                </a:solidFill>
                <a:latin typeface="IBM Plex Mono" pitchFamily="34" charset="0"/>
                <a:ea typeface="IBM Plex Mono" pitchFamily="34" charset="-122"/>
                <a:cs typeface="IBM Plex Mono" pitchFamily="34" charset="-120"/>
                <a:hlinkClick r:id="rId5">
                  <a:extLst>
                    <a:ext uri="{A12FA001-AC4F-418D-AE19-62706E023703}">
                      <ahyp:hlinkClr xmlns:ahyp="http://schemas.microsoft.com/office/drawing/2018/hyperlinkcolor" val="tx"/>
                    </a:ext>
                  </a:extLst>
                </a:hlinkClick>
              </a:rPr>
              <a:t>linkedin.com/in/HamzaJBandesha</a:t>
            </a:r>
            <a:endParaRPr lang="en-US" sz="1000" dirty="0"/>
          </a:p>
        </p:txBody>
      </p:sp>
      <p:sp>
        <p:nvSpPr>
          <p:cNvPr id="20" name="Text 18"/>
          <p:cNvSpPr/>
          <p:nvPr/>
        </p:nvSpPr>
        <p:spPr>
          <a:xfrm>
            <a:off x="8365067" y="2895600"/>
            <a:ext cx="2912533" cy="355600"/>
          </a:xfrm>
          <a:prstGeom prst="rect">
            <a:avLst/>
          </a:prstGeom>
          <a:noFill/>
          <a:ln/>
        </p:spPr>
        <p:txBody>
          <a:bodyPr wrap="none" lIns="0" tIns="0" rIns="0" bIns="0" rtlCol="0" anchor="t"/>
          <a:lstStyle/>
          <a:p>
            <a:pPr marL="0" indent="0">
              <a:buNone/>
            </a:pPr>
            <a:r>
              <a:rPr lang="en-US" sz="2000" b="1" dirty="0">
                <a:solidFill>
                  <a:srgbClr val="14161A"/>
                </a:solidFill>
                <a:latin typeface="Space Grotesk" pitchFamily="34" charset="0"/>
                <a:ea typeface="Space Grotesk" pitchFamily="34" charset="-122"/>
              </a:rPr>
              <a:t>Muhammad Sadiq Raza</a:t>
            </a:r>
          </a:p>
        </p:txBody>
      </p:sp>
      <p:sp>
        <p:nvSpPr>
          <p:cNvPr id="21" name="Text 19"/>
          <p:cNvSpPr/>
          <p:nvPr/>
        </p:nvSpPr>
        <p:spPr>
          <a:xfrm>
            <a:off x="9152467" y="2082800"/>
            <a:ext cx="2125133" cy="609600"/>
          </a:xfrm>
          <a:prstGeom prst="rect">
            <a:avLst/>
          </a:prstGeom>
          <a:noFill/>
          <a:ln/>
        </p:spPr>
        <p:txBody>
          <a:bodyPr wrap="square" lIns="0" tIns="0" rIns="0" bIns="0" rtlCol="0" anchor="ctr"/>
          <a:lstStyle/>
          <a:p>
            <a:pPr marL="0" indent="0">
              <a:buNone/>
            </a:pPr>
            <a:r>
              <a:rPr lang="en-US" sz="1400" b="1" kern="0" spc="200" dirty="0">
                <a:solidFill>
                  <a:srgbClr val="8F5D0A"/>
                </a:solidFill>
                <a:latin typeface="IBM Plex Mono" pitchFamily="34" charset="0"/>
                <a:ea typeface="IBM Plex Mono" pitchFamily="34" charset="-122"/>
                <a:cs typeface="IBM Plex Mono" pitchFamily="34" charset="-120"/>
              </a:rPr>
              <a:t>CTO</a:t>
            </a:r>
            <a:endParaRPr lang="en-US" sz="2400" dirty="0"/>
          </a:p>
        </p:txBody>
      </p:sp>
      <p:sp>
        <p:nvSpPr>
          <p:cNvPr id="22" name="Text 20"/>
          <p:cNvSpPr/>
          <p:nvPr/>
        </p:nvSpPr>
        <p:spPr>
          <a:xfrm>
            <a:off x="8365067" y="3352800"/>
            <a:ext cx="2912533" cy="508000"/>
          </a:xfrm>
          <a:prstGeom prst="rect">
            <a:avLst/>
          </a:prstGeom>
          <a:noFill/>
          <a:ln/>
        </p:spPr>
        <p:txBody>
          <a:bodyPr wrap="square" lIns="0" tIns="0" rIns="0" bIns="0" rtlCol="0" anchor="t" anchorCtr="0"/>
          <a:lstStyle/>
          <a:p>
            <a:pPr marL="0" indent="0">
              <a:buNone/>
            </a:pPr>
            <a:r>
              <a:rPr lang="en-US" sz="1400" b="1" dirty="0">
                <a:solidFill>
                  <a:schemeClr val="accent3"/>
                </a:solidFill>
                <a:latin typeface="IBM Plex Sans" pitchFamily="34" charset="0"/>
                <a:ea typeface="IBM Plex Sans" pitchFamily="34" charset="-122"/>
                <a:cs typeface="IBM Plex Sans" pitchFamily="34" charset="-120"/>
              </a:rPr>
              <a:t>Software architecture and engineering</a:t>
            </a:r>
            <a:endParaRPr lang="en-US" sz="1400" b="1" dirty="0">
              <a:solidFill>
                <a:schemeClr val="accent3"/>
              </a:solidFill>
            </a:endParaRPr>
          </a:p>
        </p:txBody>
      </p:sp>
      <p:sp>
        <p:nvSpPr>
          <p:cNvPr id="23" name="Text 21"/>
          <p:cNvSpPr/>
          <p:nvPr/>
        </p:nvSpPr>
        <p:spPr>
          <a:xfrm>
            <a:off x="8365067" y="3962400"/>
            <a:ext cx="2912533" cy="1270000"/>
          </a:xfrm>
          <a:prstGeom prst="rect">
            <a:avLst/>
          </a:prstGeom>
          <a:noFill/>
          <a:ln/>
        </p:spPr>
        <p:txBody>
          <a:bodyPr wrap="square" lIns="0" tIns="0" rIns="0" bIns="0" rtlCol="0" anchor="t"/>
          <a:lstStyle/>
          <a:p>
            <a:pPr marL="0" indent="0">
              <a:lnSpc>
                <a:spcPct val="130000"/>
              </a:lnSpc>
              <a:buNone/>
            </a:pPr>
            <a:r>
              <a:rPr lang="en-US" sz="1400" dirty="0">
                <a:solidFill>
                  <a:srgbClr val="5B6066"/>
                </a:solidFill>
                <a:latin typeface="IBM Plex Sans" pitchFamily="34" charset="0"/>
                <a:ea typeface="IBM Plex Sans" pitchFamily="34" charset="-122"/>
                <a:cs typeface="IBM Plex Sans" pitchFamily="34" charset="-120"/>
              </a:rPr>
              <a:t>Sadiq leads software architecture, development, integrations, and technical delivery.</a:t>
            </a:r>
            <a:endParaRPr lang="en-US" sz="1400" dirty="0"/>
          </a:p>
        </p:txBody>
      </p:sp>
      <p:sp>
        <p:nvSpPr>
          <p:cNvPr id="24" name="Shape 22"/>
          <p:cNvSpPr/>
          <p:nvPr/>
        </p:nvSpPr>
        <p:spPr>
          <a:xfrm>
            <a:off x="8365067" y="5359400"/>
            <a:ext cx="2912533" cy="0"/>
          </a:xfrm>
          <a:prstGeom prst="line">
            <a:avLst/>
          </a:prstGeom>
          <a:noFill/>
          <a:ln w="9525">
            <a:solidFill>
              <a:srgbClr val="DCD8D0"/>
            </a:solidFill>
            <a:prstDash val="solid"/>
          </a:ln>
        </p:spPr>
        <p:txBody>
          <a:bodyPr/>
          <a:lstStyle/>
          <a:p>
            <a:endParaRPr lang="en-PK"/>
          </a:p>
        </p:txBody>
      </p:sp>
      <p:sp>
        <p:nvSpPr>
          <p:cNvPr id="25" name="Text 23"/>
          <p:cNvSpPr/>
          <p:nvPr/>
        </p:nvSpPr>
        <p:spPr>
          <a:xfrm>
            <a:off x="8365067" y="5537200"/>
            <a:ext cx="2912533" cy="558800"/>
          </a:xfrm>
          <a:prstGeom prst="rect">
            <a:avLst/>
          </a:prstGeom>
          <a:noFill/>
          <a:ln/>
        </p:spPr>
        <p:txBody>
          <a:bodyPr wrap="square" lIns="0" tIns="0" rIns="0" bIns="0" rtlCol="0" anchor="t"/>
          <a:lstStyle/>
          <a:p>
            <a:pPr marL="0" indent="0">
              <a:lnSpc>
                <a:spcPct val="140000"/>
              </a:lnSpc>
              <a:buNone/>
            </a:pPr>
            <a:r>
              <a:rPr lang="en-US" sz="1000" u="sng" dirty="0">
                <a:solidFill>
                  <a:srgbClr val="14161A"/>
                </a:solidFill>
                <a:latin typeface="IBM Plex Mono" pitchFamily="34" charset="0"/>
                <a:ea typeface="IBM Plex Mono" pitchFamily="34" charset="-122"/>
                <a:cs typeface="IBM Plex Mono" pitchFamily="34" charset="-120"/>
                <a:hlinkClick r:id="rId6">
                  <a:extLst>
                    <a:ext uri="{A12FA001-AC4F-418D-AE19-62706E023703}">
                      <ahyp:hlinkClr xmlns:ahyp="http://schemas.microsoft.com/office/drawing/2018/hyperlinkcolor" val="tx"/>
                    </a:ext>
                  </a:extLst>
                </a:hlinkClick>
              </a:rPr>
              <a:t>cto@boltertech.com</a:t>
            </a:r>
            <a:endParaRPr lang="en-US" sz="1000" dirty="0"/>
          </a:p>
          <a:p>
            <a:pPr marL="0" indent="0">
              <a:lnSpc>
                <a:spcPct val="140000"/>
              </a:lnSpc>
              <a:buNone/>
            </a:pPr>
            <a:r>
              <a:rPr lang="en-US" sz="1000" u="sng" dirty="0">
                <a:solidFill>
                  <a:srgbClr val="5B6066"/>
                </a:solidFill>
                <a:latin typeface="IBM Plex Mono" pitchFamily="34" charset="0"/>
                <a:ea typeface="IBM Plex Mono" pitchFamily="34" charset="-122"/>
                <a:cs typeface="IBM Plex Mono" pitchFamily="34" charset="-120"/>
                <a:hlinkClick r:id="rId7">
                  <a:extLst>
                    <a:ext uri="{A12FA001-AC4F-418D-AE19-62706E023703}">
                      <ahyp:hlinkClr xmlns:ahyp="http://schemas.microsoft.com/office/drawing/2018/hyperlinkcolor" val="tx"/>
                    </a:ext>
                  </a:extLst>
                </a:hlinkClick>
              </a:rPr>
              <a:t>linkedin.com/in/blackstarin</a:t>
            </a:r>
            <a:endParaRPr lang="en-US" sz="1000" dirty="0"/>
          </a:p>
        </p:txBody>
      </p:sp>
      <p:sp>
        <p:nvSpPr>
          <p:cNvPr id="26" name="Text 24"/>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7" name="Text 25"/>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04 / 30</a:t>
            </a:r>
            <a:endParaRPr lang="en-US" sz="700" dirty="0"/>
          </a:p>
        </p:txBody>
      </p:sp>
    </p:spTree>
    <p:extLst>
      <p:ext uri="{BB962C8B-B14F-4D97-AF65-F5344CB8AC3E}">
        <p14:creationId xmlns:p14="http://schemas.microsoft.com/office/powerpoint/2010/main" val="1818899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04  PEOPLE</a:t>
            </a:r>
            <a:endParaRPr lang="en-US" sz="900" dirty="0"/>
          </a:p>
        </p:txBody>
      </p:sp>
      <p:sp>
        <p:nvSpPr>
          <p:cNvPr id="4" name="Text 2"/>
          <p:cNvSpPr/>
          <p:nvPr/>
        </p:nvSpPr>
        <p:spPr>
          <a:xfrm>
            <a:off x="640080" y="777240"/>
            <a:ext cx="4572000" cy="685800"/>
          </a:xfrm>
          <a:prstGeom prst="rect">
            <a:avLst/>
          </a:prstGeom>
          <a:noFill/>
          <a:ln/>
        </p:spPr>
        <p:txBody>
          <a:bodyPr wrap="square" lIns="0" tIns="0" rIns="0" bIns="0" rtlCol="0" anchor="t"/>
          <a:lstStyle/>
          <a:p>
            <a:pPr marL="0" indent="0">
              <a:buNone/>
            </a:pPr>
            <a:r>
              <a:rPr lang="en-US" sz="3400" b="1" dirty="0">
                <a:solidFill>
                  <a:srgbClr val="14161A"/>
                </a:solidFill>
                <a:latin typeface="Space Grotesk" pitchFamily="34" charset="0"/>
                <a:ea typeface="Space Grotesk" pitchFamily="34" charset="-122"/>
                <a:cs typeface="Space Grotesk" pitchFamily="34" charset="-120"/>
              </a:rPr>
              <a:t>Senior team</a:t>
            </a:r>
            <a:endParaRPr lang="en-US" sz="3400" dirty="0"/>
          </a:p>
        </p:txBody>
      </p:sp>
      <p:sp>
        <p:nvSpPr>
          <p:cNvPr id="5" name="Text 3"/>
          <p:cNvSpPr/>
          <p:nvPr/>
        </p:nvSpPr>
        <p:spPr>
          <a:xfrm>
            <a:off x="640080" y="1600200"/>
            <a:ext cx="7137196" cy="825366"/>
          </a:xfrm>
          <a:prstGeom prst="rect">
            <a:avLst/>
          </a:prstGeom>
          <a:noFill/>
          <a:ln/>
        </p:spPr>
        <p:txBody>
          <a:bodyPr wrap="square" lIns="0" tIns="0" rIns="0" bIns="0" rtlCol="0" anchor="t"/>
          <a:lstStyle/>
          <a:p>
            <a:pPr marL="0" indent="0">
              <a:lnSpc>
                <a:spcPct val="125000"/>
              </a:lnSpc>
              <a:buNone/>
            </a:pPr>
            <a:r>
              <a:rPr lang="en-US" sz="1400" dirty="0">
                <a:solidFill>
                  <a:srgbClr val="14161A"/>
                </a:solidFill>
                <a:latin typeface="IBM Plex Sans" pitchFamily="34" charset="0"/>
                <a:ea typeface="IBM Plex Sans" pitchFamily="34" charset="-122"/>
                <a:cs typeface="IBM Plex Sans" pitchFamily="34" charset="-120"/>
              </a:rPr>
              <a:t>Bolter is a young company staffed by people who are not. Our senior engineers and directors come out of telecom, enterprise software and Sigma Engineering, where most of them have spent their careers.</a:t>
            </a:r>
            <a:endParaRPr lang="en-US" sz="1400" dirty="0"/>
          </a:p>
        </p:txBody>
      </p:sp>
      <p:sp>
        <p:nvSpPr>
          <p:cNvPr id="6" name="Shape 4"/>
          <p:cNvSpPr/>
          <p:nvPr/>
        </p:nvSpPr>
        <p:spPr>
          <a:xfrm>
            <a:off x="640080" y="2651760"/>
            <a:ext cx="3362858" cy="0"/>
          </a:xfrm>
          <a:prstGeom prst="line">
            <a:avLst/>
          </a:prstGeom>
          <a:noFill/>
          <a:ln w="9525">
            <a:solidFill>
              <a:srgbClr val="DCD8D0"/>
            </a:solidFill>
            <a:prstDash val="solid"/>
          </a:ln>
        </p:spPr>
        <p:txBody>
          <a:bodyPr/>
          <a:lstStyle/>
          <a:p>
            <a:endParaRPr lang="en-PK"/>
          </a:p>
        </p:txBody>
      </p:sp>
      <p:sp>
        <p:nvSpPr>
          <p:cNvPr id="7" name="Shape 5"/>
          <p:cNvSpPr/>
          <p:nvPr/>
        </p:nvSpPr>
        <p:spPr>
          <a:xfrm>
            <a:off x="640080" y="2651760"/>
            <a:ext cx="640080" cy="0"/>
          </a:xfrm>
          <a:prstGeom prst="line">
            <a:avLst/>
          </a:prstGeom>
          <a:noFill/>
          <a:ln w="28575">
            <a:solidFill>
              <a:srgbClr val="8F5D0A"/>
            </a:solidFill>
            <a:prstDash val="solid"/>
          </a:ln>
        </p:spPr>
        <p:txBody>
          <a:bodyPr/>
          <a:lstStyle/>
          <a:p>
            <a:endParaRPr lang="en-PK"/>
          </a:p>
        </p:txBody>
      </p:sp>
      <p:sp>
        <p:nvSpPr>
          <p:cNvPr id="8" name="Text 6"/>
          <p:cNvSpPr/>
          <p:nvPr/>
        </p:nvSpPr>
        <p:spPr>
          <a:xfrm>
            <a:off x="640080" y="2971800"/>
            <a:ext cx="3362858" cy="365760"/>
          </a:xfrm>
          <a:prstGeom prst="rect">
            <a:avLst/>
          </a:prstGeom>
          <a:noFill/>
          <a:ln/>
        </p:spPr>
        <p:txBody>
          <a:bodyPr wrap="square" lIns="0" tIns="0" rIns="0" bIns="0" rtlCol="0" anchor="t"/>
          <a:lstStyle/>
          <a:p>
            <a:pPr marL="0" indent="0">
              <a:buNone/>
            </a:pPr>
            <a:r>
              <a:rPr lang="en-US" sz="2000" b="1" dirty="0">
                <a:solidFill>
                  <a:srgbClr val="14161A"/>
                </a:solidFill>
                <a:latin typeface="Space Grotesk" pitchFamily="34" charset="0"/>
                <a:ea typeface="Space Grotesk" pitchFamily="34" charset="-122"/>
                <a:cs typeface="Space Grotesk" pitchFamily="34" charset="-120"/>
              </a:rPr>
              <a:t>Muhammad Naeem</a:t>
            </a:r>
            <a:endParaRPr lang="en-US" sz="2000" dirty="0"/>
          </a:p>
        </p:txBody>
      </p:sp>
      <p:sp>
        <p:nvSpPr>
          <p:cNvPr id="9" name="Text 7"/>
          <p:cNvSpPr/>
          <p:nvPr/>
        </p:nvSpPr>
        <p:spPr>
          <a:xfrm>
            <a:off x="640080" y="3383280"/>
            <a:ext cx="3362858" cy="201168"/>
          </a:xfrm>
          <a:prstGeom prst="rect">
            <a:avLst/>
          </a:prstGeom>
          <a:noFill/>
          <a:ln/>
        </p:spPr>
        <p:txBody>
          <a:bodyPr wrap="square" lIns="0" tIns="0" rIns="0" bIns="0" rtlCol="0" anchor="t"/>
          <a:lstStyle/>
          <a:p>
            <a:pPr marL="0" indent="0">
              <a:buNone/>
            </a:pPr>
            <a:r>
              <a:rPr lang="en-US" sz="900" b="1" kern="0" spc="150" dirty="0">
                <a:solidFill>
                  <a:srgbClr val="8F5D0A"/>
                </a:solidFill>
                <a:latin typeface="IBM Plex Mono" pitchFamily="34" charset="0"/>
                <a:ea typeface="IBM Plex Mono" pitchFamily="34" charset="-122"/>
                <a:cs typeface="IBM Plex Mono" pitchFamily="34" charset="-120"/>
              </a:rPr>
              <a:t>DIRECTOR  ·  TELECOM</a:t>
            </a:r>
            <a:endParaRPr lang="en-US" sz="900" dirty="0"/>
          </a:p>
        </p:txBody>
      </p:sp>
      <p:sp>
        <p:nvSpPr>
          <p:cNvPr id="10" name="Text 8"/>
          <p:cNvSpPr/>
          <p:nvPr/>
        </p:nvSpPr>
        <p:spPr>
          <a:xfrm>
            <a:off x="640080" y="3703320"/>
            <a:ext cx="3362858" cy="502920"/>
          </a:xfrm>
          <a:prstGeom prst="rect">
            <a:avLst/>
          </a:prstGeom>
          <a:noFill/>
          <a:ln/>
        </p:spPr>
        <p:txBody>
          <a:bodyPr wrap="square" lIns="0" tIns="0" rIns="0" bIns="0" rtlCol="0" anchor="t"/>
          <a:lstStyle/>
          <a:p>
            <a:pPr marL="0" indent="0">
              <a:buNone/>
            </a:pPr>
            <a:r>
              <a:rPr lang="en-US" sz="2600" b="1" dirty="0">
                <a:solidFill>
                  <a:srgbClr val="14161A"/>
                </a:solidFill>
                <a:latin typeface="Space Grotesk" pitchFamily="34" charset="0"/>
                <a:ea typeface="Space Grotesk" pitchFamily="34" charset="-122"/>
                <a:cs typeface="Space Grotesk" pitchFamily="34" charset="-120"/>
              </a:rPr>
              <a:t>25 years</a:t>
            </a:r>
            <a:endParaRPr lang="en-US" sz="2600" dirty="0"/>
          </a:p>
        </p:txBody>
      </p:sp>
      <p:sp>
        <p:nvSpPr>
          <p:cNvPr id="11" name="Text 9"/>
          <p:cNvSpPr/>
          <p:nvPr/>
        </p:nvSpPr>
        <p:spPr>
          <a:xfrm>
            <a:off x="640080" y="4343400"/>
            <a:ext cx="3362858" cy="1737360"/>
          </a:xfrm>
          <a:prstGeom prst="rect">
            <a:avLst/>
          </a:prstGeom>
          <a:noFill/>
          <a:ln/>
        </p:spPr>
        <p:txBody>
          <a:bodyPr wrap="square" lIns="0" tIns="0" rIns="0" bIns="0" rtlCol="0" anchor="t"/>
          <a:lstStyle/>
          <a:p>
            <a:pPr marL="0" indent="0">
              <a:lnSpc>
                <a:spcPct val="130000"/>
              </a:lnSpc>
              <a:buNone/>
            </a:pPr>
            <a:r>
              <a:rPr lang="en-US" sz="1250" dirty="0">
                <a:solidFill>
                  <a:srgbClr val="5B6066"/>
                </a:solidFill>
                <a:latin typeface="IBM Plex Sans" pitchFamily="34" charset="0"/>
                <a:ea typeface="IBM Plex Sans" pitchFamily="34" charset="-122"/>
                <a:cs typeface="IBM Plex Sans" pitchFamily="34" charset="-120"/>
              </a:rPr>
              <a:t>Naaim has spent twenty-five years in the telecom industry. He advises on the network and carrier side of our work and opens the doors that come with that long in one industry.</a:t>
            </a:r>
            <a:endParaRPr lang="en-US" sz="1250" dirty="0"/>
          </a:p>
        </p:txBody>
      </p:sp>
      <p:sp>
        <p:nvSpPr>
          <p:cNvPr id="12" name="Shape 10"/>
          <p:cNvSpPr/>
          <p:nvPr/>
        </p:nvSpPr>
        <p:spPr>
          <a:xfrm>
            <a:off x="4414418" y="2651760"/>
            <a:ext cx="3362858" cy="0"/>
          </a:xfrm>
          <a:prstGeom prst="line">
            <a:avLst/>
          </a:prstGeom>
          <a:noFill/>
          <a:ln w="9525">
            <a:solidFill>
              <a:srgbClr val="DCD8D0"/>
            </a:solidFill>
            <a:prstDash val="solid"/>
          </a:ln>
        </p:spPr>
        <p:txBody>
          <a:bodyPr/>
          <a:lstStyle/>
          <a:p>
            <a:endParaRPr lang="en-PK"/>
          </a:p>
        </p:txBody>
      </p:sp>
      <p:sp>
        <p:nvSpPr>
          <p:cNvPr id="13" name="Shape 11"/>
          <p:cNvSpPr/>
          <p:nvPr/>
        </p:nvSpPr>
        <p:spPr>
          <a:xfrm>
            <a:off x="4414418" y="2651760"/>
            <a:ext cx="640080" cy="0"/>
          </a:xfrm>
          <a:prstGeom prst="line">
            <a:avLst/>
          </a:prstGeom>
          <a:noFill/>
          <a:ln w="28575">
            <a:solidFill>
              <a:srgbClr val="8F5D0A"/>
            </a:solidFill>
            <a:prstDash val="solid"/>
          </a:ln>
        </p:spPr>
        <p:txBody>
          <a:bodyPr/>
          <a:lstStyle/>
          <a:p>
            <a:endParaRPr lang="en-PK"/>
          </a:p>
        </p:txBody>
      </p:sp>
      <p:sp>
        <p:nvSpPr>
          <p:cNvPr id="14" name="Text 12"/>
          <p:cNvSpPr/>
          <p:nvPr/>
        </p:nvSpPr>
        <p:spPr>
          <a:xfrm>
            <a:off x="4414418" y="2971800"/>
            <a:ext cx="3362858" cy="365760"/>
          </a:xfrm>
          <a:prstGeom prst="rect">
            <a:avLst/>
          </a:prstGeom>
          <a:noFill/>
          <a:ln/>
        </p:spPr>
        <p:txBody>
          <a:bodyPr wrap="square" lIns="0" tIns="0" rIns="0" bIns="0" rtlCol="0" anchor="t"/>
          <a:lstStyle/>
          <a:p>
            <a:pPr marL="0" indent="0">
              <a:buNone/>
            </a:pPr>
            <a:r>
              <a:rPr lang="en-US" sz="2000" b="1" dirty="0">
                <a:solidFill>
                  <a:srgbClr val="14161A"/>
                </a:solidFill>
                <a:latin typeface="Space Grotesk" pitchFamily="34" charset="0"/>
                <a:ea typeface="Space Grotesk" pitchFamily="34" charset="-122"/>
                <a:cs typeface="Space Grotesk" pitchFamily="34" charset="-120"/>
              </a:rPr>
              <a:t>Bilal Ahmed</a:t>
            </a:r>
            <a:endParaRPr lang="en-US" sz="2000" dirty="0"/>
          </a:p>
        </p:txBody>
      </p:sp>
      <p:sp>
        <p:nvSpPr>
          <p:cNvPr id="15" name="Text 13"/>
          <p:cNvSpPr/>
          <p:nvPr/>
        </p:nvSpPr>
        <p:spPr>
          <a:xfrm>
            <a:off x="4414418" y="3383280"/>
            <a:ext cx="3362858" cy="201168"/>
          </a:xfrm>
          <a:prstGeom prst="rect">
            <a:avLst/>
          </a:prstGeom>
          <a:noFill/>
          <a:ln/>
        </p:spPr>
        <p:txBody>
          <a:bodyPr wrap="square" lIns="0" tIns="0" rIns="0" bIns="0" rtlCol="0" anchor="t"/>
          <a:lstStyle/>
          <a:p>
            <a:pPr marL="0" indent="0">
              <a:buNone/>
            </a:pPr>
            <a:r>
              <a:rPr lang="en-US" sz="900" b="1" kern="0" spc="150" dirty="0">
                <a:solidFill>
                  <a:srgbClr val="8F5D0A"/>
                </a:solidFill>
                <a:latin typeface="IBM Plex Mono" pitchFamily="34" charset="0"/>
                <a:ea typeface="IBM Plex Mono" pitchFamily="34" charset="-122"/>
                <a:cs typeface="IBM Plex Mono" pitchFamily="34" charset="-120"/>
              </a:rPr>
              <a:t>LEAD ENGINEER  ·  SOFTWARE DELIVERY</a:t>
            </a:r>
            <a:endParaRPr lang="en-US" sz="900" dirty="0"/>
          </a:p>
        </p:txBody>
      </p:sp>
      <p:sp>
        <p:nvSpPr>
          <p:cNvPr id="16" name="Text 14"/>
          <p:cNvSpPr/>
          <p:nvPr/>
        </p:nvSpPr>
        <p:spPr>
          <a:xfrm>
            <a:off x="4414418" y="3703320"/>
            <a:ext cx="3362858" cy="502920"/>
          </a:xfrm>
          <a:prstGeom prst="rect">
            <a:avLst/>
          </a:prstGeom>
          <a:noFill/>
          <a:ln/>
        </p:spPr>
        <p:txBody>
          <a:bodyPr wrap="square" lIns="0" tIns="0" rIns="0" bIns="0" rtlCol="0" anchor="t"/>
          <a:lstStyle/>
          <a:p>
            <a:pPr marL="0" indent="0">
              <a:buNone/>
            </a:pPr>
            <a:r>
              <a:rPr lang="en-US" sz="2600" b="1" dirty="0">
                <a:solidFill>
                  <a:srgbClr val="14161A"/>
                </a:solidFill>
                <a:latin typeface="Space Grotesk" pitchFamily="34" charset="0"/>
                <a:ea typeface="Space Grotesk" pitchFamily="34" charset="-122"/>
                <a:cs typeface="Space Grotesk" pitchFamily="34" charset="-120"/>
              </a:rPr>
              <a:t>12 years</a:t>
            </a:r>
            <a:endParaRPr lang="en-US" sz="2600" dirty="0"/>
          </a:p>
        </p:txBody>
      </p:sp>
      <p:sp>
        <p:nvSpPr>
          <p:cNvPr id="17" name="Text 15"/>
          <p:cNvSpPr/>
          <p:nvPr/>
        </p:nvSpPr>
        <p:spPr>
          <a:xfrm>
            <a:off x="4414418" y="4343400"/>
            <a:ext cx="3362858" cy="1737360"/>
          </a:xfrm>
          <a:prstGeom prst="rect">
            <a:avLst/>
          </a:prstGeom>
          <a:noFill/>
          <a:ln/>
        </p:spPr>
        <p:txBody>
          <a:bodyPr wrap="square" lIns="0" tIns="0" rIns="0" bIns="0" rtlCol="0" anchor="t"/>
          <a:lstStyle/>
          <a:p>
            <a:pPr marL="0" indent="0">
              <a:lnSpc>
                <a:spcPct val="130000"/>
              </a:lnSpc>
              <a:buNone/>
            </a:pPr>
            <a:r>
              <a:rPr lang="en-US" sz="1250" dirty="0">
                <a:solidFill>
                  <a:srgbClr val="5B6066"/>
                </a:solidFill>
                <a:latin typeface="IBM Plex Sans" pitchFamily="34" charset="0"/>
                <a:ea typeface="IBM Plex Sans" pitchFamily="34" charset="-122"/>
                <a:cs typeface="IBM Plex Sans" pitchFamily="34" charset="-120"/>
              </a:rPr>
              <a:t>Bilal has built enterprise software for twelve years. He leads the build on client projects and reviews what the team ships before a client sees it.</a:t>
            </a:r>
            <a:endParaRPr lang="en-US" sz="1250" dirty="0"/>
          </a:p>
        </p:txBody>
      </p:sp>
      <p:sp>
        <p:nvSpPr>
          <p:cNvPr id="18" name="Shape 16"/>
          <p:cNvSpPr/>
          <p:nvPr/>
        </p:nvSpPr>
        <p:spPr>
          <a:xfrm>
            <a:off x="8188757" y="2651760"/>
            <a:ext cx="3362858" cy="0"/>
          </a:xfrm>
          <a:prstGeom prst="line">
            <a:avLst/>
          </a:prstGeom>
          <a:noFill/>
          <a:ln w="9525">
            <a:solidFill>
              <a:srgbClr val="DCD8D0"/>
            </a:solidFill>
            <a:prstDash val="solid"/>
          </a:ln>
        </p:spPr>
        <p:txBody>
          <a:bodyPr/>
          <a:lstStyle/>
          <a:p>
            <a:endParaRPr lang="en-PK"/>
          </a:p>
        </p:txBody>
      </p:sp>
      <p:sp>
        <p:nvSpPr>
          <p:cNvPr id="19" name="Shape 17"/>
          <p:cNvSpPr/>
          <p:nvPr/>
        </p:nvSpPr>
        <p:spPr>
          <a:xfrm>
            <a:off x="8188757" y="2651760"/>
            <a:ext cx="640080" cy="0"/>
          </a:xfrm>
          <a:prstGeom prst="line">
            <a:avLst/>
          </a:prstGeom>
          <a:noFill/>
          <a:ln w="28575">
            <a:solidFill>
              <a:srgbClr val="8F5D0A"/>
            </a:solidFill>
            <a:prstDash val="solid"/>
          </a:ln>
        </p:spPr>
        <p:txBody>
          <a:bodyPr/>
          <a:lstStyle/>
          <a:p>
            <a:endParaRPr lang="en-PK"/>
          </a:p>
        </p:txBody>
      </p:sp>
      <p:sp>
        <p:nvSpPr>
          <p:cNvPr id="20" name="Text 18"/>
          <p:cNvSpPr/>
          <p:nvPr/>
        </p:nvSpPr>
        <p:spPr>
          <a:xfrm>
            <a:off x="8188757" y="2971800"/>
            <a:ext cx="3362858" cy="365760"/>
          </a:xfrm>
          <a:prstGeom prst="rect">
            <a:avLst/>
          </a:prstGeom>
          <a:noFill/>
          <a:ln/>
        </p:spPr>
        <p:txBody>
          <a:bodyPr wrap="square" lIns="0" tIns="0" rIns="0" bIns="0" rtlCol="0" anchor="t"/>
          <a:lstStyle/>
          <a:p>
            <a:pPr marL="0" indent="0">
              <a:buNone/>
            </a:pPr>
            <a:r>
              <a:rPr lang="en-US" sz="2000" b="1" dirty="0">
                <a:solidFill>
                  <a:srgbClr val="14161A"/>
                </a:solidFill>
                <a:latin typeface="Space Grotesk" pitchFamily="34" charset="0"/>
                <a:ea typeface="Space Grotesk" pitchFamily="34" charset="-122"/>
                <a:cs typeface="Space Grotesk" pitchFamily="34" charset="-120"/>
              </a:rPr>
              <a:t>Hina Rauf</a:t>
            </a:r>
            <a:endParaRPr lang="en-US" sz="2000" dirty="0"/>
          </a:p>
        </p:txBody>
      </p:sp>
      <p:sp>
        <p:nvSpPr>
          <p:cNvPr id="21" name="Text 19"/>
          <p:cNvSpPr/>
          <p:nvPr/>
        </p:nvSpPr>
        <p:spPr>
          <a:xfrm>
            <a:off x="8188757" y="3383280"/>
            <a:ext cx="3362858" cy="201168"/>
          </a:xfrm>
          <a:prstGeom prst="rect">
            <a:avLst/>
          </a:prstGeom>
          <a:noFill/>
          <a:ln/>
        </p:spPr>
        <p:txBody>
          <a:bodyPr wrap="square" lIns="0" tIns="0" rIns="0" bIns="0" rtlCol="0" anchor="t"/>
          <a:lstStyle/>
          <a:p>
            <a:pPr marL="0" indent="0">
              <a:buNone/>
            </a:pPr>
            <a:r>
              <a:rPr lang="en-US" sz="900" b="1" kern="0" spc="150" dirty="0">
                <a:solidFill>
                  <a:srgbClr val="8F5D0A"/>
                </a:solidFill>
                <a:latin typeface="IBM Plex Mono" pitchFamily="34" charset="0"/>
                <a:ea typeface="IBM Plex Mono" pitchFamily="34" charset="-122"/>
                <a:cs typeface="IBM Plex Mono" pitchFamily="34" charset="-120"/>
              </a:rPr>
              <a:t>DATA LEAD  ·  DATA AND ANALYTICS</a:t>
            </a:r>
            <a:endParaRPr lang="en-US" sz="900" dirty="0"/>
          </a:p>
        </p:txBody>
      </p:sp>
      <p:sp>
        <p:nvSpPr>
          <p:cNvPr id="22" name="Text 20"/>
          <p:cNvSpPr/>
          <p:nvPr/>
        </p:nvSpPr>
        <p:spPr>
          <a:xfrm>
            <a:off x="8188757" y="3703320"/>
            <a:ext cx="3362858" cy="502920"/>
          </a:xfrm>
          <a:prstGeom prst="rect">
            <a:avLst/>
          </a:prstGeom>
          <a:noFill/>
          <a:ln/>
        </p:spPr>
        <p:txBody>
          <a:bodyPr wrap="square" lIns="0" tIns="0" rIns="0" bIns="0" rtlCol="0" anchor="t"/>
          <a:lstStyle/>
          <a:p>
            <a:pPr marL="0" indent="0">
              <a:buNone/>
            </a:pPr>
            <a:r>
              <a:rPr lang="en-US" sz="2600" b="1" dirty="0">
                <a:solidFill>
                  <a:srgbClr val="14161A"/>
                </a:solidFill>
                <a:latin typeface="Space Grotesk" pitchFamily="34" charset="0"/>
                <a:ea typeface="Space Grotesk" pitchFamily="34" charset="-122"/>
                <a:cs typeface="Space Grotesk" pitchFamily="34" charset="-120"/>
              </a:rPr>
              <a:t>10 years</a:t>
            </a:r>
            <a:endParaRPr lang="en-US" sz="2600" dirty="0"/>
          </a:p>
        </p:txBody>
      </p:sp>
      <p:sp>
        <p:nvSpPr>
          <p:cNvPr id="23" name="Text 21"/>
          <p:cNvSpPr/>
          <p:nvPr/>
        </p:nvSpPr>
        <p:spPr>
          <a:xfrm>
            <a:off x="8188757" y="4343400"/>
            <a:ext cx="3362858" cy="1737360"/>
          </a:xfrm>
          <a:prstGeom prst="rect">
            <a:avLst/>
          </a:prstGeom>
          <a:noFill/>
          <a:ln/>
        </p:spPr>
        <p:txBody>
          <a:bodyPr wrap="square" lIns="0" tIns="0" rIns="0" bIns="0" rtlCol="0" anchor="t"/>
          <a:lstStyle/>
          <a:p>
            <a:pPr marL="0" indent="0">
              <a:lnSpc>
                <a:spcPct val="130000"/>
              </a:lnSpc>
              <a:buNone/>
            </a:pPr>
            <a:r>
              <a:rPr lang="en-US" sz="1250" dirty="0">
                <a:solidFill>
                  <a:srgbClr val="5B6066"/>
                </a:solidFill>
                <a:latin typeface="IBM Plex Sans" pitchFamily="34" charset="0"/>
                <a:ea typeface="IBM Plex Sans" pitchFamily="34" charset="-122"/>
                <a:cs typeface="IBM Plex Sans" pitchFamily="34" charset="-120"/>
              </a:rPr>
              <a:t>Hina has worked on data systems for ten years, most of it in reporting and analytics for large operations. She owns the data side of our projects, from the pipelines to the dashboards people actually open.</a:t>
            </a:r>
            <a:endParaRPr lang="en-US" sz="1250" dirty="0"/>
          </a:p>
        </p:txBody>
      </p:sp>
      <p:sp>
        <p:nvSpPr>
          <p:cNvPr id="24" name="Text 22"/>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5" name="Text 23"/>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06 / 33</a:t>
            </a:r>
            <a:endParaRPr lang="en-US" sz="700" dirty="0"/>
          </a:p>
        </p:txBody>
      </p:sp>
    </p:spTree>
    <p:extLst>
      <p:ext uri="{BB962C8B-B14F-4D97-AF65-F5344CB8AC3E}">
        <p14:creationId xmlns:p14="http://schemas.microsoft.com/office/powerpoint/2010/main" val="2367040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05  CAPABILITIES</a:t>
            </a:r>
            <a:endParaRPr lang="en-US" sz="900" dirty="0"/>
          </a:p>
        </p:txBody>
      </p:sp>
      <p:sp>
        <p:nvSpPr>
          <p:cNvPr id="4" name="Text 2"/>
          <p:cNvSpPr/>
          <p:nvPr/>
        </p:nvSpPr>
        <p:spPr>
          <a:xfrm>
            <a:off x="640080" y="777240"/>
            <a:ext cx="4754880" cy="676655"/>
          </a:xfrm>
          <a:prstGeom prst="rect">
            <a:avLst/>
          </a:prstGeom>
          <a:noFill/>
          <a:ln/>
        </p:spPr>
        <p:txBody>
          <a:bodyPr wrap="square" lIns="0" tIns="0" rIns="0" bIns="0" rtlCol="0" anchor="t"/>
          <a:lstStyle/>
          <a:p>
            <a:pPr marL="0" indent="0">
              <a:buNone/>
            </a:pPr>
            <a:r>
              <a:rPr lang="en-US" sz="3400" b="1" dirty="0">
                <a:solidFill>
                  <a:srgbClr val="FFFFFF"/>
                </a:solidFill>
                <a:latin typeface="Space Grotesk" pitchFamily="34" charset="0"/>
                <a:ea typeface="Space Grotesk" pitchFamily="34" charset="-122"/>
                <a:cs typeface="Space Grotesk" pitchFamily="34" charset="-120"/>
              </a:rPr>
              <a:t>Capabilities</a:t>
            </a:r>
            <a:endParaRPr lang="en-US" sz="3400" dirty="0"/>
          </a:p>
        </p:txBody>
      </p:sp>
      <p:sp>
        <p:nvSpPr>
          <p:cNvPr id="5" name="Text 3"/>
          <p:cNvSpPr/>
          <p:nvPr/>
        </p:nvSpPr>
        <p:spPr>
          <a:xfrm>
            <a:off x="640080" y="1819656"/>
            <a:ext cx="3840480" cy="3511296"/>
          </a:xfrm>
          <a:prstGeom prst="rect">
            <a:avLst/>
          </a:prstGeom>
          <a:noFill/>
          <a:ln/>
        </p:spPr>
        <p:txBody>
          <a:bodyPr wrap="square" lIns="0" tIns="0" rIns="0" bIns="0" rtlCol="0" anchor="t"/>
          <a:lstStyle/>
          <a:p>
            <a:pPr marL="0" indent="0">
              <a:lnSpc>
                <a:spcPct val="125000"/>
              </a:lnSpc>
              <a:spcAft>
                <a:spcPts val="1800"/>
              </a:spcAft>
              <a:buNone/>
            </a:pPr>
            <a:r>
              <a:rPr lang="en-GB" sz="2200" b="1" dirty="0">
                <a:solidFill>
                  <a:srgbClr val="E8A33D"/>
                </a:solidFill>
                <a:latin typeface="IBM Plex Sans" pitchFamily="34" charset="0"/>
                <a:ea typeface="IBM Plex Sans" pitchFamily="34" charset="-122"/>
                <a:cs typeface="IBM Plex Sans" pitchFamily="34" charset="-120"/>
              </a:rPr>
              <a:t>Our Clients</a:t>
            </a:r>
            <a:r>
              <a:rPr lang="en-GB" sz="2200" dirty="0">
                <a:solidFill>
                  <a:srgbClr val="FFFFFF"/>
                </a:solidFill>
                <a:latin typeface="IBM Plex Sans" pitchFamily="34" charset="0"/>
                <a:ea typeface="IBM Plex Sans" pitchFamily="34" charset="-122"/>
                <a:cs typeface="IBM Plex Sans" pitchFamily="34" charset="-120"/>
              </a:rPr>
              <a:t> brought us a problem they couldn't solve in-house.</a:t>
            </a:r>
          </a:p>
          <a:p>
            <a:pPr marL="0" indent="0">
              <a:lnSpc>
                <a:spcPct val="125000"/>
              </a:lnSpc>
              <a:spcAft>
                <a:spcPts val="1000"/>
              </a:spcAft>
              <a:buNone/>
            </a:pPr>
            <a:r>
              <a:rPr lang="en-GB" sz="1600" dirty="0">
                <a:solidFill>
                  <a:srgbClr val="B6B7B8"/>
                </a:solidFill>
                <a:latin typeface="IBM Plex Sans" pitchFamily="34" charset="0"/>
                <a:ea typeface="IBM Plex Sans" pitchFamily="34" charset="-122"/>
                <a:cs typeface="IBM Plex Sans" pitchFamily="34" charset="-120"/>
              </a:rPr>
              <a:t>Each case study that follows sets out what was wrong, what we built and what changed.</a:t>
            </a:r>
          </a:p>
          <a:p>
            <a:pPr marL="0" indent="0">
              <a:lnSpc>
                <a:spcPct val="125000"/>
              </a:lnSpc>
              <a:spcAft>
                <a:spcPts val="0"/>
              </a:spcAft>
              <a:buNone/>
            </a:pPr>
            <a:r>
              <a:rPr lang="en-GB" sz="1600" b="1" dirty="0">
                <a:solidFill>
                  <a:srgbClr val="B6B7B8"/>
                </a:solidFill>
                <a:latin typeface="IBM Plex Sans" pitchFamily="34" charset="0"/>
                <a:ea typeface="IBM Plex Sans" pitchFamily="34" charset="-122"/>
                <a:cs typeface="IBM Plex Sans" pitchFamily="34" charset="-120"/>
              </a:rPr>
              <a:t>Find the one that looks like yours.</a:t>
            </a:r>
          </a:p>
        </p:txBody>
      </p:sp>
      <p:sp>
        <p:nvSpPr>
          <p:cNvPr id="6" name="Shape 4"/>
          <p:cNvSpPr/>
          <p:nvPr/>
        </p:nvSpPr>
        <p:spPr>
          <a:xfrm>
            <a:off x="5394960" y="1819656"/>
            <a:ext cx="6156655" cy="0"/>
          </a:xfrm>
          <a:prstGeom prst="line">
            <a:avLst/>
          </a:prstGeom>
          <a:noFill/>
          <a:ln w="9525">
            <a:solidFill>
              <a:srgbClr val="2E3033"/>
            </a:solidFill>
            <a:prstDash val="solid"/>
          </a:ln>
        </p:spPr>
        <p:txBody>
          <a:bodyPr/>
          <a:lstStyle/>
          <a:p>
            <a:endParaRPr lang="en-PK"/>
          </a:p>
        </p:txBody>
      </p:sp>
      <p:sp>
        <p:nvSpPr>
          <p:cNvPr id="7" name="Text 5"/>
          <p:cNvSpPr/>
          <p:nvPr/>
        </p:nvSpPr>
        <p:spPr>
          <a:xfrm>
            <a:off x="5394960" y="2093976"/>
            <a:ext cx="457200" cy="274320"/>
          </a:xfrm>
          <a:prstGeom prst="rect">
            <a:avLst/>
          </a:prstGeom>
          <a:noFill/>
          <a:ln/>
        </p:spPr>
        <p:txBody>
          <a:bodyPr wrap="square" lIns="0" tIns="0" rIns="0" bIns="0" rtlCol="0" anchor="t"/>
          <a:lstStyle/>
          <a:p>
            <a:pPr marL="0" indent="0">
              <a:buNone/>
            </a:pPr>
            <a:r>
              <a:rPr lang="en-US" sz="1000" dirty="0">
                <a:solidFill>
                  <a:srgbClr val="E8A33D"/>
                </a:solidFill>
                <a:latin typeface="IBM Plex Mono" pitchFamily="34" charset="0"/>
                <a:ea typeface="IBM Plex Mono" pitchFamily="34" charset="-122"/>
                <a:cs typeface="IBM Plex Mono" pitchFamily="34" charset="-120"/>
              </a:rPr>
              <a:t>01</a:t>
            </a:r>
            <a:endParaRPr lang="en-US" sz="1000" dirty="0"/>
          </a:p>
        </p:txBody>
      </p:sp>
      <p:sp>
        <p:nvSpPr>
          <p:cNvPr id="8" name="Text 6"/>
          <p:cNvSpPr/>
          <p:nvPr/>
        </p:nvSpPr>
        <p:spPr>
          <a:xfrm>
            <a:off x="5943600" y="2039112"/>
            <a:ext cx="3840480" cy="365760"/>
          </a:xfrm>
          <a:prstGeom prst="rect">
            <a:avLst/>
          </a:prstGeom>
          <a:noFill/>
          <a:ln/>
        </p:spPr>
        <p:txBody>
          <a:bodyPr wrap="square" lIns="0" tIns="0" rIns="0" bIns="0" rtlCol="0" anchor="t"/>
          <a:lstStyle/>
          <a:p>
            <a:pPr marL="0" indent="0">
              <a:buNone/>
            </a:pPr>
            <a:r>
              <a:rPr lang="en-US" sz="2100" b="1" dirty="0">
                <a:solidFill>
                  <a:srgbClr val="FFFFFF"/>
                </a:solidFill>
                <a:latin typeface="Space Grotesk" pitchFamily="34" charset="0"/>
                <a:ea typeface="Space Grotesk" pitchFamily="34" charset="-122"/>
                <a:cs typeface="Space Grotesk" pitchFamily="34" charset="-120"/>
              </a:rPr>
              <a:t>AI and business automation</a:t>
            </a:r>
            <a:endParaRPr lang="en-US" sz="2100" dirty="0"/>
          </a:p>
        </p:txBody>
      </p:sp>
      <p:sp>
        <p:nvSpPr>
          <p:cNvPr id="9" name="Text 7"/>
          <p:cNvSpPr/>
          <p:nvPr/>
        </p:nvSpPr>
        <p:spPr>
          <a:xfrm>
            <a:off x="5943600" y="2386584"/>
            <a:ext cx="3840480" cy="182880"/>
          </a:xfrm>
          <a:prstGeom prst="rect">
            <a:avLst/>
          </a:prstGeom>
          <a:noFill/>
          <a:ln/>
        </p:spPr>
        <p:txBody>
          <a:bodyPr wrap="square" lIns="0" tIns="0" rIns="0" bIns="0" rtlCol="0" anchor="t"/>
          <a:lstStyle/>
          <a:p>
            <a:pPr marL="0" indent="0">
              <a:buNone/>
            </a:pPr>
            <a:r>
              <a:rPr lang="en-US" sz="750" b="1" kern="0" spc="150" dirty="0">
                <a:solidFill>
                  <a:srgbClr val="E8A33D"/>
                </a:solidFill>
                <a:latin typeface="IBM Plex Mono" pitchFamily="34" charset="0"/>
                <a:ea typeface="IBM Plex Mono" pitchFamily="34" charset="-122"/>
                <a:cs typeface="IBM Plex Mono" pitchFamily="34" charset="-120"/>
              </a:rPr>
              <a:t>LEAD PRACTICE</a:t>
            </a:r>
            <a:endParaRPr lang="en-US" sz="750" dirty="0"/>
          </a:p>
        </p:txBody>
      </p:sp>
      <p:sp>
        <p:nvSpPr>
          <p:cNvPr id="10" name="Shape 8"/>
          <p:cNvSpPr/>
          <p:nvPr/>
        </p:nvSpPr>
        <p:spPr>
          <a:xfrm>
            <a:off x="9692641" y="2185416"/>
            <a:ext cx="761695" cy="64008"/>
          </a:xfrm>
          <a:prstGeom prst="rect">
            <a:avLst/>
          </a:prstGeom>
          <a:solidFill>
            <a:srgbClr val="191B1C"/>
          </a:solidFill>
          <a:ln/>
        </p:spPr>
        <p:txBody>
          <a:bodyPr/>
          <a:lstStyle/>
          <a:p>
            <a:endParaRPr lang="en-PK"/>
          </a:p>
        </p:txBody>
      </p:sp>
      <p:sp>
        <p:nvSpPr>
          <p:cNvPr id="11" name="Shape 9"/>
          <p:cNvSpPr/>
          <p:nvPr/>
        </p:nvSpPr>
        <p:spPr>
          <a:xfrm>
            <a:off x="9692641" y="2185416"/>
            <a:ext cx="761694" cy="64008"/>
          </a:xfrm>
          <a:prstGeom prst="rect">
            <a:avLst/>
          </a:prstGeom>
          <a:solidFill>
            <a:srgbClr val="E8A33D"/>
          </a:solidFill>
          <a:ln/>
        </p:spPr>
        <p:txBody>
          <a:bodyPr/>
          <a:lstStyle/>
          <a:p>
            <a:endParaRPr lang="en-PK"/>
          </a:p>
        </p:txBody>
      </p:sp>
      <p:sp>
        <p:nvSpPr>
          <p:cNvPr id="12" name="Text 10"/>
          <p:cNvSpPr/>
          <p:nvPr/>
        </p:nvSpPr>
        <p:spPr>
          <a:xfrm>
            <a:off x="10865815" y="1984248"/>
            <a:ext cx="685800" cy="411480"/>
          </a:xfrm>
          <a:prstGeom prst="rect">
            <a:avLst/>
          </a:prstGeom>
          <a:noFill/>
          <a:ln/>
        </p:spPr>
        <p:txBody>
          <a:bodyPr wrap="square" lIns="0" tIns="0" rIns="0" bIns="0" rtlCol="0" anchor="t"/>
          <a:lstStyle/>
          <a:p>
            <a:pPr marL="0" indent="0" algn="r">
              <a:buNone/>
            </a:pPr>
            <a:r>
              <a:rPr lang="en-US" sz="2400" b="1" dirty="0">
                <a:solidFill>
                  <a:srgbClr val="FFFFFF"/>
                </a:solidFill>
                <a:latin typeface="Space Grotesk" pitchFamily="34" charset="0"/>
                <a:ea typeface="Space Grotesk" pitchFamily="34" charset="-122"/>
                <a:cs typeface="Space Grotesk" pitchFamily="34" charset="-120"/>
              </a:rPr>
              <a:t>04</a:t>
            </a:r>
            <a:endParaRPr lang="en-US" sz="2400" dirty="0"/>
          </a:p>
        </p:txBody>
      </p:sp>
      <p:sp>
        <p:nvSpPr>
          <p:cNvPr id="13" name="Text 11"/>
          <p:cNvSpPr/>
          <p:nvPr/>
        </p:nvSpPr>
        <p:spPr>
          <a:xfrm>
            <a:off x="10362895" y="2386584"/>
            <a:ext cx="1188720" cy="182880"/>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CASE STUDIES</a:t>
            </a:r>
            <a:endParaRPr lang="en-US" sz="700" dirty="0"/>
          </a:p>
        </p:txBody>
      </p:sp>
      <p:sp>
        <p:nvSpPr>
          <p:cNvPr id="14" name="Shape 12"/>
          <p:cNvSpPr/>
          <p:nvPr/>
        </p:nvSpPr>
        <p:spPr>
          <a:xfrm>
            <a:off x="5394960" y="2697480"/>
            <a:ext cx="6156655" cy="0"/>
          </a:xfrm>
          <a:prstGeom prst="line">
            <a:avLst/>
          </a:prstGeom>
          <a:noFill/>
          <a:ln w="9525">
            <a:solidFill>
              <a:srgbClr val="2E3033"/>
            </a:solidFill>
            <a:prstDash val="solid"/>
          </a:ln>
        </p:spPr>
        <p:txBody>
          <a:bodyPr/>
          <a:lstStyle/>
          <a:p>
            <a:endParaRPr lang="en-PK"/>
          </a:p>
        </p:txBody>
      </p:sp>
      <p:sp>
        <p:nvSpPr>
          <p:cNvPr id="22" name="Text 20"/>
          <p:cNvSpPr/>
          <p:nvPr/>
        </p:nvSpPr>
        <p:spPr>
          <a:xfrm>
            <a:off x="5394960" y="2971800"/>
            <a:ext cx="457200" cy="274320"/>
          </a:xfrm>
          <a:prstGeom prst="rect">
            <a:avLst/>
          </a:prstGeom>
          <a:noFill/>
          <a:ln/>
        </p:spPr>
        <p:txBody>
          <a:bodyPr wrap="square" lIns="0" tIns="0" rIns="0" bIns="0" rtlCol="0" anchor="t"/>
          <a:lstStyle/>
          <a:p>
            <a:pPr marL="0" indent="0">
              <a:buNone/>
            </a:pPr>
            <a:r>
              <a:rPr lang="en-US" sz="1000" dirty="0">
                <a:solidFill>
                  <a:srgbClr val="E8A33D"/>
                </a:solidFill>
                <a:latin typeface="IBM Plex Mono" pitchFamily="34" charset="0"/>
                <a:ea typeface="IBM Plex Mono" pitchFamily="34" charset="-122"/>
                <a:cs typeface="IBM Plex Mono" pitchFamily="34" charset="-120"/>
              </a:rPr>
              <a:t>03</a:t>
            </a:r>
            <a:endParaRPr lang="en-US" sz="1000" dirty="0"/>
          </a:p>
        </p:txBody>
      </p:sp>
      <p:sp>
        <p:nvSpPr>
          <p:cNvPr id="23" name="Text 21"/>
          <p:cNvSpPr/>
          <p:nvPr/>
        </p:nvSpPr>
        <p:spPr>
          <a:xfrm>
            <a:off x="5943600" y="2916936"/>
            <a:ext cx="3840480" cy="365760"/>
          </a:xfrm>
          <a:prstGeom prst="rect">
            <a:avLst/>
          </a:prstGeom>
          <a:noFill/>
          <a:ln/>
        </p:spPr>
        <p:txBody>
          <a:bodyPr wrap="square" lIns="0" tIns="0" rIns="0" bIns="0" rtlCol="0" anchor="t"/>
          <a:lstStyle/>
          <a:p>
            <a:pPr marL="0" indent="0">
              <a:buNone/>
            </a:pPr>
            <a:r>
              <a:rPr lang="en-US" sz="2100" b="1" dirty="0">
                <a:solidFill>
                  <a:srgbClr val="FFFFFF"/>
                </a:solidFill>
                <a:latin typeface="Space Grotesk" pitchFamily="34" charset="0"/>
                <a:ea typeface="Space Grotesk" pitchFamily="34" charset="-122"/>
                <a:cs typeface="Space Grotesk" pitchFamily="34" charset="-120"/>
              </a:rPr>
              <a:t>Software development</a:t>
            </a:r>
            <a:endParaRPr lang="en-US" sz="2100" dirty="0"/>
          </a:p>
        </p:txBody>
      </p:sp>
      <p:sp>
        <p:nvSpPr>
          <p:cNvPr id="24" name="Shape 22"/>
          <p:cNvSpPr/>
          <p:nvPr/>
        </p:nvSpPr>
        <p:spPr>
          <a:xfrm>
            <a:off x="9692641" y="3063240"/>
            <a:ext cx="761695" cy="64008"/>
          </a:xfrm>
          <a:prstGeom prst="rect">
            <a:avLst/>
          </a:prstGeom>
          <a:solidFill>
            <a:srgbClr val="191B1C"/>
          </a:solidFill>
          <a:ln/>
        </p:spPr>
        <p:txBody>
          <a:bodyPr/>
          <a:lstStyle/>
          <a:p>
            <a:endParaRPr lang="en-PK"/>
          </a:p>
        </p:txBody>
      </p:sp>
      <p:sp>
        <p:nvSpPr>
          <p:cNvPr id="25" name="Shape 23"/>
          <p:cNvSpPr/>
          <p:nvPr/>
        </p:nvSpPr>
        <p:spPr>
          <a:xfrm>
            <a:off x="9692641" y="3063240"/>
            <a:ext cx="571271" cy="64008"/>
          </a:xfrm>
          <a:prstGeom prst="rect">
            <a:avLst/>
          </a:prstGeom>
          <a:solidFill>
            <a:srgbClr val="E8A33D"/>
          </a:solidFill>
          <a:ln/>
        </p:spPr>
        <p:txBody>
          <a:bodyPr/>
          <a:lstStyle/>
          <a:p>
            <a:endParaRPr lang="en-PK"/>
          </a:p>
        </p:txBody>
      </p:sp>
      <p:sp>
        <p:nvSpPr>
          <p:cNvPr id="26" name="Text 24"/>
          <p:cNvSpPr/>
          <p:nvPr/>
        </p:nvSpPr>
        <p:spPr>
          <a:xfrm>
            <a:off x="10865815" y="2862072"/>
            <a:ext cx="685800" cy="411480"/>
          </a:xfrm>
          <a:prstGeom prst="rect">
            <a:avLst/>
          </a:prstGeom>
          <a:noFill/>
          <a:ln/>
        </p:spPr>
        <p:txBody>
          <a:bodyPr wrap="square" lIns="0" tIns="0" rIns="0" bIns="0" rtlCol="0" anchor="t"/>
          <a:lstStyle/>
          <a:p>
            <a:pPr marL="0" indent="0" algn="r">
              <a:buNone/>
            </a:pPr>
            <a:r>
              <a:rPr lang="en-US" sz="2400" b="1" dirty="0">
                <a:solidFill>
                  <a:srgbClr val="FFFFFF"/>
                </a:solidFill>
                <a:latin typeface="Space Grotesk" pitchFamily="34" charset="0"/>
                <a:ea typeface="Space Grotesk" pitchFamily="34" charset="-122"/>
                <a:cs typeface="Space Grotesk" pitchFamily="34" charset="-120"/>
              </a:rPr>
              <a:t>03</a:t>
            </a:r>
            <a:endParaRPr lang="en-US" sz="2400" dirty="0"/>
          </a:p>
        </p:txBody>
      </p:sp>
      <p:sp>
        <p:nvSpPr>
          <p:cNvPr id="27" name="Text 25"/>
          <p:cNvSpPr/>
          <p:nvPr/>
        </p:nvSpPr>
        <p:spPr>
          <a:xfrm>
            <a:off x="10362895" y="3264408"/>
            <a:ext cx="1188720" cy="182880"/>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CASE STUDIES</a:t>
            </a:r>
            <a:endParaRPr lang="en-US" sz="700" dirty="0"/>
          </a:p>
        </p:txBody>
      </p:sp>
      <p:sp>
        <p:nvSpPr>
          <p:cNvPr id="28" name="Shape 26"/>
          <p:cNvSpPr/>
          <p:nvPr/>
        </p:nvSpPr>
        <p:spPr>
          <a:xfrm>
            <a:off x="5394960" y="3575304"/>
            <a:ext cx="6156655" cy="0"/>
          </a:xfrm>
          <a:prstGeom prst="line">
            <a:avLst/>
          </a:prstGeom>
          <a:noFill/>
          <a:ln w="9525">
            <a:solidFill>
              <a:srgbClr val="2E3033"/>
            </a:solidFill>
            <a:prstDash val="solid"/>
          </a:ln>
        </p:spPr>
        <p:txBody>
          <a:bodyPr/>
          <a:lstStyle/>
          <a:p>
            <a:endParaRPr lang="en-PK"/>
          </a:p>
        </p:txBody>
      </p:sp>
      <p:sp>
        <p:nvSpPr>
          <p:cNvPr id="29" name="Text 27"/>
          <p:cNvSpPr/>
          <p:nvPr/>
        </p:nvSpPr>
        <p:spPr>
          <a:xfrm>
            <a:off x="5394960" y="3849624"/>
            <a:ext cx="457200" cy="274320"/>
          </a:xfrm>
          <a:prstGeom prst="rect">
            <a:avLst/>
          </a:prstGeom>
          <a:noFill/>
          <a:ln/>
        </p:spPr>
        <p:txBody>
          <a:bodyPr wrap="square" lIns="0" tIns="0" rIns="0" bIns="0" rtlCol="0" anchor="t"/>
          <a:lstStyle/>
          <a:p>
            <a:pPr marL="0" indent="0">
              <a:buNone/>
            </a:pPr>
            <a:r>
              <a:rPr lang="en-US" sz="1000" dirty="0">
                <a:solidFill>
                  <a:srgbClr val="E8A33D"/>
                </a:solidFill>
                <a:latin typeface="IBM Plex Mono" pitchFamily="34" charset="0"/>
                <a:ea typeface="IBM Plex Mono" pitchFamily="34" charset="-122"/>
                <a:cs typeface="IBM Plex Mono" pitchFamily="34" charset="-120"/>
              </a:rPr>
              <a:t>04</a:t>
            </a:r>
            <a:endParaRPr lang="en-US" sz="1000" dirty="0"/>
          </a:p>
        </p:txBody>
      </p:sp>
      <p:sp>
        <p:nvSpPr>
          <p:cNvPr id="30" name="Text 28"/>
          <p:cNvSpPr/>
          <p:nvPr/>
        </p:nvSpPr>
        <p:spPr>
          <a:xfrm>
            <a:off x="5943600" y="3794760"/>
            <a:ext cx="3840480" cy="365760"/>
          </a:xfrm>
          <a:prstGeom prst="rect">
            <a:avLst/>
          </a:prstGeom>
          <a:noFill/>
          <a:ln/>
        </p:spPr>
        <p:txBody>
          <a:bodyPr wrap="square" lIns="0" tIns="0" rIns="0" bIns="0" rtlCol="0" anchor="t"/>
          <a:lstStyle/>
          <a:p>
            <a:pPr marL="0" indent="0">
              <a:buNone/>
            </a:pPr>
            <a:r>
              <a:rPr lang="en-US" sz="2100" b="1" dirty="0">
                <a:solidFill>
                  <a:srgbClr val="FFFFFF"/>
                </a:solidFill>
                <a:latin typeface="Space Grotesk" pitchFamily="34" charset="0"/>
                <a:ea typeface="Space Grotesk" pitchFamily="34" charset="-122"/>
                <a:cs typeface="Space Grotesk" pitchFamily="34" charset="-120"/>
              </a:rPr>
              <a:t>Data analytics</a:t>
            </a:r>
            <a:endParaRPr lang="en-US" sz="2100" dirty="0"/>
          </a:p>
        </p:txBody>
      </p:sp>
      <p:sp>
        <p:nvSpPr>
          <p:cNvPr id="31" name="Shape 29"/>
          <p:cNvSpPr/>
          <p:nvPr/>
        </p:nvSpPr>
        <p:spPr>
          <a:xfrm>
            <a:off x="9692641" y="3941064"/>
            <a:ext cx="761695" cy="64008"/>
          </a:xfrm>
          <a:prstGeom prst="rect">
            <a:avLst/>
          </a:prstGeom>
          <a:solidFill>
            <a:srgbClr val="191B1C"/>
          </a:solidFill>
          <a:ln/>
        </p:spPr>
        <p:txBody>
          <a:bodyPr/>
          <a:lstStyle/>
          <a:p>
            <a:endParaRPr lang="en-PK"/>
          </a:p>
        </p:txBody>
      </p:sp>
      <p:sp>
        <p:nvSpPr>
          <p:cNvPr id="32" name="Shape 30"/>
          <p:cNvSpPr/>
          <p:nvPr/>
        </p:nvSpPr>
        <p:spPr>
          <a:xfrm>
            <a:off x="9692641" y="3941064"/>
            <a:ext cx="761695" cy="64008"/>
          </a:xfrm>
          <a:prstGeom prst="rect">
            <a:avLst/>
          </a:prstGeom>
          <a:solidFill>
            <a:srgbClr val="E8A33D"/>
          </a:solidFill>
          <a:ln/>
        </p:spPr>
        <p:txBody>
          <a:bodyPr/>
          <a:lstStyle/>
          <a:p>
            <a:endParaRPr lang="en-PK"/>
          </a:p>
        </p:txBody>
      </p:sp>
      <p:sp>
        <p:nvSpPr>
          <p:cNvPr id="33" name="Text 31"/>
          <p:cNvSpPr/>
          <p:nvPr/>
        </p:nvSpPr>
        <p:spPr>
          <a:xfrm>
            <a:off x="10865815" y="3739896"/>
            <a:ext cx="685800" cy="411480"/>
          </a:xfrm>
          <a:prstGeom prst="rect">
            <a:avLst/>
          </a:prstGeom>
          <a:noFill/>
          <a:ln/>
        </p:spPr>
        <p:txBody>
          <a:bodyPr wrap="square" lIns="0" tIns="0" rIns="0" bIns="0" rtlCol="0" anchor="t"/>
          <a:lstStyle/>
          <a:p>
            <a:pPr marL="0" indent="0" algn="r">
              <a:buNone/>
            </a:pPr>
            <a:r>
              <a:rPr lang="en-US" sz="2400" b="1" dirty="0">
                <a:solidFill>
                  <a:srgbClr val="FFFFFF"/>
                </a:solidFill>
                <a:latin typeface="Space Grotesk" pitchFamily="34" charset="0"/>
                <a:ea typeface="Space Grotesk" pitchFamily="34" charset="-122"/>
                <a:cs typeface="Space Grotesk" pitchFamily="34" charset="-120"/>
              </a:rPr>
              <a:t>04</a:t>
            </a:r>
            <a:endParaRPr lang="en-US" sz="2400" dirty="0"/>
          </a:p>
        </p:txBody>
      </p:sp>
      <p:sp>
        <p:nvSpPr>
          <p:cNvPr id="34" name="Text 32"/>
          <p:cNvSpPr/>
          <p:nvPr/>
        </p:nvSpPr>
        <p:spPr>
          <a:xfrm>
            <a:off x="10362895" y="4142232"/>
            <a:ext cx="1188720" cy="182880"/>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CASE STUDIES</a:t>
            </a:r>
            <a:endParaRPr lang="en-US" sz="700" dirty="0"/>
          </a:p>
        </p:txBody>
      </p:sp>
      <p:sp>
        <p:nvSpPr>
          <p:cNvPr id="35" name="Shape 33"/>
          <p:cNvSpPr/>
          <p:nvPr/>
        </p:nvSpPr>
        <p:spPr>
          <a:xfrm>
            <a:off x="5394960" y="4453128"/>
            <a:ext cx="6156655" cy="0"/>
          </a:xfrm>
          <a:prstGeom prst="line">
            <a:avLst/>
          </a:prstGeom>
          <a:noFill/>
          <a:ln w="9525">
            <a:solidFill>
              <a:srgbClr val="2E3033"/>
            </a:solidFill>
            <a:prstDash val="solid"/>
          </a:ln>
        </p:spPr>
        <p:txBody>
          <a:bodyPr/>
          <a:lstStyle/>
          <a:p>
            <a:endParaRPr lang="en-PK"/>
          </a:p>
        </p:txBody>
      </p:sp>
      <p:sp>
        <p:nvSpPr>
          <p:cNvPr id="36" name="Text 34"/>
          <p:cNvSpPr/>
          <p:nvPr/>
        </p:nvSpPr>
        <p:spPr>
          <a:xfrm>
            <a:off x="5394960" y="4727448"/>
            <a:ext cx="457200" cy="274320"/>
          </a:xfrm>
          <a:prstGeom prst="rect">
            <a:avLst/>
          </a:prstGeom>
          <a:noFill/>
          <a:ln/>
        </p:spPr>
        <p:txBody>
          <a:bodyPr wrap="square" lIns="0" tIns="0" rIns="0" bIns="0" rtlCol="0" anchor="t"/>
          <a:lstStyle/>
          <a:p>
            <a:pPr marL="0" indent="0">
              <a:buNone/>
            </a:pPr>
            <a:r>
              <a:rPr lang="en-US" sz="1000" dirty="0">
                <a:solidFill>
                  <a:srgbClr val="E8A33D"/>
                </a:solidFill>
                <a:latin typeface="IBM Plex Mono" pitchFamily="34" charset="0"/>
                <a:ea typeface="IBM Plex Mono" pitchFamily="34" charset="-122"/>
                <a:cs typeface="IBM Plex Mono" pitchFamily="34" charset="-120"/>
              </a:rPr>
              <a:t>05</a:t>
            </a:r>
            <a:endParaRPr lang="en-US" sz="1000" dirty="0"/>
          </a:p>
        </p:txBody>
      </p:sp>
      <p:sp>
        <p:nvSpPr>
          <p:cNvPr id="37" name="Text 35"/>
          <p:cNvSpPr/>
          <p:nvPr/>
        </p:nvSpPr>
        <p:spPr>
          <a:xfrm>
            <a:off x="5943600" y="4672584"/>
            <a:ext cx="3840480" cy="365760"/>
          </a:xfrm>
          <a:prstGeom prst="rect">
            <a:avLst/>
          </a:prstGeom>
          <a:noFill/>
          <a:ln/>
        </p:spPr>
        <p:txBody>
          <a:bodyPr wrap="square" lIns="0" tIns="0" rIns="0" bIns="0" rtlCol="0" anchor="t"/>
          <a:lstStyle/>
          <a:p>
            <a:pPr marL="0" indent="0">
              <a:buNone/>
            </a:pPr>
            <a:r>
              <a:rPr lang="en-US" sz="2100" b="1" dirty="0">
                <a:solidFill>
                  <a:srgbClr val="FFFFFF"/>
                </a:solidFill>
                <a:latin typeface="Space Grotesk" pitchFamily="34" charset="0"/>
                <a:ea typeface="Space Grotesk" pitchFamily="34" charset="-122"/>
                <a:cs typeface="Space Grotesk" pitchFamily="34" charset="-120"/>
              </a:rPr>
              <a:t>Cyber security</a:t>
            </a:r>
            <a:endParaRPr lang="en-US" sz="2100" dirty="0"/>
          </a:p>
        </p:txBody>
      </p:sp>
      <p:sp>
        <p:nvSpPr>
          <p:cNvPr id="38" name="Shape 36"/>
          <p:cNvSpPr/>
          <p:nvPr/>
        </p:nvSpPr>
        <p:spPr>
          <a:xfrm>
            <a:off x="9692641" y="4818888"/>
            <a:ext cx="761695" cy="64008"/>
          </a:xfrm>
          <a:prstGeom prst="rect">
            <a:avLst/>
          </a:prstGeom>
          <a:solidFill>
            <a:srgbClr val="191B1C"/>
          </a:solidFill>
          <a:ln/>
        </p:spPr>
        <p:txBody>
          <a:bodyPr/>
          <a:lstStyle/>
          <a:p>
            <a:endParaRPr lang="en-PK"/>
          </a:p>
        </p:txBody>
      </p:sp>
      <p:sp>
        <p:nvSpPr>
          <p:cNvPr id="39" name="Shape 37"/>
          <p:cNvSpPr/>
          <p:nvPr/>
        </p:nvSpPr>
        <p:spPr>
          <a:xfrm>
            <a:off x="9692641" y="4818888"/>
            <a:ext cx="761695" cy="64008"/>
          </a:xfrm>
          <a:prstGeom prst="rect">
            <a:avLst/>
          </a:prstGeom>
          <a:solidFill>
            <a:srgbClr val="E8A33D"/>
          </a:solidFill>
          <a:ln/>
        </p:spPr>
        <p:txBody>
          <a:bodyPr/>
          <a:lstStyle/>
          <a:p>
            <a:endParaRPr lang="en-PK"/>
          </a:p>
        </p:txBody>
      </p:sp>
      <p:sp>
        <p:nvSpPr>
          <p:cNvPr id="40" name="Text 38"/>
          <p:cNvSpPr/>
          <p:nvPr/>
        </p:nvSpPr>
        <p:spPr>
          <a:xfrm>
            <a:off x="10865815" y="4617720"/>
            <a:ext cx="685800" cy="411480"/>
          </a:xfrm>
          <a:prstGeom prst="rect">
            <a:avLst/>
          </a:prstGeom>
          <a:noFill/>
          <a:ln/>
        </p:spPr>
        <p:txBody>
          <a:bodyPr wrap="square" lIns="0" tIns="0" rIns="0" bIns="0" rtlCol="0" anchor="t"/>
          <a:lstStyle/>
          <a:p>
            <a:pPr marL="0" indent="0" algn="r">
              <a:buNone/>
            </a:pPr>
            <a:r>
              <a:rPr lang="en-US" sz="2400" b="1" dirty="0">
                <a:solidFill>
                  <a:srgbClr val="FFFFFF"/>
                </a:solidFill>
                <a:latin typeface="Space Grotesk" pitchFamily="34" charset="0"/>
                <a:ea typeface="Space Grotesk" pitchFamily="34" charset="-122"/>
                <a:cs typeface="Space Grotesk" pitchFamily="34" charset="-120"/>
              </a:rPr>
              <a:t>04</a:t>
            </a:r>
            <a:endParaRPr lang="en-US" sz="2400" dirty="0"/>
          </a:p>
        </p:txBody>
      </p:sp>
      <p:sp>
        <p:nvSpPr>
          <p:cNvPr id="41" name="Text 39"/>
          <p:cNvSpPr/>
          <p:nvPr/>
        </p:nvSpPr>
        <p:spPr>
          <a:xfrm>
            <a:off x="10362895" y="5020056"/>
            <a:ext cx="1188720" cy="182880"/>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CASE STUDIES</a:t>
            </a:r>
            <a:endParaRPr lang="en-US" sz="700" dirty="0"/>
          </a:p>
        </p:txBody>
      </p:sp>
      <p:sp>
        <p:nvSpPr>
          <p:cNvPr id="42" name="Shape 40"/>
          <p:cNvSpPr/>
          <p:nvPr/>
        </p:nvSpPr>
        <p:spPr>
          <a:xfrm>
            <a:off x="5394960" y="5330952"/>
            <a:ext cx="6156655" cy="0"/>
          </a:xfrm>
          <a:prstGeom prst="line">
            <a:avLst/>
          </a:prstGeom>
          <a:noFill/>
          <a:ln w="9525">
            <a:solidFill>
              <a:srgbClr val="2E3033"/>
            </a:solidFill>
            <a:prstDash val="solid"/>
          </a:ln>
        </p:spPr>
        <p:txBody>
          <a:bodyPr/>
          <a:lstStyle/>
          <a:p>
            <a:endParaRPr lang="en-PK"/>
          </a:p>
        </p:txBody>
      </p:sp>
      <p:sp>
        <p:nvSpPr>
          <p:cNvPr id="43" name="Text 41"/>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44" name="Text 42"/>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05 / 30</a:t>
            </a:r>
            <a:endParaRPr lang="en-US" sz="700" dirty="0"/>
          </a:p>
        </p:txBody>
      </p:sp>
    </p:spTree>
    <p:extLst>
      <p:ext uri="{BB962C8B-B14F-4D97-AF65-F5344CB8AC3E}">
        <p14:creationId xmlns:p14="http://schemas.microsoft.com/office/powerpoint/2010/main" val="984791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05  CAPABILITIES  ·  01 / 04</a:t>
            </a:r>
            <a:endParaRPr lang="en-US" sz="900" dirty="0"/>
          </a:p>
        </p:txBody>
      </p:sp>
      <p:sp>
        <p:nvSpPr>
          <p:cNvPr id="4" name="Text 2"/>
          <p:cNvSpPr/>
          <p:nvPr/>
        </p:nvSpPr>
        <p:spPr>
          <a:xfrm>
            <a:off x="640080" y="777240"/>
            <a:ext cx="6035040" cy="685800"/>
          </a:xfrm>
          <a:prstGeom prst="rect">
            <a:avLst/>
          </a:prstGeom>
          <a:noFill/>
          <a:ln/>
        </p:spPr>
        <p:txBody>
          <a:bodyPr wrap="square" lIns="0" tIns="0" rIns="0" bIns="0" rtlCol="0" anchor="t"/>
          <a:lstStyle/>
          <a:p>
            <a:pPr marL="0" indent="0">
              <a:buNone/>
            </a:pPr>
            <a:r>
              <a:rPr lang="en-US" sz="3400" b="1" dirty="0">
                <a:solidFill>
                  <a:srgbClr val="14161A"/>
                </a:solidFill>
                <a:latin typeface="Space Grotesk" pitchFamily="34" charset="0"/>
                <a:ea typeface="Space Grotesk" pitchFamily="34" charset="-122"/>
                <a:cs typeface="Space Grotesk" pitchFamily="34" charset="-120"/>
              </a:rPr>
              <a:t>AI and business automation</a:t>
            </a:r>
            <a:endParaRPr lang="en-US" sz="3400" dirty="0"/>
          </a:p>
        </p:txBody>
      </p:sp>
      <p:sp>
        <p:nvSpPr>
          <p:cNvPr id="5" name="Text 3"/>
          <p:cNvSpPr/>
          <p:nvPr/>
        </p:nvSpPr>
        <p:spPr>
          <a:xfrm>
            <a:off x="640080" y="1572768"/>
            <a:ext cx="1234440" cy="237744"/>
          </a:xfrm>
          <a:prstGeom prst="roundRect">
            <a:avLst>
              <a:gd name="adj" fmla="val 15385"/>
            </a:avLst>
          </a:prstGeom>
          <a:solidFill>
            <a:srgbClr val="F0E2C8"/>
          </a:solidFill>
          <a:ln w="6350">
            <a:solidFill>
              <a:srgbClr val="8F5D0A"/>
            </a:solidFill>
          </a:ln>
        </p:spPr>
        <p:txBody>
          <a:bodyPr wrap="square" lIns="0" tIns="0" rIns="0" bIns="0" rtlCol="0" anchor="ctr"/>
          <a:lstStyle/>
          <a:p>
            <a:pPr marL="0" indent="0" algn="ctr">
              <a:buNone/>
            </a:pPr>
            <a:r>
              <a:rPr lang="en-US" sz="750" b="1" kern="0" spc="100" dirty="0">
                <a:solidFill>
                  <a:srgbClr val="8F5D0A"/>
                </a:solidFill>
                <a:latin typeface="IBM Plex Mono" pitchFamily="34" charset="0"/>
                <a:ea typeface="IBM Plex Mono" pitchFamily="34" charset="-122"/>
                <a:cs typeface="IBM Plex Mono" pitchFamily="34" charset="-120"/>
              </a:rPr>
              <a:t>LEAD PRACTICE</a:t>
            </a:r>
            <a:endParaRPr lang="en-US" sz="750" dirty="0"/>
          </a:p>
        </p:txBody>
      </p:sp>
      <p:sp>
        <p:nvSpPr>
          <p:cNvPr id="6" name="Text 4"/>
          <p:cNvSpPr/>
          <p:nvPr/>
        </p:nvSpPr>
        <p:spPr>
          <a:xfrm>
            <a:off x="640080" y="2011680"/>
            <a:ext cx="5029200" cy="1645919"/>
          </a:xfrm>
          <a:prstGeom prst="rect">
            <a:avLst/>
          </a:prstGeom>
          <a:noFill/>
          <a:ln/>
        </p:spPr>
        <p:txBody>
          <a:bodyPr wrap="square" lIns="0" tIns="0" rIns="0" bIns="0" rtlCol="0" anchor="t"/>
          <a:lstStyle/>
          <a:p>
            <a:pPr marL="0" indent="0">
              <a:lnSpc>
                <a:spcPct val="130000"/>
              </a:lnSpc>
              <a:buNone/>
            </a:pPr>
            <a:r>
              <a:rPr lang="en-US" sz="1400" dirty="0">
                <a:solidFill>
                  <a:srgbClr val="14161A"/>
                </a:solidFill>
                <a:latin typeface="IBM Plex Sans" pitchFamily="34" charset="0"/>
                <a:ea typeface="IBM Plex Sans" pitchFamily="34" charset="-122"/>
                <a:cs typeface="IBM Plex Sans" pitchFamily="34" charset="-120"/>
              </a:rPr>
              <a:t>Most offices have </a:t>
            </a:r>
            <a:r>
              <a:rPr lang="en-US" sz="1400" b="1" dirty="0">
                <a:solidFill>
                  <a:srgbClr val="14161A"/>
                </a:solidFill>
                <a:latin typeface="IBM Plex Sans" pitchFamily="34" charset="0"/>
                <a:ea typeface="IBM Plex Sans" pitchFamily="34" charset="-122"/>
                <a:cs typeface="IBM Plex Sans" pitchFamily="34" charset="-120"/>
              </a:rPr>
              <a:t>a job someone does by hand </a:t>
            </a:r>
            <a:r>
              <a:rPr lang="en-US" sz="1400" dirty="0">
                <a:solidFill>
                  <a:srgbClr val="14161A"/>
                </a:solidFill>
                <a:latin typeface="IBM Plex Sans" pitchFamily="34" charset="0"/>
                <a:ea typeface="IBM Plex Sans" pitchFamily="34" charset="-122"/>
                <a:cs typeface="IBM Plex Sans" pitchFamily="34" charset="-120"/>
              </a:rPr>
              <a:t>every day: copying numbers between two systems, chasing an approval, sending the same report every Monday. We find those jobs, build </a:t>
            </a:r>
            <a:r>
              <a:rPr lang="en-US" sz="1400" b="1" dirty="0">
                <a:solidFill>
                  <a:srgbClr val="14161A"/>
                </a:solidFill>
                <a:latin typeface="IBM Plex Sans" pitchFamily="34" charset="0"/>
                <a:ea typeface="IBM Plex Sans" pitchFamily="34" charset="-122"/>
                <a:cs typeface="IBM Plex Sans" pitchFamily="34" charset="-120"/>
              </a:rPr>
              <a:t>software that does them</a:t>
            </a:r>
            <a:r>
              <a:rPr lang="en-US" sz="1400" dirty="0">
                <a:solidFill>
                  <a:srgbClr val="14161A"/>
                </a:solidFill>
                <a:latin typeface="IBM Plex Sans" pitchFamily="34" charset="0"/>
                <a:ea typeface="IBM Plex Sans" pitchFamily="34" charset="-122"/>
                <a:cs typeface="IBM Plex Sans" pitchFamily="34" charset="-120"/>
              </a:rPr>
              <a:t>, and leave people in charge of the decisions that need judgement.</a:t>
            </a:r>
            <a:endParaRPr lang="en-US" sz="1400" dirty="0"/>
          </a:p>
        </p:txBody>
      </p:sp>
      <p:sp>
        <p:nvSpPr>
          <p:cNvPr id="7" name="Text 5"/>
          <p:cNvSpPr/>
          <p:nvPr/>
        </p:nvSpPr>
        <p:spPr>
          <a:xfrm>
            <a:off x="640080" y="3840480"/>
            <a:ext cx="5029200" cy="182880"/>
          </a:xfrm>
          <a:prstGeom prst="rect">
            <a:avLst/>
          </a:prstGeom>
          <a:noFill/>
          <a:ln/>
        </p:spPr>
        <p:txBody>
          <a:bodyPr wrap="square" lIns="0" tIns="0" rIns="0" bIns="0" rtlCol="0" anchor="t"/>
          <a:lstStyle/>
          <a:p>
            <a:pPr marL="0" indent="0">
              <a:buNone/>
            </a:pPr>
            <a:r>
              <a:rPr lang="en-US" sz="800" kern="0" spc="150" dirty="0">
                <a:solidFill>
                  <a:srgbClr val="6F6A5F"/>
                </a:solidFill>
                <a:latin typeface="IBM Plex Mono" pitchFamily="34" charset="0"/>
                <a:ea typeface="IBM Plex Mono" pitchFamily="34" charset="-122"/>
                <a:cs typeface="IBM Plex Mono" pitchFamily="34" charset="-120"/>
              </a:rPr>
              <a:t>CASE STUDIES THAT FOLLOW</a:t>
            </a:r>
            <a:endParaRPr lang="en-US" sz="800" dirty="0"/>
          </a:p>
        </p:txBody>
      </p:sp>
      <p:sp>
        <p:nvSpPr>
          <p:cNvPr id="8" name="Text 6"/>
          <p:cNvSpPr/>
          <p:nvPr/>
        </p:nvSpPr>
        <p:spPr>
          <a:xfrm>
            <a:off x="640080" y="4114800"/>
            <a:ext cx="5029200" cy="1107008"/>
          </a:xfrm>
          <a:prstGeom prst="rect">
            <a:avLst/>
          </a:prstGeom>
          <a:noFill/>
          <a:ln/>
        </p:spPr>
        <p:txBody>
          <a:bodyPr wrap="square" lIns="0" tIns="0" rIns="0" bIns="0" rtlCol="0" anchor="t"/>
          <a:lstStyle/>
          <a:p>
            <a:pPr marL="0" indent="0">
              <a:lnSpc>
                <a:spcPct val="130000"/>
              </a:lnSpc>
              <a:buNone/>
            </a:pPr>
            <a:r>
              <a:rPr lang="en-US" sz="1300" b="1" dirty="0">
                <a:solidFill>
                  <a:srgbClr val="8F5D0A"/>
                </a:solidFill>
                <a:latin typeface="Space Grotesk" pitchFamily="34" charset="0"/>
                <a:ea typeface="Space Grotesk" pitchFamily="34" charset="-122"/>
                <a:cs typeface="Space Grotesk" pitchFamily="34" charset="-120"/>
              </a:rPr>
              <a:t>Current by Logmate</a:t>
            </a:r>
          </a:p>
          <a:p>
            <a:pPr>
              <a:lnSpc>
                <a:spcPct val="130000"/>
              </a:lnSpc>
            </a:pPr>
            <a:r>
              <a:rPr lang="en-US" sz="1300" b="1" dirty="0">
                <a:solidFill>
                  <a:srgbClr val="8F5D0A"/>
                </a:solidFill>
                <a:latin typeface="Space Grotesk" pitchFamily="34" charset="0"/>
                <a:ea typeface="Space Grotesk" pitchFamily="34" charset="-122"/>
                <a:cs typeface="Space Grotesk" pitchFamily="34" charset="-120"/>
              </a:rPr>
              <a:t>Cortex Strike</a:t>
            </a:r>
            <a:endParaRPr lang="en-US" sz="1300" dirty="0"/>
          </a:p>
          <a:p>
            <a:pPr>
              <a:lnSpc>
                <a:spcPct val="130000"/>
              </a:lnSpc>
            </a:pPr>
            <a:r>
              <a:rPr lang="en-US" sz="1300" b="1" dirty="0">
                <a:solidFill>
                  <a:srgbClr val="8F5D0A"/>
                </a:solidFill>
                <a:latin typeface="Space Grotesk" pitchFamily="34" charset="0"/>
                <a:ea typeface="Space Grotesk" pitchFamily="34" charset="-122"/>
                <a:cs typeface="Space Grotesk" pitchFamily="34" charset="-120"/>
              </a:rPr>
              <a:t>EchoHunt</a:t>
            </a:r>
            <a:endParaRPr lang="en-US" sz="1300" dirty="0"/>
          </a:p>
          <a:p>
            <a:pPr>
              <a:lnSpc>
                <a:spcPct val="130000"/>
              </a:lnSpc>
            </a:pPr>
            <a:r>
              <a:rPr lang="en-US" sz="1300" b="1" dirty="0">
                <a:solidFill>
                  <a:srgbClr val="8F5D0A"/>
                </a:solidFill>
                <a:latin typeface="Space Grotesk" pitchFamily="34" charset="0"/>
                <a:ea typeface="Space Grotesk" pitchFamily="34" charset="-122"/>
                <a:cs typeface="Space Grotesk" pitchFamily="34" charset="-120"/>
              </a:rPr>
              <a:t>RetinaScan AI</a:t>
            </a:r>
            <a:endParaRPr lang="en-US" sz="1300" dirty="0"/>
          </a:p>
          <a:p>
            <a:pPr marL="0" indent="0">
              <a:lnSpc>
                <a:spcPct val="130000"/>
              </a:lnSpc>
              <a:buNone/>
            </a:pPr>
            <a:endParaRPr lang="en-US" sz="1300" dirty="0"/>
          </a:p>
        </p:txBody>
      </p:sp>
      <p:sp>
        <p:nvSpPr>
          <p:cNvPr id="9" name="Text 7"/>
          <p:cNvSpPr/>
          <p:nvPr/>
        </p:nvSpPr>
        <p:spPr>
          <a:xfrm>
            <a:off x="6263640" y="1627632"/>
            <a:ext cx="5287975" cy="182880"/>
          </a:xfrm>
          <a:prstGeom prst="rect">
            <a:avLst/>
          </a:prstGeom>
          <a:noFill/>
          <a:ln/>
        </p:spPr>
        <p:txBody>
          <a:bodyPr wrap="square" lIns="0" tIns="0" rIns="0" bIns="0" rtlCol="0" anchor="t"/>
          <a:lstStyle/>
          <a:p>
            <a:pPr marL="0" indent="0">
              <a:buNone/>
            </a:pPr>
            <a:r>
              <a:rPr lang="en-US" sz="800" kern="0" spc="150" dirty="0">
                <a:solidFill>
                  <a:srgbClr val="6F6A5F"/>
                </a:solidFill>
                <a:latin typeface="IBM Plex Mono" pitchFamily="34" charset="0"/>
                <a:ea typeface="IBM Plex Mono" pitchFamily="34" charset="-122"/>
                <a:cs typeface="IBM Plex Mono" pitchFamily="34" charset="-120"/>
              </a:rPr>
              <a:t>HOW WE HELP</a:t>
            </a:r>
            <a:endParaRPr lang="en-US" sz="800" dirty="0"/>
          </a:p>
        </p:txBody>
      </p:sp>
      <p:sp>
        <p:nvSpPr>
          <p:cNvPr id="10" name="Shape 8"/>
          <p:cNvSpPr/>
          <p:nvPr/>
        </p:nvSpPr>
        <p:spPr>
          <a:xfrm>
            <a:off x="6263640" y="1920240"/>
            <a:ext cx="5287975" cy="0"/>
          </a:xfrm>
          <a:prstGeom prst="line">
            <a:avLst/>
          </a:prstGeom>
          <a:noFill/>
          <a:ln w="9525">
            <a:solidFill>
              <a:srgbClr val="DCD8D0"/>
            </a:solidFill>
            <a:prstDash val="solid"/>
          </a:ln>
        </p:spPr>
        <p:txBody>
          <a:bodyPr/>
          <a:lstStyle/>
          <a:p>
            <a:endParaRPr lang="en-PK"/>
          </a:p>
        </p:txBody>
      </p:sp>
      <p:sp>
        <p:nvSpPr>
          <p:cNvPr id="11" name="Text 9"/>
          <p:cNvSpPr/>
          <p:nvPr/>
        </p:nvSpPr>
        <p:spPr>
          <a:xfrm>
            <a:off x="6263640" y="1920240"/>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01</a:t>
            </a:r>
            <a:endParaRPr lang="en-US" sz="900" dirty="0"/>
          </a:p>
        </p:txBody>
      </p:sp>
      <p:sp>
        <p:nvSpPr>
          <p:cNvPr id="12" name="Text 10"/>
          <p:cNvSpPr/>
          <p:nvPr/>
        </p:nvSpPr>
        <p:spPr>
          <a:xfrm>
            <a:off x="6720840" y="1920240"/>
            <a:ext cx="4830775" cy="658368"/>
          </a:xfrm>
          <a:prstGeom prst="rect">
            <a:avLst/>
          </a:prstGeom>
          <a:noFill/>
          <a:ln/>
        </p:spPr>
        <p:txBody>
          <a:bodyPr wrap="square" lIns="0" tIns="0" rIns="0" bIns="0" rtlCol="0" anchor="ctr"/>
          <a:lstStyle/>
          <a:p>
            <a:r>
              <a:rPr lang="en-PK" sz="1200" dirty="0"/>
              <a:t>Automate repetitive work that takes up your team's time</a:t>
            </a:r>
          </a:p>
        </p:txBody>
      </p:sp>
      <p:sp>
        <p:nvSpPr>
          <p:cNvPr id="13" name="Shape 11"/>
          <p:cNvSpPr/>
          <p:nvPr/>
        </p:nvSpPr>
        <p:spPr>
          <a:xfrm>
            <a:off x="6263640" y="2578608"/>
            <a:ext cx="5287975" cy="0"/>
          </a:xfrm>
          <a:prstGeom prst="line">
            <a:avLst/>
          </a:prstGeom>
          <a:noFill/>
          <a:ln w="9525">
            <a:solidFill>
              <a:srgbClr val="DCD8D0"/>
            </a:solidFill>
            <a:prstDash val="solid"/>
          </a:ln>
        </p:spPr>
        <p:txBody>
          <a:bodyPr/>
          <a:lstStyle/>
          <a:p>
            <a:endParaRPr lang="en-PK"/>
          </a:p>
        </p:txBody>
      </p:sp>
      <p:sp>
        <p:nvSpPr>
          <p:cNvPr id="14" name="Text 12"/>
          <p:cNvSpPr/>
          <p:nvPr/>
        </p:nvSpPr>
        <p:spPr>
          <a:xfrm>
            <a:off x="6263640" y="2578608"/>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02</a:t>
            </a:r>
            <a:endParaRPr lang="en-US" sz="900" dirty="0"/>
          </a:p>
        </p:txBody>
      </p:sp>
      <p:sp>
        <p:nvSpPr>
          <p:cNvPr id="15" name="Text 13"/>
          <p:cNvSpPr/>
          <p:nvPr/>
        </p:nvSpPr>
        <p:spPr>
          <a:xfrm>
            <a:off x="6720840" y="2578608"/>
            <a:ext cx="4830775" cy="658368"/>
          </a:xfrm>
          <a:prstGeom prst="rect">
            <a:avLst/>
          </a:prstGeom>
          <a:noFill/>
          <a:ln/>
        </p:spPr>
        <p:txBody>
          <a:bodyPr wrap="square" lIns="0" tIns="0" rIns="0" bIns="0" rtlCol="0" anchor="ctr"/>
          <a:lstStyle/>
          <a:p>
            <a:r>
              <a:rPr lang="en-PK" sz="1200" dirty="0"/>
              <a:t>Replace manual handoffs between people, spreadsheets, and systems</a:t>
            </a:r>
            <a:endParaRPr lang="en-US" sz="1200" dirty="0"/>
          </a:p>
        </p:txBody>
      </p:sp>
      <p:sp>
        <p:nvSpPr>
          <p:cNvPr id="16" name="Shape 14"/>
          <p:cNvSpPr/>
          <p:nvPr/>
        </p:nvSpPr>
        <p:spPr>
          <a:xfrm>
            <a:off x="6263640" y="3236976"/>
            <a:ext cx="5287975" cy="0"/>
          </a:xfrm>
          <a:prstGeom prst="line">
            <a:avLst/>
          </a:prstGeom>
          <a:noFill/>
          <a:ln w="9525">
            <a:solidFill>
              <a:srgbClr val="DCD8D0"/>
            </a:solidFill>
            <a:prstDash val="solid"/>
          </a:ln>
        </p:spPr>
        <p:txBody>
          <a:bodyPr/>
          <a:lstStyle/>
          <a:p>
            <a:endParaRPr lang="en-PK"/>
          </a:p>
        </p:txBody>
      </p:sp>
      <p:sp>
        <p:nvSpPr>
          <p:cNvPr id="17" name="Text 15"/>
          <p:cNvSpPr/>
          <p:nvPr/>
        </p:nvSpPr>
        <p:spPr>
          <a:xfrm>
            <a:off x="6263640" y="3236976"/>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03</a:t>
            </a:r>
            <a:endParaRPr lang="en-US" sz="900" dirty="0"/>
          </a:p>
        </p:txBody>
      </p:sp>
      <p:sp>
        <p:nvSpPr>
          <p:cNvPr id="18" name="Text 16"/>
          <p:cNvSpPr/>
          <p:nvPr/>
        </p:nvSpPr>
        <p:spPr>
          <a:xfrm>
            <a:off x="6720840" y="3236976"/>
            <a:ext cx="4830775" cy="658368"/>
          </a:xfrm>
          <a:prstGeom prst="rect">
            <a:avLst/>
          </a:prstGeom>
          <a:noFill/>
          <a:ln/>
        </p:spPr>
        <p:txBody>
          <a:bodyPr wrap="square" lIns="0" tIns="0" rIns="0" bIns="0" rtlCol="0" anchor="ctr"/>
          <a:lstStyle/>
          <a:p>
            <a:r>
              <a:rPr lang="en-PK" sz="1200" dirty="0"/>
              <a:t>Connect the software your business already relies on</a:t>
            </a:r>
            <a:endParaRPr lang="en-US" sz="1200" dirty="0"/>
          </a:p>
        </p:txBody>
      </p:sp>
      <p:sp>
        <p:nvSpPr>
          <p:cNvPr id="19" name="Shape 17"/>
          <p:cNvSpPr/>
          <p:nvPr/>
        </p:nvSpPr>
        <p:spPr>
          <a:xfrm>
            <a:off x="6263640" y="3895344"/>
            <a:ext cx="5287975" cy="0"/>
          </a:xfrm>
          <a:prstGeom prst="line">
            <a:avLst/>
          </a:prstGeom>
          <a:noFill/>
          <a:ln w="9525">
            <a:solidFill>
              <a:srgbClr val="DCD8D0"/>
            </a:solidFill>
            <a:prstDash val="solid"/>
          </a:ln>
        </p:spPr>
        <p:txBody>
          <a:bodyPr/>
          <a:lstStyle/>
          <a:p>
            <a:endParaRPr lang="en-PK"/>
          </a:p>
        </p:txBody>
      </p:sp>
      <p:sp>
        <p:nvSpPr>
          <p:cNvPr id="20" name="Text 18"/>
          <p:cNvSpPr/>
          <p:nvPr/>
        </p:nvSpPr>
        <p:spPr>
          <a:xfrm>
            <a:off x="6263640" y="3895344"/>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04</a:t>
            </a:r>
            <a:endParaRPr lang="en-US" sz="900" dirty="0"/>
          </a:p>
        </p:txBody>
      </p:sp>
      <p:sp>
        <p:nvSpPr>
          <p:cNvPr id="21" name="Text 19"/>
          <p:cNvSpPr/>
          <p:nvPr/>
        </p:nvSpPr>
        <p:spPr>
          <a:xfrm>
            <a:off x="6720840" y="3895344"/>
            <a:ext cx="4830775" cy="658368"/>
          </a:xfrm>
          <a:prstGeom prst="rect">
            <a:avLst/>
          </a:prstGeom>
          <a:noFill/>
          <a:ln/>
        </p:spPr>
        <p:txBody>
          <a:bodyPr wrap="square" lIns="0" tIns="0" rIns="0" bIns="0" rtlCol="0" anchor="ctr"/>
          <a:lstStyle/>
          <a:p>
            <a:r>
              <a:rPr lang="en-PK" sz="1200" dirty="0"/>
              <a:t>Create custom applications around your team's actual workflows</a:t>
            </a:r>
            <a:endParaRPr lang="en-US" sz="1200" dirty="0"/>
          </a:p>
        </p:txBody>
      </p:sp>
      <p:sp>
        <p:nvSpPr>
          <p:cNvPr id="22" name="Shape 20"/>
          <p:cNvSpPr/>
          <p:nvPr/>
        </p:nvSpPr>
        <p:spPr>
          <a:xfrm>
            <a:off x="6263640" y="4553712"/>
            <a:ext cx="5287975" cy="0"/>
          </a:xfrm>
          <a:prstGeom prst="line">
            <a:avLst/>
          </a:prstGeom>
          <a:noFill/>
          <a:ln w="9525">
            <a:solidFill>
              <a:srgbClr val="DCD8D0"/>
            </a:solidFill>
            <a:prstDash val="solid"/>
          </a:ln>
        </p:spPr>
        <p:txBody>
          <a:bodyPr/>
          <a:lstStyle/>
          <a:p>
            <a:endParaRPr lang="en-PK"/>
          </a:p>
        </p:txBody>
      </p:sp>
      <p:sp>
        <p:nvSpPr>
          <p:cNvPr id="23" name="Text 21"/>
          <p:cNvSpPr/>
          <p:nvPr/>
        </p:nvSpPr>
        <p:spPr>
          <a:xfrm>
            <a:off x="6263640" y="4553712"/>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05</a:t>
            </a:r>
            <a:endParaRPr lang="en-US" sz="900" dirty="0"/>
          </a:p>
        </p:txBody>
      </p:sp>
      <p:sp>
        <p:nvSpPr>
          <p:cNvPr id="24" name="Text 22"/>
          <p:cNvSpPr/>
          <p:nvPr/>
        </p:nvSpPr>
        <p:spPr>
          <a:xfrm>
            <a:off x="6720840" y="4553712"/>
            <a:ext cx="4830775" cy="658368"/>
          </a:xfrm>
          <a:prstGeom prst="rect">
            <a:avLst/>
          </a:prstGeom>
          <a:noFill/>
          <a:ln/>
        </p:spPr>
        <p:txBody>
          <a:bodyPr wrap="square" lIns="0" tIns="0" rIns="0" bIns="0" rtlCol="0" anchor="ctr"/>
          <a:lstStyle/>
          <a:p>
            <a:r>
              <a:rPr lang="en-PK" sz="1200" dirty="0"/>
              <a:t>Use AI where it can handle work that previously required a person</a:t>
            </a:r>
            <a:endParaRPr lang="en-US" sz="1200" dirty="0"/>
          </a:p>
        </p:txBody>
      </p:sp>
      <p:sp>
        <p:nvSpPr>
          <p:cNvPr id="25" name="Shape 23"/>
          <p:cNvSpPr/>
          <p:nvPr/>
        </p:nvSpPr>
        <p:spPr>
          <a:xfrm>
            <a:off x="6263640" y="5212080"/>
            <a:ext cx="5287975" cy="0"/>
          </a:xfrm>
          <a:prstGeom prst="line">
            <a:avLst/>
          </a:prstGeom>
          <a:noFill/>
          <a:ln w="9525">
            <a:solidFill>
              <a:srgbClr val="DCD8D0"/>
            </a:solidFill>
            <a:prstDash val="solid"/>
          </a:ln>
        </p:spPr>
        <p:txBody>
          <a:bodyPr/>
          <a:lstStyle/>
          <a:p>
            <a:endParaRPr lang="en-PK"/>
          </a:p>
        </p:txBody>
      </p:sp>
      <p:sp>
        <p:nvSpPr>
          <p:cNvPr id="26" name="Text 24"/>
          <p:cNvSpPr/>
          <p:nvPr/>
        </p:nvSpPr>
        <p:spPr>
          <a:xfrm>
            <a:off x="6263640" y="5212080"/>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06</a:t>
            </a:r>
            <a:endParaRPr lang="en-US" sz="900" dirty="0"/>
          </a:p>
        </p:txBody>
      </p:sp>
      <p:sp>
        <p:nvSpPr>
          <p:cNvPr id="27" name="Text 25"/>
          <p:cNvSpPr/>
          <p:nvPr/>
        </p:nvSpPr>
        <p:spPr>
          <a:xfrm>
            <a:off x="6720840" y="5212080"/>
            <a:ext cx="4830775" cy="658368"/>
          </a:xfrm>
          <a:prstGeom prst="rect">
            <a:avLst/>
          </a:prstGeom>
          <a:noFill/>
          <a:ln/>
        </p:spPr>
        <p:txBody>
          <a:bodyPr wrap="square" lIns="0" tIns="0" rIns="0" bIns="0" rtlCol="0" anchor="ctr"/>
          <a:lstStyle/>
          <a:p>
            <a:r>
              <a:rPr lang="en-PK" sz="1200" dirty="0"/>
              <a:t>Keep the system running, maintained, and supported after it goes live</a:t>
            </a:r>
            <a:endParaRPr lang="en-US" sz="1200" dirty="0"/>
          </a:p>
        </p:txBody>
      </p:sp>
      <p:sp>
        <p:nvSpPr>
          <p:cNvPr id="28" name="Shape 26"/>
          <p:cNvSpPr/>
          <p:nvPr/>
        </p:nvSpPr>
        <p:spPr>
          <a:xfrm>
            <a:off x="6263640" y="5870448"/>
            <a:ext cx="5287975" cy="0"/>
          </a:xfrm>
          <a:prstGeom prst="line">
            <a:avLst/>
          </a:prstGeom>
          <a:noFill/>
          <a:ln w="9525">
            <a:solidFill>
              <a:srgbClr val="DCD8D0"/>
            </a:solidFill>
            <a:prstDash val="solid"/>
          </a:ln>
        </p:spPr>
        <p:txBody>
          <a:bodyPr/>
          <a:lstStyle/>
          <a:p>
            <a:endParaRPr lang="en-PK"/>
          </a:p>
        </p:txBody>
      </p:sp>
      <p:sp>
        <p:nvSpPr>
          <p:cNvPr id="29" name="Text 27"/>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30" name="Text 28"/>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06 / 30</a:t>
            </a:r>
            <a:endParaRPr lang="en-US" sz="700" dirty="0"/>
          </a:p>
        </p:txBody>
      </p:sp>
    </p:spTree>
    <p:extLst>
      <p:ext uri="{BB962C8B-B14F-4D97-AF65-F5344CB8AC3E}">
        <p14:creationId xmlns:p14="http://schemas.microsoft.com/office/powerpoint/2010/main" val="3213982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05  AI AND BUSINESS AUTOMATION  ·  CASE STUDY 01 / 04</a:t>
            </a:r>
            <a:endParaRPr lang="en-US" sz="900" dirty="0"/>
          </a:p>
        </p:txBody>
      </p:sp>
      <p:sp>
        <p:nvSpPr>
          <p:cNvPr id="4" name="Text 2"/>
          <p:cNvSpPr/>
          <p:nvPr/>
        </p:nvSpPr>
        <p:spPr>
          <a:xfrm>
            <a:off x="640080" y="777240"/>
            <a:ext cx="5120640" cy="548640"/>
          </a:xfrm>
          <a:prstGeom prst="rect">
            <a:avLst/>
          </a:prstGeom>
          <a:noFill/>
          <a:ln/>
        </p:spPr>
        <p:txBody>
          <a:bodyPr wrap="square" lIns="0" tIns="0" rIns="0" bIns="0" rtlCol="0" anchor="t"/>
          <a:lstStyle/>
          <a:p>
            <a:pPr marL="0" indent="0">
              <a:lnSpc>
                <a:spcPct val="95000"/>
              </a:lnSpc>
              <a:buNone/>
            </a:pPr>
            <a:r>
              <a:rPr lang="en-US" sz="3200" b="1" dirty="0">
                <a:solidFill>
                  <a:srgbClr val="FFFFFF"/>
                </a:solidFill>
                <a:latin typeface="Space Grotesk" pitchFamily="34" charset="0"/>
                <a:ea typeface="Space Grotesk" pitchFamily="34" charset="-122"/>
                <a:cs typeface="Space Grotesk" pitchFamily="34" charset="-120"/>
              </a:rPr>
              <a:t>Current by Logmate</a:t>
            </a:r>
            <a:endParaRPr lang="en-US" sz="3200" dirty="0"/>
          </a:p>
        </p:txBody>
      </p:sp>
      <p:sp>
        <p:nvSpPr>
          <p:cNvPr id="5" name="Text 3"/>
          <p:cNvSpPr/>
          <p:nvPr/>
        </p:nvSpPr>
        <p:spPr>
          <a:xfrm>
            <a:off x="640080" y="1389888"/>
            <a:ext cx="5120640" cy="320040"/>
          </a:xfrm>
          <a:prstGeom prst="rect">
            <a:avLst/>
          </a:prstGeom>
          <a:noFill/>
          <a:ln/>
        </p:spPr>
        <p:txBody>
          <a:bodyPr wrap="square" lIns="0" tIns="0" rIns="0" bIns="0" rtlCol="0" anchor="t"/>
          <a:lstStyle/>
          <a:p>
            <a:pPr marL="0" indent="0">
              <a:buNone/>
            </a:pPr>
            <a:r>
              <a:rPr lang="en-US" sz="1500" dirty="0">
                <a:solidFill>
                  <a:srgbClr val="B6B7B8"/>
                </a:solidFill>
                <a:latin typeface="IBM Plex Sans" pitchFamily="34" charset="0"/>
                <a:ea typeface="IBM Plex Sans" pitchFamily="34" charset="-122"/>
                <a:cs typeface="IBM Plex Sans" pitchFamily="34" charset="-120"/>
              </a:rPr>
              <a:t>Billing and recovery platform</a:t>
            </a:r>
            <a:endParaRPr lang="en-US" sz="1500" dirty="0"/>
          </a:p>
        </p:txBody>
      </p:sp>
      <p:sp>
        <p:nvSpPr>
          <p:cNvPr id="6" name="Shape 4"/>
          <p:cNvSpPr/>
          <p:nvPr/>
        </p:nvSpPr>
        <p:spPr>
          <a:xfrm>
            <a:off x="640080" y="1810512"/>
            <a:ext cx="5120640" cy="0"/>
          </a:xfrm>
          <a:prstGeom prst="line">
            <a:avLst/>
          </a:prstGeom>
          <a:noFill/>
          <a:ln w="9525">
            <a:solidFill>
              <a:srgbClr val="2E3033"/>
            </a:solidFill>
            <a:prstDash val="solid"/>
          </a:ln>
        </p:spPr>
        <p:txBody>
          <a:bodyPr/>
          <a:lstStyle/>
          <a:p>
            <a:endParaRPr lang="en-PK"/>
          </a:p>
        </p:txBody>
      </p:sp>
      <p:sp>
        <p:nvSpPr>
          <p:cNvPr id="7" name="Text 5"/>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8B8D8F"/>
                </a:solidFill>
                <a:latin typeface="IBM Plex Mono" pitchFamily="34" charset="0"/>
                <a:ea typeface="IBM Plex Mono" pitchFamily="34" charset="-122"/>
                <a:cs typeface="IBM Plex Mono" pitchFamily="34" charset="-120"/>
              </a:rPr>
              <a:t>LOGMATE ENGINEERING AND SERVICES   ·   2026   ·   13 WEEKS   ·   ONGOING</a:t>
            </a:r>
            <a:endParaRPr lang="en-US" sz="800" dirty="0"/>
          </a:p>
        </p:txBody>
      </p:sp>
      <p:sp>
        <p:nvSpPr>
          <p:cNvPr id="8" name="Shape 6"/>
          <p:cNvSpPr/>
          <p:nvPr/>
        </p:nvSpPr>
        <p:spPr>
          <a:xfrm>
            <a:off x="640080" y="2331720"/>
            <a:ext cx="5120640" cy="0"/>
          </a:xfrm>
          <a:prstGeom prst="line">
            <a:avLst/>
          </a:prstGeom>
          <a:noFill/>
          <a:ln w="9525">
            <a:solidFill>
              <a:srgbClr val="2E3033"/>
            </a:solidFill>
            <a:prstDash val="solid"/>
          </a:ln>
        </p:spPr>
        <p:txBody>
          <a:bodyPr/>
          <a:lstStyle/>
          <a:p>
            <a:endParaRPr lang="en-PK"/>
          </a:p>
        </p:txBody>
      </p:sp>
      <p:sp>
        <p:nvSpPr>
          <p:cNvPr id="9" name="Text 7"/>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THE PROBLEM</a:t>
            </a:r>
            <a:endParaRPr lang="en-US" sz="800" dirty="0"/>
          </a:p>
        </p:txBody>
      </p:sp>
      <p:sp>
        <p:nvSpPr>
          <p:cNvPr id="10" name="Text 8"/>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Billing electricity accurately for a commercial mall with over 250 tenants across multiple sites is a moving target every single month. Every unit sits on a different consumption tier, every bill has to reach the right tenant through the right channel, and every incoming payment has to be tracked down and matched to the right account before anyone can say who has paid and who has not. On top of that, ownership needs clean recovery and profitability numbers every month.</a:t>
            </a:r>
            <a:endParaRPr lang="en-US" sz="1150" dirty="0"/>
          </a:p>
        </p:txBody>
      </p:sp>
      <p:sp>
        <p:nvSpPr>
          <p:cNvPr id="11" name="Text 9"/>
          <p:cNvSpPr/>
          <p:nvPr/>
        </p:nvSpPr>
        <p:spPr>
          <a:xfrm>
            <a:off x="640080" y="4479964"/>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WHAT CHANGED</a:t>
            </a:r>
            <a:endParaRPr lang="en-US" sz="800" dirty="0"/>
          </a:p>
        </p:txBody>
      </p:sp>
      <p:sp>
        <p:nvSpPr>
          <p:cNvPr id="12" name="Text 10"/>
          <p:cNvSpPr/>
          <p:nvPr/>
        </p:nvSpPr>
        <p:spPr>
          <a:xfrm>
            <a:off x="640080" y="4726851"/>
            <a:ext cx="5120640" cy="1638999"/>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The mall runs its entire monthly billing and collections cycle end to end, across every site it operates. Tenants receive accurate, on-time bills through the channels they actually check, overdue accounts are caught and escalated without anyone chasing them, and the business gets ready-to-use recovery and profitability reporting each month instead of assembling it by hand.</a:t>
            </a:r>
            <a:endParaRPr lang="en-US" sz="1150" dirty="0"/>
          </a:p>
        </p:txBody>
      </p:sp>
      <p:pic>
        <p:nvPicPr>
          <p:cNvPr id="13" name="Image 0" descr="X:\code\personal\boltertech.com\public\work\current-by-logmate\current-admin-dashboard.png"/>
          <p:cNvPicPr>
            <a:picLocks noChangeAspect="1"/>
          </p:cNvPicPr>
          <p:nvPr/>
        </p:nvPicPr>
        <p:blipFill>
          <a:blip r:embed="rId3"/>
          <a:stretch>
            <a:fillRect/>
          </a:stretch>
        </p:blipFill>
        <p:spPr>
          <a:xfrm>
            <a:off x="6263640" y="502920"/>
            <a:ext cx="5287975" cy="2974486"/>
          </a:xfrm>
          <a:prstGeom prst="rect">
            <a:avLst/>
          </a:prstGeom>
        </p:spPr>
      </p:pic>
      <p:sp>
        <p:nvSpPr>
          <p:cNvPr id="14" name="Shape 11"/>
          <p:cNvSpPr/>
          <p:nvPr/>
        </p:nvSpPr>
        <p:spPr>
          <a:xfrm>
            <a:off x="6263640" y="502920"/>
            <a:ext cx="5287975" cy="2974486"/>
          </a:xfrm>
          <a:prstGeom prst="rect">
            <a:avLst/>
          </a:prstGeom>
          <a:ln w="9525">
            <a:solidFill>
              <a:srgbClr val="2E3033"/>
            </a:solidFill>
            <a:prstDash val="solid"/>
          </a:ln>
        </p:spPr>
        <p:txBody>
          <a:bodyPr/>
          <a:lstStyle/>
          <a:p>
            <a:endParaRPr lang="en-PK"/>
          </a:p>
        </p:txBody>
      </p:sp>
      <p:sp>
        <p:nvSpPr>
          <p:cNvPr id="15" name="Shape 12"/>
          <p:cNvSpPr/>
          <p:nvPr/>
        </p:nvSpPr>
        <p:spPr>
          <a:xfrm>
            <a:off x="6263640" y="3888886"/>
            <a:ext cx="2415388" cy="0"/>
          </a:xfrm>
          <a:prstGeom prst="line">
            <a:avLst/>
          </a:prstGeom>
          <a:noFill/>
          <a:ln w="9525">
            <a:solidFill>
              <a:srgbClr val="2E3033"/>
            </a:solidFill>
            <a:prstDash val="solid"/>
          </a:ln>
        </p:spPr>
        <p:txBody>
          <a:bodyPr/>
          <a:lstStyle/>
          <a:p>
            <a:endParaRPr lang="en-PK"/>
          </a:p>
        </p:txBody>
      </p:sp>
      <p:sp>
        <p:nvSpPr>
          <p:cNvPr id="16" name="Text 13"/>
          <p:cNvSpPr/>
          <p:nvPr/>
        </p:nvSpPr>
        <p:spPr>
          <a:xfrm>
            <a:off x="6263640" y="3998614"/>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250+</a:t>
            </a:r>
            <a:endParaRPr lang="en-US" sz="2400" dirty="0"/>
          </a:p>
        </p:txBody>
      </p:sp>
      <p:sp>
        <p:nvSpPr>
          <p:cNvPr id="17" name="Text 14"/>
          <p:cNvSpPr/>
          <p:nvPr/>
        </p:nvSpPr>
        <p:spPr>
          <a:xfrm>
            <a:off x="6263640" y="4437526"/>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tenant accounts billed automatically every month</a:t>
            </a:r>
            <a:endParaRPr lang="en-US" sz="950" dirty="0"/>
          </a:p>
        </p:txBody>
      </p:sp>
      <p:sp>
        <p:nvSpPr>
          <p:cNvPr id="18" name="Shape 15"/>
          <p:cNvSpPr/>
          <p:nvPr/>
        </p:nvSpPr>
        <p:spPr>
          <a:xfrm>
            <a:off x="8907628" y="3888886"/>
            <a:ext cx="2415388" cy="0"/>
          </a:xfrm>
          <a:prstGeom prst="line">
            <a:avLst/>
          </a:prstGeom>
          <a:noFill/>
          <a:ln w="9525">
            <a:solidFill>
              <a:srgbClr val="2E3033"/>
            </a:solidFill>
            <a:prstDash val="solid"/>
          </a:ln>
        </p:spPr>
        <p:txBody>
          <a:bodyPr/>
          <a:lstStyle/>
          <a:p>
            <a:endParaRPr lang="en-PK"/>
          </a:p>
        </p:txBody>
      </p:sp>
      <p:sp>
        <p:nvSpPr>
          <p:cNvPr id="19" name="Text 16"/>
          <p:cNvSpPr/>
          <p:nvPr/>
        </p:nvSpPr>
        <p:spPr>
          <a:xfrm>
            <a:off x="8907628" y="3998614"/>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100%</a:t>
            </a:r>
            <a:endParaRPr lang="en-US" sz="2400" dirty="0"/>
          </a:p>
        </p:txBody>
      </p:sp>
      <p:sp>
        <p:nvSpPr>
          <p:cNvPr id="20" name="Text 17"/>
          <p:cNvSpPr/>
          <p:nvPr/>
        </p:nvSpPr>
        <p:spPr>
          <a:xfrm>
            <a:off x="8907628" y="4437526"/>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of bills calculated, generated and delivered without manual entry</a:t>
            </a:r>
            <a:endParaRPr lang="en-US" sz="950" dirty="0"/>
          </a:p>
        </p:txBody>
      </p:sp>
      <p:sp>
        <p:nvSpPr>
          <p:cNvPr id="21" name="Shape 18"/>
          <p:cNvSpPr/>
          <p:nvPr/>
        </p:nvSpPr>
        <p:spPr>
          <a:xfrm>
            <a:off x="6263640" y="5099123"/>
            <a:ext cx="2415388" cy="0"/>
          </a:xfrm>
          <a:prstGeom prst="line">
            <a:avLst/>
          </a:prstGeom>
          <a:noFill/>
          <a:ln w="9525">
            <a:solidFill>
              <a:srgbClr val="2E3033"/>
            </a:solidFill>
            <a:prstDash val="solid"/>
          </a:ln>
        </p:spPr>
        <p:txBody>
          <a:bodyPr/>
          <a:lstStyle/>
          <a:p>
            <a:endParaRPr lang="en-PK"/>
          </a:p>
        </p:txBody>
      </p:sp>
      <p:sp>
        <p:nvSpPr>
          <p:cNvPr id="22" name="Text 19"/>
          <p:cNvSpPr/>
          <p:nvPr/>
        </p:nvSpPr>
        <p:spPr>
          <a:xfrm>
            <a:off x="6263640" y="5208851"/>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~70%</a:t>
            </a:r>
            <a:endParaRPr lang="en-US" sz="2400" dirty="0"/>
          </a:p>
        </p:txBody>
      </p:sp>
      <p:sp>
        <p:nvSpPr>
          <p:cNvPr id="23" name="Text 20"/>
          <p:cNvSpPr/>
          <p:nvPr/>
        </p:nvSpPr>
        <p:spPr>
          <a:xfrm>
            <a:off x="6263640" y="5647763"/>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less manual effort spent on billing and reconciliation</a:t>
            </a:r>
            <a:endParaRPr lang="en-US" sz="950" dirty="0"/>
          </a:p>
        </p:txBody>
      </p:sp>
      <p:sp>
        <p:nvSpPr>
          <p:cNvPr id="24" name="Shape 21"/>
          <p:cNvSpPr/>
          <p:nvPr/>
        </p:nvSpPr>
        <p:spPr>
          <a:xfrm>
            <a:off x="8907628" y="5099123"/>
            <a:ext cx="2415388" cy="0"/>
          </a:xfrm>
          <a:prstGeom prst="line">
            <a:avLst/>
          </a:prstGeom>
          <a:noFill/>
          <a:ln w="9525">
            <a:solidFill>
              <a:srgbClr val="2E3033"/>
            </a:solidFill>
            <a:prstDash val="solid"/>
          </a:ln>
        </p:spPr>
        <p:txBody>
          <a:bodyPr/>
          <a:lstStyle/>
          <a:p>
            <a:endParaRPr lang="en-PK"/>
          </a:p>
        </p:txBody>
      </p:sp>
      <p:sp>
        <p:nvSpPr>
          <p:cNvPr id="25" name="Text 22"/>
          <p:cNvSpPr/>
          <p:nvPr/>
        </p:nvSpPr>
        <p:spPr>
          <a:xfrm>
            <a:off x="8907628" y="5208851"/>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24/7</a:t>
            </a:r>
            <a:endParaRPr lang="en-US" sz="2400" dirty="0"/>
          </a:p>
        </p:txBody>
      </p:sp>
      <p:sp>
        <p:nvSpPr>
          <p:cNvPr id="26" name="Text 23"/>
          <p:cNvSpPr/>
          <p:nvPr/>
        </p:nvSpPr>
        <p:spPr>
          <a:xfrm>
            <a:off x="8907628" y="5647763"/>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automated bank payment reconciliation</a:t>
            </a:r>
            <a:endParaRPr lang="en-US" sz="950" dirty="0"/>
          </a:p>
        </p:txBody>
      </p:sp>
      <p:sp>
        <p:nvSpPr>
          <p:cNvPr id="27" name="Text 24"/>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8" name="Text 25"/>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07 / 30</a:t>
            </a:r>
            <a:endParaRPr lang="en-US" sz="700" dirty="0"/>
          </a:p>
        </p:txBody>
      </p:sp>
    </p:spTree>
    <p:extLst>
      <p:ext uri="{BB962C8B-B14F-4D97-AF65-F5344CB8AC3E}">
        <p14:creationId xmlns:p14="http://schemas.microsoft.com/office/powerpoint/2010/main" val="161428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05  CAPABILITIES  ·  02 / 05</a:t>
            </a:r>
            <a:endParaRPr lang="en-US" sz="900" dirty="0"/>
          </a:p>
        </p:txBody>
      </p:sp>
      <p:sp>
        <p:nvSpPr>
          <p:cNvPr id="4" name="Text 2"/>
          <p:cNvSpPr/>
          <p:nvPr/>
        </p:nvSpPr>
        <p:spPr>
          <a:xfrm>
            <a:off x="640080" y="777240"/>
            <a:ext cx="6035040" cy="685800"/>
          </a:xfrm>
          <a:prstGeom prst="rect">
            <a:avLst/>
          </a:prstGeom>
          <a:noFill/>
          <a:ln/>
        </p:spPr>
        <p:txBody>
          <a:bodyPr wrap="square" lIns="0" tIns="0" rIns="0" bIns="0" rtlCol="0" anchor="t"/>
          <a:lstStyle/>
          <a:p>
            <a:pPr marL="0" indent="0">
              <a:buNone/>
            </a:pPr>
            <a:r>
              <a:rPr lang="en-US" sz="3400" b="1" dirty="0">
                <a:solidFill>
                  <a:srgbClr val="14161A"/>
                </a:solidFill>
                <a:latin typeface="Space Grotesk" pitchFamily="34" charset="0"/>
                <a:ea typeface="Space Grotesk" pitchFamily="34" charset="-122"/>
                <a:cs typeface="Space Grotesk" pitchFamily="34" charset="-120"/>
              </a:rPr>
              <a:t>AI solutions</a:t>
            </a:r>
            <a:endParaRPr lang="en-US" sz="3400" dirty="0"/>
          </a:p>
        </p:txBody>
      </p:sp>
      <p:sp>
        <p:nvSpPr>
          <p:cNvPr id="5" name="Text 3"/>
          <p:cNvSpPr/>
          <p:nvPr/>
        </p:nvSpPr>
        <p:spPr>
          <a:xfrm>
            <a:off x="640080" y="1691640"/>
            <a:ext cx="5029200" cy="1151127"/>
          </a:xfrm>
          <a:prstGeom prst="rect">
            <a:avLst/>
          </a:prstGeom>
          <a:noFill/>
          <a:ln/>
        </p:spPr>
        <p:txBody>
          <a:bodyPr wrap="square" lIns="0" tIns="0" rIns="0" bIns="0" rtlCol="0" anchor="t"/>
          <a:lstStyle/>
          <a:p>
            <a:pPr marL="0" indent="0">
              <a:lnSpc>
                <a:spcPct val="130000"/>
              </a:lnSpc>
              <a:buNone/>
            </a:pPr>
            <a:r>
              <a:rPr lang="en-US" sz="1400" dirty="0">
                <a:solidFill>
                  <a:srgbClr val="14161A"/>
                </a:solidFill>
                <a:latin typeface="IBM Plex Sans" pitchFamily="34" charset="0"/>
                <a:ea typeface="IBM Plex Sans" pitchFamily="34" charset="-122"/>
                <a:cs typeface="IBM Plex Sans" pitchFamily="34" charset="-120"/>
              </a:rPr>
              <a:t>AI is worth paying for when it takes real work off people. We start with the job you want done, pick the model that does it, and build the checks that keep the answers honest. If AI is the wrong tool for a job, we say so.</a:t>
            </a:r>
            <a:endParaRPr lang="en-US" sz="1400" dirty="0"/>
          </a:p>
        </p:txBody>
      </p:sp>
      <p:sp>
        <p:nvSpPr>
          <p:cNvPr id="6" name="Text 4"/>
          <p:cNvSpPr/>
          <p:nvPr/>
        </p:nvSpPr>
        <p:spPr>
          <a:xfrm>
            <a:off x="640080" y="3027680"/>
            <a:ext cx="5029200" cy="182880"/>
          </a:xfrm>
          <a:prstGeom prst="rect">
            <a:avLst/>
          </a:prstGeom>
          <a:noFill/>
          <a:ln/>
        </p:spPr>
        <p:txBody>
          <a:bodyPr wrap="square" lIns="0" tIns="0" rIns="0" bIns="0" rtlCol="0" anchor="t"/>
          <a:lstStyle/>
          <a:p>
            <a:pPr marL="0" indent="0">
              <a:buNone/>
            </a:pPr>
            <a:r>
              <a:rPr lang="en-US" sz="800" kern="0" spc="150" dirty="0">
                <a:solidFill>
                  <a:srgbClr val="6F6A5F"/>
                </a:solidFill>
                <a:latin typeface="IBM Plex Mono" pitchFamily="34" charset="0"/>
                <a:ea typeface="IBM Plex Mono" pitchFamily="34" charset="-122"/>
                <a:cs typeface="IBM Plex Mono" pitchFamily="34" charset="-120"/>
              </a:rPr>
              <a:t>CASE STUDIES THAT FOLLOW</a:t>
            </a:r>
            <a:endParaRPr lang="en-US" sz="800" dirty="0"/>
          </a:p>
        </p:txBody>
      </p:sp>
      <p:sp>
        <p:nvSpPr>
          <p:cNvPr id="7" name="Text 5"/>
          <p:cNvSpPr/>
          <p:nvPr/>
        </p:nvSpPr>
        <p:spPr>
          <a:xfrm>
            <a:off x="640080" y="3302000"/>
            <a:ext cx="5029200" cy="932688"/>
          </a:xfrm>
          <a:prstGeom prst="rect">
            <a:avLst/>
          </a:prstGeom>
          <a:noFill/>
          <a:ln/>
        </p:spPr>
        <p:txBody>
          <a:bodyPr wrap="square" lIns="0" tIns="0" rIns="0" bIns="0" rtlCol="0" anchor="t"/>
          <a:lstStyle/>
          <a:p>
            <a:pPr marL="0" indent="0">
              <a:lnSpc>
                <a:spcPct val="130000"/>
              </a:lnSpc>
              <a:buNone/>
            </a:pPr>
            <a:r>
              <a:rPr lang="en-US" sz="1300" b="1" dirty="0">
                <a:solidFill>
                  <a:srgbClr val="8F5D0A"/>
                </a:solidFill>
                <a:latin typeface="Space Grotesk" pitchFamily="34" charset="0"/>
                <a:ea typeface="Space Grotesk" pitchFamily="34" charset="-122"/>
                <a:cs typeface="Space Grotesk" pitchFamily="34" charset="-120"/>
              </a:rPr>
              <a:t>Cortex Strike</a:t>
            </a:r>
            <a:endParaRPr lang="en-US" sz="1300" dirty="0"/>
          </a:p>
          <a:p>
            <a:pPr marL="0" indent="0">
              <a:lnSpc>
                <a:spcPct val="130000"/>
              </a:lnSpc>
              <a:buNone/>
            </a:pPr>
            <a:r>
              <a:rPr lang="en-US" sz="1300" b="1" dirty="0">
                <a:solidFill>
                  <a:srgbClr val="8F5D0A"/>
                </a:solidFill>
                <a:latin typeface="Space Grotesk" pitchFamily="34" charset="0"/>
                <a:ea typeface="Space Grotesk" pitchFamily="34" charset="-122"/>
                <a:cs typeface="Space Grotesk" pitchFamily="34" charset="-120"/>
              </a:rPr>
              <a:t>EchoHunt</a:t>
            </a:r>
            <a:endParaRPr lang="en-US" sz="1300" dirty="0"/>
          </a:p>
          <a:p>
            <a:pPr marL="0" indent="0">
              <a:lnSpc>
                <a:spcPct val="130000"/>
              </a:lnSpc>
              <a:buNone/>
            </a:pPr>
            <a:r>
              <a:rPr lang="en-US" sz="1300" b="1" dirty="0">
                <a:solidFill>
                  <a:srgbClr val="8F5D0A"/>
                </a:solidFill>
                <a:latin typeface="Space Grotesk" pitchFamily="34" charset="0"/>
                <a:ea typeface="Space Grotesk" pitchFamily="34" charset="-122"/>
                <a:cs typeface="Space Grotesk" pitchFamily="34" charset="-120"/>
              </a:rPr>
              <a:t>RetinaScan AI</a:t>
            </a:r>
            <a:endParaRPr lang="en-US" sz="1300" dirty="0"/>
          </a:p>
        </p:txBody>
      </p:sp>
      <p:sp>
        <p:nvSpPr>
          <p:cNvPr id="8" name="Text 6"/>
          <p:cNvSpPr/>
          <p:nvPr/>
        </p:nvSpPr>
        <p:spPr>
          <a:xfrm>
            <a:off x="6263640" y="1627632"/>
            <a:ext cx="5287975" cy="182880"/>
          </a:xfrm>
          <a:prstGeom prst="rect">
            <a:avLst/>
          </a:prstGeom>
          <a:noFill/>
          <a:ln/>
        </p:spPr>
        <p:txBody>
          <a:bodyPr wrap="square" lIns="0" tIns="0" rIns="0" bIns="0" rtlCol="0" anchor="t"/>
          <a:lstStyle/>
          <a:p>
            <a:pPr marL="0" indent="0">
              <a:buNone/>
            </a:pPr>
            <a:r>
              <a:rPr lang="en-US" sz="800" kern="0" spc="150" dirty="0">
                <a:solidFill>
                  <a:srgbClr val="6F6A5F"/>
                </a:solidFill>
                <a:latin typeface="IBM Plex Mono" pitchFamily="34" charset="0"/>
                <a:ea typeface="IBM Plex Mono" pitchFamily="34" charset="-122"/>
                <a:cs typeface="IBM Plex Mono" pitchFamily="34" charset="-120"/>
              </a:rPr>
              <a:t>HOW WE HELP</a:t>
            </a:r>
            <a:endParaRPr lang="en-US" sz="800" dirty="0"/>
          </a:p>
        </p:txBody>
      </p:sp>
      <p:sp>
        <p:nvSpPr>
          <p:cNvPr id="9" name="Shape 7"/>
          <p:cNvSpPr/>
          <p:nvPr/>
        </p:nvSpPr>
        <p:spPr>
          <a:xfrm>
            <a:off x="6263640" y="1920240"/>
            <a:ext cx="5287975" cy="0"/>
          </a:xfrm>
          <a:prstGeom prst="line">
            <a:avLst/>
          </a:prstGeom>
          <a:noFill/>
          <a:ln w="9525">
            <a:solidFill>
              <a:srgbClr val="DCD8D0"/>
            </a:solidFill>
            <a:prstDash val="solid"/>
          </a:ln>
        </p:spPr>
        <p:txBody>
          <a:bodyPr/>
          <a:lstStyle/>
          <a:p>
            <a:endParaRPr lang="en-PK"/>
          </a:p>
        </p:txBody>
      </p:sp>
      <p:sp>
        <p:nvSpPr>
          <p:cNvPr id="10" name="Text 8"/>
          <p:cNvSpPr/>
          <p:nvPr/>
        </p:nvSpPr>
        <p:spPr>
          <a:xfrm>
            <a:off x="6263640" y="1920240"/>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01</a:t>
            </a:r>
            <a:endParaRPr lang="en-US" sz="900" dirty="0"/>
          </a:p>
        </p:txBody>
      </p:sp>
      <p:sp>
        <p:nvSpPr>
          <p:cNvPr id="11" name="Text 9"/>
          <p:cNvSpPr/>
          <p:nvPr/>
        </p:nvSpPr>
        <p:spPr>
          <a:xfrm>
            <a:off x="6720840" y="1920240"/>
            <a:ext cx="4830775" cy="658368"/>
          </a:xfrm>
          <a:prstGeom prst="rect">
            <a:avLst/>
          </a:prstGeom>
          <a:noFill/>
          <a:ln/>
        </p:spPr>
        <p:txBody>
          <a:bodyPr wrap="square" lIns="0" tIns="0" rIns="0" bIns="0" rtlCol="0" anchor="ctr"/>
          <a:lstStyle/>
          <a:p>
            <a:pPr marL="0" indent="0">
              <a:buNone/>
            </a:pPr>
            <a:r>
              <a:rPr lang="en-US" sz="1200" dirty="0">
                <a:solidFill>
                  <a:srgbClr val="14161A"/>
                </a:solidFill>
                <a:latin typeface="IBM Plex Sans" pitchFamily="34" charset="0"/>
                <a:ea typeface="IBM Plex Sans" pitchFamily="34" charset="-122"/>
                <a:cs typeface="IBM Plex Sans" pitchFamily="34" charset="-120"/>
              </a:rPr>
              <a:t>Read and sort documents: invoices, forms, contracts, reports</a:t>
            </a:r>
            <a:endParaRPr lang="en-US" sz="1200" dirty="0"/>
          </a:p>
        </p:txBody>
      </p:sp>
      <p:sp>
        <p:nvSpPr>
          <p:cNvPr id="12" name="Shape 10"/>
          <p:cNvSpPr/>
          <p:nvPr/>
        </p:nvSpPr>
        <p:spPr>
          <a:xfrm>
            <a:off x="6263640" y="2578608"/>
            <a:ext cx="5287975" cy="0"/>
          </a:xfrm>
          <a:prstGeom prst="line">
            <a:avLst/>
          </a:prstGeom>
          <a:noFill/>
          <a:ln w="9525">
            <a:solidFill>
              <a:srgbClr val="DCD8D0"/>
            </a:solidFill>
            <a:prstDash val="solid"/>
          </a:ln>
        </p:spPr>
        <p:txBody>
          <a:bodyPr/>
          <a:lstStyle/>
          <a:p>
            <a:endParaRPr lang="en-PK"/>
          </a:p>
        </p:txBody>
      </p:sp>
      <p:sp>
        <p:nvSpPr>
          <p:cNvPr id="13" name="Text 11"/>
          <p:cNvSpPr/>
          <p:nvPr/>
        </p:nvSpPr>
        <p:spPr>
          <a:xfrm>
            <a:off x="6263640" y="2578608"/>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02</a:t>
            </a:r>
            <a:endParaRPr lang="en-US" sz="900" dirty="0"/>
          </a:p>
        </p:txBody>
      </p:sp>
      <p:sp>
        <p:nvSpPr>
          <p:cNvPr id="14" name="Text 12"/>
          <p:cNvSpPr/>
          <p:nvPr/>
        </p:nvSpPr>
        <p:spPr>
          <a:xfrm>
            <a:off x="6720840" y="2578608"/>
            <a:ext cx="4830775" cy="658368"/>
          </a:xfrm>
          <a:prstGeom prst="rect">
            <a:avLst/>
          </a:prstGeom>
          <a:noFill/>
          <a:ln/>
        </p:spPr>
        <p:txBody>
          <a:bodyPr wrap="square" lIns="0" tIns="0" rIns="0" bIns="0" rtlCol="0" anchor="ctr"/>
          <a:lstStyle/>
          <a:p>
            <a:pPr marL="0" indent="0">
              <a:buNone/>
            </a:pPr>
            <a:r>
              <a:rPr lang="en-US" sz="1200" dirty="0">
                <a:solidFill>
                  <a:srgbClr val="14161A"/>
                </a:solidFill>
                <a:latin typeface="IBM Plex Sans" pitchFamily="34" charset="0"/>
                <a:ea typeface="IBM Plex Sans" pitchFamily="34" charset="-122"/>
                <a:cs typeface="IBM Plex Sans" pitchFamily="34" charset="-120"/>
              </a:rPr>
              <a:t>Answer questions from your own files and data, with the source shown</a:t>
            </a:r>
            <a:endParaRPr lang="en-US" sz="1200" dirty="0"/>
          </a:p>
        </p:txBody>
      </p:sp>
      <p:sp>
        <p:nvSpPr>
          <p:cNvPr id="15" name="Shape 13"/>
          <p:cNvSpPr/>
          <p:nvPr/>
        </p:nvSpPr>
        <p:spPr>
          <a:xfrm>
            <a:off x="6263640" y="3236976"/>
            <a:ext cx="5287975" cy="0"/>
          </a:xfrm>
          <a:prstGeom prst="line">
            <a:avLst/>
          </a:prstGeom>
          <a:noFill/>
          <a:ln w="9525">
            <a:solidFill>
              <a:srgbClr val="DCD8D0"/>
            </a:solidFill>
            <a:prstDash val="solid"/>
          </a:ln>
        </p:spPr>
        <p:txBody>
          <a:bodyPr/>
          <a:lstStyle/>
          <a:p>
            <a:endParaRPr lang="en-PK"/>
          </a:p>
        </p:txBody>
      </p:sp>
      <p:sp>
        <p:nvSpPr>
          <p:cNvPr id="16" name="Text 14"/>
          <p:cNvSpPr/>
          <p:nvPr/>
        </p:nvSpPr>
        <p:spPr>
          <a:xfrm>
            <a:off x="6263640" y="3236976"/>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03</a:t>
            </a:r>
            <a:endParaRPr lang="en-US" sz="900" dirty="0"/>
          </a:p>
        </p:txBody>
      </p:sp>
      <p:sp>
        <p:nvSpPr>
          <p:cNvPr id="17" name="Text 15"/>
          <p:cNvSpPr/>
          <p:nvPr/>
        </p:nvSpPr>
        <p:spPr>
          <a:xfrm>
            <a:off x="6720840" y="3236976"/>
            <a:ext cx="4830775" cy="658368"/>
          </a:xfrm>
          <a:prstGeom prst="rect">
            <a:avLst/>
          </a:prstGeom>
          <a:noFill/>
          <a:ln/>
        </p:spPr>
        <p:txBody>
          <a:bodyPr wrap="square" lIns="0" tIns="0" rIns="0" bIns="0" rtlCol="0" anchor="ctr"/>
          <a:lstStyle/>
          <a:p>
            <a:pPr marL="0" indent="0">
              <a:buNone/>
            </a:pPr>
            <a:r>
              <a:rPr lang="en-US" sz="1200" dirty="0">
                <a:solidFill>
                  <a:srgbClr val="14161A"/>
                </a:solidFill>
                <a:latin typeface="IBM Plex Sans" pitchFamily="34" charset="0"/>
                <a:ea typeface="IBM Plex Sans" pitchFamily="34" charset="-122"/>
                <a:cs typeface="IBM Plex Sans" pitchFamily="34" charset="-120"/>
              </a:rPr>
              <a:t>Assistants that do one specific job inside software your team already uses</a:t>
            </a:r>
            <a:endParaRPr lang="en-US" sz="1200" dirty="0"/>
          </a:p>
        </p:txBody>
      </p:sp>
      <p:sp>
        <p:nvSpPr>
          <p:cNvPr id="18" name="Shape 16"/>
          <p:cNvSpPr/>
          <p:nvPr/>
        </p:nvSpPr>
        <p:spPr>
          <a:xfrm>
            <a:off x="6263640" y="3895344"/>
            <a:ext cx="5287975" cy="0"/>
          </a:xfrm>
          <a:prstGeom prst="line">
            <a:avLst/>
          </a:prstGeom>
          <a:noFill/>
          <a:ln w="9525">
            <a:solidFill>
              <a:srgbClr val="DCD8D0"/>
            </a:solidFill>
            <a:prstDash val="solid"/>
          </a:ln>
        </p:spPr>
        <p:txBody>
          <a:bodyPr/>
          <a:lstStyle/>
          <a:p>
            <a:endParaRPr lang="en-PK"/>
          </a:p>
        </p:txBody>
      </p:sp>
      <p:sp>
        <p:nvSpPr>
          <p:cNvPr id="19" name="Text 17"/>
          <p:cNvSpPr/>
          <p:nvPr/>
        </p:nvSpPr>
        <p:spPr>
          <a:xfrm>
            <a:off x="6263640" y="3895344"/>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04</a:t>
            </a:r>
            <a:endParaRPr lang="en-US" sz="900" dirty="0"/>
          </a:p>
        </p:txBody>
      </p:sp>
      <p:sp>
        <p:nvSpPr>
          <p:cNvPr id="20" name="Text 18"/>
          <p:cNvSpPr/>
          <p:nvPr/>
        </p:nvSpPr>
        <p:spPr>
          <a:xfrm>
            <a:off x="6720840" y="3895344"/>
            <a:ext cx="4830775" cy="658368"/>
          </a:xfrm>
          <a:prstGeom prst="rect">
            <a:avLst/>
          </a:prstGeom>
          <a:noFill/>
          <a:ln/>
        </p:spPr>
        <p:txBody>
          <a:bodyPr wrap="square" lIns="0" tIns="0" rIns="0" bIns="0" rtlCol="0" anchor="ctr"/>
          <a:lstStyle/>
          <a:p>
            <a:pPr marL="0" indent="0">
              <a:buNone/>
            </a:pPr>
            <a:r>
              <a:rPr lang="en-US" sz="1200" dirty="0">
                <a:solidFill>
                  <a:srgbClr val="14161A"/>
                </a:solidFill>
                <a:latin typeface="IBM Plex Sans" pitchFamily="34" charset="0"/>
                <a:ea typeface="IBM Plex Sans" pitchFamily="34" charset="-122"/>
                <a:cs typeface="IBM Plex Sans" pitchFamily="34" charset="-120"/>
              </a:rPr>
              <a:t>Test the output against real examples before it goes live, then keep watching it</a:t>
            </a:r>
            <a:endParaRPr lang="en-US" sz="1200" dirty="0"/>
          </a:p>
        </p:txBody>
      </p:sp>
      <p:sp>
        <p:nvSpPr>
          <p:cNvPr id="21" name="Shape 19"/>
          <p:cNvSpPr/>
          <p:nvPr/>
        </p:nvSpPr>
        <p:spPr>
          <a:xfrm>
            <a:off x="6263640" y="4553712"/>
            <a:ext cx="5287975" cy="0"/>
          </a:xfrm>
          <a:prstGeom prst="line">
            <a:avLst/>
          </a:prstGeom>
          <a:noFill/>
          <a:ln w="9525">
            <a:solidFill>
              <a:srgbClr val="DCD8D0"/>
            </a:solidFill>
            <a:prstDash val="solid"/>
          </a:ln>
        </p:spPr>
        <p:txBody>
          <a:bodyPr/>
          <a:lstStyle/>
          <a:p>
            <a:endParaRPr lang="en-PK"/>
          </a:p>
        </p:txBody>
      </p:sp>
      <p:sp>
        <p:nvSpPr>
          <p:cNvPr id="22" name="Text 20"/>
          <p:cNvSpPr/>
          <p:nvPr/>
        </p:nvSpPr>
        <p:spPr>
          <a:xfrm>
            <a:off x="6263640" y="4553712"/>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05</a:t>
            </a:r>
            <a:endParaRPr lang="en-US" sz="900" dirty="0"/>
          </a:p>
        </p:txBody>
      </p:sp>
      <p:sp>
        <p:nvSpPr>
          <p:cNvPr id="23" name="Text 21"/>
          <p:cNvSpPr/>
          <p:nvPr/>
        </p:nvSpPr>
        <p:spPr>
          <a:xfrm>
            <a:off x="6720840" y="4553712"/>
            <a:ext cx="4830775" cy="658368"/>
          </a:xfrm>
          <a:prstGeom prst="rect">
            <a:avLst/>
          </a:prstGeom>
          <a:noFill/>
          <a:ln/>
        </p:spPr>
        <p:txBody>
          <a:bodyPr wrap="square" lIns="0" tIns="0" rIns="0" bIns="0" rtlCol="0" anchor="ctr"/>
          <a:lstStyle/>
          <a:p>
            <a:pPr marL="0" indent="0">
              <a:buNone/>
            </a:pPr>
            <a:r>
              <a:rPr lang="en-US" sz="1200" dirty="0">
                <a:solidFill>
                  <a:srgbClr val="14161A"/>
                </a:solidFill>
                <a:latin typeface="IBM Plex Sans" pitchFamily="34" charset="0"/>
                <a:ea typeface="IBM Plex Sans" pitchFamily="34" charset="-122"/>
                <a:cs typeface="IBM Plex Sans" pitchFamily="34" charset="-120"/>
              </a:rPr>
              <a:t>Run it on your own servers when the data cannot leave the building</a:t>
            </a:r>
            <a:endParaRPr lang="en-US" sz="1200" dirty="0"/>
          </a:p>
        </p:txBody>
      </p:sp>
      <p:sp>
        <p:nvSpPr>
          <p:cNvPr id="24" name="Shape 22"/>
          <p:cNvSpPr/>
          <p:nvPr/>
        </p:nvSpPr>
        <p:spPr>
          <a:xfrm>
            <a:off x="6263640" y="5212080"/>
            <a:ext cx="5287975" cy="0"/>
          </a:xfrm>
          <a:prstGeom prst="line">
            <a:avLst/>
          </a:prstGeom>
          <a:noFill/>
          <a:ln w="9525">
            <a:solidFill>
              <a:srgbClr val="DCD8D0"/>
            </a:solidFill>
            <a:prstDash val="solid"/>
          </a:ln>
        </p:spPr>
        <p:txBody>
          <a:bodyPr/>
          <a:lstStyle/>
          <a:p>
            <a:endParaRPr lang="en-PK"/>
          </a:p>
        </p:txBody>
      </p:sp>
      <p:sp>
        <p:nvSpPr>
          <p:cNvPr id="25" name="Text 23"/>
          <p:cNvSpPr/>
          <p:nvPr/>
        </p:nvSpPr>
        <p:spPr>
          <a:xfrm>
            <a:off x="6263640" y="5212080"/>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06</a:t>
            </a:r>
            <a:endParaRPr lang="en-US" sz="900" dirty="0"/>
          </a:p>
        </p:txBody>
      </p:sp>
      <p:sp>
        <p:nvSpPr>
          <p:cNvPr id="26" name="Text 24"/>
          <p:cNvSpPr/>
          <p:nvPr/>
        </p:nvSpPr>
        <p:spPr>
          <a:xfrm>
            <a:off x="6720840" y="5212080"/>
            <a:ext cx="4830775" cy="658368"/>
          </a:xfrm>
          <a:prstGeom prst="rect">
            <a:avLst/>
          </a:prstGeom>
          <a:noFill/>
          <a:ln/>
        </p:spPr>
        <p:txBody>
          <a:bodyPr wrap="square" lIns="0" tIns="0" rIns="0" bIns="0" rtlCol="0" anchor="ctr"/>
          <a:lstStyle/>
          <a:p>
            <a:pPr marL="0" indent="0">
              <a:buNone/>
            </a:pPr>
            <a:r>
              <a:rPr lang="en-US" sz="1200" dirty="0">
                <a:solidFill>
                  <a:srgbClr val="14161A"/>
                </a:solidFill>
                <a:latin typeface="IBM Plex Sans" pitchFamily="34" charset="0"/>
                <a:ea typeface="IBM Plex Sans" pitchFamily="34" charset="-122"/>
                <a:cs typeface="IBM Plex Sans" pitchFamily="34" charset="-120"/>
              </a:rPr>
              <a:t>Agents that carry out multi-step work and keep a record of every step</a:t>
            </a:r>
            <a:endParaRPr lang="en-US" sz="1200" dirty="0"/>
          </a:p>
        </p:txBody>
      </p:sp>
      <p:sp>
        <p:nvSpPr>
          <p:cNvPr id="27" name="Shape 25"/>
          <p:cNvSpPr/>
          <p:nvPr/>
        </p:nvSpPr>
        <p:spPr>
          <a:xfrm>
            <a:off x="6263640" y="5870448"/>
            <a:ext cx="5287975" cy="0"/>
          </a:xfrm>
          <a:prstGeom prst="line">
            <a:avLst/>
          </a:prstGeom>
          <a:noFill/>
          <a:ln w="9525">
            <a:solidFill>
              <a:srgbClr val="DCD8D0"/>
            </a:solidFill>
            <a:prstDash val="solid"/>
          </a:ln>
        </p:spPr>
        <p:txBody>
          <a:bodyPr/>
          <a:lstStyle/>
          <a:p>
            <a:endParaRPr lang="en-PK"/>
          </a:p>
        </p:txBody>
      </p:sp>
      <p:sp>
        <p:nvSpPr>
          <p:cNvPr id="28" name="Text 26"/>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9" name="Text 27"/>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10 / 33</a:t>
            </a:r>
            <a:endParaRPr lang="en-US" sz="700" dirty="0"/>
          </a:p>
        </p:txBody>
      </p:sp>
    </p:spTree>
    <p:extLst>
      <p:ext uri="{BB962C8B-B14F-4D97-AF65-F5344CB8AC3E}">
        <p14:creationId xmlns:p14="http://schemas.microsoft.com/office/powerpoint/2010/main" val="175106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05  AI SOLUTIONS  ·  CASE STUDY 02 / 04</a:t>
            </a:r>
            <a:endParaRPr lang="en-US" sz="900" dirty="0"/>
          </a:p>
        </p:txBody>
      </p:sp>
      <p:sp>
        <p:nvSpPr>
          <p:cNvPr id="4" name="Text 2"/>
          <p:cNvSpPr/>
          <p:nvPr/>
        </p:nvSpPr>
        <p:spPr>
          <a:xfrm>
            <a:off x="640080" y="777240"/>
            <a:ext cx="5120640" cy="548640"/>
          </a:xfrm>
          <a:prstGeom prst="rect">
            <a:avLst/>
          </a:prstGeom>
          <a:noFill/>
          <a:ln/>
        </p:spPr>
        <p:txBody>
          <a:bodyPr wrap="square" lIns="0" tIns="0" rIns="0" bIns="0" rtlCol="0" anchor="t"/>
          <a:lstStyle/>
          <a:p>
            <a:pPr marL="0" indent="0">
              <a:lnSpc>
                <a:spcPct val="95000"/>
              </a:lnSpc>
              <a:buNone/>
            </a:pPr>
            <a:r>
              <a:rPr lang="en-US" sz="3200" b="1" dirty="0">
                <a:solidFill>
                  <a:srgbClr val="14161A"/>
                </a:solidFill>
                <a:latin typeface="Space Grotesk" pitchFamily="34" charset="0"/>
                <a:ea typeface="Space Grotesk" pitchFamily="34" charset="-122"/>
                <a:cs typeface="Space Grotesk" pitchFamily="34" charset="-120"/>
              </a:rPr>
              <a:t>Cortex Strike</a:t>
            </a:r>
            <a:endParaRPr lang="en-US" sz="3200" dirty="0"/>
          </a:p>
        </p:txBody>
      </p:sp>
      <p:sp>
        <p:nvSpPr>
          <p:cNvPr id="5" name="Text 3"/>
          <p:cNvSpPr/>
          <p:nvPr/>
        </p:nvSpPr>
        <p:spPr>
          <a:xfrm>
            <a:off x="640080" y="1389888"/>
            <a:ext cx="5120640" cy="320040"/>
          </a:xfrm>
          <a:prstGeom prst="rect">
            <a:avLst/>
          </a:prstGeom>
          <a:noFill/>
          <a:ln/>
        </p:spPr>
        <p:txBody>
          <a:bodyPr wrap="square" lIns="0" tIns="0" rIns="0" bIns="0" rtlCol="0" anchor="t"/>
          <a:lstStyle/>
          <a:p>
            <a:pPr marL="0" indent="0">
              <a:buNone/>
            </a:pPr>
            <a:r>
              <a:rPr lang="en-US" sz="1500" dirty="0">
                <a:solidFill>
                  <a:srgbClr val="5B6066"/>
                </a:solidFill>
                <a:latin typeface="IBM Plex Sans" pitchFamily="34" charset="0"/>
                <a:ea typeface="IBM Plex Sans" pitchFamily="34" charset="-122"/>
                <a:cs typeface="IBM Plex Sans" pitchFamily="34" charset="-120"/>
              </a:rPr>
              <a:t>Autonomous penetration testing agent</a:t>
            </a:r>
            <a:endParaRPr lang="en-US" sz="1500" dirty="0"/>
          </a:p>
        </p:txBody>
      </p:sp>
      <p:sp>
        <p:nvSpPr>
          <p:cNvPr id="6" name="Shape 4"/>
          <p:cNvSpPr/>
          <p:nvPr/>
        </p:nvSpPr>
        <p:spPr>
          <a:xfrm>
            <a:off x="640080" y="1810512"/>
            <a:ext cx="5120640" cy="0"/>
          </a:xfrm>
          <a:prstGeom prst="line">
            <a:avLst/>
          </a:prstGeom>
          <a:noFill/>
          <a:ln w="9525">
            <a:solidFill>
              <a:srgbClr val="DCD8D0"/>
            </a:solidFill>
            <a:prstDash val="solid"/>
          </a:ln>
        </p:spPr>
        <p:txBody>
          <a:bodyPr/>
          <a:lstStyle/>
          <a:p>
            <a:endParaRPr lang="en-PK"/>
          </a:p>
        </p:txBody>
      </p:sp>
      <p:sp>
        <p:nvSpPr>
          <p:cNvPr id="7" name="Text 5"/>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6F6A5F"/>
                </a:solidFill>
                <a:latin typeface="IBM Plex Mono" pitchFamily="34" charset="0"/>
                <a:ea typeface="IBM Plex Mono" pitchFamily="34" charset="-122"/>
                <a:cs typeface="IBM Plex Mono" pitchFamily="34" charset="-120"/>
              </a:rPr>
              <a:t>GOVERNMENT AND CRITICAL INFRASTRUCTURE — NAME WITHHELD   ·   2026   ·   1 YEAR   ·   DELIVERED</a:t>
            </a:r>
            <a:endParaRPr lang="en-US" sz="800" dirty="0"/>
          </a:p>
        </p:txBody>
      </p:sp>
      <p:sp>
        <p:nvSpPr>
          <p:cNvPr id="8" name="Shape 6"/>
          <p:cNvSpPr/>
          <p:nvPr/>
        </p:nvSpPr>
        <p:spPr>
          <a:xfrm>
            <a:off x="640080" y="2331720"/>
            <a:ext cx="5120640" cy="0"/>
          </a:xfrm>
          <a:prstGeom prst="line">
            <a:avLst/>
          </a:prstGeom>
          <a:noFill/>
          <a:ln w="9525">
            <a:solidFill>
              <a:srgbClr val="DCD8D0"/>
            </a:solidFill>
            <a:prstDash val="solid"/>
          </a:ln>
        </p:spPr>
        <p:txBody>
          <a:bodyPr/>
          <a:lstStyle/>
          <a:p>
            <a:endParaRPr lang="en-PK"/>
          </a:p>
        </p:txBody>
      </p:sp>
      <p:sp>
        <p:nvSpPr>
          <p:cNvPr id="9" name="Text 7"/>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THE PROBLEM</a:t>
            </a:r>
            <a:endParaRPr lang="en-US" sz="800" dirty="0"/>
          </a:p>
        </p:txBody>
      </p:sp>
      <p:sp>
        <p:nvSpPr>
          <p:cNvPr id="10" name="Text 8"/>
          <p:cNvSpPr/>
          <p:nvPr/>
        </p:nvSpPr>
        <p:spPr>
          <a:xfrm>
            <a:off x="640080" y="2761488"/>
            <a:ext cx="5120640" cy="945061"/>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Running a real penetration test means operating dozens of separate command-line tools by hand — a network scanner here, a web fuzzer there, a credential tester somewhere else — then manually correlating everything each one turns up before a single finding can be written down.</a:t>
            </a:r>
            <a:endParaRPr lang="en-US" sz="1150" dirty="0"/>
          </a:p>
        </p:txBody>
      </p:sp>
      <p:sp>
        <p:nvSpPr>
          <p:cNvPr id="11" name="Text 9"/>
          <p:cNvSpPr/>
          <p:nvPr/>
        </p:nvSpPr>
        <p:spPr>
          <a:xfrm>
            <a:off x="640080" y="3875786"/>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WHAT CHANGED</a:t>
            </a:r>
            <a:endParaRPr lang="en-US" sz="800" dirty="0"/>
          </a:p>
        </p:txBody>
      </p:sp>
      <p:sp>
        <p:nvSpPr>
          <p:cNvPr id="12" name="Text 10"/>
          <p:cNvSpPr/>
          <p:nvPr/>
        </p:nvSpPr>
        <p:spPr>
          <a:xfrm>
            <a:off x="640080" y="4122674"/>
            <a:ext cx="5120640" cy="1226565"/>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Operators run full, multi-tool security assessments through a single guided conversation, with the agent actively helping interpret findings, connect signals and steer the assessment as it unfolds. Instead of juggling tools and outputs, the platform turns raw security data into actionable insight while capturing findings, tool output and reports on its own.</a:t>
            </a:r>
            <a:endParaRPr lang="en-US" sz="1150" dirty="0"/>
          </a:p>
        </p:txBody>
      </p:sp>
      <p:pic>
        <p:nvPicPr>
          <p:cNvPr id="13" name="Image 0" descr="X:\code\personal\boltertech.com\public\work\cortex-strike\localhost_10102_login.png"/>
          <p:cNvPicPr>
            <a:picLocks noChangeAspect="1"/>
          </p:cNvPicPr>
          <p:nvPr/>
        </p:nvPicPr>
        <p:blipFill>
          <a:blip r:embed="rId3"/>
          <a:stretch>
            <a:fillRect/>
          </a:stretch>
        </p:blipFill>
        <p:spPr>
          <a:xfrm>
            <a:off x="6263640" y="502920"/>
            <a:ext cx="5287975" cy="2974486"/>
          </a:xfrm>
          <a:prstGeom prst="rect">
            <a:avLst/>
          </a:prstGeom>
        </p:spPr>
      </p:pic>
      <p:sp>
        <p:nvSpPr>
          <p:cNvPr id="14" name="Shape 11"/>
          <p:cNvSpPr/>
          <p:nvPr/>
        </p:nvSpPr>
        <p:spPr>
          <a:xfrm>
            <a:off x="6263640" y="502920"/>
            <a:ext cx="5287975" cy="2974486"/>
          </a:xfrm>
          <a:prstGeom prst="rect">
            <a:avLst/>
          </a:prstGeom>
          <a:ln w="9525">
            <a:solidFill>
              <a:srgbClr val="DCD8D0"/>
            </a:solidFill>
            <a:prstDash val="solid"/>
          </a:ln>
        </p:spPr>
        <p:txBody>
          <a:bodyPr/>
          <a:lstStyle/>
          <a:p>
            <a:endParaRPr lang="en-PK"/>
          </a:p>
        </p:txBody>
      </p:sp>
      <p:sp>
        <p:nvSpPr>
          <p:cNvPr id="15" name="Shape 12"/>
          <p:cNvSpPr/>
          <p:nvPr/>
        </p:nvSpPr>
        <p:spPr>
          <a:xfrm>
            <a:off x="6263640" y="3888886"/>
            <a:ext cx="2415388" cy="0"/>
          </a:xfrm>
          <a:prstGeom prst="line">
            <a:avLst/>
          </a:prstGeom>
          <a:noFill/>
          <a:ln w="9525">
            <a:solidFill>
              <a:srgbClr val="DCD8D0"/>
            </a:solidFill>
            <a:prstDash val="solid"/>
          </a:ln>
        </p:spPr>
        <p:txBody>
          <a:bodyPr/>
          <a:lstStyle/>
          <a:p>
            <a:endParaRPr lang="en-PK"/>
          </a:p>
        </p:txBody>
      </p:sp>
      <p:sp>
        <p:nvSpPr>
          <p:cNvPr id="16" name="Text 13"/>
          <p:cNvSpPr/>
          <p:nvPr/>
        </p:nvSpPr>
        <p:spPr>
          <a:xfrm>
            <a:off x="6263640" y="3998614"/>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90+</a:t>
            </a:r>
            <a:endParaRPr lang="en-US" sz="2400" dirty="0"/>
          </a:p>
        </p:txBody>
      </p:sp>
      <p:sp>
        <p:nvSpPr>
          <p:cNvPr id="17" name="Text 14"/>
          <p:cNvSpPr/>
          <p:nvPr/>
        </p:nvSpPr>
        <p:spPr>
          <a:xfrm>
            <a:off x="6263640" y="4437526"/>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security tools an operator can run through one AI-guided conversation</a:t>
            </a:r>
            <a:endParaRPr lang="en-US" sz="950" dirty="0"/>
          </a:p>
        </p:txBody>
      </p:sp>
      <p:sp>
        <p:nvSpPr>
          <p:cNvPr id="18" name="Shape 15"/>
          <p:cNvSpPr/>
          <p:nvPr/>
        </p:nvSpPr>
        <p:spPr>
          <a:xfrm>
            <a:off x="8907628" y="3888886"/>
            <a:ext cx="2415388" cy="0"/>
          </a:xfrm>
          <a:prstGeom prst="line">
            <a:avLst/>
          </a:prstGeom>
          <a:noFill/>
          <a:ln w="9525">
            <a:solidFill>
              <a:srgbClr val="DCD8D0"/>
            </a:solidFill>
            <a:prstDash val="solid"/>
          </a:ln>
        </p:spPr>
        <p:txBody>
          <a:bodyPr/>
          <a:lstStyle/>
          <a:p>
            <a:endParaRPr lang="en-PK"/>
          </a:p>
        </p:txBody>
      </p:sp>
      <p:sp>
        <p:nvSpPr>
          <p:cNvPr id="19" name="Text 16"/>
          <p:cNvSpPr/>
          <p:nvPr/>
        </p:nvSpPr>
        <p:spPr>
          <a:xfrm>
            <a:off x="8907628" y="3998614"/>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24+ hrs</a:t>
            </a:r>
            <a:endParaRPr lang="en-US" sz="2400" dirty="0"/>
          </a:p>
        </p:txBody>
      </p:sp>
      <p:sp>
        <p:nvSpPr>
          <p:cNvPr id="20" name="Text 17"/>
          <p:cNvSpPr/>
          <p:nvPr/>
        </p:nvSpPr>
        <p:spPr>
          <a:xfrm>
            <a:off x="8907628" y="4437526"/>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longest autonomous assessment run without operator intervention</a:t>
            </a:r>
            <a:endParaRPr lang="en-US" sz="950" dirty="0"/>
          </a:p>
        </p:txBody>
      </p:sp>
      <p:sp>
        <p:nvSpPr>
          <p:cNvPr id="21" name="Shape 18"/>
          <p:cNvSpPr/>
          <p:nvPr/>
        </p:nvSpPr>
        <p:spPr>
          <a:xfrm>
            <a:off x="6263640" y="5099123"/>
            <a:ext cx="2415388" cy="0"/>
          </a:xfrm>
          <a:prstGeom prst="line">
            <a:avLst/>
          </a:prstGeom>
          <a:noFill/>
          <a:ln w="9525">
            <a:solidFill>
              <a:srgbClr val="DCD8D0"/>
            </a:solidFill>
            <a:prstDash val="solid"/>
          </a:ln>
        </p:spPr>
        <p:txBody>
          <a:bodyPr/>
          <a:lstStyle/>
          <a:p>
            <a:endParaRPr lang="en-PK"/>
          </a:p>
        </p:txBody>
      </p:sp>
      <p:sp>
        <p:nvSpPr>
          <p:cNvPr id="22" name="Text 19"/>
          <p:cNvSpPr/>
          <p:nvPr/>
        </p:nvSpPr>
        <p:spPr>
          <a:xfrm>
            <a:off x="6263640" y="5208851"/>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20%</a:t>
            </a:r>
            <a:endParaRPr lang="en-US" sz="2400" dirty="0"/>
          </a:p>
        </p:txBody>
      </p:sp>
      <p:sp>
        <p:nvSpPr>
          <p:cNvPr id="23" name="Text 20"/>
          <p:cNvSpPr/>
          <p:nvPr/>
        </p:nvSpPr>
        <p:spPr>
          <a:xfrm>
            <a:off x="6263640" y="5647763"/>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better results than the same tools driven by hand</a:t>
            </a:r>
            <a:endParaRPr lang="en-US" sz="950" dirty="0"/>
          </a:p>
        </p:txBody>
      </p:sp>
      <p:sp>
        <p:nvSpPr>
          <p:cNvPr id="24" name="Text 21"/>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5" name="Text 22"/>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08 / 30</a:t>
            </a:r>
            <a:endParaRPr lang="en-US" sz="700" dirty="0"/>
          </a:p>
        </p:txBody>
      </p:sp>
    </p:spTree>
    <p:extLst>
      <p:ext uri="{BB962C8B-B14F-4D97-AF65-F5344CB8AC3E}">
        <p14:creationId xmlns:p14="http://schemas.microsoft.com/office/powerpoint/2010/main" val="680899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05  AI SOLUTIONS  ·  CASE STUDY 03 / 04</a:t>
            </a:r>
            <a:endParaRPr lang="en-US" sz="900" dirty="0"/>
          </a:p>
        </p:txBody>
      </p:sp>
      <p:sp>
        <p:nvSpPr>
          <p:cNvPr id="4" name="Text 2"/>
          <p:cNvSpPr/>
          <p:nvPr/>
        </p:nvSpPr>
        <p:spPr>
          <a:xfrm>
            <a:off x="640080" y="777240"/>
            <a:ext cx="5120640" cy="548640"/>
          </a:xfrm>
          <a:prstGeom prst="rect">
            <a:avLst/>
          </a:prstGeom>
          <a:noFill/>
          <a:ln/>
        </p:spPr>
        <p:txBody>
          <a:bodyPr wrap="square" lIns="0" tIns="0" rIns="0" bIns="0" rtlCol="0" anchor="t"/>
          <a:lstStyle/>
          <a:p>
            <a:pPr marL="0" indent="0">
              <a:lnSpc>
                <a:spcPct val="95000"/>
              </a:lnSpc>
              <a:buNone/>
            </a:pPr>
            <a:r>
              <a:rPr lang="en-US" sz="3200" b="1" dirty="0">
                <a:solidFill>
                  <a:srgbClr val="FFFFFF"/>
                </a:solidFill>
                <a:latin typeface="Space Grotesk" pitchFamily="34" charset="0"/>
                <a:ea typeface="Space Grotesk" pitchFamily="34" charset="-122"/>
                <a:cs typeface="Space Grotesk" pitchFamily="34" charset="-120"/>
              </a:rPr>
              <a:t>EchoHunt</a:t>
            </a:r>
            <a:endParaRPr lang="en-US" sz="3200" dirty="0"/>
          </a:p>
        </p:txBody>
      </p:sp>
      <p:sp>
        <p:nvSpPr>
          <p:cNvPr id="5" name="Text 3"/>
          <p:cNvSpPr/>
          <p:nvPr/>
        </p:nvSpPr>
        <p:spPr>
          <a:xfrm>
            <a:off x="640080" y="1389888"/>
            <a:ext cx="5120640" cy="320040"/>
          </a:xfrm>
          <a:prstGeom prst="rect">
            <a:avLst/>
          </a:prstGeom>
          <a:noFill/>
          <a:ln/>
        </p:spPr>
        <p:txBody>
          <a:bodyPr wrap="square" lIns="0" tIns="0" rIns="0" bIns="0" rtlCol="0" anchor="t"/>
          <a:lstStyle/>
          <a:p>
            <a:pPr marL="0" indent="0">
              <a:buNone/>
            </a:pPr>
            <a:r>
              <a:rPr lang="en-US" sz="1500" dirty="0">
                <a:solidFill>
                  <a:srgbClr val="B6B7B8"/>
                </a:solidFill>
                <a:latin typeface="IBM Plex Sans" pitchFamily="34" charset="0"/>
                <a:ea typeface="IBM Plex Sans" pitchFamily="34" charset="-122"/>
                <a:cs typeface="IBM Plex Sans" pitchFamily="34" charset="-120"/>
              </a:rPr>
              <a:t>Digital discourse monitoring</a:t>
            </a:r>
            <a:endParaRPr lang="en-US" sz="1500" dirty="0"/>
          </a:p>
        </p:txBody>
      </p:sp>
      <p:sp>
        <p:nvSpPr>
          <p:cNvPr id="6" name="Shape 4"/>
          <p:cNvSpPr/>
          <p:nvPr/>
        </p:nvSpPr>
        <p:spPr>
          <a:xfrm>
            <a:off x="640080" y="1810512"/>
            <a:ext cx="5120640" cy="0"/>
          </a:xfrm>
          <a:prstGeom prst="line">
            <a:avLst/>
          </a:prstGeom>
          <a:noFill/>
          <a:ln w="9525">
            <a:solidFill>
              <a:srgbClr val="2E3033"/>
            </a:solidFill>
            <a:prstDash val="solid"/>
          </a:ln>
        </p:spPr>
        <p:txBody>
          <a:bodyPr/>
          <a:lstStyle/>
          <a:p>
            <a:endParaRPr lang="en-PK"/>
          </a:p>
        </p:txBody>
      </p:sp>
      <p:sp>
        <p:nvSpPr>
          <p:cNvPr id="7" name="Text 5"/>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8B8D8F"/>
                </a:solidFill>
                <a:latin typeface="IBM Plex Mono" pitchFamily="34" charset="0"/>
                <a:ea typeface="IBM Plex Mono" pitchFamily="34" charset="-122"/>
                <a:cs typeface="IBM Plex Mono" pitchFamily="34" charset="-120"/>
              </a:rPr>
              <a:t>GOVERNMENT AND PUBLIC SECTOR COMMUNICATIONS — NAME WITHHELD   ·   2025   ·   10 MONTHS   ·   DELIVERED</a:t>
            </a:r>
            <a:endParaRPr lang="en-US" sz="800" dirty="0"/>
          </a:p>
        </p:txBody>
      </p:sp>
      <p:sp>
        <p:nvSpPr>
          <p:cNvPr id="8" name="Shape 6"/>
          <p:cNvSpPr/>
          <p:nvPr/>
        </p:nvSpPr>
        <p:spPr>
          <a:xfrm>
            <a:off x="640080" y="2331720"/>
            <a:ext cx="5120640" cy="0"/>
          </a:xfrm>
          <a:prstGeom prst="line">
            <a:avLst/>
          </a:prstGeom>
          <a:noFill/>
          <a:ln w="9525">
            <a:solidFill>
              <a:srgbClr val="2E3033"/>
            </a:solidFill>
            <a:prstDash val="solid"/>
          </a:ln>
        </p:spPr>
        <p:txBody>
          <a:bodyPr/>
          <a:lstStyle/>
          <a:p>
            <a:endParaRPr lang="en-PK"/>
          </a:p>
        </p:txBody>
      </p:sp>
      <p:sp>
        <p:nvSpPr>
          <p:cNvPr id="9" name="Text 7"/>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THE PROBLEM</a:t>
            </a:r>
            <a:endParaRPr lang="en-US" sz="800" dirty="0"/>
          </a:p>
        </p:txBody>
      </p:sp>
      <p:sp>
        <p:nvSpPr>
          <p:cNvPr id="10" name="Text 8"/>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Narratives move fast across social media, and by the time a harmful or misleading story is obvious to a communications team, it has often already spread across multiple platforms and languages. Manually tracking thousands of posts across Twitter, Instagram, YouTube and Facebook — in multiple languages, including text baked into images and spoken in videos — is not something a human team can do at scale or in real time.</a:t>
            </a:r>
            <a:endParaRPr lang="en-US" sz="1150" dirty="0"/>
          </a:p>
        </p:txBody>
      </p:sp>
      <p:sp>
        <p:nvSpPr>
          <p:cNvPr id="11" name="Text 9"/>
          <p:cNvSpPr/>
          <p:nvPr/>
        </p:nvSpPr>
        <p:spPr>
          <a:xfrm>
            <a:off x="640080" y="4423474"/>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WHAT CHANGED</a:t>
            </a:r>
            <a:endParaRPr lang="en-US" sz="800" dirty="0"/>
          </a:p>
        </p:txBody>
      </p:sp>
      <p:sp>
        <p:nvSpPr>
          <p:cNvPr id="12" name="Text 10"/>
          <p:cNvSpPr/>
          <p:nvPr/>
        </p:nvSpPr>
        <p:spPr>
          <a:xfrm>
            <a:off x="640080" y="4670361"/>
            <a:ext cx="5120640" cy="1638999"/>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Communications and analyst teams get one workflow in place of hours of manual, multi-platform monitoring: scrape, enrich, detect, review, respond. Instead of discovering a narrative after it has already spread and then starting a response cold, they see narratives ranked by real credibility and influence signals and receive a drafted, platform-specific strategy they can act on immediately.</a:t>
            </a:r>
            <a:endParaRPr lang="en-US" sz="1150" dirty="0"/>
          </a:p>
        </p:txBody>
      </p:sp>
      <p:pic>
        <p:nvPicPr>
          <p:cNvPr id="13" name="Image 0" descr="X:\code\personal\boltertech.com\public\work\echo-hunt\echohunt-collage.png"/>
          <p:cNvPicPr>
            <a:picLocks noChangeAspect="1"/>
          </p:cNvPicPr>
          <p:nvPr/>
        </p:nvPicPr>
        <p:blipFill>
          <a:blip r:embed="rId3"/>
          <a:stretch>
            <a:fillRect/>
          </a:stretch>
        </p:blipFill>
        <p:spPr>
          <a:xfrm>
            <a:off x="6263640" y="502920"/>
            <a:ext cx="5287975" cy="2974486"/>
          </a:xfrm>
          <a:prstGeom prst="rect">
            <a:avLst/>
          </a:prstGeom>
        </p:spPr>
      </p:pic>
      <p:sp>
        <p:nvSpPr>
          <p:cNvPr id="14" name="Shape 11"/>
          <p:cNvSpPr/>
          <p:nvPr/>
        </p:nvSpPr>
        <p:spPr>
          <a:xfrm>
            <a:off x="6263640" y="502920"/>
            <a:ext cx="5287975" cy="2974486"/>
          </a:xfrm>
          <a:prstGeom prst="rect">
            <a:avLst/>
          </a:prstGeom>
          <a:ln w="9525">
            <a:solidFill>
              <a:srgbClr val="2E3033"/>
            </a:solidFill>
            <a:prstDash val="solid"/>
          </a:ln>
        </p:spPr>
        <p:txBody>
          <a:bodyPr/>
          <a:lstStyle/>
          <a:p>
            <a:endParaRPr lang="en-PK"/>
          </a:p>
        </p:txBody>
      </p:sp>
      <p:sp>
        <p:nvSpPr>
          <p:cNvPr id="15" name="Shape 12"/>
          <p:cNvSpPr/>
          <p:nvPr/>
        </p:nvSpPr>
        <p:spPr>
          <a:xfrm>
            <a:off x="6263640" y="3888886"/>
            <a:ext cx="2415388" cy="0"/>
          </a:xfrm>
          <a:prstGeom prst="line">
            <a:avLst/>
          </a:prstGeom>
          <a:noFill/>
          <a:ln w="9525">
            <a:solidFill>
              <a:srgbClr val="2E3033"/>
            </a:solidFill>
            <a:prstDash val="solid"/>
          </a:ln>
        </p:spPr>
        <p:txBody>
          <a:bodyPr/>
          <a:lstStyle/>
          <a:p>
            <a:endParaRPr lang="en-PK"/>
          </a:p>
        </p:txBody>
      </p:sp>
      <p:sp>
        <p:nvSpPr>
          <p:cNvPr id="16" name="Text 13"/>
          <p:cNvSpPr/>
          <p:nvPr/>
        </p:nvSpPr>
        <p:spPr>
          <a:xfrm>
            <a:off x="6263640" y="3998614"/>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180,000+</a:t>
            </a:r>
            <a:endParaRPr lang="en-US" sz="2400" dirty="0"/>
          </a:p>
        </p:txBody>
      </p:sp>
      <p:sp>
        <p:nvSpPr>
          <p:cNvPr id="17" name="Text 14"/>
          <p:cNvSpPr/>
          <p:nvPr/>
        </p:nvSpPr>
        <p:spPr>
          <a:xfrm>
            <a:off x="6263640" y="4437526"/>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posts collected, enriched and analysed</a:t>
            </a:r>
            <a:endParaRPr lang="en-US" sz="950" dirty="0"/>
          </a:p>
        </p:txBody>
      </p:sp>
      <p:sp>
        <p:nvSpPr>
          <p:cNvPr id="18" name="Shape 15"/>
          <p:cNvSpPr/>
          <p:nvPr/>
        </p:nvSpPr>
        <p:spPr>
          <a:xfrm>
            <a:off x="8907628" y="3888886"/>
            <a:ext cx="2415388" cy="0"/>
          </a:xfrm>
          <a:prstGeom prst="line">
            <a:avLst/>
          </a:prstGeom>
          <a:noFill/>
          <a:ln w="9525">
            <a:solidFill>
              <a:srgbClr val="2E3033"/>
            </a:solidFill>
            <a:prstDash val="solid"/>
          </a:ln>
        </p:spPr>
        <p:txBody>
          <a:bodyPr/>
          <a:lstStyle/>
          <a:p>
            <a:endParaRPr lang="en-PK"/>
          </a:p>
        </p:txBody>
      </p:sp>
      <p:sp>
        <p:nvSpPr>
          <p:cNvPr id="19" name="Text 16"/>
          <p:cNvSpPr/>
          <p:nvPr/>
        </p:nvSpPr>
        <p:spPr>
          <a:xfrm>
            <a:off x="8907628" y="3998614"/>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4</a:t>
            </a:r>
            <a:endParaRPr lang="en-US" sz="2400" dirty="0"/>
          </a:p>
        </p:txBody>
      </p:sp>
      <p:sp>
        <p:nvSpPr>
          <p:cNvPr id="20" name="Text 17"/>
          <p:cNvSpPr/>
          <p:nvPr/>
        </p:nvSpPr>
        <p:spPr>
          <a:xfrm>
            <a:off x="8907628" y="4437526"/>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platforms monitored at once — Twitter, Instagram, YouTube, Facebook</a:t>
            </a:r>
            <a:endParaRPr lang="en-US" sz="950" dirty="0"/>
          </a:p>
        </p:txBody>
      </p:sp>
      <p:sp>
        <p:nvSpPr>
          <p:cNvPr id="21" name="Shape 18"/>
          <p:cNvSpPr/>
          <p:nvPr/>
        </p:nvSpPr>
        <p:spPr>
          <a:xfrm>
            <a:off x="6263640" y="5099123"/>
            <a:ext cx="2415388" cy="0"/>
          </a:xfrm>
          <a:prstGeom prst="line">
            <a:avLst/>
          </a:prstGeom>
          <a:noFill/>
          <a:ln w="9525">
            <a:solidFill>
              <a:srgbClr val="2E3033"/>
            </a:solidFill>
            <a:prstDash val="solid"/>
          </a:ln>
        </p:spPr>
        <p:txBody>
          <a:bodyPr/>
          <a:lstStyle/>
          <a:p>
            <a:endParaRPr lang="en-PK"/>
          </a:p>
        </p:txBody>
      </p:sp>
      <p:sp>
        <p:nvSpPr>
          <p:cNvPr id="22" name="Text 19"/>
          <p:cNvSpPr/>
          <p:nvPr/>
        </p:nvSpPr>
        <p:spPr>
          <a:xfrm>
            <a:off x="6263640" y="5208851"/>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100%</a:t>
            </a:r>
            <a:endParaRPr lang="en-US" sz="2400" dirty="0"/>
          </a:p>
        </p:txBody>
      </p:sp>
      <p:sp>
        <p:nvSpPr>
          <p:cNvPr id="23" name="Text 20"/>
          <p:cNvSpPr/>
          <p:nvPr/>
        </p:nvSpPr>
        <p:spPr>
          <a:xfrm>
            <a:off x="6263640" y="5647763"/>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of the core pipeline runs on local infrastructure, no cloud required</a:t>
            </a:r>
            <a:endParaRPr lang="en-US" sz="950" dirty="0"/>
          </a:p>
        </p:txBody>
      </p:sp>
      <p:sp>
        <p:nvSpPr>
          <p:cNvPr id="24" name="Text 21"/>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5" name="Text 22"/>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09 / 30</a:t>
            </a:r>
            <a:endParaRPr lang="en-US" sz="700" dirty="0"/>
          </a:p>
        </p:txBody>
      </p:sp>
    </p:spTree>
    <p:extLst>
      <p:ext uri="{BB962C8B-B14F-4D97-AF65-F5344CB8AC3E}">
        <p14:creationId xmlns:p14="http://schemas.microsoft.com/office/powerpoint/2010/main" val="95580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05  AI SOLUTIONS  ·  CASE STUDY 04 / 04</a:t>
            </a:r>
            <a:endParaRPr lang="en-US" sz="900" dirty="0"/>
          </a:p>
        </p:txBody>
      </p:sp>
      <p:sp>
        <p:nvSpPr>
          <p:cNvPr id="4" name="Text 2"/>
          <p:cNvSpPr/>
          <p:nvPr/>
        </p:nvSpPr>
        <p:spPr>
          <a:xfrm>
            <a:off x="640080" y="777240"/>
            <a:ext cx="5120640" cy="548640"/>
          </a:xfrm>
          <a:prstGeom prst="rect">
            <a:avLst/>
          </a:prstGeom>
          <a:noFill/>
          <a:ln/>
        </p:spPr>
        <p:txBody>
          <a:bodyPr wrap="square" lIns="0" tIns="0" rIns="0" bIns="0" rtlCol="0" anchor="t"/>
          <a:lstStyle/>
          <a:p>
            <a:pPr marL="0" indent="0">
              <a:lnSpc>
                <a:spcPct val="95000"/>
              </a:lnSpc>
              <a:buNone/>
            </a:pPr>
            <a:r>
              <a:rPr lang="en-US" sz="3200" b="1" dirty="0">
                <a:solidFill>
                  <a:srgbClr val="14161A"/>
                </a:solidFill>
                <a:latin typeface="Space Grotesk" pitchFamily="34" charset="0"/>
                <a:ea typeface="Space Grotesk" pitchFamily="34" charset="-122"/>
                <a:cs typeface="Space Grotesk" pitchFamily="34" charset="-120"/>
              </a:rPr>
              <a:t>RetinaScan AI</a:t>
            </a:r>
            <a:endParaRPr lang="en-US" sz="3200" dirty="0"/>
          </a:p>
        </p:txBody>
      </p:sp>
      <p:sp>
        <p:nvSpPr>
          <p:cNvPr id="5" name="Text 3"/>
          <p:cNvSpPr/>
          <p:nvPr/>
        </p:nvSpPr>
        <p:spPr>
          <a:xfrm>
            <a:off x="640080" y="1389888"/>
            <a:ext cx="5120640" cy="320040"/>
          </a:xfrm>
          <a:prstGeom prst="rect">
            <a:avLst/>
          </a:prstGeom>
          <a:noFill/>
          <a:ln/>
        </p:spPr>
        <p:txBody>
          <a:bodyPr wrap="square" lIns="0" tIns="0" rIns="0" bIns="0" rtlCol="0" anchor="t"/>
          <a:lstStyle/>
          <a:p>
            <a:pPr marL="0" indent="0">
              <a:buNone/>
            </a:pPr>
            <a:r>
              <a:rPr lang="en-US" sz="1500" dirty="0">
                <a:solidFill>
                  <a:srgbClr val="5B6066"/>
                </a:solidFill>
                <a:latin typeface="IBM Plex Sans" pitchFamily="34" charset="0"/>
                <a:ea typeface="IBM Plex Sans" pitchFamily="34" charset="-122"/>
                <a:cs typeface="IBM Plex Sans" pitchFamily="34" charset="-120"/>
              </a:rPr>
              <a:t>Explainable diabetic retinopathy screening</a:t>
            </a:r>
            <a:endParaRPr lang="en-US" sz="1500" dirty="0"/>
          </a:p>
        </p:txBody>
      </p:sp>
      <p:sp>
        <p:nvSpPr>
          <p:cNvPr id="6" name="Shape 4"/>
          <p:cNvSpPr/>
          <p:nvPr/>
        </p:nvSpPr>
        <p:spPr>
          <a:xfrm>
            <a:off x="640080" y="1810512"/>
            <a:ext cx="5120640" cy="0"/>
          </a:xfrm>
          <a:prstGeom prst="line">
            <a:avLst/>
          </a:prstGeom>
          <a:noFill/>
          <a:ln w="9525">
            <a:solidFill>
              <a:srgbClr val="DCD8D0"/>
            </a:solidFill>
            <a:prstDash val="solid"/>
          </a:ln>
        </p:spPr>
        <p:txBody>
          <a:bodyPr/>
          <a:lstStyle/>
          <a:p>
            <a:endParaRPr lang="en-PK"/>
          </a:p>
        </p:txBody>
      </p:sp>
      <p:sp>
        <p:nvSpPr>
          <p:cNvPr id="7" name="Text 5"/>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6F6A5F"/>
                </a:solidFill>
                <a:latin typeface="IBM Plex Mono" pitchFamily="34" charset="0"/>
                <a:ea typeface="IBM Plex Mono" pitchFamily="34" charset="-122"/>
                <a:cs typeface="IBM Plex Mono" pitchFamily="34" charset="-120"/>
              </a:rPr>
              <a:t>IN-HOUSE PRODUCT   ·   2026   ·   5 MONTHS   ·   DELIVERED</a:t>
            </a:r>
            <a:endParaRPr lang="en-US" sz="800" dirty="0"/>
          </a:p>
        </p:txBody>
      </p:sp>
      <p:sp>
        <p:nvSpPr>
          <p:cNvPr id="8" name="Shape 6"/>
          <p:cNvSpPr/>
          <p:nvPr/>
        </p:nvSpPr>
        <p:spPr>
          <a:xfrm>
            <a:off x="640080" y="2331720"/>
            <a:ext cx="5120640" cy="0"/>
          </a:xfrm>
          <a:prstGeom prst="line">
            <a:avLst/>
          </a:prstGeom>
          <a:noFill/>
          <a:ln w="9525">
            <a:solidFill>
              <a:srgbClr val="DCD8D0"/>
            </a:solidFill>
            <a:prstDash val="solid"/>
          </a:ln>
        </p:spPr>
        <p:txBody>
          <a:bodyPr/>
          <a:lstStyle/>
          <a:p>
            <a:endParaRPr lang="en-PK"/>
          </a:p>
        </p:txBody>
      </p:sp>
      <p:sp>
        <p:nvSpPr>
          <p:cNvPr id="9" name="Text 7"/>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THE PROBLEM</a:t>
            </a:r>
            <a:endParaRPr lang="en-US" sz="800" dirty="0"/>
          </a:p>
        </p:txBody>
      </p:sp>
      <p:sp>
        <p:nvSpPr>
          <p:cNvPr id="10" name="Text 8"/>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Diabetic retinopathy is one of the leading causes of preventable blindness in working-age adults, and it is entirely manageable when caught early. The problem is catching it. Screening depends on a specialist reading a retinal photo and judging where it falls across five stages of severity, from no disease to sight-threatening proliferative disease.</a:t>
            </a:r>
            <a:endParaRPr lang="en-US" sz="1150" dirty="0"/>
          </a:p>
        </p:txBody>
      </p:sp>
      <p:sp>
        <p:nvSpPr>
          <p:cNvPr id="11" name="Text 9"/>
          <p:cNvSpPr/>
          <p:nvPr/>
        </p:nvSpPr>
        <p:spPr>
          <a:xfrm>
            <a:off x="640080" y="4240911"/>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WHAT CHANGED</a:t>
            </a:r>
            <a:endParaRPr lang="en-US" sz="800" dirty="0"/>
          </a:p>
        </p:txBody>
      </p:sp>
      <p:sp>
        <p:nvSpPr>
          <p:cNvPr id="12" name="Text 10"/>
          <p:cNvSpPr/>
          <p:nvPr/>
        </p:nvSpPr>
        <p:spPr>
          <a:xfrm>
            <a:off x="640080" y="4487799"/>
            <a:ext cx="5120640" cy="1821561"/>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An inspectable alternative to black-box DR screening: one photo in, a severity read and a visual, plain-language explanation out. Rather than trusting a single number, a viewer can see which part of the retina drove the classification and what clinical feature it corresponds to — which is the gap between "the model said so" and "here is the evidence."</a:t>
            </a:r>
            <a:endParaRPr lang="en-US" sz="1150" dirty="0"/>
          </a:p>
        </p:txBody>
      </p:sp>
      <p:pic>
        <p:nvPicPr>
          <p:cNvPr id="13" name="Image 0" descr="X:\code\personal\boltertech.com\public\work\retinascan-ai\retinascan.png"/>
          <p:cNvPicPr>
            <a:picLocks noChangeAspect="1"/>
          </p:cNvPicPr>
          <p:nvPr/>
        </p:nvPicPr>
        <p:blipFill>
          <a:blip r:embed="rId3"/>
          <a:stretch>
            <a:fillRect/>
          </a:stretch>
        </p:blipFill>
        <p:spPr>
          <a:xfrm>
            <a:off x="6263640" y="502920"/>
            <a:ext cx="5287975" cy="2974486"/>
          </a:xfrm>
          <a:prstGeom prst="rect">
            <a:avLst/>
          </a:prstGeom>
        </p:spPr>
      </p:pic>
      <p:sp>
        <p:nvSpPr>
          <p:cNvPr id="14" name="Shape 11"/>
          <p:cNvSpPr/>
          <p:nvPr/>
        </p:nvSpPr>
        <p:spPr>
          <a:xfrm>
            <a:off x="6263640" y="502920"/>
            <a:ext cx="5287975" cy="2974486"/>
          </a:xfrm>
          <a:prstGeom prst="rect">
            <a:avLst/>
          </a:prstGeom>
          <a:ln w="9525">
            <a:solidFill>
              <a:srgbClr val="DCD8D0"/>
            </a:solidFill>
            <a:prstDash val="solid"/>
          </a:ln>
        </p:spPr>
        <p:txBody>
          <a:bodyPr/>
          <a:lstStyle/>
          <a:p>
            <a:endParaRPr lang="en-PK"/>
          </a:p>
        </p:txBody>
      </p:sp>
      <p:sp>
        <p:nvSpPr>
          <p:cNvPr id="15" name="Shape 12"/>
          <p:cNvSpPr/>
          <p:nvPr/>
        </p:nvSpPr>
        <p:spPr>
          <a:xfrm>
            <a:off x="6263640" y="3888886"/>
            <a:ext cx="2415388" cy="0"/>
          </a:xfrm>
          <a:prstGeom prst="line">
            <a:avLst/>
          </a:prstGeom>
          <a:noFill/>
          <a:ln w="9525">
            <a:solidFill>
              <a:srgbClr val="DCD8D0"/>
            </a:solidFill>
            <a:prstDash val="solid"/>
          </a:ln>
        </p:spPr>
        <p:txBody>
          <a:bodyPr/>
          <a:lstStyle/>
          <a:p>
            <a:endParaRPr lang="en-PK"/>
          </a:p>
        </p:txBody>
      </p:sp>
      <p:sp>
        <p:nvSpPr>
          <p:cNvPr id="16" name="Text 13"/>
          <p:cNvSpPr/>
          <p:nvPr/>
        </p:nvSpPr>
        <p:spPr>
          <a:xfrm>
            <a:off x="6263640" y="3998614"/>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5</a:t>
            </a:r>
            <a:endParaRPr lang="en-US" sz="2400" dirty="0"/>
          </a:p>
        </p:txBody>
      </p:sp>
      <p:sp>
        <p:nvSpPr>
          <p:cNvPr id="17" name="Text 14"/>
          <p:cNvSpPr/>
          <p:nvPr/>
        </p:nvSpPr>
        <p:spPr>
          <a:xfrm>
            <a:off x="6263640" y="4437526"/>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DR severity stages classified per scan, healthy to proliferative</a:t>
            </a:r>
            <a:endParaRPr lang="en-US" sz="950" dirty="0"/>
          </a:p>
        </p:txBody>
      </p:sp>
      <p:sp>
        <p:nvSpPr>
          <p:cNvPr id="18" name="Shape 15"/>
          <p:cNvSpPr/>
          <p:nvPr/>
        </p:nvSpPr>
        <p:spPr>
          <a:xfrm>
            <a:off x="8907628" y="3888886"/>
            <a:ext cx="2415388" cy="0"/>
          </a:xfrm>
          <a:prstGeom prst="line">
            <a:avLst/>
          </a:prstGeom>
          <a:noFill/>
          <a:ln w="9525">
            <a:solidFill>
              <a:srgbClr val="DCD8D0"/>
            </a:solidFill>
            <a:prstDash val="solid"/>
          </a:ln>
        </p:spPr>
        <p:txBody>
          <a:bodyPr/>
          <a:lstStyle/>
          <a:p>
            <a:endParaRPr lang="en-PK"/>
          </a:p>
        </p:txBody>
      </p:sp>
      <p:sp>
        <p:nvSpPr>
          <p:cNvPr id="19" name="Text 16"/>
          <p:cNvSpPr/>
          <p:nvPr/>
        </p:nvSpPr>
        <p:spPr>
          <a:xfrm>
            <a:off x="8907628" y="3998614"/>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4</a:t>
            </a:r>
            <a:endParaRPr lang="en-US" sz="2400" dirty="0"/>
          </a:p>
        </p:txBody>
      </p:sp>
      <p:sp>
        <p:nvSpPr>
          <p:cNvPr id="20" name="Text 17"/>
          <p:cNvSpPr/>
          <p:nvPr/>
        </p:nvSpPr>
        <p:spPr>
          <a:xfrm>
            <a:off x="8907628" y="4437526"/>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clinical findings flagged and explained per scan</a:t>
            </a:r>
            <a:endParaRPr lang="en-US" sz="950" dirty="0"/>
          </a:p>
        </p:txBody>
      </p:sp>
      <p:sp>
        <p:nvSpPr>
          <p:cNvPr id="21" name="Shape 18"/>
          <p:cNvSpPr/>
          <p:nvPr/>
        </p:nvSpPr>
        <p:spPr>
          <a:xfrm>
            <a:off x="6263640" y="5099123"/>
            <a:ext cx="2415388" cy="0"/>
          </a:xfrm>
          <a:prstGeom prst="line">
            <a:avLst/>
          </a:prstGeom>
          <a:noFill/>
          <a:ln w="9525">
            <a:solidFill>
              <a:srgbClr val="DCD8D0"/>
            </a:solidFill>
            <a:prstDash val="solid"/>
          </a:ln>
        </p:spPr>
        <p:txBody>
          <a:bodyPr/>
          <a:lstStyle/>
          <a:p>
            <a:endParaRPr lang="en-PK"/>
          </a:p>
        </p:txBody>
      </p:sp>
      <p:sp>
        <p:nvSpPr>
          <p:cNvPr id="22" name="Text 19"/>
          <p:cNvSpPr/>
          <p:nvPr/>
        </p:nvSpPr>
        <p:spPr>
          <a:xfrm>
            <a:off x="6263640" y="5208851"/>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30,657</a:t>
            </a:r>
            <a:endParaRPr lang="en-US" sz="2400" dirty="0"/>
          </a:p>
        </p:txBody>
      </p:sp>
      <p:sp>
        <p:nvSpPr>
          <p:cNvPr id="23" name="Text 20"/>
          <p:cNvSpPr/>
          <p:nvPr/>
        </p:nvSpPr>
        <p:spPr>
          <a:xfrm>
            <a:off x="6263640" y="5647763"/>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labelled fundus images used to train the diagnostic model</a:t>
            </a:r>
            <a:endParaRPr lang="en-US" sz="950" dirty="0"/>
          </a:p>
        </p:txBody>
      </p:sp>
      <p:sp>
        <p:nvSpPr>
          <p:cNvPr id="24" name="Shape 21"/>
          <p:cNvSpPr/>
          <p:nvPr/>
        </p:nvSpPr>
        <p:spPr>
          <a:xfrm>
            <a:off x="8907628" y="5099123"/>
            <a:ext cx="2415388" cy="0"/>
          </a:xfrm>
          <a:prstGeom prst="line">
            <a:avLst/>
          </a:prstGeom>
          <a:noFill/>
          <a:ln w="9525">
            <a:solidFill>
              <a:srgbClr val="DCD8D0"/>
            </a:solidFill>
            <a:prstDash val="solid"/>
          </a:ln>
        </p:spPr>
        <p:txBody>
          <a:bodyPr/>
          <a:lstStyle/>
          <a:p>
            <a:endParaRPr lang="en-PK"/>
          </a:p>
        </p:txBody>
      </p:sp>
      <p:sp>
        <p:nvSpPr>
          <p:cNvPr id="25" name="Text 22"/>
          <p:cNvSpPr/>
          <p:nvPr/>
        </p:nvSpPr>
        <p:spPr>
          <a:xfrm>
            <a:off x="8907628" y="5208851"/>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&lt;5s</a:t>
            </a:r>
            <a:endParaRPr lang="en-US" sz="2400" dirty="0"/>
          </a:p>
        </p:txBody>
      </p:sp>
      <p:sp>
        <p:nvSpPr>
          <p:cNvPr id="26" name="Text 23"/>
          <p:cNvSpPr/>
          <p:nvPr/>
        </p:nvSpPr>
        <p:spPr>
          <a:xfrm>
            <a:off x="8907628" y="5647763"/>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from image upload to full diagnostic report</a:t>
            </a:r>
            <a:endParaRPr lang="en-US" sz="950" dirty="0"/>
          </a:p>
        </p:txBody>
      </p:sp>
      <p:sp>
        <p:nvSpPr>
          <p:cNvPr id="27" name="Text 24"/>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8" name="Text 25"/>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10 / 30</a:t>
            </a:r>
            <a:endParaRPr lang="en-US" sz="700" dirty="0"/>
          </a:p>
        </p:txBody>
      </p:sp>
    </p:spTree>
    <p:extLst>
      <p:ext uri="{BB962C8B-B14F-4D97-AF65-F5344CB8AC3E}">
        <p14:creationId xmlns:p14="http://schemas.microsoft.com/office/powerpoint/2010/main" val="941952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05  CAPABILITIES  ·  02 / 04</a:t>
            </a:r>
            <a:endParaRPr lang="en-US" sz="900" dirty="0"/>
          </a:p>
        </p:txBody>
      </p:sp>
      <p:sp>
        <p:nvSpPr>
          <p:cNvPr id="4" name="Text 2"/>
          <p:cNvSpPr/>
          <p:nvPr/>
        </p:nvSpPr>
        <p:spPr>
          <a:xfrm>
            <a:off x="640080" y="777240"/>
            <a:ext cx="6035040" cy="685800"/>
          </a:xfrm>
          <a:prstGeom prst="rect">
            <a:avLst/>
          </a:prstGeom>
          <a:noFill/>
          <a:ln/>
        </p:spPr>
        <p:txBody>
          <a:bodyPr wrap="square" lIns="0" tIns="0" rIns="0" bIns="0" rtlCol="0" anchor="t"/>
          <a:lstStyle/>
          <a:p>
            <a:pPr marL="0" indent="0">
              <a:buNone/>
            </a:pPr>
            <a:r>
              <a:rPr lang="en-US" sz="3400" b="1" dirty="0">
                <a:solidFill>
                  <a:srgbClr val="FFFFFF"/>
                </a:solidFill>
                <a:latin typeface="Space Grotesk" pitchFamily="34" charset="0"/>
                <a:ea typeface="Space Grotesk" pitchFamily="34" charset="-122"/>
                <a:cs typeface="Space Grotesk" pitchFamily="34" charset="-120"/>
              </a:rPr>
              <a:t>Software development</a:t>
            </a:r>
            <a:endParaRPr lang="en-US" sz="3400" dirty="0"/>
          </a:p>
        </p:txBody>
      </p:sp>
      <p:sp>
        <p:nvSpPr>
          <p:cNvPr id="5" name="Text 3"/>
          <p:cNvSpPr/>
          <p:nvPr/>
        </p:nvSpPr>
        <p:spPr>
          <a:xfrm>
            <a:off x="640080" y="1691640"/>
            <a:ext cx="5029200" cy="1508759"/>
          </a:xfrm>
          <a:prstGeom prst="rect">
            <a:avLst/>
          </a:prstGeom>
          <a:noFill/>
          <a:ln/>
        </p:spPr>
        <p:txBody>
          <a:bodyPr wrap="square" lIns="0" tIns="0" rIns="0" bIns="0" rtlCol="0" anchor="t"/>
          <a:lstStyle/>
          <a:p>
            <a:r>
              <a:rPr lang="en-PK" sz="1400" dirty="0">
                <a:solidFill>
                  <a:srgbClr val="FFFFFF"/>
                </a:solidFill>
              </a:rPr>
              <a:t>The software a </a:t>
            </a:r>
            <a:r>
              <a:rPr lang="en-PK" sz="1400" b="1" dirty="0">
                <a:solidFill>
                  <a:srgbClr val="FFFFFF"/>
                </a:solidFill>
              </a:rPr>
              <a:t>business actually runs on</a:t>
            </a:r>
            <a:r>
              <a:rPr lang="en-PK" sz="1400" dirty="0">
                <a:solidFill>
                  <a:srgbClr val="FFFFFF"/>
                </a:solidFill>
              </a:rPr>
              <a:t>: the product its customers use, the internal systems its teams rely on every day, and the spreadsheet that has somehow been holding an entire department together for the last six years. We build the tools that make that work easier, more reliable, and less dependent on someone remembering exactly how everything works.</a:t>
            </a:r>
            <a:endParaRPr lang="en-US" sz="1400" dirty="0"/>
          </a:p>
        </p:txBody>
      </p:sp>
      <p:sp>
        <p:nvSpPr>
          <p:cNvPr id="6" name="Text 4"/>
          <p:cNvSpPr/>
          <p:nvPr/>
        </p:nvSpPr>
        <p:spPr>
          <a:xfrm>
            <a:off x="640080" y="3703320"/>
            <a:ext cx="5029200" cy="182880"/>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CASE STUDIES THAT FOLLOW</a:t>
            </a:r>
            <a:endParaRPr lang="en-US" sz="800" dirty="0"/>
          </a:p>
        </p:txBody>
      </p:sp>
      <p:sp>
        <p:nvSpPr>
          <p:cNvPr id="7" name="Text 5"/>
          <p:cNvSpPr/>
          <p:nvPr/>
        </p:nvSpPr>
        <p:spPr>
          <a:xfrm>
            <a:off x="640080" y="3977640"/>
            <a:ext cx="5029200" cy="932688"/>
          </a:xfrm>
          <a:prstGeom prst="rect">
            <a:avLst/>
          </a:prstGeom>
          <a:noFill/>
          <a:ln/>
        </p:spPr>
        <p:txBody>
          <a:bodyPr wrap="square" lIns="0" tIns="0" rIns="0" bIns="0" rtlCol="0" anchor="t"/>
          <a:lstStyle/>
          <a:p>
            <a:pPr marL="0" indent="0">
              <a:lnSpc>
                <a:spcPct val="130000"/>
              </a:lnSpc>
              <a:buNone/>
            </a:pPr>
            <a:r>
              <a:rPr lang="en-US" sz="1300" b="1" dirty="0">
                <a:solidFill>
                  <a:srgbClr val="E8A33D"/>
                </a:solidFill>
                <a:latin typeface="Space Grotesk" pitchFamily="34" charset="0"/>
                <a:ea typeface="Space Grotesk" pitchFamily="34" charset="-122"/>
                <a:cs typeface="Space Grotesk" pitchFamily="34" charset="-120"/>
              </a:rPr>
              <a:t>LTE Trove</a:t>
            </a:r>
            <a:endParaRPr lang="en-US" sz="1300" dirty="0"/>
          </a:p>
          <a:p>
            <a:pPr marL="0" indent="0">
              <a:lnSpc>
                <a:spcPct val="130000"/>
              </a:lnSpc>
              <a:buNone/>
            </a:pPr>
            <a:r>
              <a:rPr lang="en-US" sz="1300" b="1" dirty="0">
                <a:solidFill>
                  <a:srgbClr val="E8A33D"/>
                </a:solidFill>
                <a:latin typeface="Space Grotesk" pitchFamily="34" charset="0"/>
                <a:ea typeface="Space Grotesk" pitchFamily="34" charset="-122"/>
                <a:cs typeface="Space Grotesk" pitchFamily="34" charset="-120"/>
              </a:rPr>
              <a:t>PSX Portfolio Tracker</a:t>
            </a:r>
            <a:endParaRPr lang="en-US" sz="1300" dirty="0"/>
          </a:p>
          <a:p>
            <a:pPr marL="0" indent="0">
              <a:lnSpc>
                <a:spcPct val="130000"/>
              </a:lnSpc>
              <a:buNone/>
            </a:pPr>
            <a:r>
              <a:rPr lang="en-US" sz="1300" b="1" dirty="0">
                <a:solidFill>
                  <a:srgbClr val="E8A33D"/>
                </a:solidFill>
                <a:latin typeface="Space Grotesk" pitchFamily="34" charset="0"/>
                <a:ea typeface="Space Grotesk" pitchFamily="34" charset="-122"/>
                <a:cs typeface="Space Grotesk" pitchFamily="34" charset="-120"/>
              </a:rPr>
              <a:t>Zenith</a:t>
            </a:r>
            <a:endParaRPr lang="en-US" sz="1300" dirty="0"/>
          </a:p>
        </p:txBody>
      </p:sp>
      <p:sp>
        <p:nvSpPr>
          <p:cNvPr id="8" name="Text 6"/>
          <p:cNvSpPr/>
          <p:nvPr/>
        </p:nvSpPr>
        <p:spPr>
          <a:xfrm>
            <a:off x="6263640" y="1627632"/>
            <a:ext cx="5287975" cy="182880"/>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HOW WE HELP</a:t>
            </a:r>
            <a:endParaRPr lang="en-US" sz="800" dirty="0"/>
          </a:p>
        </p:txBody>
      </p:sp>
      <p:sp>
        <p:nvSpPr>
          <p:cNvPr id="9" name="Shape 7"/>
          <p:cNvSpPr/>
          <p:nvPr/>
        </p:nvSpPr>
        <p:spPr>
          <a:xfrm>
            <a:off x="6263640" y="1920240"/>
            <a:ext cx="5287975" cy="0"/>
          </a:xfrm>
          <a:prstGeom prst="line">
            <a:avLst/>
          </a:prstGeom>
          <a:noFill/>
          <a:ln w="9525">
            <a:solidFill>
              <a:srgbClr val="2E3033"/>
            </a:solidFill>
            <a:prstDash val="solid"/>
          </a:ln>
        </p:spPr>
        <p:txBody>
          <a:bodyPr/>
          <a:lstStyle/>
          <a:p>
            <a:endParaRPr lang="en-PK"/>
          </a:p>
        </p:txBody>
      </p:sp>
      <p:sp>
        <p:nvSpPr>
          <p:cNvPr id="10" name="Text 8"/>
          <p:cNvSpPr/>
          <p:nvPr/>
        </p:nvSpPr>
        <p:spPr>
          <a:xfrm>
            <a:off x="6263640" y="1920240"/>
            <a:ext cx="411480" cy="658368"/>
          </a:xfrm>
          <a:prstGeom prst="rect">
            <a:avLst/>
          </a:prstGeom>
          <a:noFill/>
          <a:ln/>
        </p:spPr>
        <p:txBody>
          <a:bodyPr wrap="square" lIns="0" tIns="0" rIns="0" bIns="0" rtlCol="0" anchor="ctr"/>
          <a:lstStyle/>
          <a:p>
            <a:pPr marL="0" indent="0">
              <a:buNone/>
            </a:pPr>
            <a:r>
              <a:rPr lang="en-US" sz="900" dirty="0">
                <a:solidFill>
                  <a:srgbClr val="E8A33D"/>
                </a:solidFill>
                <a:latin typeface="IBM Plex Mono" pitchFamily="34" charset="0"/>
                <a:ea typeface="IBM Plex Mono" pitchFamily="34" charset="-122"/>
                <a:cs typeface="IBM Plex Mono" pitchFamily="34" charset="-120"/>
              </a:rPr>
              <a:t>01</a:t>
            </a:r>
            <a:endParaRPr lang="en-US" sz="900" dirty="0"/>
          </a:p>
        </p:txBody>
      </p:sp>
      <p:sp>
        <p:nvSpPr>
          <p:cNvPr id="11" name="Text 9"/>
          <p:cNvSpPr/>
          <p:nvPr/>
        </p:nvSpPr>
        <p:spPr>
          <a:xfrm>
            <a:off x="6720840" y="1920240"/>
            <a:ext cx="4830775" cy="658368"/>
          </a:xfrm>
          <a:prstGeom prst="rect">
            <a:avLst/>
          </a:prstGeom>
          <a:noFill/>
          <a:ln/>
        </p:spPr>
        <p:txBody>
          <a:bodyPr wrap="square" lIns="0" tIns="0" rIns="0" bIns="0" rtlCol="0" anchor="ctr"/>
          <a:lstStyle/>
          <a:p>
            <a:pPr marL="0" indent="0">
              <a:buNone/>
            </a:pPr>
            <a:r>
              <a:rPr lang="en-US" sz="1200" dirty="0">
                <a:solidFill>
                  <a:srgbClr val="FFFFFF"/>
                </a:solidFill>
                <a:latin typeface="IBM Plex Sans" pitchFamily="34" charset="0"/>
                <a:ea typeface="IBM Plex Sans" pitchFamily="34" charset="-122"/>
                <a:cs typeface="IBM Plex Sans" pitchFamily="34" charset="-120"/>
              </a:rPr>
              <a:t>Web applications, customer portals and internal systems</a:t>
            </a:r>
            <a:endParaRPr lang="en-US" sz="1200" dirty="0"/>
          </a:p>
        </p:txBody>
      </p:sp>
      <p:sp>
        <p:nvSpPr>
          <p:cNvPr id="12" name="Shape 10"/>
          <p:cNvSpPr/>
          <p:nvPr/>
        </p:nvSpPr>
        <p:spPr>
          <a:xfrm>
            <a:off x="6263640" y="2578608"/>
            <a:ext cx="5287975" cy="0"/>
          </a:xfrm>
          <a:prstGeom prst="line">
            <a:avLst/>
          </a:prstGeom>
          <a:noFill/>
          <a:ln w="9525">
            <a:solidFill>
              <a:srgbClr val="2E3033"/>
            </a:solidFill>
            <a:prstDash val="solid"/>
          </a:ln>
        </p:spPr>
        <p:txBody>
          <a:bodyPr/>
          <a:lstStyle/>
          <a:p>
            <a:endParaRPr lang="en-PK"/>
          </a:p>
        </p:txBody>
      </p:sp>
      <p:sp>
        <p:nvSpPr>
          <p:cNvPr id="13" name="Text 11"/>
          <p:cNvSpPr/>
          <p:nvPr/>
        </p:nvSpPr>
        <p:spPr>
          <a:xfrm>
            <a:off x="6263640" y="2578608"/>
            <a:ext cx="411480" cy="658368"/>
          </a:xfrm>
          <a:prstGeom prst="rect">
            <a:avLst/>
          </a:prstGeom>
          <a:noFill/>
          <a:ln/>
        </p:spPr>
        <p:txBody>
          <a:bodyPr wrap="square" lIns="0" tIns="0" rIns="0" bIns="0" rtlCol="0" anchor="ctr"/>
          <a:lstStyle/>
          <a:p>
            <a:pPr marL="0" indent="0">
              <a:buNone/>
            </a:pPr>
            <a:r>
              <a:rPr lang="en-US" sz="900" dirty="0">
                <a:solidFill>
                  <a:srgbClr val="E8A33D"/>
                </a:solidFill>
                <a:latin typeface="IBM Plex Mono" pitchFamily="34" charset="0"/>
                <a:ea typeface="IBM Plex Mono" pitchFamily="34" charset="-122"/>
                <a:cs typeface="IBM Plex Mono" pitchFamily="34" charset="-120"/>
              </a:rPr>
              <a:t>02</a:t>
            </a:r>
            <a:endParaRPr lang="en-US" sz="900" dirty="0"/>
          </a:p>
        </p:txBody>
      </p:sp>
      <p:sp>
        <p:nvSpPr>
          <p:cNvPr id="14" name="Text 12"/>
          <p:cNvSpPr/>
          <p:nvPr/>
        </p:nvSpPr>
        <p:spPr>
          <a:xfrm>
            <a:off x="6720840" y="2578608"/>
            <a:ext cx="4830775" cy="658368"/>
          </a:xfrm>
          <a:prstGeom prst="rect">
            <a:avLst/>
          </a:prstGeom>
          <a:noFill/>
          <a:ln/>
        </p:spPr>
        <p:txBody>
          <a:bodyPr wrap="square" lIns="0" tIns="0" rIns="0" bIns="0" rtlCol="0" anchor="ctr"/>
          <a:lstStyle/>
          <a:p>
            <a:pPr marL="0" indent="0">
              <a:buNone/>
            </a:pPr>
            <a:r>
              <a:rPr lang="en-US" sz="1200" dirty="0">
                <a:solidFill>
                  <a:srgbClr val="FFFFFF"/>
                </a:solidFill>
                <a:latin typeface="IBM Plex Sans" pitchFamily="34" charset="0"/>
                <a:ea typeface="IBM Plex Sans" pitchFamily="34" charset="-122"/>
                <a:cs typeface="IBM Plex Sans" pitchFamily="34" charset="-120"/>
              </a:rPr>
              <a:t>Replace spreadsheets and manual trackers with something built for the job</a:t>
            </a:r>
            <a:endParaRPr lang="en-US" sz="1200" dirty="0"/>
          </a:p>
        </p:txBody>
      </p:sp>
      <p:sp>
        <p:nvSpPr>
          <p:cNvPr id="15" name="Shape 13"/>
          <p:cNvSpPr/>
          <p:nvPr/>
        </p:nvSpPr>
        <p:spPr>
          <a:xfrm>
            <a:off x="6263640" y="3236976"/>
            <a:ext cx="5287975" cy="0"/>
          </a:xfrm>
          <a:prstGeom prst="line">
            <a:avLst/>
          </a:prstGeom>
          <a:noFill/>
          <a:ln w="9525">
            <a:solidFill>
              <a:srgbClr val="2E3033"/>
            </a:solidFill>
            <a:prstDash val="solid"/>
          </a:ln>
        </p:spPr>
        <p:txBody>
          <a:bodyPr/>
          <a:lstStyle/>
          <a:p>
            <a:endParaRPr lang="en-PK"/>
          </a:p>
        </p:txBody>
      </p:sp>
      <p:sp>
        <p:nvSpPr>
          <p:cNvPr id="16" name="Text 14"/>
          <p:cNvSpPr/>
          <p:nvPr/>
        </p:nvSpPr>
        <p:spPr>
          <a:xfrm>
            <a:off x="6263640" y="3236976"/>
            <a:ext cx="411480" cy="658368"/>
          </a:xfrm>
          <a:prstGeom prst="rect">
            <a:avLst/>
          </a:prstGeom>
          <a:noFill/>
          <a:ln/>
        </p:spPr>
        <p:txBody>
          <a:bodyPr wrap="square" lIns="0" tIns="0" rIns="0" bIns="0" rtlCol="0" anchor="ctr"/>
          <a:lstStyle/>
          <a:p>
            <a:pPr marL="0" indent="0">
              <a:buNone/>
            </a:pPr>
            <a:r>
              <a:rPr lang="en-US" sz="900" dirty="0">
                <a:solidFill>
                  <a:srgbClr val="E8A33D"/>
                </a:solidFill>
                <a:latin typeface="IBM Plex Mono" pitchFamily="34" charset="0"/>
                <a:ea typeface="IBM Plex Mono" pitchFamily="34" charset="-122"/>
                <a:cs typeface="IBM Plex Mono" pitchFamily="34" charset="-120"/>
              </a:rPr>
              <a:t>03</a:t>
            </a:r>
            <a:endParaRPr lang="en-US" sz="900" dirty="0"/>
          </a:p>
        </p:txBody>
      </p:sp>
      <p:sp>
        <p:nvSpPr>
          <p:cNvPr id="17" name="Text 15"/>
          <p:cNvSpPr/>
          <p:nvPr/>
        </p:nvSpPr>
        <p:spPr>
          <a:xfrm>
            <a:off x="6720840" y="3236976"/>
            <a:ext cx="4830775" cy="658368"/>
          </a:xfrm>
          <a:prstGeom prst="rect">
            <a:avLst/>
          </a:prstGeom>
          <a:noFill/>
          <a:ln/>
        </p:spPr>
        <p:txBody>
          <a:bodyPr wrap="square" lIns="0" tIns="0" rIns="0" bIns="0" rtlCol="0" anchor="ctr"/>
          <a:lstStyle/>
          <a:p>
            <a:pPr marL="0" indent="0">
              <a:buNone/>
            </a:pPr>
            <a:r>
              <a:rPr lang="en-US" sz="1200" dirty="0">
                <a:solidFill>
                  <a:srgbClr val="FFFFFF"/>
                </a:solidFill>
                <a:latin typeface="IBM Plex Sans" pitchFamily="34" charset="0"/>
                <a:ea typeface="IBM Plex Sans" pitchFamily="34" charset="-122"/>
                <a:cs typeface="IBM Plex Sans" pitchFamily="34" charset="-120"/>
              </a:rPr>
              <a:t>Connect to what you already use: accounting, CRM, payments, email, WhatsApp</a:t>
            </a:r>
            <a:endParaRPr lang="en-US" sz="1200" dirty="0"/>
          </a:p>
        </p:txBody>
      </p:sp>
      <p:sp>
        <p:nvSpPr>
          <p:cNvPr id="18" name="Shape 16"/>
          <p:cNvSpPr/>
          <p:nvPr/>
        </p:nvSpPr>
        <p:spPr>
          <a:xfrm>
            <a:off x="6263640" y="3895344"/>
            <a:ext cx="5287975" cy="0"/>
          </a:xfrm>
          <a:prstGeom prst="line">
            <a:avLst/>
          </a:prstGeom>
          <a:noFill/>
          <a:ln w="9525">
            <a:solidFill>
              <a:srgbClr val="2E3033"/>
            </a:solidFill>
            <a:prstDash val="solid"/>
          </a:ln>
        </p:spPr>
        <p:txBody>
          <a:bodyPr/>
          <a:lstStyle/>
          <a:p>
            <a:endParaRPr lang="en-PK"/>
          </a:p>
        </p:txBody>
      </p:sp>
      <p:sp>
        <p:nvSpPr>
          <p:cNvPr id="19" name="Text 17"/>
          <p:cNvSpPr/>
          <p:nvPr/>
        </p:nvSpPr>
        <p:spPr>
          <a:xfrm>
            <a:off x="6263640" y="3895344"/>
            <a:ext cx="411480" cy="658368"/>
          </a:xfrm>
          <a:prstGeom prst="rect">
            <a:avLst/>
          </a:prstGeom>
          <a:noFill/>
          <a:ln/>
        </p:spPr>
        <p:txBody>
          <a:bodyPr wrap="square" lIns="0" tIns="0" rIns="0" bIns="0" rtlCol="0" anchor="ctr"/>
          <a:lstStyle/>
          <a:p>
            <a:pPr marL="0" indent="0">
              <a:buNone/>
            </a:pPr>
            <a:r>
              <a:rPr lang="en-US" sz="900" dirty="0">
                <a:solidFill>
                  <a:srgbClr val="E8A33D"/>
                </a:solidFill>
                <a:latin typeface="IBM Plex Mono" pitchFamily="34" charset="0"/>
                <a:ea typeface="IBM Plex Mono" pitchFamily="34" charset="-122"/>
                <a:cs typeface="IBM Plex Mono" pitchFamily="34" charset="-120"/>
              </a:rPr>
              <a:t>04</a:t>
            </a:r>
            <a:endParaRPr lang="en-US" sz="900" dirty="0"/>
          </a:p>
        </p:txBody>
      </p:sp>
      <p:sp>
        <p:nvSpPr>
          <p:cNvPr id="20" name="Text 18"/>
          <p:cNvSpPr/>
          <p:nvPr/>
        </p:nvSpPr>
        <p:spPr>
          <a:xfrm>
            <a:off x="6720840" y="3895344"/>
            <a:ext cx="4830775" cy="658368"/>
          </a:xfrm>
          <a:prstGeom prst="rect">
            <a:avLst/>
          </a:prstGeom>
          <a:noFill/>
          <a:ln/>
        </p:spPr>
        <p:txBody>
          <a:bodyPr wrap="square" lIns="0" tIns="0" rIns="0" bIns="0" rtlCol="0" anchor="ctr"/>
          <a:lstStyle/>
          <a:p>
            <a:pPr marL="0" indent="0">
              <a:buNone/>
            </a:pPr>
            <a:r>
              <a:rPr lang="en-US" sz="1200" dirty="0">
                <a:solidFill>
                  <a:srgbClr val="FFFFFF"/>
                </a:solidFill>
                <a:latin typeface="IBM Plex Sans" pitchFamily="34" charset="0"/>
                <a:ea typeface="IBM Plex Sans" pitchFamily="34" charset="-122"/>
                <a:cs typeface="IBM Plex Sans" pitchFamily="34" charset="-120"/>
              </a:rPr>
              <a:t>Extend and repair software you already own instead of starting again</a:t>
            </a:r>
            <a:endParaRPr lang="en-US" sz="1200" dirty="0"/>
          </a:p>
        </p:txBody>
      </p:sp>
      <p:sp>
        <p:nvSpPr>
          <p:cNvPr id="21" name="Shape 19"/>
          <p:cNvSpPr/>
          <p:nvPr/>
        </p:nvSpPr>
        <p:spPr>
          <a:xfrm>
            <a:off x="6263640" y="4553712"/>
            <a:ext cx="5287975" cy="0"/>
          </a:xfrm>
          <a:prstGeom prst="line">
            <a:avLst/>
          </a:prstGeom>
          <a:noFill/>
          <a:ln w="9525">
            <a:solidFill>
              <a:srgbClr val="2E3033"/>
            </a:solidFill>
            <a:prstDash val="solid"/>
          </a:ln>
        </p:spPr>
        <p:txBody>
          <a:bodyPr/>
          <a:lstStyle/>
          <a:p>
            <a:endParaRPr lang="en-PK"/>
          </a:p>
        </p:txBody>
      </p:sp>
      <p:sp>
        <p:nvSpPr>
          <p:cNvPr id="22" name="Text 20"/>
          <p:cNvSpPr/>
          <p:nvPr/>
        </p:nvSpPr>
        <p:spPr>
          <a:xfrm>
            <a:off x="6263640" y="4553712"/>
            <a:ext cx="411480" cy="658368"/>
          </a:xfrm>
          <a:prstGeom prst="rect">
            <a:avLst/>
          </a:prstGeom>
          <a:noFill/>
          <a:ln/>
        </p:spPr>
        <p:txBody>
          <a:bodyPr wrap="square" lIns="0" tIns="0" rIns="0" bIns="0" rtlCol="0" anchor="ctr"/>
          <a:lstStyle/>
          <a:p>
            <a:pPr marL="0" indent="0">
              <a:buNone/>
            </a:pPr>
            <a:r>
              <a:rPr lang="en-US" sz="900" dirty="0">
                <a:solidFill>
                  <a:srgbClr val="E8A33D"/>
                </a:solidFill>
                <a:latin typeface="IBM Plex Mono" pitchFamily="34" charset="0"/>
                <a:ea typeface="IBM Plex Mono" pitchFamily="34" charset="-122"/>
                <a:cs typeface="IBM Plex Mono" pitchFamily="34" charset="-120"/>
              </a:rPr>
              <a:t>05</a:t>
            </a:r>
            <a:endParaRPr lang="en-US" sz="900" dirty="0"/>
          </a:p>
        </p:txBody>
      </p:sp>
      <p:sp>
        <p:nvSpPr>
          <p:cNvPr id="23" name="Text 21"/>
          <p:cNvSpPr/>
          <p:nvPr/>
        </p:nvSpPr>
        <p:spPr>
          <a:xfrm>
            <a:off x="6720840" y="4553712"/>
            <a:ext cx="4830775" cy="658368"/>
          </a:xfrm>
          <a:prstGeom prst="rect">
            <a:avLst/>
          </a:prstGeom>
          <a:noFill/>
          <a:ln/>
        </p:spPr>
        <p:txBody>
          <a:bodyPr wrap="square" lIns="0" tIns="0" rIns="0" bIns="0" rtlCol="0" anchor="ctr"/>
          <a:lstStyle/>
          <a:p>
            <a:pPr marL="0" indent="0">
              <a:buNone/>
            </a:pPr>
            <a:r>
              <a:rPr lang="en-US" sz="1200" dirty="0">
                <a:solidFill>
                  <a:srgbClr val="FFFFFF"/>
                </a:solidFill>
                <a:latin typeface="IBM Plex Sans" pitchFamily="34" charset="0"/>
                <a:ea typeface="IBM Plex Sans" pitchFamily="34" charset="-122"/>
                <a:cs typeface="IBM Plex Sans" pitchFamily="34" charset="-120"/>
              </a:rPr>
              <a:t>Logins, permissions, payments, notifications and the workflow behind them</a:t>
            </a:r>
            <a:endParaRPr lang="en-US" sz="1200" dirty="0"/>
          </a:p>
        </p:txBody>
      </p:sp>
      <p:sp>
        <p:nvSpPr>
          <p:cNvPr id="24" name="Shape 22"/>
          <p:cNvSpPr/>
          <p:nvPr/>
        </p:nvSpPr>
        <p:spPr>
          <a:xfrm>
            <a:off x="6263640" y="5212080"/>
            <a:ext cx="5287975" cy="0"/>
          </a:xfrm>
          <a:prstGeom prst="line">
            <a:avLst/>
          </a:prstGeom>
          <a:noFill/>
          <a:ln w="9525">
            <a:solidFill>
              <a:srgbClr val="2E3033"/>
            </a:solidFill>
            <a:prstDash val="solid"/>
          </a:ln>
        </p:spPr>
        <p:txBody>
          <a:bodyPr/>
          <a:lstStyle/>
          <a:p>
            <a:endParaRPr lang="en-PK"/>
          </a:p>
        </p:txBody>
      </p:sp>
      <p:sp>
        <p:nvSpPr>
          <p:cNvPr id="25" name="Text 23"/>
          <p:cNvSpPr/>
          <p:nvPr/>
        </p:nvSpPr>
        <p:spPr>
          <a:xfrm>
            <a:off x="6263640" y="5212080"/>
            <a:ext cx="411480" cy="658368"/>
          </a:xfrm>
          <a:prstGeom prst="rect">
            <a:avLst/>
          </a:prstGeom>
          <a:noFill/>
          <a:ln/>
        </p:spPr>
        <p:txBody>
          <a:bodyPr wrap="square" lIns="0" tIns="0" rIns="0" bIns="0" rtlCol="0" anchor="ctr"/>
          <a:lstStyle/>
          <a:p>
            <a:pPr marL="0" indent="0">
              <a:buNone/>
            </a:pPr>
            <a:r>
              <a:rPr lang="en-US" sz="900" dirty="0">
                <a:solidFill>
                  <a:srgbClr val="E8A33D"/>
                </a:solidFill>
                <a:latin typeface="IBM Plex Mono" pitchFamily="34" charset="0"/>
                <a:ea typeface="IBM Plex Mono" pitchFamily="34" charset="-122"/>
                <a:cs typeface="IBM Plex Mono" pitchFamily="34" charset="-120"/>
              </a:rPr>
              <a:t>06</a:t>
            </a:r>
            <a:endParaRPr lang="en-US" sz="900" dirty="0"/>
          </a:p>
        </p:txBody>
      </p:sp>
      <p:sp>
        <p:nvSpPr>
          <p:cNvPr id="26" name="Text 24"/>
          <p:cNvSpPr/>
          <p:nvPr/>
        </p:nvSpPr>
        <p:spPr>
          <a:xfrm>
            <a:off x="6720840" y="5212080"/>
            <a:ext cx="4830775" cy="658368"/>
          </a:xfrm>
          <a:prstGeom prst="rect">
            <a:avLst/>
          </a:prstGeom>
          <a:noFill/>
          <a:ln/>
        </p:spPr>
        <p:txBody>
          <a:bodyPr wrap="square" lIns="0" tIns="0" rIns="0" bIns="0" rtlCol="0" anchor="ctr"/>
          <a:lstStyle/>
          <a:p>
            <a:pPr marL="0" indent="0">
              <a:buNone/>
            </a:pPr>
            <a:r>
              <a:rPr lang="en-US" sz="1200" dirty="0">
                <a:solidFill>
                  <a:srgbClr val="FFFFFF"/>
                </a:solidFill>
                <a:latin typeface="IBM Plex Sans" pitchFamily="34" charset="0"/>
                <a:ea typeface="IBM Plex Sans" pitchFamily="34" charset="-122"/>
                <a:cs typeface="IBM Plex Sans" pitchFamily="34" charset="-120"/>
              </a:rPr>
              <a:t>Put it live, watch it, and hand over documentation your team can work from</a:t>
            </a:r>
            <a:endParaRPr lang="en-US" sz="1200" dirty="0"/>
          </a:p>
        </p:txBody>
      </p:sp>
      <p:sp>
        <p:nvSpPr>
          <p:cNvPr id="27" name="Shape 25"/>
          <p:cNvSpPr/>
          <p:nvPr/>
        </p:nvSpPr>
        <p:spPr>
          <a:xfrm>
            <a:off x="6263640" y="5870448"/>
            <a:ext cx="5287975" cy="0"/>
          </a:xfrm>
          <a:prstGeom prst="line">
            <a:avLst/>
          </a:prstGeom>
          <a:noFill/>
          <a:ln w="9525">
            <a:solidFill>
              <a:srgbClr val="2E3033"/>
            </a:solidFill>
            <a:prstDash val="solid"/>
          </a:ln>
        </p:spPr>
        <p:txBody>
          <a:bodyPr/>
          <a:lstStyle/>
          <a:p>
            <a:endParaRPr lang="en-PK"/>
          </a:p>
        </p:txBody>
      </p:sp>
      <p:sp>
        <p:nvSpPr>
          <p:cNvPr id="28" name="Text 26"/>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9" name="Text 27"/>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11 / 30</a:t>
            </a:r>
            <a:endParaRPr lang="en-US" sz="700" dirty="0"/>
          </a:p>
        </p:txBody>
      </p:sp>
    </p:spTree>
    <p:extLst>
      <p:ext uri="{BB962C8B-B14F-4D97-AF65-F5344CB8AC3E}">
        <p14:creationId xmlns:p14="http://schemas.microsoft.com/office/powerpoint/2010/main" val="1777339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05  SOFTWARE DEVELOPMENT  ·  CASE STUDY 01 / 03</a:t>
            </a:r>
            <a:endParaRPr lang="en-US" sz="900" dirty="0"/>
          </a:p>
        </p:txBody>
      </p:sp>
      <p:sp>
        <p:nvSpPr>
          <p:cNvPr id="4" name="Text 2"/>
          <p:cNvSpPr/>
          <p:nvPr/>
        </p:nvSpPr>
        <p:spPr>
          <a:xfrm>
            <a:off x="640080" y="777240"/>
            <a:ext cx="5120640" cy="548640"/>
          </a:xfrm>
          <a:prstGeom prst="rect">
            <a:avLst/>
          </a:prstGeom>
          <a:noFill/>
          <a:ln/>
        </p:spPr>
        <p:txBody>
          <a:bodyPr wrap="square" lIns="0" tIns="0" rIns="0" bIns="0" rtlCol="0" anchor="t"/>
          <a:lstStyle/>
          <a:p>
            <a:pPr marL="0" indent="0">
              <a:lnSpc>
                <a:spcPct val="95000"/>
              </a:lnSpc>
              <a:buNone/>
            </a:pPr>
            <a:r>
              <a:rPr lang="en-US" sz="3200" b="1" dirty="0">
                <a:solidFill>
                  <a:srgbClr val="14161A"/>
                </a:solidFill>
                <a:latin typeface="Space Grotesk" pitchFamily="34" charset="0"/>
                <a:ea typeface="Space Grotesk" pitchFamily="34" charset="-122"/>
                <a:cs typeface="Space Grotesk" pitchFamily="34" charset="-120"/>
              </a:rPr>
              <a:t>LTE Trove</a:t>
            </a:r>
            <a:endParaRPr lang="en-US" sz="3200" dirty="0"/>
          </a:p>
        </p:txBody>
      </p:sp>
      <p:sp>
        <p:nvSpPr>
          <p:cNvPr id="5" name="Text 3"/>
          <p:cNvSpPr/>
          <p:nvPr/>
        </p:nvSpPr>
        <p:spPr>
          <a:xfrm>
            <a:off x="640080" y="1389888"/>
            <a:ext cx="5120640" cy="320040"/>
          </a:xfrm>
          <a:prstGeom prst="rect">
            <a:avLst/>
          </a:prstGeom>
          <a:noFill/>
          <a:ln/>
        </p:spPr>
        <p:txBody>
          <a:bodyPr wrap="square" lIns="0" tIns="0" rIns="0" bIns="0" rtlCol="0" anchor="t"/>
          <a:lstStyle/>
          <a:p>
            <a:pPr marL="0" indent="0">
              <a:buNone/>
            </a:pPr>
            <a:r>
              <a:rPr lang="en-US" sz="1500" dirty="0">
                <a:solidFill>
                  <a:srgbClr val="5B6066"/>
                </a:solidFill>
                <a:latin typeface="IBM Plex Sans" pitchFamily="34" charset="0"/>
                <a:ea typeface="IBM Plex Sans" pitchFamily="34" charset="-122"/>
                <a:cs typeface="IBM Plex Sans" pitchFamily="34" charset="-120"/>
              </a:rPr>
              <a:t>Virtual 4G network lab</a:t>
            </a:r>
            <a:endParaRPr lang="en-US" sz="1500" dirty="0"/>
          </a:p>
        </p:txBody>
      </p:sp>
      <p:sp>
        <p:nvSpPr>
          <p:cNvPr id="6" name="Shape 4"/>
          <p:cNvSpPr/>
          <p:nvPr/>
        </p:nvSpPr>
        <p:spPr>
          <a:xfrm>
            <a:off x="640080" y="1810512"/>
            <a:ext cx="5120640" cy="0"/>
          </a:xfrm>
          <a:prstGeom prst="line">
            <a:avLst/>
          </a:prstGeom>
          <a:noFill/>
          <a:ln w="9525">
            <a:solidFill>
              <a:srgbClr val="DCD8D0"/>
            </a:solidFill>
            <a:prstDash val="solid"/>
          </a:ln>
        </p:spPr>
        <p:txBody>
          <a:bodyPr/>
          <a:lstStyle/>
          <a:p>
            <a:endParaRPr lang="en-PK"/>
          </a:p>
        </p:txBody>
      </p:sp>
      <p:sp>
        <p:nvSpPr>
          <p:cNvPr id="7" name="Text 5"/>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6F6A5F"/>
                </a:solidFill>
                <a:latin typeface="IBM Plex Mono" pitchFamily="34" charset="0"/>
                <a:ea typeface="IBM Plex Mono" pitchFamily="34" charset="-122"/>
                <a:cs typeface="IBM Plex Mono" pitchFamily="34" charset="-120"/>
              </a:rPr>
              <a:t>TELECOMMUNICATIONS — NAME WITHHELD   ·   2026   ·   6 MONTHS   ·   DELIVERED</a:t>
            </a:r>
            <a:endParaRPr lang="en-US" sz="800" dirty="0"/>
          </a:p>
        </p:txBody>
      </p:sp>
      <p:sp>
        <p:nvSpPr>
          <p:cNvPr id="8" name="Shape 6"/>
          <p:cNvSpPr/>
          <p:nvPr/>
        </p:nvSpPr>
        <p:spPr>
          <a:xfrm>
            <a:off x="640080" y="2331720"/>
            <a:ext cx="5120640" cy="0"/>
          </a:xfrm>
          <a:prstGeom prst="line">
            <a:avLst/>
          </a:prstGeom>
          <a:noFill/>
          <a:ln w="9525">
            <a:solidFill>
              <a:srgbClr val="DCD8D0"/>
            </a:solidFill>
            <a:prstDash val="solid"/>
          </a:ln>
        </p:spPr>
        <p:txBody>
          <a:bodyPr/>
          <a:lstStyle/>
          <a:p>
            <a:endParaRPr lang="en-PK"/>
          </a:p>
        </p:txBody>
      </p:sp>
      <p:sp>
        <p:nvSpPr>
          <p:cNvPr id="9" name="Text 7"/>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THE PROBLEM</a:t>
            </a:r>
            <a:endParaRPr lang="en-US" sz="800" dirty="0"/>
          </a:p>
        </p:txBody>
      </p:sp>
      <p:sp>
        <p:nvSpPr>
          <p:cNvPr id="10" name="Text 8"/>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Testing and validating cellular network protocols traditionally requires dedicated RF testbenches, physical eNodeB base stations, software-defined radios, RF shielding enclosures and programmable USIM cards — tens of thousands of dollars per bench. Physical test rigs create constant contention across engineering teams, introduce hardware misconfigurations that are difficult to isolate, and demand hours of manual wiring and flashing just to test a single core configuration or handover scenario.</a:t>
            </a:r>
            <a:endParaRPr lang="en-US" sz="1150" dirty="0"/>
          </a:p>
        </p:txBody>
      </p:sp>
      <p:sp>
        <p:nvSpPr>
          <p:cNvPr id="11" name="Text 9"/>
          <p:cNvSpPr/>
          <p:nvPr/>
        </p:nvSpPr>
        <p:spPr>
          <a:xfrm>
            <a:off x="640080" y="4606036"/>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WHAT CHANGED</a:t>
            </a:r>
            <a:endParaRPr lang="en-US" sz="800" dirty="0"/>
          </a:p>
        </p:txBody>
      </p:sp>
      <p:sp>
        <p:nvSpPr>
          <p:cNvPr id="12" name="Text 10"/>
          <p:cNvSpPr/>
          <p:nvPr/>
        </p:nvSpPr>
        <p:spPr>
          <a:xfrm>
            <a:off x="640080" y="4852924"/>
            <a:ext cx="5120640" cy="1456436"/>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The dependency on specialised lab hardware is gone: complete, isolated 4G LTE networks now spin up on standard compute workstations and in CI. Protocol engineers configure multi-eNodeB topologies, simulate subscriber authentication, execute X2 handovers and verify end-to-end data session flows through automated suites in minutes rather than days.</a:t>
            </a:r>
            <a:endParaRPr lang="en-US" sz="1150" dirty="0"/>
          </a:p>
        </p:txBody>
      </p:sp>
      <p:sp>
        <p:nvSpPr>
          <p:cNvPr id="13" name="Text 11"/>
          <p:cNvSpPr/>
          <p:nvPr/>
        </p:nvSpPr>
        <p:spPr>
          <a:xfrm>
            <a:off x="6263640" y="548640"/>
            <a:ext cx="3367735" cy="365760"/>
          </a:xfrm>
          <a:prstGeom prst="rect">
            <a:avLst/>
          </a:prstGeom>
          <a:noFill/>
          <a:ln/>
        </p:spPr>
        <p:txBody>
          <a:bodyPr wrap="square" lIns="0" tIns="0" rIns="0" bIns="0" rtlCol="0" anchor="t"/>
          <a:lstStyle/>
          <a:p>
            <a:pPr marL="0" indent="0">
              <a:buNone/>
            </a:pPr>
            <a:r>
              <a:rPr lang="en-US" sz="750" kern="0" spc="100" dirty="0">
                <a:solidFill>
                  <a:srgbClr val="6F6A5F"/>
                </a:solidFill>
                <a:latin typeface="IBM Plex Mono" pitchFamily="34" charset="0"/>
                <a:ea typeface="IBM Plex Mono" pitchFamily="34" charset="-122"/>
                <a:cs typeface="IBM Plex Mono" pitchFamily="34" charset="-120"/>
              </a:rPr>
              <a:t>LAB SETUP &amp; 3GPP REGRESSION TEST DURATION (HOURS)</a:t>
            </a:r>
            <a:endParaRPr lang="en-US" sz="750" dirty="0"/>
          </a:p>
        </p:txBody>
      </p:sp>
      <p:sp>
        <p:nvSpPr>
          <p:cNvPr id="14" name="Text 12"/>
          <p:cNvSpPr/>
          <p:nvPr/>
        </p:nvSpPr>
        <p:spPr>
          <a:xfrm>
            <a:off x="9768535" y="530352"/>
            <a:ext cx="1005840" cy="219456"/>
          </a:xfrm>
          <a:prstGeom prst="rect">
            <a:avLst/>
          </a:prstGeom>
          <a:noFill/>
          <a:ln/>
        </p:spPr>
        <p:txBody>
          <a:bodyPr wrap="square" lIns="0" tIns="0" rIns="0" bIns="0" rtlCol="0" anchor="ctr"/>
          <a:lstStyle/>
          <a:p>
            <a:pPr marL="0" indent="0" algn="r">
              <a:buNone/>
            </a:pPr>
            <a:r>
              <a:rPr lang="en-US" sz="900" dirty="0">
                <a:solidFill>
                  <a:srgbClr val="5B6066"/>
                </a:solidFill>
                <a:latin typeface="IBM Plex Mono" pitchFamily="34" charset="0"/>
                <a:ea typeface="IBM Plex Mono" pitchFamily="34" charset="-122"/>
                <a:cs typeface="IBM Plex Mono" pitchFamily="34" charset="-120"/>
              </a:rPr>
              <a:t>98 → 5</a:t>
            </a:r>
            <a:endParaRPr lang="en-US" sz="900" dirty="0"/>
          </a:p>
        </p:txBody>
      </p:sp>
      <p:sp>
        <p:nvSpPr>
          <p:cNvPr id="15" name="Text 13"/>
          <p:cNvSpPr/>
          <p:nvPr/>
        </p:nvSpPr>
        <p:spPr>
          <a:xfrm>
            <a:off x="10865815" y="530352"/>
            <a:ext cx="685800" cy="219456"/>
          </a:xfrm>
          <a:prstGeom prst="roundRect">
            <a:avLst>
              <a:gd name="adj" fmla="val 16667"/>
            </a:avLst>
          </a:prstGeom>
          <a:solidFill>
            <a:srgbClr val="F0E2C8"/>
          </a:solidFill>
          <a:ln w="6350">
            <a:solidFill>
              <a:srgbClr val="8F5D0A"/>
            </a:solidFill>
          </a:ln>
        </p:spPr>
        <p:txBody>
          <a:bodyPr wrap="square" lIns="0" tIns="0" rIns="0" bIns="0" rtlCol="0" anchor="ctr"/>
          <a:lstStyle/>
          <a:p>
            <a:pPr marL="0" indent="0" algn="ctr">
              <a:buNone/>
            </a:pPr>
            <a:r>
              <a:rPr lang="en-US" sz="900" b="1" dirty="0">
                <a:solidFill>
                  <a:srgbClr val="8F5D0A"/>
                </a:solidFill>
                <a:latin typeface="IBM Plex Mono" pitchFamily="34" charset="0"/>
                <a:ea typeface="IBM Plex Mono" pitchFamily="34" charset="-122"/>
                <a:cs typeface="IBM Plex Mono" pitchFamily="34" charset="-120"/>
              </a:rPr>
              <a:t>-95%</a:t>
            </a:r>
            <a:endParaRPr lang="en-US" sz="900" dirty="0"/>
          </a:p>
        </p:txBody>
      </p:sp>
      <p:graphicFrame>
        <p:nvGraphicFramePr>
          <p:cNvPr id="16" name="Chart 0"/>
          <p:cNvGraphicFramePr/>
          <p:nvPr/>
        </p:nvGraphicFramePr>
        <p:xfrm>
          <a:off x="6190488" y="932688"/>
          <a:ext cx="5434279" cy="2450592"/>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4"/>
          <p:cNvSpPr/>
          <p:nvPr/>
        </p:nvSpPr>
        <p:spPr>
          <a:xfrm>
            <a:off x="6263640" y="3840480"/>
            <a:ext cx="2415388" cy="0"/>
          </a:xfrm>
          <a:prstGeom prst="line">
            <a:avLst/>
          </a:prstGeom>
          <a:noFill/>
          <a:ln w="9525">
            <a:solidFill>
              <a:srgbClr val="DCD8D0"/>
            </a:solidFill>
            <a:prstDash val="solid"/>
          </a:ln>
        </p:spPr>
        <p:txBody>
          <a:bodyPr/>
          <a:lstStyle/>
          <a:p>
            <a:endParaRPr lang="en-PK"/>
          </a:p>
        </p:txBody>
      </p:sp>
      <p:sp>
        <p:nvSpPr>
          <p:cNvPr id="18" name="Text 15"/>
          <p:cNvSpPr/>
          <p:nvPr/>
        </p:nvSpPr>
        <p:spPr>
          <a:xfrm>
            <a:off x="6263640" y="395020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100%</a:t>
            </a:r>
            <a:endParaRPr lang="en-US" sz="2400" dirty="0"/>
          </a:p>
        </p:txBody>
      </p:sp>
      <p:sp>
        <p:nvSpPr>
          <p:cNvPr id="19" name="Text 16"/>
          <p:cNvSpPr/>
          <p:nvPr/>
        </p:nvSpPr>
        <p:spPr>
          <a:xfrm>
            <a:off x="6263640"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software-defined RF simulation, no physical hardware dependency</a:t>
            </a:r>
            <a:endParaRPr lang="en-US" sz="950" dirty="0"/>
          </a:p>
        </p:txBody>
      </p:sp>
      <p:sp>
        <p:nvSpPr>
          <p:cNvPr id="20" name="Shape 17"/>
          <p:cNvSpPr/>
          <p:nvPr/>
        </p:nvSpPr>
        <p:spPr>
          <a:xfrm>
            <a:off x="8907628" y="3840480"/>
            <a:ext cx="2415388" cy="0"/>
          </a:xfrm>
          <a:prstGeom prst="line">
            <a:avLst/>
          </a:prstGeom>
          <a:noFill/>
          <a:ln w="9525">
            <a:solidFill>
              <a:srgbClr val="DCD8D0"/>
            </a:solidFill>
            <a:prstDash val="solid"/>
          </a:ln>
        </p:spPr>
        <p:txBody>
          <a:bodyPr/>
          <a:lstStyle/>
          <a:p>
            <a:endParaRPr lang="en-PK"/>
          </a:p>
        </p:txBody>
      </p:sp>
      <p:sp>
        <p:nvSpPr>
          <p:cNvPr id="21" name="Text 18"/>
          <p:cNvSpPr/>
          <p:nvPr/>
        </p:nvSpPr>
        <p:spPr>
          <a:xfrm>
            <a:off x="8907628" y="395020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&lt; 3 min</a:t>
            </a:r>
            <a:endParaRPr lang="en-US" sz="2400" dirty="0"/>
          </a:p>
        </p:txBody>
      </p:sp>
      <p:sp>
        <p:nvSpPr>
          <p:cNvPr id="22" name="Text 19"/>
          <p:cNvSpPr/>
          <p:nvPr/>
        </p:nvSpPr>
        <p:spPr>
          <a:xfrm>
            <a:off x="8907628"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to provision and orchestrate a full multi-node virtual EPC and RAN</a:t>
            </a:r>
            <a:endParaRPr lang="en-US" sz="950" dirty="0"/>
          </a:p>
        </p:txBody>
      </p:sp>
      <p:sp>
        <p:nvSpPr>
          <p:cNvPr id="23" name="Shape 20"/>
          <p:cNvSpPr/>
          <p:nvPr/>
        </p:nvSpPr>
        <p:spPr>
          <a:xfrm>
            <a:off x="6263640" y="5074920"/>
            <a:ext cx="2415388" cy="0"/>
          </a:xfrm>
          <a:prstGeom prst="line">
            <a:avLst/>
          </a:prstGeom>
          <a:noFill/>
          <a:ln w="9525">
            <a:solidFill>
              <a:srgbClr val="DCD8D0"/>
            </a:solidFill>
            <a:prstDash val="solid"/>
          </a:ln>
        </p:spPr>
        <p:txBody>
          <a:bodyPr/>
          <a:lstStyle/>
          <a:p>
            <a:endParaRPr lang="en-PK"/>
          </a:p>
        </p:txBody>
      </p:sp>
      <p:sp>
        <p:nvSpPr>
          <p:cNvPr id="24" name="Text 21"/>
          <p:cNvSpPr/>
          <p:nvPr/>
        </p:nvSpPr>
        <p:spPr>
          <a:xfrm>
            <a:off x="6263640" y="518464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7</a:t>
            </a:r>
            <a:endParaRPr lang="en-US" sz="2400" dirty="0"/>
          </a:p>
        </p:txBody>
      </p:sp>
      <p:sp>
        <p:nvSpPr>
          <p:cNvPr id="25" name="Text 22"/>
          <p:cNvSpPr/>
          <p:nvPr/>
        </p:nvSpPr>
        <p:spPr>
          <a:xfrm>
            <a:off x="6263640"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automated 3GPP milestone verification suites, M1 to M7</a:t>
            </a:r>
            <a:endParaRPr lang="en-US" sz="950" dirty="0"/>
          </a:p>
        </p:txBody>
      </p:sp>
      <p:sp>
        <p:nvSpPr>
          <p:cNvPr id="26" name="Text 23"/>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7" name="Text 24"/>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12 / 30</a:t>
            </a:r>
            <a:endParaRPr lang="en-US" sz="700" dirty="0"/>
          </a:p>
        </p:txBody>
      </p:sp>
    </p:spTree>
    <p:extLst>
      <p:ext uri="{BB962C8B-B14F-4D97-AF65-F5344CB8AC3E}">
        <p14:creationId xmlns:p14="http://schemas.microsoft.com/office/powerpoint/2010/main" val="2583643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05  SOFTWARE DEVELOPMENT  ·  CASE STUDY 02 / 03</a:t>
            </a:r>
            <a:endParaRPr lang="en-US" sz="900" dirty="0"/>
          </a:p>
        </p:txBody>
      </p:sp>
      <p:sp>
        <p:nvSpPr>
          <p:cNvPr id="4" name="Text 2"/>
          <p:cNvSpPr/>
          <p:nvPr/>
        </p:nvSpPr>
        <p:spPr>
          <a:xfrm>
            <a:off x="640080" y="777240"/>
            <a:ext cx="5120640" cy="548640"/>
          </a:xfrm>
          <a:prstGeom prst="rect">
            <a:avLst/>
          </a:prstGeom>
          <a:noFill/>
          <a:ln/>
        </p:spPr>
        <p:txBody>
          <a:bodyPr wrap="square" lIns="0" tIns="0" rIns="0" bIns="0" rtlCol="0" anchor="t"/>
          <a:lstStyle/>
          <a:p>
            <a:pPr marL="0" indent="0">
              <a:lnSpc>
                <a:spcPct val="95000"/>
              </a:lnSpc>
              <a:buNone/>
            </a:pPr>
            <a:r>
              <a:rPr lang="en-US" sz="3200" b="1" dirty="0">
                <a:solidFill>
                  <a:srgbClr val="FFFFFF"/>
                </a:solidFill>
                <a:latin typeface="Space Grotesk" pitchFamily="34" charset="0"/>
                <a:ea typeface="Space Grotesk" pitchFamily="34" charset="-122"/>
                <a:cs typeface="Space Grotesk" pitchFamily="34" charset="-120"/>
              </a:rPr>
              <a:t>PSX Portfolio Tracker</a:t>
            </a:r>
            <a:endParaRPr lang="en-US" sz="3200" dirty="0"/>
          </a:p>
        </p:txBody>
      </p:sp>
      <p:sp>
        <p:nvSpPr>
          <p:cNvPr id="5" name="Text 3"/>
          <p:cNvSpPr/>
          <p:nvPr/>
        </p:nvSpPr>
        <p:spPr>
          <a:xfrm>
            <a:off x="640080" y="1389888"/>
            <a:ext cx="5120640" cy="320040"/>
          </a:xfrm>
          <a:prstGeom prst="rect">
            <a:avLst/>
          </a:prstGeom>
          <a:noFill/>
          <a:ln/>
        </p:spPr>
        <p:txBody>
          <a:bodyPr wrap="square" lIns="0" tIns="0" rIns="0" bIns="0" rtlCol="0" anchor="t"/>
          <a:lstStyle/>
          <a:p>
            <a:pPr marL="0" indent="0">
              <a:buNone/>
            </a:pPr>
            <a:r>
              <a:rPr lang="en-US" sz="1500" dirty="0">
                <a:solidFill>
                  <a:srgbClr val="B6B7B8"/>
                </a:solidFill>
                <a:latin typeface="IBM Plex Sans" pitchFamily="34" charset="0"/>
                <a:ea typeface="IBM Plex Sans" pitchFamily="34" charset="-122"/>
                <a:cs typeface="IBM Plex Sans" pitchFamily="34" charset="-120"/>
              </a:rPr>
              <a:t>Live tracking for the Pakistan Stock Exchange</a:t>
            </a:r>
            <a:endParaRPr lang="en-US" sz="1500" dirty="0"/>
          </a:p>
        </p:txBody>
      </p:sp>
      <p:sp>
        <p:nvSpPr>
          <p:cNvPr id="6" name="Shape 4"/>
          <p:cNvSpPr/>
          <p:nvPr/>
        </p:nvSpPr>
        <p:spPr>
          <a:xfrm>
            <a:off x="640080" y="1810512"/>
            <a:ext cx="5120640" cy="0"/>
          </a:xfrm>
          <a:prstGeom prst="line">
            <a:avLst/>
          </a:prstGeom>
          <a:noFill/>
          <a:ln w="9525">
            <a:solidFill>
              <a:srgbClr val="2E3033"/>
            </a:solidFill>
            <a:prstDash val="solid"/>
          </a:ln>
        </p:spPr>
        <p:txBody>
          <a:bodyPr/>
          <a:lstStyle/>
          <a:p>
            <a:endParaRPr lang="en-PK"/>
          </a:p>
        </p:txBody>
      </p:sp>
      <p:sp>
        <p:nvSpPr>
          <p:cNvPr id="7" name="Text 5"/>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8B8D8F"/>
                </a:solidFill>
                <a:latin typeface="IBM Plex Mono" pitchFamily="34" charset="0"/>
                <a:ea typeface="IBM Plex Mono" pitchFamily="34" charset="-122"/>
                <a:cs typeface="IBM Plex Mono" pitchFamily="34" charset="-120"/>
              </a:rPr>
              <a:t>IN-HOUSE PRODUCT   ·   2026   ·   10 WEEKS   ·   LIVE</a:t>
            </a:r>
            <a:endParaRPr lang="en-US" sz="800" dirty="0"/>
          </a:p>
        </p:txBody>
      </p:sp>
      <p:sp>
        <p:nvSpPr>
          <p:cNvPr id="8" name="Shape 6"/>
          <p:cNvSpPr/>
          <p:nvPr/>
        </p:nvSpPr>
        <p:spPr>
          <a:xfrm>
            <a:off x="640080" y="2331720"/>
            <a:ext cx="5120640" cy="0"/>
          </a:xfrm>
          <a:prstGeom prst="line">
            <a:avLst/>
          </a:prstGeom>
          <a:noFill/>
          <a:ln w="9525">
            <a:solidFill>
              <a:srgbClr val="2E3033"/>
            </a:solidFill>
            <a:prstDash val="solid"/>
          </a:ln>
        </p:spPr>
        <p:txBody>
          <a:bodyPr/>
          <a:lstStyle/>
          <a:p>
            <a:endParaRPr lang="en-PK"/>
          </a:p>
        </p:txBody>
      </p:sp>
      <p:sp>
        <p:nvSpPr>
          <p:cNvPr id="9" name="Text 7"/>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THE PROBLEM</a:t>
            </a:r>
            <a:endParaRPr lang="en-US" sz="800" dirty="0"/>
          </a:p>
        </p:txBody>
      </p:sp>
      <p:sp>
        <p:nvSpPr>
          <p:cNvPr id="10" name="Text 8"/>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Tracking a portfolio of Pakistan Stock Exchange holdings usually means working around whatever the broker gives you. Broker platforms are built for placing trades, not for understanding a portfolio afterwards: the record of what was bought, when, and at what price is often thin or hard to find, dividend history is rarely tracked at all, and there is no view of how money is split across sectors or how a stop-loss level compares to where a stock is trading right now.</a:t>
            </a:r>
            <a:endParaRPr lang="en-US" sz="1150" dirty="0"/>
          </a:p>
        </p:txBody>
      </p:sp>
      <p:sp>
        <p:nvSpPr>
          <p:cNvPr id="11" name="Text 9"/>
          <p:cNvSpPr/>
          <p:nvPr/>
        </p:nvSpPr>
        <p:spPr>
          <a:xfrm>
            <a:off x="640080" y="4423474"/>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WHAT CHANGED</a:t>
            </a:r>
            <a:endParaRPr lang="en-US" sz="800" dirty="0"/>
          </a:p>
        </p:txBody>
      </p:sp>
      <p:sp>
        <p:nvSpPr>
          <p:cNvPr id="12" name="Text 10"/>
          <p:cNvSpPr/>
          <p:nvPr/>
        </p:nvSpPr>
        <p:spPr>
          <a:xfrm>
            <a:off x="640080" y="4670361"/>
            <a:ext cx="5120640" cy="1638999"/>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Everything that used to mean toggling between a broker app and a stack of old emails now lives in one live dashboard: current holdings and P&amp;L, a real buy and sell history, dividend income, sector allocation against target, and a clear monthly plan for new investment. Stop-loss levels are calculated for every holding without manual math, and drilling into a single stock's full trading history takes one click instead of an inbox search.</a:t>
            </a:r>
            <a:endParaRPr lang="en-US" sz="1150" dirty="0"/>
          </a:p>
        </p:txBody>
      </p:sp>
      <p:pic>
        <p:nvPicPr>
          <p:cNvPr id="13" name="Image 0" descr="X:\code\personal\boltertech.com\public\work\psx-portfolio-tracker\psx-dashboard.png"/>
          <p:cNvPicPr>
            <a:picLocks noChangeAspect="1"/>
          </p:cNvPicPr>
          <p:nvPr/>
        </p:nvPicPr>
        <p:blipFill>
          <a:blip r:embed="rId3"/>
          <a:stretch>
            <a:fillRect/>
          </a:stretch>
        </p:blipFill>
        <p:spPr>
          <a:xfrm>
            <a:off x="6263640" y="502920"/>
            <a:ext cx="5287975" cy="2974486"/>
          </a:xfrm>
          <a:prstGeom prst="rect">
            <a:avLst/>
          </a:prstGeom>
        </p:spPr>
      </p:pic>
      <p:sp>
        <p:nvSpPr>
          <p:cNvPr id="14" name="Shape 11"/>
          <p:cNvSpPr/>
          <p:nvPr/>
        </p:nvSpPr>
        <p:spPr>
          <a:xfrm>
            <a:off x="6263640" y="502920"/>
            <a:ext cx="5287975" cy="2974486"/>
          </a:xfrm>
          <a:prstGeom prst="rect">
            <a:avLst/>
          </a:prstGeom>
          <a:ln w="9525">
            <a:solidFill>
              <a:srgbClr val="2E3033"/>
            </a:solidFill>
            <a:prstDash val="solid"/>
          </a:ln>
        </p:spPr>
        <p:txBody>
          <a:bodyPr/>
          <a:lstStyle/>
          <a:p>
            <a:endParaRPr lang="en-PK"/>
          </a:p>
        </p:txBody>
      </p:sp>
      <p:sp>
        <p:nvSpPr>
          <p:cNvPr id="15" name="Shape 12"/>
          <p:cNvSpPr/>
          <p:nvPr/>
        </p:nvSpPr>
        <p:spPr>
          <a:xfrm>
            <a:off x="6263640" y="3888886"/>
            <a:ext cx="2415388" cy="0"/>
          </a:xfrm>
          <a:prstGeom prst="line">
            <a:avLst/>
          </a:prstGeom>
          <a:noFill/>
          <a:ln w="9525">
            <a:solidFill>
              <a:srgbClr val="2E3033"/>
            </a:solidFill>
            <a:prstDash val="solid"/>
          </a:ln>
        </p:spPr>
        <p:txBody>
          <a:bodyPr/>
          <a:lstStyle/>
          <a:p>
            <a:endParaRPr lang="en-PK"/>
          </a:p>
        </p:txBody>
      </p:sp>
      <p:sp>
        <p:nvSpPr>
          <p:cNvPr id="16" name="Text 13"/>
          <p:cNvSpPr/>
          <p:nvPr/>
        </p:nvSpPr>
        <p:spPr>
          <a:xfrm>
            <a:off x="6263640" y="3998614"/>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700+</a:t>
            </a:r>
            <a:endParaRPr lang="en-US" sz="2400" dirty="0"/>
          </a:p>
        </p:txBody>
      </p:sp>
      <p:sp>
        <p:nvSpPr>
          <p:cNvPr id="17" name="Text 14"/>
          <p:cNvSpPr/>
          <p:nvPr/>
        </p:nvSpPr>
        <p:spPr>
          <a:xfrm>
            <a:off x="6263640" y="4437526"/>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PSX-listed stocks tracked with live pricing</a:t>
            </a:r>
            <a:endParaRPr lang="en-US" sz="950" dirty="0"/>
          </a:p>
        </p:txBody>
      </p:sp>
      <p:sp>
        <p:nvSpPr>
          <p:cNvPr id="18" name="Shape 15"/>
          <p:cNvSpPr/>
          <p:nvPr/>
        </p:nvSpPr>
        <p:spPr>
          <a:xfrm>
            <a:off x="8907628" y="3888886"/>
            <a:ext cx="2415388" cy="0"/>
          </a:xfrm>
          <a:prstGeom prst="line">
            <a:avLst/>
          </a:prstGeom>
          <a:noFill/>
          <a:ln w="9525">
            <a:solidFill>
              <a:srgbClr val="2E3033"/>
            </a:solidFill>
            <a:prstDash val="solid"/>
          </a:ln>
        </p:spPr>
        <p:txBody>
          <a:bodyPr/>
          <a:lstStyle/>
          <a:p>
            <a:endParaRPr lang="en-PK"/>
          </a:p>
        </p:txBody>
      </p:sp>
      <p:sp>
        <p:nvSpPr>
          <p:cNvPr id="19" name="Text 16"/>
          <p:cNvSpPr/>
          <p:nvPr/>
        </p:nvSpPr>
        <p:spPr>
          <a:xfrm>
            <a:off x="8907628" y="3998614"/>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15-min</a:t>
            </a:r>
            <a:endParaRPr lang="en-US" sz="2400" dirty="0"/>
          </a:p>
        </p:txBody>
      </p:sp>
      <p:sp>
        <p:nvSpPr>
          <p:cNvPr id="20" name="Text 17"/>
          <p:cNvSpPr/>
          <p:nvPr/>
        </p:nvSpPr>
        <p:spPr>
          <a:xfrm>
            <a:off x="8907628" y="4437526"/>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price refresh cycle for near real-time market data</a:t>
            </a:r>
            <a:endParaRPr lang="en-US" sz="950" dirty="0"/>
          </a:p>
        </p:txBody>
      </p:sp>
      <p:sp>
        <p:nvSpPr>
          <p:cNvPr id="21" name="Shape 18"/>
          <p:cNvSpPr/>
          <p:nvPr/>
        </p:nvSpPr>
        <p:spPr>
          <a:xfrm>
            <a:off x="6263640" y="5099123"/>
            <a:ext cx="2415388" cy="0"/>
          </a:xfrm>
          <a:prstGeom prst="line">
            <a:avLst/>
          </a:prstGeom>
          <a:noFill/>
          <a:ln w="9525">
            <a:solidFill>
              <a:srgbClr val="2E3033"/>
            </a:solidFill>
            <a:prstDash val="solid"/>
          </a:ln>
        </p:spPr>
        <p:txBody>
          <a:bodyPr/>
          <a:lstStyle/>
          <a:p>
            <a:endParaRPr lang="en-PK"/>
          </a:p>
        </p:txBody>
      </p:sp>
      <p:sp>
        <p:nvSpPr>
          <p:cNvPr id="22" name="Text 19"/>
          <p:cNvSpPr/>
          <p:nvPr/>
        </p:nvSpPr>
        <p:spPr>
          <a:xfrm>
            <a:off x="6263640" y="5208851"/>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-75%</a:t>
            </a:r>
            <a:endParaRPr lang="en-US" sz="2400" dirty="0"/>
          </a:p>
        </p:txBody>
      </p:sp>
      <p:sp>
        <p:nvSpPr>
          <p:cNvPr id="23" name="Text 20"/>
          <p:cNvSpPr/>
          <p:nvPr/>
        </p:nvSpPr>
        <p:spPr>
          <a:xfrm>
            <a:off x="6263640" y="5647763"/>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less manual effort tracking prices, dividends and performance by hand</a:t>
            </a:r>
            <a:endParaRPr lang="en-US" sz="950" dirty="0"/>
          </a:p>
        </p:txBody>
      </p:sp>
      <p:sp>
        <p:nvSpPr>
          <p:cNvPr id="24" name="Shape 21"/>
          <p:cNvSpPr/>
          <p:nvPr/>
        </p:nvSpPr>
        <p:spPr>
          <a:xfrm>
            <a:off x="8907628" y="5099123"/>
            <a:ext cx="2415388" cy="0"/>
          </a:xfrm>
          <a:prstGeom prst="line">
            <a:avLst/>
          </a:prstGeom>
          <a:noFill/>
          <a:ln w="9525">
            <a:solidFill>
              <a:srgbClr val="2E3033"/>
            </a:solidFill>
            <a:prstDash val="solid"/>
          </a:ln>
        </p:spPr>
        <p:txBody>
          <a:bodyPr/>
          <a:lstStyle/>
          <a:p>
            <a:endParaRPr lang="en-PK"/>
          </a:p>
        </p:txBody>
      </p:sp>
      <p:sp>
        <p:nvSpPr>
          <p:cNvPr id="25" name="Text 22"/>
          <p:cNvSpPr/>
          <p:nvPr/>
        </p:nvSpPr>
        <p:spPr>
          <a:xfrm>
            <a:off x="8907628" y="5208851"/>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10x</a:t>
            </a:r>
            <a:endParaRPr lang="en-US" sz="2400" dirty="0"/>
          </a:p>
        </p:txBody>
      </p:sp>
      <p:sp>
        <p:nvSpPr>
          <p:cNvPr id="26" name="Text 23"/>
          <p:cNvSpPr/>
          <p:nvPr/>
        </p:nvSpPr>
        <p:spPr>
          <a:xfrm>
            <a:off x="8907628" y="5647763"/>
            <a:ext cx="2369668" cy="615877"/>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faster portfolio check-ins than digging through broker records and email</a:t>
            </a:r>
            <a:endParaRPr lang="en-US" sz="950" dirty="0"/>
          </a:p>
        </p:txBody>
      </p:sp>
      <p:sp>
        <p:nvSpPr>
          <p:cNvPr id="27" name="Text 24"/>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8" name="Text 25"/>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13 / 30</a:t>
            </a:r>
            <a:endParaRPr lang="en-US" sz="700" dirty="0"/>
          </a:p>
        </p:txBody>
      </p:sp>
    </p:spTree>
    <p:extLst>
      <p:ext uri="{BB962C8B-B14F-4D97-AF65-F5344CB8AC3E}">
        <p14:creationId xmlns:p14="http://schemas.microsoft.com/office/powerpoint/2010/main" val="3446559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05  SOFTWARE DEVELOPMENT  ·  CASE STUDY 03 / 03</a:t>
            </a:r>
            <a:endParaRPr lang="en-US" sz="900" dirty="0"/>
          </a:p>
        </p:txBody>
      </p:sp>
      <p:sp>
        <p:nvSpPr>
          <p:cNvPr id="4" name="Text 2"/>
          <p:cNvSpPr/>
          <p:nvPr/>
        </p:nvSpPr>
        <p:spPr>
          <a:xfrm>
            <a:off x="640080" y="777240"/>
            <a:ext cx="5120640" cy="548640"/>
          </a:xfrm>
          <a:prstGeom prst="rect">
            <a:avLst/>
          </a:prstGeom>
          <a:noFill/>
          <a:ln/>
        </p:spPr>
        <p:txBody>
          <a:bodyPr wrap="square" lIns="0" tIns="0" rIns="0" bIns="0" rtlCol="0" anchor="t"/>
          <a:lstStyle/>
          <a:p>
            <a:pPr marL="0" indent="0">
              <a:lnSpc>
                <a:spcPct val="95000"/>
              </a:lnSpc>
              <a:buNone/>
            </a:pPr>
            <a:r>
              <a:rPr lang="en-US" sz="3200" b="1" dirty="0">
                <a:solidFill>
                  <a:srgbClr val="14161A"/>
                </a:solidFill>
                <a:latin typeface="Space Grotesk" pitchFamily="34" charset="0"/>
                <a:ea typeface="Space Grotesk" pitchFamily="34" charset="-122"/>
                <a:cs typeface="Space Grotesk" pitchFamily="34" charset="-120"/>
              </a:rPr>
              <a:t>Zenith</a:t>
            </a:r>
            <a:endParaRPr lang="en-US" sz="3200" dirty="0"/>
          </a:p>
        </p:txBody>
      </p:sp>
      <p:sp>
        <p:nvSpPr>
          <p:cNvPr id="5" name="Text 3"/>
          <p:cNvSpPr/>
          <p:nvPr/>
        </p:nvSpPr>
        <p:spPr>
          <a:xfrm>
            <a:off x="640080" y="1389888"/>
            <a:ext cx="5120640" cy="320040"/>
          </a:xfrm>
          <a:prstGeom prst="rect">
            <a:avLst/>
          </a:prstGeom>
          <a:noFill/>
          <a:ln/>
        </p:spPr>
        <p:txBody>
          <a:bodyPr wrap="square" lIns="0" tIns="0" rIns="0" bIns="0" rtlCol="0" anchor="t"/>
          <a:lstStyle/>
          <a:p>
            <a:pPr marL="0" indent="0">
              <a:buNone/>
            </a:pPr>
            <a:r>
              <a:rPr lang="en-US" sz="1500" dirty="0">
                <a:solidFill>
                  <a:srgbClr val="5B6066"/>
                </a:solidFill>
                <a:latin typeface="IBM Plex Sans" pitchFamily="34" charset="0"/>
                <a:ea typeface="IBM Plex Sans" pitchFamily="34" charset="-122"/>
                <a:cs typeface="IBM Plex Sans" pitchFamily="34" charset="-120"/>
              </a:rPr>
              <a:t>A reading platform for serialised web fiction</a:t>
            </a:r>
            <a:endParaRPr lang="en-US" sz="1500" dirty="0"/>
          </a:p>
        </p:txBody>
      </p:sp>
      <p:sp>
        <p:nvSpPr>
          <p:cNvPr id="6" name="Shape 4"/>
          <p:cNvSpPr/>
          <p:nvPr/>
        </p:nvSpPr>
        <p:spPr>
          <a:xfrm>
            <a:off x="640080" y="1810512"/>
            <a:ext cx="5120640" cy="0"/>
          </a:xfrm>
          <a:prstGeom prst="line">
            <a:avLst/>
          </a:prstGeom>
          <a:noFill/>
          <a:ln w="9525">
            <a:solidFill>
              <a:srgbClr val="DCD8D0"/>
            </a:solidFill>
            <a:prstDash val="solid"/>
          </a:ln>
        </p:spPr>
        <p:txBody>
          <a:bodyPr/>
          <a:lstStyle/>
          <a:p>
            <a:endParaRPr lang="en-PK"/>
          </a:p>
        </p:txBody>
      </p:sp>
      <p:sp>
        <p:nvSpPr>
          <p:cNvPr id="7" name="Text 5"/>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6F6A5F"/>
                </a:solidFill>
                <a:latin typeface="IBM Plex Mono" pitchFamily="34" charset="0"/>
                <a:ea typeface="IBM Plex Mono" pitchFamily="34" charset="-122"/>
                <a:cs typeface="IBM Plex Mono" pitchFamily="34" charset="-120"/>
              </a:rPr>
              <a:t>IN-HOUSE PRODUCT   ·   2025   ·   4 MONTHS   ·   DELIVERED</a:t>
            </a:r>
            <a:endParaRPr lang="en-US" sz="800" dirty="0"/>
          </a:p>
        </p:txBody>
      </p:sp>
      <p:sp>
        <p:nvSpPr>
          <p:cNvPr id="8" name="Shape 6"/>
          <p:cNvSpPr/>
          <p:nvPr/>
        </p:nvSpPr>
        <p:spPr>
          <a:xfrm>
            <a:off x="640080" y="2331720"/>
            <a:ext cx="5120640" cy="0"/>
          </a:xfrm>
          <a:prstGeom prst="line">
            <a:avLst/>
          </a:prstGeom>
          <a:noFill/>
          <a:ln w="9525">
            <a:solidFill>
              <a:srgbClr val="DCD8D0"/>
            </a:solidFill>
            <a:prstDash val="solid"/>
          </a:ln>
        </p:spPr>
        <p:txBody>
          <a:bodyPr/>
          <a:lstStyle/>
          <a:p>
            <a:endParaRPr lang="en-PK"/>
          </a:p>
        </p:txBody>
      </p:sp>
      <p:sp>
        <p:nvSpPr>
          <p:cNvPr id="9" name="Text 7"/>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THE PROBLEM</a:t>
            </a:r>
            <a:endParaRPr lang="en-US" sz="800" dirty="0"/>
          </a:p>
        </p:txBody>
      </p:sp>
      <p:sp>
        <p:nvSpPr>
          <p:cNvPr id="10" name="Text 8"/>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Readers who follow serialised web fiction end up managing sprawling libraries — hundreds of ongoing titles and tens of thousands of chapters, all on a single ad-heavy site with inconsistent formatting and no way to organise anything. Tracking what has been read, picking back up where you left off, and grouping a library by genre or priority are simply not options there. Nothing treats a personal reading library as a library rather than a stream of individual novels.</a:t>
            </a:r>
            <a:endParaRPr lang="en-US" sz="1150" dirty="0"/>
          </a:p>
        </p:txBody>
      </p:sp>
      <p:sp>
        <p:nvSpPr>
          <p:cNvPr id="11" name="Text 9"/>
          <p:cNvSpPr/>
          <p:nvPr/>
        </p:nvSpPr>
        <p:spPr>
          <a:xfrm>
            <a:off x="640080" y="4423474"/>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WHAT CHANGED</a:t>
            </a:r>
            <a:endParaRPr lang="en-US" sz="800" dirty="0"/>
          </a:p>
        </p:txBody>
      </p:sp>
      <p:sp>
        <p:nvSpPr>
          <p:cNvPr id="12" name="Text 10"/>
          <p:cNvSpPr/>
          <p:nvPr/>
        </p:nvSpPr>
        <p:spPr>
          <a:xfrm>
            <a:off x="640080" y="4670361"/>
            <a:ext cx="5120640" cy="1638999"/>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An entire library in one place: imported in a single step, kept organised with categories and tags, and readable offline in a clean, consistent format with none of the original site's clutter. Library and reading progress carry across the web app and the Android build, with text-to-speech built in for hands-free reading.</a:t>
            </a:r>
            <a:endParaRPr lang="en-US" sz="1150" dirty="0"/>
          </a:p>
        </p:txBody>
      </p:sp>
      <p:sp>
        <p:nvSpPr>
          <p:cNvPr id="13" name="Text 11"/>
          <p:cNvSpPr/>
          <p:nvPr/>
        </p:nvSpPr>
        <p:spPr>
          <a:xfrm>
            <a:off x="6263640" y="548640"/>
            <a:ext cx="3367735" cy="365760"/>
          </a:xfrm>
          <a:prstGeom prst="rect">
            <a:avLst/>
          </a:prstGeom>
          <a:noFill/>
          <a:ln/>
        </p:spPr>
        <p:txBody>
          <a:bodyPr wrap="square" lIns="0" tIns="0" rIns="0" bIns="0" rtlCol="0" anchor="t"/>
          <a:lstStyle/>
          <a:p>
            <a:pPr marL="0" indent="0">
              <a:buNone/>
            </a:pPr>
            <a:r>
              <a:rPr lang="en-US" sz="750" kern="0" spc="100" dirty="0">
                <a:solidFill>
                  <a:srgbClr val="6F6A5F"/>
                </a:solidFill>
                <a:latin typeface="IBM Plex Mono" pitchFamily="34" charset="0"/>
                <a:ea typeface="IBM Plex Mono" pitchFamily="34" charset="-122"/>
                <a:cs typeface="IBM Plex Mono" pitchFamily="34" charset="-120"/>
              </a:rPr>
              <a:t>TIME SPENT NAVIGATING CLUTTER &amp; LOADING CHAPTERS (RELATIVE INDEX)</a:t>
            </a:r>
            <a:endParaRPr lang="en-US" sz="750" dirty="0"/>
          </a:p>
        </p:txBody>
      </p:sp>
      <p:sp>
        <p:nvSpPr>
          <p:cNvPr id="14" name="Text 12"/>
          <p:cNvSpPr/>
          <p:nvPr/>
        </p:nvSpPr>
        <p:spPr>
          <a:xfrm>
            <a:off x="9768535" y="530352"/>
            <a:ext cx="1005840" cy="219456"/>
          </a:xfrm>
          <a:prstGeom prst="rect">
            <a:avLst/>
          </a:prstGeom>
          <a:noFill/>
          <a:ln/>
        </p:spPr>
        <p:txBody>
          <a:bodyPr wrap="square" lIns="0" tIns="0" rIns="0" bIns="0" rtlCol="0" anchor="ctr"/>
          <a:lstStyle/>
          <a:p>
            <a:pPr marL="0" indent="0" algn="r">
              <a:buNone/>
            </a:pPr>
            <a:r>
              <a:rPr lang="en-US" sz="900" dirty="0">
                <a:solidFill>
                  <a:srgbClr val="5B6066"/>
                </a:solidFill>
                <a:latin typeface="IBM Plex Mono" pitchFamily="34" charset="0"/>
                <a:ea typeface="IBM Plex Mono" pitchFamily="34" charset="-122"/>
                <a:cs typeface="IBM Plex Mono" pitchFamily="34" charset="-120"/>
              </a:rPr>
              <a:t>95 → 9</a:t>
            </a:r>
            <a:endParaRPr lang="en-US" sz="900" dirty="0"/>
          </a:p>
        </p:txBody>
      </p:sp>
      <p:sp>
        <p:nvSpPr>
          <p:cNvPr id="15" name="Text 13"/>
          <p:cNvSpPr/>
          <p:nvPr/>
        </p:nvSpPr>
        <p:spPr>
          <a:xfrm>
            <a:off x="10865815" y="530352"/>
            <a:ext cx="685800" cy="219456"/>
          </a:xfrm>
          <a:prstGeom prst="roundRect">
            <a:avLst>
              <a:gd name="adj" fmla="val 16667"/>
            </a:avLst>
          </a:prstGeom>
          <a:solidFill>
            <a:srgbClr val="F0E2C8"/>
          </a:solidFill>
          <a:ln w="6350">
            <a:solidFill>
              <a:srgbClr val="8F5D0A"/>
            </a:solidFill>
          </a:ln>
        </p:spPr>
        <p:txBody>
          <a:bodyPr wrap="square" lIns="0" tIns="0" rIns="0" bIns="0" rtlCol="0" anchor="ctr"/>
          <a:lstStyle/>
          <a:p>
            <a:pPr marL="0" indent="0" algn="ctr">
              <a:buNone/>
            </a:pPr>
            <a:r>
              <a:rPr lang="en-US" sz="900" b="1" dirty="0">
                <a:solidFill>
                  <a:srgbClr val="8F5D0A"/>
                </a:solidFill>
                <a:latin typeface="IBM Plex Mono" pitchFamily="34" charset="0"/>
                <a:ea typeface="IBM Plex Mono" pitchFamily="34" charset="-122"/>
                <a:cs typeface="IBM Plex Mono" pitchFamily="34" charset="-120"/>
              </a:rPr>
              <a:t>-91%</a:t>
            </a:r>
            <a:endParaRPr lang="en-US" sz="900" dirty="0"/>
          </a:p>
        </p:txBody>
      </p:sp>
      <p:graphicFrame>
        <p:nvGraphicFramePr>
          <p:cNvPr id="16" name="Chart 0"/>
          <p:cNvGraphicFramePr/>
          <p:nvPr/>
        </p:nvGraphicFramePr>
        <p:xfrm>
          <a:off x="6190488" y="932688"/>
          <a:ext cx="5434279" cy="2450592"/>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4"/>
          <p:cNvSpPr/>
          <p:nvPr/>
        </p:nvSpPr>
        <p:spPr>
          <a:xfrm>
            <a:off x="6263640" y="3840480"/>
            <a:ext cx="2415388" cy="0"/>
          </a:xfrm>
          <a:prstGeom prst="line">
            <a:avLst/>
          </a:prstGeom>
          <a:noFill/>
          <a:ln w="9525">
            <a:solidFill>
              <a:srgbClr val="DCD8D0"/>
            </a:solidFill>
            <a:prstDash val="solid"/>
          </a:ln>
        </p:spPr>
        <p:txBody>
          <a:bodyPr/>
          <a:lstStyle/>
          <a:p>
            <a:endParaRPr lang="en-PK"/>
          </a:p>
        </p:txBody>
      </p:sp>
      <p:sp>
        <p:nvSpPr>
          <p:cNvPr id="18" name="Text 15"/>
          <p:cNvSpPr/>
          <p:nvPr/>
        </p:nvSpPr>
        <p:spPr>
          <a:xfrm>
            <a:off x="6263640" y="395020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200+</a:t>
            </a:r>
            <a:endParaRPr lang="en-US" sz="2400" dirty="0"/>
          </a:p>
        </p:txBody>
      </p:sp>
      <p:sp>
        <p:nvSpPr>
          <p:cNvPr id="19" name="Text 16"/>
          <p:cNvSpPr/>
          <p:nvPr/>
        </p:nvSpPr>
        <p:spPr>
          <a:xfrm>
            <a:off x="6263640"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novels imported and organised from a single library export</a:t>
            </a:r>
            <a:endParaRPr lang="en-US" sz="950" dirty="0"/>
          </a:p>
        </p:txBody>
      </p:sp>
      <p:sp>
        <p:nvSpPr>
          <p:cNvPr id="20" name="Shape 17"/>
          <p:cNvSpPr/>
          <p:nvPr/>
        </p:nvSpPr>
        <p:spPr>
          <a:xfrm>
            <a:off x="8907628" y="3840480"/>
            <a:ext cx="2415388" cy="0"/>
          </a:xfrm>
          <a:prstGeom prst="line">
            <a:avLst/>
          </a:prstGeom>
          <a:noFill/>
          <a:ln w="9525">
            <a:solidFill>
              <a:srgbClr val="DCD8D0"/>
            </a:solidFill>
            <a:prstDash val="solid"/>
          </a:ln>
        </p:spPr>
        <p:txBody>
          <a:bodyPr/>
          <a:lstStyle/>
          <a:p>
            <a:endParaRPr lang="en-PK"/>
          </a:p>
        </p:txBody>
      </p:sp>
      <p:sp>
        <p:nvSpPr>
          <p:cNvPr id="21" name="Text 18"/>
          <p:cNvSpPr/>
          <p:nvPr/>
        </p:nvSpPr>
        <p:spPr>
          <a:xfrm>
            <a:off x="8907628" y="395020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10,000+</a:t>
            </a:r>
            <a:endParaRPr lang="en-US" sz="2400" dirty="0"/>
          </a:p>
        </p:txBody>
      </p:sp>
      <p:sp>
        <p:nvSpPr>
          <p:cNvPr id="22" name="Text 19"/>
          <p:cNvSpPr/>
          <p:nvPr/>
        </p:nvSpPr>
        <p:spPr>
          <a:xfrm>
            <a:off x="8907628"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chapters scraped, formatted and made available offline</a:t>
            </a:r>
            <a:endParaRPr lang="en-US" sz="950" dirty="0"/>
          </a:p>
        </p:txBody>
      </p:sp>
      <p:sp>
        <p:nvSpPr>
          <p:cNvPr id="23" name="Shape 20"/>
          <p:cNvSpPr/>
          <p:nvPr/>
        </p:nvSpPr>
        <p:spPr>
          <a:xfrm>
            <a:off x="6263640" y="5074920"/>
            <a:ext cx="2415388" cy="0"/>
          </a:xfrm>
          <a:prstGeom prst="line">
            <a:avLst/>
          </a:prstGeom>
          <a:noFill/>
          <a:ln w="9525">
            <a:solidFill>
              <a:srgbClr val="DCD8D0"/>
            </a:solidFill>
            <a:prstDash val="solid"/>
          </a:ln>
        </p:spPr>
        <p:txBody>
          <a:bodyPr/>
          <a:lstStyle/>
          <a:p>
            <a:endParaRPr lang="en-PK"/>
          </a:p>
        </p:txBody>
      </p:sp>
      <p:sp>
        <p:nvSpPr>
          <p:cNvPr id="24" name="Text 21"/>
          <p:cNvSpPr/>
          <p:nvPr/>
        </p:nvSpPr>
        <p:spPr>
          <a:xfrm>
            <a:off x="6263640" y="518464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-80%</a:t>
            </a:r>
            <a:endParaRPr lang="en-US" sz="2400" dirty="0"/>
          </a:p>
        </p:txBody>
      </p:sp>
      <p:sp>
        <p:nvSpPr>
          <p:cNvPr id="25" name="Text 22"/>
          <p:cNvSpPr/>
          <p:nvPr/>
        </p:nvSpPr>
        <p:spPr>
          <a:xfrm>
            <a:off x="6263640"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less time spent on ads and page loads before reaching a chapter</a:t>
            </a:r>
            <a:endParaRPr lang="en-US" sz="950" dirty="0"/>
          </a:p>
        </p:txBody>
      </p:sp>
      <p:sp>
        <p:nvSpPr>
          <p:cNvPr id="26" name="Shape 23"/>
          <p:cNvSpPr/>
          <p:nvPr/>
        </p:nvSpPr>
        <p:spPr>
          <a:xfrm>
            <a:off x="8907628" y="5074920"/>
            <a:ext cx="2415388" cy="0"/>
          </a:xfrm>
          <a:prstGeom prst="line">
            <a:avLst/>
          </a:prstGeom>
          <a:noFill/>
          <a:ln w="9525">
            <a:solidFill>
              <a:srgbClr val="DCD8D0"/>
            </a:solidFill>
            <a:prstDash val="solid"/>
          </a:ln>
        </p:spPr>
        <p:txBody>
          <a:bodyPr/>
          <a:lstStyle/>
          <a:p>
            <a:endParaRPr lang="en-PK"/>
          </a:p>
        </p:txBody>
      </p:sp>
      <p:sp>
        <p:nvSpPr>
          <p:cNvPr id="27" name="Text 24"/>
          <p:cNvSpPr/>
          <p:nvPr/>
        </p:nvSpPr>
        <p:spPr>
          <a:xfrm>
            <a:off x="8907628" y="518464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3</a:t>
            </a:r>
            <a:endParaRPr lang="en-US" sz="2400" dirty="0"/>
          </a:p>
        </p:txBody>
      </p:sp>
      <p:sp>
        <p:nvSpPr>
          <p:cNvPr id="28" name="Text 25"/>
          <p:cNvSpPr/>
          <p:nvPr/>
        </p:nvSpPr>
        <p:spPr>
          <a:xfrm>
            <a:off x="8907628"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ways to organize your library for easier storage</a:t>
            </a:r>
            <a:endParaRPr lang="en-US" sz="950" dirty="0"/>
          </a:p>
        </p:txBody>
      </p:sp>
      <p:sp>
        <p:nvSpPr>
          <p:cNvPr id="29" name="Text 26"/>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30" name="Text 27"/>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14 / 30</a:t>
            </a:r>
            <a:endParaRPr lang="en-US" sz="700" dirty="0"/>
          </a:p>
        </p:txBody>
      </p:sp>
    </p:spTree>
    <p:extLst>
      <p:ext uri="{BB962C8B-B14F-4D97-AF65-F5344CB8AC3E}">
        <p14:creationId xmlns:p14="http://schemas.microsoft.com/office/powerpoint/2010/main" val="2989668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05  CAPABILITIES  ·  03 / 04</a:t>
            </a:r>
            <a:endParaRPr lang="en-US" sz="900" dirty="0"/>
          </a:p>
        </p:txBody>
      </p:sp>
      <p:sp>
        <p:nvSpPr>
          <p:cNvPr id="4" name="Text 2"/>
          <p:cNvSpPr/>
          <p:nvPr/>
        </p:nvSpPr>
        <p:spPr>
          <a:xfrm>
            <a:off x="640080" y="777240"/>
            <a:ext cx="6035040" cy="685800"/>
          </a:xfrm>
          <a:prstGeom prst="rect">
            <a:avLst/>
          </a:prstGeom>
          <a:noFill/>
          <a:ln/>
        </p:spPr>
        <p:txBody>
          <a:bodyPr wrap="square" lIns="0" tIns="0" rIns="0" bIns="0" rtlCol="0" anchor="t"/>
          <a:lstStyle/>
          <a:p>
            <a:pPr marL="0" indent="0">
              <a:buNone/>
            </a:pPr>
            <a:r>
              <a:rPr lang="en-US" sz="3400" b="1" dirty="0">
                <a:solidFill>
                  <a:srgbClr val="FFFFFF"/>
                </a:solidFill>
                <a:latin typeface="Space Grotesk" pitchFamily="34" charset="0"/>
                <a:ea typeface="Space Grotesk" pitchFamily="34" charset="-122"/>
                <a:cs typeface="Space Grotesk" pitchFamily="34" charset="-120"/>
              </a:rPr>
              <a:t>Data analytics</a:t>
            </a:r>
            <a:endParaRPr lang="en-US" sz="3400" dirty="0"/>
          </a:p>
        </p:txBody>
      </p:sp>
      <p:sp>
        <p:nvSpPr>
          <p:cNvPr id="5" name="Text 3"/>
          <p:cNvSpPr/>
          <p:nvPr/>
        </p:nvSpPr>
        <p:spPr>
          <a:xfrm>
            <a:off x="640080" y="1691640"/>
            <a:ext cx="5029200" cy="1490471"/>
          </a:xfrm>
          <a:prstGeom prst="rect">
            <a:avLst/>
          </a:prstGeom>
          <a:noFill/>
          <a:ln/>
        </p:spPr>
        <p:txBody>
          <a:bodyPr wrap="square" lIns="0" tIns="0" rIns="0" bIns="0" rtlCol="0" anchor="t"/>
          <a:lstStyle/>
          <a:p>
            <a:pPr>
              <a:lnSpc>
                <a:spcPct val="130000"/>
              </a:lnSpc>
            </a:pPr>
            <a:r>
              <a:rPr lang="en-US" sz="1400" dirty="0">
                <a:solidFill>
                  <a:srgbClr val="FFFFFF"/>
                </a:solidFill>
                <a:latin typeface="IBM Plex Sans" pitchFamily="34" charset="0"/>
                <a:ea typeface="IBM Plex Sans" pitchFamily="34" charset="-122"/>
                <a:cs typeface="IBM Plex Sans" pitchFamily="34" charset="-120"/>
              </a:rPr>
              <a:t>Most companies already have the </a:t>
            </a:r>
            <a:r>
              <a:rPr lang="en-US" sz="1400" b="1" dirty="0">
                <a:solidFill>
                  <a:srgbClr val="FFFFFF"/>
                </a:solidFill>
                <a:latin typeface="IBM Plex Sans" pitchFamily="34" charset="0"/>
                <a:ea typeface="IBM Plex Sans" pitchFamily="34" charset="-122"/>
                <a:cs typeface="IBM Plex Sans" pitchFamily="34" charset="-120"/>
              </a:rPr>
              <a:t>data they need</a:t>
            </a:r>
            <a:r>
              <a:rPr lang="en-US" sz="1400" dirty="0">
                <a:solidFill>
                  <a:srgbClr val="FFFFFF"/>
                </a:solidFill>
                <a:latin typeface="IBM Plex Sans" pitchFamily="34" charset="0"/>
                <a:ea typeface="IBM Plex Sans" pitchFamily="34" charset="-122"/>
                <a:cs typeface="IBM Plex Sans" pitchFamily="34" charset="-120"/>
              </a:rPr>
              <a:t>. They are spread across systems that do not talk to each other, so answering a simple question </a:t>
            </a:r>
            <a:r>
              <a:rPr lang="en-GB" sz="1400" dirty="0">
                <a:solidFill>
                  <a:srgbClr val="FFFFFF"/>
                </a:solidFill>
                <a:latin typeface="IBM Plex Sans" pitchFamily="34" charset="0"/>
                <a:ea typeface="IBM Plex Sans" pitchFamily="34" charset="-122"/>
                <a:cs typeface="IBM Plex Sans" pitchFamily="34" charset="-120"/>
              </a:rPr>
              <a:t>means deriving it from the ground up</a:t>
            </a:r>
            <a:r>
              <a:rPr lang="en-US" sz="1400" dirty="0">
                <a:solidFill>
                  <a:srgbClr val="FFFFFF"/>
                </a:solidFill>
                <a:latin typeface="IBM Plex Sans" pitchFamily="34" charset="0"/>
                <a:ea typeface="IBM Plex Sans" pitchFamily="34" charset="-122"/>
                <a:cs typeface="IBM Plex Sans" pitchFamily="34" charset="-120"/>
              </a:rPr>
              <a:t>. </a:t>
            </a:r>
            <a:r>
              <a:rPr lang="en-GB" sz="1400" dirty="0">
                <a:solidFill>
                  <a:srgbClr val="FFFFFF"/>
                </a:solidFill>
                <a:latin typeface="IBM Plex Sans" pitchFamily="34" charset="0"/>
                <a:ea typeface="IBM Plex Sans" pitchFamily="34" charset="-122"/>
                <a:cs typeface="IBM Plex Sans" pitchFamily="34" charset="-120"/>
              </a:rPr>
              <a:t>We ensure that you are in complete control of your company. </a:t>
            </a:r>
            <a:endParaRPr lang="en-US" sz="1400" dirty="0"/>
          </a:p>
        </p:txBody>
      </p:sp>
      <p:sp>
        <p:nvSpPr>
          <p:cNvPr id="6" name="Text 4"/>
          <p:cNvSpPr/>
          <p:nvPr/>
        </p:nvSpPr>
        <p:spPr>
          <a:xfrm>
            <a:off x="640080" y="3502151"/>
            <a:ext cx="5029200" cy="182880"/>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CASE STUDIES THAT FOLLOW</a:t>
            </a:r>
            <a:endParaRPr lang="en-US" sz="800" dirty="0"/>
          </a:p>
        </p:txBody>
      </p:sp>
      <p:sp>
        <p:nvSpPr>
          <p:cNvPr id="7" name="Text 5"/>
          <p:cNvSpPr/>
          <p:nvPr/>
        </p:nvSpPr>
        <p:spPr>
          <a:xfrm>
            <a:off x="640080" y="3776471"/>
            <a:ext cx="5029200" cy="1243584"/>
          </a:xfrm>
          <a:prstGeom prst="rect">
            <a:avLst/>
          </a:prstGeom>
          <a:noFill/>
          <a:ln/>
        </p:spPr>
        <p:txBody>
          <a:bodyPr wrap="square" lIns="0" tIns="0" rIns="0" bIns="0" rtlCol="0" anchor="t"/>
          <a:lstStyle/>
          <a:p>
            <a:pPr marL="0" indent="0">
              <a:lnSpc>
                <a:spcPct val="130000"/>
              </a:lnSpc>
              <a:buNone/>
            </a:pPr>
            <a:r>
              <a:rPr lang="en-US" sz="1300" b="1" dirty="0">
                <a:solidFill>
                  <a:srgbClr val="E8A33D"/>
                </a:solidFill>
                <a:latin typeface="Space Grotesk" pitchFamily="34" charset="0"/>
                <a:ea typeface="Space Grotesk" pitchFamily="34" charset="-122"/>
                <a:cs typeface="Space Grotesk" pitchFamily="34" charset="-120"/>
              </a:rPr>
              <a:t>DCAS</a:t>
            </a:r>
            <a:endParaRPr lang="en-US" sz="1300" dirty="0"/>
          </a:p>
          <a:p>
            <a:pPr marL="0" indent="0">
              <a:lnSpc>
                <a:spcPct val="130000"/>
              </a:lnSpc>
              <a:buNone/>
            </a:pPr>
            <a:r>
              <a:rPr lang="en-US" sz="1300" b="1" dirty="0">
                <a:solidFill>
                  <a:srgbClr val="E8A33D"/>
                </a:solidFill>
                <a:latin typeface="Space Grotesk" pitchFamily="34" charset="0"/>
                <a:ea typeface="Space Grotesk" pitchFamily="34" charset="-122"/>
                <a:cs typeface="Space Grotesk" pitchFamily="34" charset="-120"/>
              </a:rPr>
              <a:t>PKNVD</a:t>
            </a:r>
            <a:endParaRPr lang="en-US" sz="1300" dirty="0"/>
          </a:p>
          <a:p>
            <a:pPr marL="0" indent="0">
              <a:lnSpc>
                <a:spcPct val="130000"/>
              </a:lnSpc>
              <a:buNone/>
            </a:pPr>
            <a:r>
              <a:rPr lang="en-US" sz="1300" b="1" dirty="0">
                <a:solidFill>
                  <a:srgbClr val="E8A33D"/>
                </a:solidFill>
                <a:latin typeface="Space Grotesk" pitchFamily="34" charset="0"/>
                <a:ea typeface="Space Grotesk" pitchFamily="34" charset="-122"/>
                <a:cs typeface="Space Grotesk" pitchFamily="34" charset="-120"/>
              </a:rPr>
              <a:t>Enterprise Omnichannel Media &amp; Social Analytics Platform</a:t>
            </a:r>
            <a:endParaRPr lang="en-US" sz="1300" dirty="0"/>
          </a:p>
          <a:p>
            <a:pPr marL="0" indent="0">
              <a:lnSpc>
                <a:spcPct val="130000"/>
              </a:lnSpc>
              <a:buNone/>
            </a:pPr>
            <a:r>
              <a:rPr lang="en-US" sz="1300" b="1" dirty="0">
                <a:solidFill>
                  <a:srgbClr val="E8A33D"/>
                </a:solidFill>
                <a:latin typeface="Space Grotesk" pitchFamily="34" charset="0"/>
                <a:ea typeface="Space Grotesk" pitchFamily="34" charset="-122"/>
                <a:cs typeface="Space Grotesk" pitchFamily="34" charset="-120"/>
              </a:rPr>
              <a:t>Enterprise Real-Time Website Analysis Dashboard</a:t>
            </a:r>
            <a:endParaRPr lang="en-US" sz="1300" dirty="0"/>
          </a:p>
        </p:txBody>
      </p:sp>
      <p:sp>
        <p:nvSpPr>
          <p:cNvPr id="8" name="Text 6"/>
          <p:cNvSpPr/>
          <p:nvPr/>
        </p:nvSpPr>
        <p:spPr>
          <a:xfrm>
            <a:off x="6263640" y="1627632"/>
            <a:ext cx="5287975" cy="182880"/>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HOW WE HELP</a:t>
            </a:r>
            <a:endParaRPr lang="en-US" sz="800" dirty="0"/>
          </a:p>
        </p:txBody>
      </p:sp>
      <p:sp>
        <p:nvSpPr>
          <p:cNvPr id="9" name="Shape 7"/>
          <p:cNvSpPr/>
          <p:nvPr/>
        </p:nvSpPr>
        <p:spPr>
          <a:xfrm>
            <a:off x="6263640" y="1920240"/>
            <a:ext cx="5287975" cy="0"/>
          </a:xfrm>
          <a:prstGeom prst="line">
            <a:avLst/>
          </a:prstGeom>
          <a:noFill/>
          <a:ln w="9525">
            <a:solidFill>
              <a:srgbClr val="2E3033"/>
            </a:solidFill>
            <a:prstDash val="solid"/>
          </a:ln>
        </p:spPr>
        <p:txBody>
          <a:bodyPr/>
          <a:lstStyle/>
          <a:p>
            <a:endParaRPr lang="en-PK"/>
          </a:p>
        </p:txBody>
      </p:sp>
      <p:sp>
        <p:nvSpPr>
          <p:cNvPr id="10" name="Text 8"/>
          <p:cNvSpPr/>
          <p:nvPr/>
        </p:nvSpPr>
        <p:spPr>
          <a:xfrm>
            <a:off x="6263640" y="1920240"/>
            <a:ext cx="411480" cy="658368"/>
          </a:xfrm>
          <a:prstGeom prst="rect">
            <a:avLst/>
          </a:prstGeom>
          <a:noFill/>
          <a:ln/>
        </p:spPr>
        <p:txBody>
          <a:bodyPr wrap="square" lIns="0" tIns="0" rIns="0" bIns="0" rtlCol="0" anchor="ctr"/>
          <a:lstStyle/>
          <a:p>
            <a:pPr marL="0" indent="0">
              <a:buNone/>
            </a:pPr>
            <a:r>
              <a:rPr lang="en-US" sz="900" dirty="0">
                <a:solidFill>
                  <a:srgbClr val="E8A33D"/>
                </a:solidFill>
                <a:latin typeface="IBM Plex Mono" pitchFamily="34" charset="0"/>
                <a:ea typeface="IBM Plex Mono" pitchFamily="34" charset="-122"/>
                <a:cs typeface="IBM Plex Mono" pitchFamily="34" charset="-120"/>
              </a:rPr>
              <a:t>01</a:t>
            </a:r>
            <a:endParaRPr lang="en-US" sz="900" dirty="0"/>
          </a:p>
        </p:txBody>
      </p:sp>
      <p:sp>
        <p:nvSpPr>
          <p:cNvPr id="11" name="Text 9"/>
          <p:cNvSpPr/>
          <p:nvPr/>
        </p:nvSpPr>
        <p:spPr>
          <a:xfrm>
            <a:off x="6720840" y="1920240"/>
            <a:ext cx="4830775" cy="658368"/>
          </a:xfrm>
          <a:prstGeom prst="rect">
            <a:avLst/>
          </a:prstGeom>
          <a:noFill/>
          <a:ln/>
        </p:spPr>
        <p:txBody>
          <a:bodyPr wrap="square" lIns="0" tIns="0" rIns="0" bIns="0" rtlCol="0" anchor="ctr"/>
          <a:lstStyle/>
          <a:p>
            <a:pPr marL="0" indent="0">
              <a:buNone/>
            </a:pPr>
            <a:r>
              <a:rPr lang="en-US" sz="1200" dirty="0">
                <a:solidFill>
                  <a:srgbClr val="FFFFFF"/>
                </a:solidFill>
                <a:latin typeface="IBM Plex Sans" pitchFamily="34" charset="0"/>
                <a:ea typeface="IBM Plex Sans" pitchFamily="34" charset="-122"/>
                <a:cs typeface="IBM Plex Sans" pitchFamily="34" charset="-120"/>
              </a:rPr>
              <a:t>Get data out of the systems it is stuck in, and clean it up</a:t>
            </a:r>
            <a:endParaRPr lang="en-US" sz="1200" dirty="0"/>
          </a:p>
        </p:txBody>
      </p:sp>
      <p:sp>
        <p:nvSpPr>
          <p:cNvPr id="12" name="Shape 10"/>
          <p:cNvSpPr/>
          <p:nvPr/>
        </p:nvSpPr>
        <p:spPr>
          <a:xfrm>
            <a:off x="6263640" y="2578608"/>
            <a:ext cx="5287975" cy="0"/>
          </a:xfrm>
          <a:prstGeom prst="line">
            <a:avLst/>
          </a:prstGeom>
          <a:noFill/>
          <a:ln w="9525">
            <a:solidFill>
              <a:srgbClr val="2E3033"/>
            </a:solidFill>
            <a:prstDash val="solid"/>
          </a:ln>
        </p:spPr>
        <p:txBody>
          <a:bodyPr/>
          <a:lstStyle/>
          <a:p>
            <a:endParaRPr lang="en-PK"/>
          </a:p>
        </p:txBody>
      </p:sp>
      <p:sp>
        <p:nvSpPr>
          <p:cNvPr id="13" name="Text 11"/>
          <p:cNvSpPr/>
          <p:nvPr/>
        </p:nvSpPr>
        <p:spPr>
          <a:xfrm>
            <a:off x="6263640" y="2578608"/>
            <a:ext cx="411480" cy="658368"/>
          </a:xfrm>
          <a:prstGeom prst="rect">
            <a:avLst/>
          </a:prstGeom>
          <a:noFill/>
          <a:ln/>
        </p:spPr>
        <p:txBody>
          <a:bodyPr wrap="square" lIns="0" tIns="0" rIns="0" bIns="0" rtlCol="0" anchor="ctr"/>
          <a:lstStyle/>
          <a:p>
            <a:pPr marL="0" indent="0">
              <a:buNone/>
            </a:pPr>
            <a:r>
              <a:rPr lang="en-US" sz="900" dirty="0">
                <a:solidFill>
                  <a:srgbClr val="E8A33D"/>
                </a:solidFill>
                <a:latin typeface="IBM Plex Mono" pitchFamily="34" charset="0"/>
                <a:ea typeface="IBM Plex Mono" pitchFamily="34" charset="-122"/>
                <a:cs typeface="IBM Plex Mono" pitchFamily="34" charset="-120"/>
              </a:rPr>
              <a:t>02</a:t>
            </a:r>
            <a:endParaRPr lang="en-US" sz="900" dirty="0"/>
          </a:p>
        </p:txBody>
      </p:sp>
      <p:sp>
        <p:nvSpPr>
          <p:cNvPr id="14" name="Text 12"/>
          <p:cNvSpPr/>
          <p:nvPr/>
        </p:nvSpPr>
        <p:spPr>
          <a:xfrm>
            <a:off x="6720840" y="2578608"/>
            <a:ext cx="4830775" cy="658368"/>
          </a:xfrm>
          <a:prstGeom prst="rect">
            <a:avLst/>
          </a:prstGeom>
          <a:noFill/>
          <a:ln/>
        </p:spPr>
        <p:txBody>
          <a:bodyPr wrap="square" lIns="0" tIns="0" rIns="0" bIns="0" rtlCol="0" anchor="ctr"/>
          <a:lstStyle/>
          <a:p>
            <a:pPr marL="0" indent="0">
              <a:buNone/>
            </a:pPr>
            <a:r>
              <a:rPr lang="en-US" sz="1200" dirty="0">
                <a:solidFill>
                  <a:srgbClr val="FFFFFF"/>
                </a:solidFill>
                <a:latin typeface="IBM Plex Sans" pitchFamily="34" charset="0"/>
                <a:ea typeface="IBM Plex Sans" pitchFamily="34" charset="-122"/>
                <a:cs typeface="IBM Plex Sans" pitchFamily="34" charset="-120"/>
              </a:rPr>
              <a:t>One dashboard for the numbers you check daily, built around your questions</a:t>
            </a:r>
            <a:endParaRPr lang="en-US" sz="1200" dirty="0"/>
          </a:p>
        </p:txBody>
      </p:sp>
      <p:sp>
        <p:nvSpPr>
          <p:cNvPr id="15" name="Shape 13"/>
          <p:cNvSpPr/>
          <p:nvPr/>
        </p:nvSpPr>
        <p:spPr>
          <a:xfrm>
            <a:off x="6263640" y="3236976"/>
            <a:ext cx="5287975" cy="0"/>
          </a:xfrm>
          <a:prstGeom prst="line">
            <a:avLst/>
          </a:prstGeom>
          <a:noFill/>
          <a:ln w="9525">
            <a:solidFill>
              <a:srgbClr val="2E3033"/>
            </a:solidFill>
            <a:prstDash val="solid"/>
          </a:ln>
        </p:spPr>
        <p:txBody>
          <a:bodyPr/>
          <a:lstStyle/>
          <a:p>
            <a:endParaRPr lang="en-PK"/>
          </a:p>
        </p:txBody>
      </p:sp>
      <p:sp>
        <p:nvSpPr>
          <p:cNvPr id="16" name="Text 14"/>
          <p:cNvSpPr/>
          <p:nvPr/>
        </p:nvSpPr>
        <p:spPr>
          <a:xfrm>
            <a:off x="6263640" y="3236976"/>
            <a:ext cx="411480" cy="658368"/>
          </a:xfrm>
          <a:prstGeom prst="rect">
            <a:avLst/>
          </a:prstGeom>
          <a:noFill/>
          <a:ln/>
        </p:spPr>
        <p:txBody>
          <a:bodyPr wrap="square" lIns="0" tIns="0" rIns="0" bIns="0" rtlCol="0" anchor="ctr"/>
          <a:lstStyle/>
          <a:p>
            <a:pPr marL="0" indent="0">
              <a:buNone/>
            </a:pPr>
            <a:r>
              <a:rPr lang="en-US" sz="900" dirty="0">
                <a:solidFill>
                  <a:srgbClr val="E8A33D"/>
                </a:solidFill>
                <a:latin typeface="IBM Plex Mono" pitchFamily="34" charset="0"/>
                <a:ea typeface="IBM Plex Mono" pitchFamily="34" charset="-122"/>
                <a:cs typeface="IBM Plex Mono" pitchFamily="34" charset="-120"/>
              </a:rPr>
              <a:t>03</a:t>
            </a:r>
            <a:endParaRPr lang="en-US" sz="900" dirty="0"/>
          </a:p>
        </p:txBody>
      </p:sp>
      <p:sp>
        <p:nvSpPr>
          <p:cNvPr id="17" name="Text 15"/>
          <p:cNvSpPr/>
          <p:nvPr/>
        </p:nvSpPr>
        <p:spPr>
          <a:xfrm>
            <a:off x="6720840" y="3236976"/>
            <a:ext cx="4830775" cy="658368"/>
          </a:xfrm>
          <a:prstGeom prst="rect">
            <a:avLst/>
          </a:prstGeom>
          <a:noFill/>
          <a:ln/>
        </p:spPr>
        <p:txBody>
          <a:bodyPr wrap="square" lIns="0" tIns="0" rIns="0" bIns="0" rtlCol="0" anchor="ctr"/>
          <a:lstStyle/>
          <a:p>
            <a:pPr marL="0" indent="0">
              <a:buNone/>
            </a:pPr>
            <a:r>
              <a:rPr lang="en-US" sz="1200" dirty="0">
                <a:solidFill>
                  <a:srgbClr val="FFFFFF"/>
                </a:solidFill>
                <a:latin typeface="IBM Plex Sans" pitchFamily="34" charset="0"/>
                <a:ea typeface="IBM Plex Sans" pitchFamily="34" charset="-122"/>
                <a:cs typeface="IBM Plex Sans" pitchFamily="34" charset="-120"/>
              </a:rPr>
              <a:t>Reports that build themselves instead of someone assembling them every Monday</a:t>
            </a:r>
            <a:endParaRPr lang="en-US" sz="1200" dirty="0"/>
          </a:p>
        </p:txBody>
      </p:sp>
      <p:sp>
        <p:nvSpPr>
          <p:cNvPr id="18" name="Shape 16"/>
          <p:cNvSpPr/>
          <p:nvPr/>
        </p:nvSpPr>
        <p:spPr>
          <a:xfrm>
            <a:off x="6263640" y="3895344"/>
            <a:ext cx="5287975" cy="0"/>
          </a:xfrm>
          <a:prstGeom prst="line">
            <a:avLst/>
          </a:prstGeom>
          <a:noFill/>
          <a:ln w="9525">
            <a:solidFill>
              <a:srgbClr val="2E3033"/>
            </a:solidFill>
            <a:prstDash val="solid"/>
          </a:ln>
        </p:spPr>
        <p:txBody>
          <a:bodyPr/>
          <a:lstStyle/>
          <a:p>
            <a:endParaRPr lang="en-PK"/>
          </a:p>
        </p:txBody>
      </p:sp>
      <p:sp>
        <p:nvSpPr>
          <p:cNvPr id="19" name="Text 17"/>
          <p:cNvSpPr/>
          <p:nvPr/>
        </p:nvSpPr>
        <p:spPr>
          <a:xfrm>
            <a:off x="6263640" y="3895344"/>
            <a:ext cx="411480" cy="658368"/>
          </a:xfrm>
          <a:prstGeom prst="rect">
            <a:avLst/>
          </a:prstGeom>
          <a:noFill/>
          <a:ln/>
        </p:spPr>
        <p:txBody>
          <a:bodyPr wrap="square" lIns="0" tIns="0" rIns="0" bIns="0" rtlCol="0" anchor="ctr"/>
          <a:lstStyle/>
          <a:p>
            <a:pPr marL="0" indent="0">
              <a:buNone/>
            </a:pPr>
            <a:r>
              <a:rPr lang="en-US" sz="900" dirty="0">
                <a:solidFill>
                  <a:srgbClr val="E8A33D"/>
                </a:solidFill>
                <a:latin typeface="IBM Plex Mono" pitchFamily="34" charset="0"/>
                <a:ea typeface="IBM Plex Mono" pitchFamily="34" charset="-122"/>
                <a:cs typeface="IBM Plex Mono" pitchFamily="34" charset="-120"/>
              </a:rPr>
              <a:t>04</a:t>
            </a:r>
            <a:endParaRPr lang="en-US" sz="900" dirty="0"/>
          </a:p>
        </p:txBody>
      </p:sp>
      <p:sp>
        <p:nvSpPr>
          <p:cNvPr id="20" name="Text 18"/>
          <p:cNvSpPr/>
          <p:nvPr/>
        </p:nvSpPr>
        <p:spPr>
          <a:xfrm>
            <a:off x="6720840" y="3895344"/>
            <a:ext cx="4830775" cy="658368"/>
          </a:xfrm>
          <a:prstGeom prst="rect">
            <a:avLst/>
          </a:prstGeom>
          <a:noFill/>
          <a:ln/>
        </p:spPr>
        <p:txBody>
          <a:bodyPr wrap="square" lIns="0" tIns="0" rIns="0" bIns="0" rtlCol="0" anchor="ctr"/>
          <a:lstStyle/>
          <a:p>
            <a:pPr marL="0" indent="0">
              <a:buNone/>
            </a:pPr>
            <a:r>
              <a:rPr lang="en-US" sz="1200" dirty="0">
                <a:solidFill>
                  <a:srgbClr val="FFFFFF"/>
                </a:solidFill>
                <a:latin typeface="IBM Plex Sans" pitchFamily="34" charset="0"/>
                <a:ea typeface="IBM Plex Sans" pitchFamily="34" charset="-122"/>
                <a:cs typeface="IBM Plex Sans" pitchFamily="34" charset="-120"/>
              </a:rPr>
              <a:t>Match records across systems that spell the same customer four different ways</a:t>
            </a:r>
            <a:endParaRPr lang="en-US" sz="1200" dirty="0"/>
          </a:p>
        </p:txBody>
      </p:sp>
      <p:sp>
        <p:nvSpPr>
          <p:cNvPr id="21" name="Shape 19"/>
          <p:cNvSpPr/>
          <p:nvPr/>
        </p:nvSpPr>
        <p:spPr>
          <a:xfrm>
            <a:off x="6263640" y="4553712"/>
            <a:ext cx="5287975" cy="0"/>
          </a:xfrm>
          <a:prstGeom prst="line">
            <a:avLst/>
          </a:prstGeom>
          <a:noFill/>
          <a:ln w="9525">
            <a:solidFill>
              <a:srgbClr val="2E3033"/>
            </a:solidFill>
            <a:prstDash val="solid"/>
          </a:ln>
        </p:spPr>
        <p:txBody>
          <a:bodyPr/>
          <a:lstStyle/>
          <a:p>
            <a:endParaRPr lang="en-PK"/>
          </a:p>
        </p:txBody>
      </p:sp>
      <p:sp>
        <p:nvSpPr>
          <p:cNvPr id="22" name="Text 20"/>
          <p:cNvSpPr/>
          <p:nvPr/>
        </p:nvSpPr>
        <p:spPr>
          <a:xfrm>
            <a:off x="6263640" y="4553712"/>
            <a:ext cx="411480" cy="658368"/>
          </a:xfrm>
          <a:prstGeom prst="rect">
            <a:avLst/>
          </a:prstGeom>
          <a:noFill/>
          <a:ln/>
        </p:spPr>
        <p:txBody>
          <a:bodyPr wrap="square" lIns="0" tIns="0" rIns="0" bIns="0" rtlCol="0" anchor="ctr"/>
          <a:lstStyle/>
          <a:p>
            <a:pPr marL="0" indent="0">
              <a:buNone/>
            </a:pPr>
            <a:r>
              <a:rPr lang="en-US" sz="900" dirty="0">
                <a:solidFill>
                  <a:srgbClr val="E8A33D"/>
                </a:solidFill>
                <a:latin typeface="IBM Plex Mono" pitchFamily="34" charset="0"/>
                <a:ea typeface="IBM Plex Mono" pitchFamily="34" charset="-122"/>
                <a:cs typeface="IBM Plex Mono" pitchFamily="34" charset="-120"/>
              </a:rPr>
              <a:t>05</a:t>
            </a:r>
            <a:endParaRPr lang="en-US" sz="900" dirty="0"/>
          </a:p>
        </p:txBody>
      </p:sp>
      <p:sp>
        <p:nvSpPr>
          <p:cNvPr id="23" name="Text 21"/>
          <p:cNvSpPr/>
          <p:nvPr/>
        </p:nvSpPr>
        <p:spPr>
          <a:xfrm>
            <a:off x="6720840" y="4553712"/>
            <a:ext cx="4830775" cy="658368"/>
          </a:xfrm>
          <a:prstGeom prst="rect">
            <a:avLst/>
          </a:prstGeom>
          <a:noFill/>
          <a:ln/>
        </p:spPr>
        <p:txBody>
          <a:bodyPr wrap="square" lIns="0" tIns="0" rIns="0" bIns="0" rtlCol="0" anchor="ctr"/>
          <a:lstStyle/>
          <a:p>
            <a:pPr marL="0" indent="0">
              <a:buNone/>
            </a:pPr>
            <a:r>
              <a:rPr lang="en-US" sz="1200" dirty="0">
                <a:solidFill>
                  <a:srgbClr val="FFFFFF"/>
                </a:solidFill>
                <a:latin typeface="IBM Plex Sans" pitchFamily="34" charset="0"/>
                <a:ea typeface="IBM Plex Sans" pitchFamily="34" charset="-122"/>
                <a:cs typeface="IBM Plex Sans" pitchFamily="34" charset="-120"/>
              </a:rPr>
              <a:t>Forecasting and early warnings where the data actually supports them</a:t>
            </a:r>
            <a:endParaRPr lang="en-US" sz="1200" dirty="0"/>
          </a:p>
        </p:txBody>
      </p:sp>
      <p:sp>
        <p:nvSpPr>
          <p:cNvPr id="24" name="Shape 22"/>
          <p:cNvSpPr/>
          <p:nvPr/>
        </p:nvSpPr>
        <p:spPr>
          <a:xfrm>
            <a:off x="6263640" y="5212080"/>
            <a:ext cx="5287975" cy="0"/>
          </a:xfrm>
          <a:prstGeom prst="line">
            <a:avLst/>
          </a:prstGeom>
          <a:noFill/>
          <a:ln w="9525">
            <a:solidFill>
              <a:srgbClr val="2E3033"/>
            </a:solidFill>
            <a:prstDash val="solid"/>
          </a:ln>
        </p:spPr>
        <p:txBody>
          <a:bodyPr/>
          <a:lstStyle/>
          <a:p>
            <a:endParaRPr lang="en-PK"/>
          </a:p>
        </p:txBody>
      </p:sp>
      <p:sp>
        <p:nvSpPr>
          <p:cNvPr id="25" name="Text 23"/>
          <p:cNvSpPr/>
          <p:nvPr/>
        </p:nvSpPr>
        <p:spPr>
          <a:xfrm>
            <a:off x="6263640" y="5212080"/>
            <a:ext cx="411480" cy="658368"/>
          </a:xfrm>
          <a:prstGeom prst="rect">
            <a:avLst/>
          </a:prstGeom>
          <a:noFill/>
          <a:ln/>
        </p:spPr>
        <p:txBody>
          <a:bodyPr wrap="square" lIns="0" tIns="0" rIns="0" bIns="0" rtlCol="0" anchor="ctr"/>
          <a:lstStyle/>
          <a:p>
            <a:pPr marL="0" indent="0">
              <a:buNone/>
            </a:pPr>
            <a:r>
              <a:rPr lang="en-US" sz="900" dirty="0">
                <a:solidFill>
                  <a:srgbClr val="E8A33D"/>
                </a:solidFill>
                <a:latin typeface="IBM Plex Mono" pitchFamily="34" charset="0"/>
                <a:ea typeface="IBM Plex Mono" pitchFamily="34" charset="-122"/>
                <a:cs typeface="IBM Plex Mono" pitchFamily="34" charset="-120"/>
              </a:rPr>
              <a:t>06</a:t>
            </a:r>
            <a:endParaRPr lang="en-US" sz="900" dirty="0"/>
          </a:p>
        </p:txBody>
      </p:sp>
      <p:sp>
        <p:nvSpPr>
          <p:cNvPr id="26" name="Text 24"/>
          <p:cNvSpPr/>
          <p:nvPr/>
        </p:nvSpPr>
        <p:spPr>
          <a:xfrm>
            <a:off x="6720840" y="5212080"/>
            <a:ext cx="4830775" cy="658368"/>
          </a:xfrm>
          <a:prstGeom prst="rect">
            <a:avLst/>
          </a:prstGeom>
          <a:noFill/>
          <a:ln/>
        </p:spPr>
        <p:txBody>
          <a:bodyPr wrap="square" lIns="0" tIns="0" rIns="0" bIns="0" rtlCol="0" anchor="ctr"/>
          <a:lstStyle/>
          <a:p>
            <a:pPr marL="0" indent="0">
              <a:buNone/>
            </a:pPr>
            <a:r>
              <a:rPr lang="en-US" sz="1200" dirty="0">
                <a:solidFill>
                  <a:srgbClr val="FFFFFF"/>
                </a:solidFill>
                <a:latin typeface="IBM Plex Sans" pitchFamily="34" charset="0"/>
                <a:ea typeface="IBM Plex Sans" pitchFamily="34" charset="-122"/>
                <a:cs typeface="IBM Plex Sans" pitchFamily="34" charset="-120"/>
              </a:rPr>
              <a:t>Checks that flag a wrong number before anyone makes a decision on it</a:t>
            </a:r>
            <a:endParaRPr lang="en-US" sz="1200" dirty="0"/>
          </a:p>
        </p:txBody>
      </p:sp>
      <p:sp>
        <p:nvSpPr>
          <p:cNvPr id="27" name="Shape 25"/>
          <p:cNvSpPr/>
          <p:nvPr/>
        </p:nvSpPr>
        <p:spPr>
          <a:xfrm>
            <a:off x="6263640" y="5870448"/>
            <a:ext cx="5287975" cy="0"/>
          </a:xfrm>
          <a:prstGeom prst="line">
            <a:avLst/>
          </a:prstGeom>
          <a:noFill/>
          <a:ln w="9525">
            <a:solidFill>
              <a:srgbClr val="2E3033"/>
            </a:solidFill>
            <a:prstDash val="solid"/>
          </a:ln>
        </p:spPr>
        <p:txBody>
          <a:bodyPr/>
          <a:lstStyle/>
          <a:p>
            <a:endParaRPr lang="en-PK"/>
          </a:p>
        </p:txBody>
      </p:sp>
      <p:sp>
        <p:nvSpPr>
          <p:cNvPr id="28" name="Text 26"/>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9" name="Text 27"/>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15 / 30</a:t>
            </a:r>
            <a:endParaRPr lang="en-US" sz="700" dirty="0"/>
          </a:p>
        </p:txBody>
      </p:sp>
    </p:spTree>
    <p:extLst>
      <p:ext uri="{BB962C8B-B14F-4D97-AF65-F5344CB8AC3E}">
        <p14:creationId xmlns:p14="http://schemas.microsoft.com/office/powerpoint/2010/main" val="1676017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05  DATA ANALYTICS  ·  CASE STUDY 01 / 04</a:t>
            </a:r>
            <a:endParaRPr lang="en-US" sz="900" dirty="0"/>
          </a:p>
        </p:txBody>
      </p:sp>
      <p:sp>
        <p:nvSpPr>
          <p:cNvPr id="4" name="Text 2"/>
          <p:cNvSpPr/>
          <p:nvPr/>
        </p:nvSpPr>
        <p:spPr>
          <a:xfrm>
            <a:off x="640080" y="777240"/>
            <a:ext cx="5120640" cy="548640"/>
          </a:xfrm>
          <a:prstGeom prst="rect">
            <a:avLst/>
          </a:prstGeom>
          <a:noFill/>
          <a:ln/>
        </p:spPr>
        <p:txBody>
          <a:bodyPr wrap="square" lIns="0" tIns="0" rIns="0" bIns="0" rtlCol="0" anchor="t"/>
          <a:lstStyle/>
          <a:p>
            <a:pPr marL="0" indent="0">
              <a:lnSpc>
                <a:spcPct val="95000"/>
              </a:lnSpc>
              <a:buNone/>
            </a:pPr>
            <a:r>
              <a:rPr lang="en-US" sz="3200" b="1" dirty="0">
                <a:solidFill>
                  <a:srgbClr val="14161A"/>
                </a:solidFill>
                <a:latin typeface="Space Grotesk" pitchFamily="34" charset="0"/>
                <a:ea typeface="Space Grotesk" pitchFamily="34" charset="-122"/>
                <a:cs typeface="Space Grotesk" pitchFamily="34" charset="-120"/>
              </a:rPr>
              <a:t>DCAS</a:t>
            </a:r>
            <a:endParaRPr lang="en-US" sz="3200" dirty="0"/>
          </a:p>
        </p:txBody>
      </p:sp>
      <p:sp>
        <p:nvSpPr>
          <p:cNvPr id="5" name="Text 3"/>
          <p:cNvSpPr/>
          <p:nvPr/>
        </p:nvSpPr>
        <p:spPr>
          <a:xfrm>
            <a:off x="640080" y="1389888"/>
            <a:ext cx="5120640" cy="320040"/>
          </a:xfrm>
          <a:prstGeom prst="rect">
            <a:avLst/>
          </a:prstGeom>
          <a:noFill/>
          <a:ln/>
        </p:spPr>
        <p:txBody>
          <a:bodyPr wrap="square" lIns="0" tIns="0" rIns="0" bIns="0" rtlCol="0" anchor="t"/>
          <a:lstStyle/>
          <a:p>
            <a:pPr marL="0" indent="0">
              <a:buNone/>
            </a:pPr>
            <a:r>
              <a:rPr lang="en-US" sz="1500" dirty="0">
                <a:solidFill>
                  <a:srgbClr val="5B6066"/>
                </a:solidFill>
                <a:latin typeface="IBM Plex Sans" pitchFamily="34" charset="0"/>
                <a:ea typeface="IBM Plex Sans" pitchFamily="34" charset="-122"/>
                <a:cs typeface="IBM Plex Sans" pitchFamily="34" charset="-120"/>
              </a:rPr>
              <a:t>Data correlation and entity resolution</a:t>
            </a:r>
            <a:endParaRPr lang="en-US" sz="1500" dirty="0"/>
          </a:p>
        </p:txBody>
      </p:sp>
      <p:sp>
        <p:nvSpPr>
          <p:cNvPr id="6" name="Shape 4"/>
          <p:cNvSpPr/>
          <p:nvPr/>
        </p:nvSpPr>
        <p:spPr>
          <a:xfrm>
            <a:off x="640080" y="1810512"/>
            <a:ext cx="5120640" cy="0"/>
          </a:xfrm>
          <a:prstGeom prst="line">
            <a:avLst/>
          </a:prstGeom>
          <a:noFill/>
          <a:ln w="9525">
            <a:solidFill>
              <a:srgbClr val="DCD8D0"/>
            </a:solidFill>
            <a:prstDash val="solid"/>
          </a:ln>
        </p:spPr>
        <p:txBody>
          <a:bodyPr/>
          <a:lstStyle/>
          <a:p>
            <a:endParaRPr lang="en-PK"/>
          </a:p>
        </p:txBody>
      </p:sp>
      <p:sp>
        <p:nvSpPr>
          <p:cNvPr id="7" name="Text 5"/>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6F6A5F"/>
                </a:solidFill>
                <a:latin typeface="IBM Plex Mono" pitchFamily="34" charset="0"/>
                <a:ea typeface="IBM Plex Mono" pitchFamily="34" charset="-122"/>
                <a:cs typeface="IBM Plex Mono" pitchFamily="34" charset="-120"/>
              </a:rPr>
              <a:t>DATA INTELLIGENCE AND ANALYTICS — NAME WITHHELD   ·   2026   ·   6 WEEKS   ·   DELIVERED</a:t>
            </a:r>
            <a:endParaRPr lang="en-US" sz="800" dirty="0"/>
          </a:p>
        </p:txBody>
      </p:sp>
      <p:sp>
        <p:nvSpPr>
          <p:cNvPr id="8" name="Shape 6"/>
          <p:cNvSpPr/>
          <p:nvPr/>
        </p:nvSpPr>
        <p:spPr>
          <a:xfrm>
            <a:off x="640080" y="2331720"/>
            <a:ext cx="5120640" cy="0"/>
          </a:xfrm>
          <a:prstGeom prst="line">
            <a:avLst/>
          </a:prstGeom>
          <a:noFill/>
          <a:ln w="9525">
            <a:solidFill>
              <a:srgbClr val="DCD8D0"/>
            </a:solidFill>
            <a:prstDash val="solid"/>
          </a:ln>
        </p:spPr>
        <p:txBody>
          <a:bodyPr/>
          <a:lstStyle/>
          <a:p>
            <a:endParaRPr lang="en-PK"/>
          </a:p>
        </p:txBody>
      </p:sp>
      <p:sp>
        <p:nvSpPr>
          <p:cNvPr id="9" name="Text 7"/>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THE PROBLEM</a:t>
            </a:r>
            <a:endParaRPr lang="en-US" sz="800" dirty="0"/>
          </a:p>
        </p:txBody>
      </p:sp>
      <p:sp>
        <p:nvSpPr>
          <p:cNvPr id="10" name="Text 8"/>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Analysts and intelligence teams routinely work against fragmented data silos: internal databases, customer registries, transaction logs, external communication records. Each dataset follows different schema conventions, lacks standardised formatting — inconsistent phone numbers, partial names, typos, alias variations — and runs to millions of rows.</a:t>
            </a:r>
            <a:endParaRPr lang="en-US" sz="1150" dirty="0"/>
          </a:p>
        </p:txBody>
      </p:sp>
      <p:sp>
        <p:nvSpPr>
          <p:cNvPr id="11" name="Text 9"/>
          <p:cNvSpPr/>
          <p:nvPr/>
        </p:nvSpPr>
        <p:spPr>
          <a:xfrm>
            <a:off x="640080" y="4058349"/>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WHAT CHANGED</a:t>
            </a:r>
            <a:endParaRPr lang="en-US" sz="800" dirty="0"/>
          </a:p>
        </p:txBody>
      </p:sp>
      <p:sp>
        <p:nvSpPr>
          <p:cNvPr id="12" name="Text 10"/>
          <p:cNvSpPr/>
          <p:nvPr/>
        </p:nvSpPr>
        <p:spPr>
          <a:xfrm>
            <a:off x="640080" y="4305236"/>
            <a:ext cx="5120640" cy="2004124"/>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Days of manual spreadsheet lookups and brittle one-off scripts collapsed into an automated correlation workflow with visible progress. Analysts can watch a run resolve linkages across massive datasets in real time, then export verified match clusters and audit-ready reports directly to stakeholders.</a:t>
            </a:r>
            <a:endParaRPr lang="en-US" sz="1150" dirty="0"/>
          </a:p>
        </p:txBody>
      </p:sp>
      <p:sp>
        <p:nvSpPr>
          <p:cNvPr id="13" name="Text 11"/>
          <p:cNvSpPr/>
          <p:nvPr/>
        </p:nvSpPr>
        <p:spPr>
          <a:xfrm>
            <a:off x="6263640" y="548640"/>
            <a:ext cx="3367735" cy="365760"/>
          </a:xfrm>
          <a:prstGeom prst="rect">
            <a:avLst/>
          </a:prstGeom>
          <a:noFill/>
          <a:ln/>
        </p:spPr>
        <p:txBody>
          <a:bodyPr wrap="square" lIns="0" tIns="0" rIns="0" bIns="0" rtlCol="0" anchor="t"/>
          <a:lstStyle/>
          <a:p>
            <a:pPr marL="0" indent="0">
              <a:buNone/>
            </a:pPr>
            <a:r>
              <a:rPr lang="en-US" sz="750" kern="0" spc="100" dirty="0">
                <a:solidFill>
                  <a:srgbClr val="6F6A5F"/>
                </a:solidFill>
                <a:latin typeface="IBM Plex Mono" pitchFamily="34" charset="0"/>
                <a:ea typeface="IBM Plex Mono" pitchFamily="34" charset="-122"/>
                <a:cs typeface="IBM Plex Mono" pitchFamily="34" charset="-120"/>
              </a:rPr>
              <a:t>CROSS-DATABASE RECORD LINKAGE PROCESSING TIME (HOURS)</a:t>
            </a:r>
            <a:endParaRPr lang="en-US" sz="750" dirty="0"/>
          </a:p>
        </p:txBody>
      </p:sp>
      <p:sp>
        <p:nvSpPr>
          <p:cNvPr id="14" name="Text 12"/>
          <p:cNvSpPr/>
          <p:nvPr/>
        </p:nvSpPr>
        <p:spPr>
          <a:xfrm>
            <a:off x="9768535" y="530352"/>
            <a:ext cx="1005840" cy="219456"/>
          </a:xfrm>
          <a:prstGeom prst="rect">
            <a:avLst/>
          </a:prstGeom>
          <a:noFill/>
          <a:ln/>
        </p:spPr>
        <p:txBody>
          <a:bodyPr wrap="square" lIns="0" tIns="0" rIns="0" bIns="0" rtlCol="0" anchor="ctr"/>
          <a:lstStyle/>
          <a:p>
            <a:pPr marL="0" indent="0" algn="r">
              <a:buNone/>
            </a:pPr>
            <a:r>
              <a:rPr lang="en-US" sz="900" dirty="0">
                <a:solidFill>
                  <a:srgbClr val="5B6066"/>
                </a:solidFill>
                <a:latin typeface="IBM Plex Mono" pitchFamily="34" charset="0"/>
                <a:ea typeface="IBM Plex Mono" pitchFamily="34" charset="-122"/>
                <a:cs typeface="IBM Plex Mono" pitchFamily="34" charset="-120"/>
              </a:rPr>
              <a:t>95 → 8</a:t>
            </a:r>
            <a:endParaRPr lang="en-US" sz="900" dirty="0"/>
          </a:p>
        </p:txBody>
      </p:sp>
      <p:sp>
        <p:nvSpPr>
          <p:cNvPr id="15" name="Text 13"/>
          <p:cNvSpPr/>
          <p:nvPr/>
        </p:nvSpPr>
        <p:spPr>
          <a:xfrm>
            <a:off x="10865815" y="530352"/>
            <a:ext cx="685800" cy="219456"/>
          </a:xfrm>
          <a:prstGeom prst="roundRect">
            <a:avLst>
              <a:gd name="adj" fmla="val 16667"/>
            </a:avLst>
          </a:prstGeom>
          <a:solidFill>
            <a:srgbClr val="F0E2C8"/>
          </a:solidFill>
          <a:ln w="6350">
            <a:solidFill>
              <a:srgbClr val="8F5D0A"/>
            </a:solidFill>
          </a:ln>
        </p:spPr>
        <p:txBody>
          <a:bodyPr wrap="square" lIns="0" tIns="0" rIns="0" bIns="0" rtlCol="0" anchor="ctr"/>
          <a:lstStyle/>
          <a:p>
            <a:pPr marL="0" indent="0" algn="ctr">
              <a:buNone/>
            </a:pPr>
            <a:r>
              <a:rPr lang="en-US" sz="900" b="1" dirty="0">
                <a:solidFill>
                  <a:srgbClr val="8F5D0A"/>
                </a:solidFill>
                <a:latin typeface="IBM Plex Mono" pitchFamily="34" charset="0"/>
                <a:ea typeface="IBM Plex Mono" pitchFamily="34" charset="-122"/>
                <a:cs typeface="IBM Plex Mono" pitchFamily="34" charset="-120"/>
              </a:rPr>
              <a:t>-92%</a:t>
            </a:r>
            <a:endParaRPr lang="en-US" sz="900" dirty="0"/>
          </a:p>
        </p:txBody>
      </p:sp>
      <p:graphicFrame>
        <p:nvGraphicFramePr>
          <p:cNvPr id="16" name="Chart 0"/>
          <p:cNvGraphicFramePr/>
          <p:nvPr/>
        </p:nvGraphicFramePr>
        <p:xfrm>
          <a:off x="6190488" y="932688"/>
          <a:ext cx="5434279" cy="2450592"/>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4"/>
          <p:cNvSpPr/>
          <p:nvPr/>
        </p:nvSpPr>
        <p:spPr>
          <a:xfrm>
            <a:off x="6263640" y="3840480"/>
            <a:ext cx="2415388" cy="0"/>
          </a:xfrm>
          <a:prstGeom prst="line">
            <a:avLst/>
          </a:prstGeom>
          <a:noFill/>
          <a:ln w="9525">
            <a:solidFill>
              <a:srgbClr val="DCD8D0"/>
            </a:solidFill>
            <a:prstDash val="solid"/>
          </a:ln>
        </p:spPr>
        <p:txBody>
          <a:bodyPr/>
          <a:lstStyle/>
          <a:p>
            <a:endParaRPr lang="en-PK"/>
          </a:p>
        </p:txBody>
      </p:sp>
      <p:sp>
        <p:nvSpPr>
          <p:cNvPr id="18" name="Text 15"/>
          <p:cNvSpPr/>
          <p:nvPr/>
        </p:nvSpPr>
        <p:spPr>
          <a:xfrm>
            <a:off x="6263640" y="395020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99.8%</a:t>
            </a:r>
            <a:endParaRPr lang="en-US" sz="2400" dirty="0"/>
          </a:p>
        </p:txBody>
      </p:sp>
      <p:sp>
        <p:nvSpPr>
          <p:cNvPr id="19" name="Text 16"/>
          <p:cNvSpPr/>
          <p:nvPr/>
        </p:nvSpPr>
        <p:spPr>
          <a:xfrm>
            <a:off x="6263640"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entity resolution precision across dirty and unstructured records</a:t>
            </a:r>
            <a:endParaRPr lang="en-US" sz="950" dirty="0"/>
          </a:p>
        </p:txBody>
      </p:sp>
      <p:sp>
        <p:nvSpPr>
          <p:cNvPr id="20" name="Shape 17"/>
          <p:cNvSpPr/>
          <p:nvPr/>
        </p:nvSpPr>
        <p:spPr>
          <a:xfrm>
            <a:off x="8907628" y="3840480"/>
            <a:ext cx="2415388" cy="0"/>
          </a:xfrm>
          <a:prstGeom prst="line">
            <a:avLst/>
          </a:prstGeom>
          <a:noFill/>
          <a:ln w="9525">
            <a:solidFill>
              <a:srgbClr val="DCD8D0"/>
            </a:solidFill>
            <a:prstDash val="solid"/>
          </a:ln>
        </p:spPr>
        <p:txBody>
          <a:bodyPr/>
          <a:lstStyle/>
          <a:p>
            <a:endParaRPr lang="en-PK"/>
          </a:p>
        </p:txBody>
      </p:sp>
      <p:sp>
        <p:nvSpPr>
          <p:cNvPr id="21" name="Text 18"/>
          <p:cNvSpPr/>
          <p:nvPr/>
        </p:nvSpPr>
        <p:spPr>
          <a:xfrm>
            <a:off x="8907628" y="395020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10x</a:t>
            </a:r>
            <a:endParaRPr lang="en-US" sz="2400" dirty="0"/>
          </a:p>
        </p:txBody>
      </p:sp>
      <p:sp>
        <p:nvSpPr>
          <p:cNvPr id="22" name="Text 19"/>
          <p:cNvSpPr/>
          <p:nvPr/>
        </p:nvSpPr>
        <p:spPr>
          <a:xfrm>
            <a:off x="8907628"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faster cross-database correlation than manual spreadsheet lookups</a:t>
            </a:r>
            <a:endParaRPr lang="en-US" sz="950" dirty="0"/>
          </a:p>
        </p:txBody>
      </p:sp>
      <p:sp>
        <p:nvSpPr>
          <p:cNvPr id="23" name="Shape 20"/>
          <p:cNvSpPr/>
          <p:nvPr/>
        </p:nvSpPr>
        <p:spPr>
          <a:xfrm>
            <a:off x="6263640" y="5074920"/>
            <a:ext cx="2415388" cy="0"/>
          </a:xfrm>
          <a:prstGeom prst="line">
            <a:avLst/>
          </a:prstGeom>
          <a:noFill/>
          <a:ln w="9525">
            <a:solidFill>
              <a:srgbClr val="DCD8D0"/>
            </a:solidFill>
            <a:prstDash val="solid"/>
          </a:ln>
        </p:spPr>
        <p:txBody>
          <a:bodyPr/>
          <a:lstStyle/>
          <a:p>
            <a:endParaRPr lang="en-PK"/>
          </a:p>
        </p:txBody>
      </p:sp>
      <p:sp>
        <p:nvSpPr>
          <p:cNvPr id="24" name="Text 21"/>
          <p:cNvSpPr/>
          <p:nvPr/>
        </p:nvSpPr>
        <p:spPr>
          <a:xfrm>
            <a:off x="6263640" y="518464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0 sec</a:t>
            </a:r>
            <a:endParaRPr lang="en-US" sz="2400" dirty="0"/>
          </a:p>
        </p:txBody>
      </p:sp>
      <p:sp>
        <p:nvSpPr>
          <p:cNvPr id="25" name="Text 22"/>
          <p:cNvSpPr/>
          <p:nvPr/>
        </p:nvSpPr>
        <p:spPr>
          <a:xfrm>
            <a:off x="6263640"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UI freeze during multi-million record runs, via streamed progress</a:t>
            </a:r>
            <a:endParaRPr lang="en-US" sz="950" dirty="0"/>
          </a:p>
        </p:txBody>
      </p:sp>
      <p:sp>
        <p:nvSpPr>
          <p:cNvPr id="26" name="Text 23"/>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7" name="Text 24"/>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16 / 30</a:t>
            </a:r>
            <a:endParaRPr lang="en-US" sz="700" dirty="0"/>
          </a:p>
        </p:txBody>
      </p:sp>
    </p:spTree>
    <p:extLst>
      <p:ext uri="{BB962C8B-B14F-4D97-AF65-F5344CB8AC3E}">
        <p14:creationId xmlns:p14="http://schemas.microsoft.com/office/powerpoint/2010/main" val="420082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05  DATA ANALYTICS  ·  CASE STUDY 02 / 04</a:t>
            </a:r>
            <a:endParaRPr lang="en-US" sz="900" dirty="0"/>
          </a:p>
        </p:txBody>
      </p:sp>
      <p:sp>
        <p:nvSpPr>
          <p:cNvPr id="4" name="Text 2"/>
          <p:cNvSpPr/>
          <p:nvPr/>
        </p:nvSpPr>
        <p:spPr>
          <a:xfrm>
            <a:off x="640080" y="777240"/>
            <a:ext cx="5120640" cy="548640"/>
          </a:xfrm>
          <a:prstGeom prst="rect">
            <a:avLst/>
          </a:prstGeom>
          <a:noFill/>
          <a:ln/>
        </p:spPr>
        <p:txBody>
          <a:bodyPr wrap="square" lIns="0" tIns="0" rIns="0" bIns="0" rtlCol="0" anchor="t"/>
          <a:lstStyle/>
          <a:p>
            <a:pPr marL="0" indent="0">
              <a:lnSpc>
                <a:spcPct val="95000"/>
              </a:lnSpc>
              <a:buNone/>
            </a:pPr>
            <a:r>
              <a:rPr lang="en-US" sz="3200" b="1" dirty="0">
                <a:solidFill>
                  <a:srgbClr val="FFFFFF"/>
                </a:solidFill>
                <a:latin typeface="Space Grotesk" pitchFamily="34" charset="0"/>
                <a:ea typeface="Space Grotesk" pitchFamily="34" charset="-122"/>
                <a:cs typeface="Space Grotesk" pitchFamily="34" charset="-120"/>
              </a:rPr>
              <a:t>PKNVD</a:t>
            </a:r>
            <a:endParaRPr lang="en-US" sz="3200" dirty="0"/>
          </a:p>
        </p:txBody>
      </p:sp>
      <p:sp>
        <p:nvSpPr>
          <p:cNvPr id="5" name="Text 3"/>
          <p:cNvSpPr/>
          <p:nvPr/>
        </p:nvSpPr>
        <p:spPr>
          <a:xfrm>
            <a:off x="640080" y="1389888"/>
            <a:ext cx="5120640" cy="320040"/>
          </a:xfrm>
          <a:prstGeom prst="rect">
            <a:avLst/>
          </a:prstGeom>
          <a:noFill/>
          <a:ln/>
        </p:spPr>
        <p:txBody>
          <a:bodyPr wrap="square" lIns="0" tIns="0" rIns="0" bIns="0" rtlCol="0" anchor="t"/>
          <a:lstStyle/>
          <a:p>
            <a:pPr marL="0" indent="0">
              <a:buNone/>
            </a:pPr>
            <a:r>
              <a:rPr lang="en-US" sz="1500" dirty="0">
                <a:solidFill>
                  <a:srgbClr val="B6B7B8"/>
                </a:solidFill>
                <a:latin typeface="IBM Plex Sans" pitchFamily="34" charset="0"/>
                <a:ea typeface="IBM Plex Sans" pitchFamily="34" charset="-122"/>
                <a:cs typeface="IBM Plex Sans" pitchFamily="34" charset="-120"/>
              </a:rPr>
              <a:t>National vulnerability database</a:t>
            </a:r>
            <a:endParaRPr lang="en-US" sz="1500" dirty="0"/>
          </a:p>
        </p:txBody>
      </p:sp>
      <p:sp>
        <p:nvSpPr>
          <p:cNvPr id="6" name="Shape 4"/>
          <p:cNvSpPr/>
          <p:nvPr/>
        </p:nvSpPr>
        <p:spPr>
          <a:xfrm>
            <a:off x="640080" y="1810512"/>
            <a:ext cx="5120640" cy="0"/>
          </a:xfrm>
          <a:prstGeom prst="line">
            <a:avLst/>
          </a:prstGeom>
          <a:noFill/>
          <a:ln w="9525">
            <a:solidFill>
              <a:srgbClr val="2E3033"/>
            </a:solidFill>
            <a:prstDash val="solid"/>
          </a:ln>
        </p:spPr>
        <p:txBody>
          <a:bodyPr/>
          <a:lstStyle/>
          <a:p>
            <a:endParaRPr lang="en-PK"/>
          </a:p>
        </p:txBody>
      </p:sp>
      <p:sp>
        <p:nvSpPr>
          <p:cNvPr id="7" name="Text 5"/>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8B8D8F"/>
                </a:solidFill>
                <a:latin typeface="IBM Plex Mono" pitchFamily="34" charset="0"/>
                <a:ea typeface="IBM Plex Mono" pitchFamily="34" charset="-122"/>
                <a:cs typeface="IBM Plex Mono" pitchFamily="34" charset="-120"/>
              </a:rPr>
              <a:t>PUBLIC SECTOR CYBERSECURITY — NAME WITHHELD   ·   2026   ·   9 WEEKS   ·   DELIVERED</a:t>
            </a:r>
            <a:endParaRPr lang="en-US" sz="800" dirty="0"/>
          </a:p>
        </p:txBody>
      </p:sp>
      <p:sp>
        <p:nvSpPr>
          <p:cNvPr id="8" name="Shape 6"/>
          <p:cNvSpPr/>
          <p:nvPr/>
        </p:nvSpPr>
        <p:spPr>
          <a:xfrm>
            <a:off x="640080" y="2331720"/>
            <a:ext cx="5120640" cy="0"/>
          </a:xfrm>
          <a:prstGeom prst="line">
            <a:avLst/>
          </a:prstGeom>
          <a:noFill/>
          <a:ln w="9525">
            <a:solidFill>
              <a:srgbClr val="2E3033"/>
            </a:solidFill>
            <a:prstDash val="solid"/>
          </a:ln>
        </p:spPr>
        <p:txBody>
          <a:bodyPr/>
          <a:lstStyle/>
          <a:p>
            <a:endParaRPr lang="en-PK"/>
          </a:p>
        </p:txBody>
      </p:sp>
      <p:sp>
        <p:nvSpPr>
          <p:cNvPr id="9" name="Text 7"/>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THE PROBLEM</a:t>
            </a:r>
            <a:endParaRPr lang="en-US" sz="800" dirty="0"/>
          </a:p>
        </p:txBody>
      </p:sp>
      <p:sp>
        <p:nvSpPr>
          <p:cNvPr id="10" name="Text 8"/>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Security teams and national CERTs face thousands of new CVEs every month. Relying on base CVSS severity alone leaves analysts in the dark: a theoretical CVSS 9.8 flaw with no known exploit monopolises an emergency patching cycle while an actively weaponised CVSS 7.5 vulnerability goes unnoticed.</a:t>
            </a:r>
            <a:endParaRPr lang="en-US" sz="1150" dirty="0"/>
          </a:p>
        </p:txBody>
      </p:sp>
      <p:sp>
        <p:nvSpPr>
          <p:cNvPr id="11" name="Text 9"/>
          <p:cNvSpPr/>
          <p:nvPr/>
        </p:nvSpPr>
        <p:spPr>
          <a:xfrm>
            <a:off x="640080" y="4058349"/>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WHAT CHANGED</a:t>
            </a:r>
            <a:endParaRPr lang="en-US" sz="800" dirty="0"/>
          </a:p>
        </p:txBody>
      </p:sp>
      <p:sp>
        <p:nvSpPr>
          <p:cNvPr id="12" name="Text 10"/>
          <p:cNvSpPr/>
          <p:nvPr/>
        </p:nvSpPr>
        <p:spPr>
          <a:xfrm>
            <a:off x="640080" y="4305236"/>
            <a:ext cx="5120640" cy="2004124"/>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Security teams can isolate the vulnerabilities that have working public exploit code in a single click, rather than reconstructing that picture across several browser tabs. Contextual severity scoring — exploited in the wild, not merely theoretically severe — is what changes patch prioritisation, and it is now the default view rather than a manual research task.</a:t>
            </a:r>
            <a:endParaRPr lang="en-US" sz="1150" dirty="0"/>
          </a:p>
        </p:txBody>
      </p:sp>
      <p:sp>
        <p:nvSpPr>
          <p:cNvPr id="13" name="Text 11"/>
          <p:cNvSpPr/>
          <p:nvPr/>
        </p:nvSpPr>
        <p:spPr>
          <a:xfrm>
            <a:off x="6263640" y="548640"/>
            <a:ext cx="3367735" cy="365760"/>
          </a:xfrm>
          <a:prstGeom prst="rect">
            <a:avLst/>
          </a:prstGeom>
          <a:noFill/>
          <a:ln/>
        </p:spPr>
        <p:txBody>
          <a:bodyPr wrap="square" lIns="0" tIns="0" rIns="0" bIns="0" rtlCol="0" anchor="t"/>
          <a:lstStyle/>
          <a:p>
            <a:pPr marL="0" indent="0">
              <a:buNone/>
            </a:pPr>
            <a:r>
              <a:rPr lang="en-US" sz="750" kern="0" spc="100" dirty="0">
                <a:solidFill>
                  <a:srgbClr val="8B8D8F"/>
                </a:solidFill>
                <a:latin typeface="IBM Plex Mono" pitchFamily="34" charset="0"/>
                <a:ea typeface="IBM Plex Mono" pitchFamily="34" charset="-122"/>
                <a:cs typeface="IBM Plex Mono" pitchFamily="34" charset="-120"/>
              </a:rPr>
              <a:t>VULNERABILITY ADVISORY TRIAGE TIME (MINUTES)</a:t>
            </a:r>
            <a:endParaRPr lang="en-US" sz="750" dirty="0"/>
          </a:p>
        </p:txBody>
      </p:sp>
      <p:sp>
        <p:nvSpPr>
          <p:cNvPr id="14" name="Text 12"/>
          <p:cNvSpPr/>
          <p:nvPr/>
        </p:nvSpPr>
        <p:spPr>
          <a:xfrm>
            <a:off x="9768535" y="530352"/>
            <a:ext cx="1005840" cy="219456"/>
          </a:xfrm>
          <a:prstGeom prst="rect">
            <a:avLst/>
          </a:prstGeom>
          <a:noFill/>
          <a:ln/>
        </p:spPr>
        <p:txBody>
          <a:bodyPr wrap="square" lIns="0" tIns="0" rIns="0" bIns="0" rtlCol="0" anchor="ctr"/>
          <a:lstStyle/>
          <a:p>
            <a:pPr marL="0" indent="0" algn="r">
              <a:buNone/>
            </a:pPr>
            <a:r>
              <a:rPr lang="en-US" sz="900" dirty="0">
                <a:solidFill>
                  <a:srgbClr val="B6B7B8"/>
                </a:solidFill>
                <a:latin typeface="IBM Plex Mono" pitchFamily="34" charset="0"/>
                <a:ea typeface="IBM Plex Mono" pitchFamily="34" charset="-122"/>
                <a:cs typeface="IBM Plex Mono" pitchFamily="34" charset="-120"/>
              </a:rPr>
              <a:t>88 → 8</a:t>
            </a:r>
            <a:endParaRPr lang="en-US" sz="900" dirty="0"/>
          </a:p>
        </p:txBody>
      </p:sp>
      <p:sp>
        <p:nvSpPr>
          <p:cNvPr id="15" name="Text 13"/>
          <p:cNvSpPr/>
          <p:nvPr/>
        </p:nvSpPr>
        <p:spPr>
          <a:xfrm>
            <a:off x="10865815" y="530352"/>
            <a:ext cx="685800" cy="219456"/>
          </a:xfrm>
          <a:prstGeom prst="roundRect">
            <a:avLst>
              <a:gd name="adj" fmla="val 16667"/>
            </a:avLst>
          </a:prstGeom>
          <a:solidFill>
            <a:srgbClr val="2A1F0D"/>
          </a:solidFill>
          <a:ln w="6350">
            <a:solidFill>
              <a:srgbClr val="E8A33D"/>
            </a:solidFill>
          </a:ln>
        </p:spPr>
        <p:txBody>
          <a:bodyPr wrap="square" lIns="0" tIns="0" rIns="0" bIns="0" rtlCol="0" anchor="ctr"/>
          <a:lstStyle/>
          <a:p>
            <a:pPr marL="0" indent="0" algn="ctr">
              <a:buNone/>
            </a:pPr>
            <a:r>
              <a:rPr lang="en-US" sz="900" b="1" dirty="0">
                <a:solidFill>
                  <a:srgbClr val="E8A33D"/>
                </a:solidFill>
                <a:latin typeface="IBM Plex Mono" pitchFamily="34" charset="0"/>
                <a:ea typeface="IBM Plex Mono" pitchFamily="34" charset="-122"/>
                <a:cs typeface="IBM Plex Mono" pitchFamily="34" charset="-120"/>
              </a:rPr>
              <a:t>-91%</a:t>
            </a:r>
            <a:endParaRPr lang="en-US" sz="900" dirty="0"/>
          </a:p>
        </p:txBody>
      </p:sp>
      <p:graphicFrame>
        <p:nvGraphicFramePr>
          <p:cNvPr id="16" name="Chart 0"/>
          <p:cNvGraphicFramePr/>
          <p:nvPr/>
        </p:nvGraphicFramePr>
        <p:xfrm>
          <a:off x="6190488" y="932688"/>
          <a:ext cx="5434279" cy="2450592"/>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4"/>
          <p:cNvSpPr/>
          <p:nvPr/>
        </p:nvSpPr>
        <p:spPr>
          <a:xfrm>
            <a:off x="6263640" y="3840480"/>
            <a:ext cx="2415388" cy="0"/>
          </a:xfrm>
          <a:prstGeom prst="line">
            <a:avLst/>
          </a:prstGeom>
          <a:noFill/>
          <a:ln w="9525">
            <a:solidFill>
              <a:srgbClr val="2E3033"/>
            </a:solidFill>
            <a:prstDash val="solid"/>
          </a:ln>
        </p:spPr>
        <p:txBody>
          <a:bodyPr/>
          <a:lstStyle/>
          <a:p>
            <a:endParaRPr lang="en-PK"/>
          </a:p>
        </p:txBody>
      </p:sp>
      <p:sp>
        <p:nvSpPr>
          <p:cNvPr id="18" name="Text 15"/>
          <p:cNvSpPr/>
          <p:nvPr/>
        </p:nvSpPr>
        <p:spPr>
          <a:xfrm>
            <a:off x="6263640" y="395020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200,000+</a:t>
            </a:r>
            <a:endParaRPr lang="en-US" sz="2400" dirty="0"/>
          </a:p>
        </p:txBody>
      </p:sp>
      <p:sp>
        <p:nvSpPr>
          <p:cNvPr id="19" name="Text 16"/>
          <p:cNvSpPr/>
          <p:nvPr/>
        </p:nvSpPr>
        <p:spPr>
          <a:xfrm>
            <a:off x="6263640"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CVE records indexed and cross-referenced with exploit registries</a:t>
            </a:r>
            <a:endParaRPr lang="en-US" sz="950" dirty="0"/>
          </a:p>
        </p:txBody>
      </p:sp>
      <p:sp>
        <p:nvSpPr>
          <p:cNvPr id="20" name="Shape 17"/>
          <p:cNvSpPr/>
          <p:nvPr/>
        </p:nvSpPr>
        <p:spPr>
          <a:xfrm>
            <a:off x="8907628" y="3840480"/>
            <a:ext cx="2415388" cy="0"/>
          </a:xfrm>
          <a:prstGeom prst="line">
            <a:avLst/>
          </a:prstGeom>
          <a:noFill/>
          <a:ln w="9525">
            <a:solidFill>
              <a:srgbClr val="2E3033"/>
            </a:solidFill>
            <a:prstDash val="solid"/>
          </a:ln>
        </p:spPr>
        <p:txBody>
          <a:bodyPr/>
          <a:lstStyle/>
          <a:p>
            <a:endParaRPr lang="en-PK"/>
          </a:p>
        </p:txBody>
      </p:sp>
      <p:sp>
        <p:nvSpPr>
          <p:cNvPr id="21" name="Text 18"/>
          <p:cNvSpPr/>
          <p:nvPr/>
        </p:nvSpPr>
        <p:spPr>
          <a:xfrm>
            <a:off x="8907628" y="395020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&lt; 50ms</a:t>
            </a:r>
            <a:endParaRPr lang="en-US" sz="2400" dirty="0"/>
          </a:p>
        </p:txBody>
      </p:sp>
      <p:sp>
        <p:nvSpPr>
          <p:cNvPr id="22" name="Text 19"/>
          <p:cNvSpPr/>
          <p:nvPr/>
        </p:nvSpPr>
        <p:spPr>
          <a:xfrm>
            <a:off x="8907628"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multi-facet query response across the full vulnerability catalogue</a:t>
            </a:r>
            <a:endParaRPr lang="en-US" sz="950" dirty="0"/>
          </a:p>
        </p:txBody>
      </p:sp>
      <p:sp>
        <p:nvSpPr>
          <p:cNvPr id="23" name="Shape 20"/>
          <p:cNvSpPr/>
          <p:nvPr/>
        </p:nvSpPr>
        <p:spPr>
          <a:xfrm>
            <a:off x="6263640" y="5074920"/>
            <a:ext cx="2415388" cy="0"/>
          </a:xfrm>
          <a:prstGeom prst="line">
            <a:avLst/>
          </a:prstGeom>
          <a:noFill/>
          <a:ln w="9525">
            <a:solidFill>
              <a:srgbClr val="2E3033"/>
            </a:solidFill>
            <a:prstDash val="solid"/>
          </a:ln>
        </p:spPr>
        <p:txBody>
          <a:bodyPr/>
          <a:lstStyle/>
          <a:p>
            <a:endParaRPr lang="en-PK"/>
          </a:p>
        </p:txBody>
      </p:sp>
      <p:sp>
        <p:nvSpPr>
          <p:cNvPr id="24" name="Text 21"/>
          <p:cNvSpPr/>
          <p:nvPr/>
        </p:nvSpPr>
        <p:spPr>
          <a:xfrm>
            <a:off x="6263640" y="518464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100%</a:t>
            </a:r>
            <a:endParaRPr lang="en-US" sz="2400" dirty="0"/>
          </a:p>
        </p:txBody>
      </p:sp>
      <p:sp>
        <p:nvSpPr>
          <p:cNvPr id="25" name="Text 22"/>
          <p:cNvSpPr/>
          <p:nvPr/>
        </p:nvSpPr>
        <p:spPr>
          <a:xfrm>
            <a:off x="6263640"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automated weaponisation tracking across CISA KEV and public exploit sources</a:t>
            </a:r>
            <a:endParaRPr lang="en-US" sz="950" dirty="0"/>
          </a:p>
        </p:txBody>
      </p:sp>
      <p:sp>
        <p:nvSpPr>
          <p:cNvPr id="26" name="Text 23"/>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7" name="Text 24"/>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17 / 30</a:t>
            </a:r>
            <a:endParaRPr lang="en-US" sz="700" dirty="0"/>
          </a:p>
        </p:txBody>
      </p:sp>
    </p:spTree>
    <p:extLst>
      <p:ext uri="{BB962C8B-B14F-4D97-AF65-F5344CB8AC3E}">
        <p14:creationId xmlns:p14="http://schemas.microsoft.com/office/powerpoint/2010/main" val="1051672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05  DATA ANALYTICS  ·  CASE STUDY 03 / 04</a:t>
            </a:r>
            <a:endParaRPr lang="en-US" sz="900" dirty="0"/>
          </a:p>
        </p:txBody>
      </p:sp>
      <p:sp>
        <p:nvSpPr>
          <p:cNvPr id="4" name="Text 2"/>
          <p:cNvSpPr/>
          <p:nvPr/>
        </p:nvSpPr>
        <p:spPr>
          <a:xfrm>
            <a:off x="640080" y="777240"/>
            <a:ext cx="5120640" cy="868680"/>
          </a:xfrm>
          <a:prstGeom prst="rect">
            <a:avLst/>
          </a:prstGeom>
          <a:noFill/>
          <a:ln/>
        </p:spPr>
        <p:txBody>
          <a:bodyPr wrap="square" lIns="0" tIns="0" rIns="0" bIns="0" rtlCol="0" anchor="t"/>
          <a:lstStyle/>
          <a:p>
            <a:pPr marL="0" indent="0">
              <a:lnSpc>
                <a:spcPct val="95000"/>
              </a:lnSpc>
              <a:buNone/>
            </a:pPr>
            <a:r>
              <a:rPr lang="en-US" sz="2300" b="1" dirty="0">
                <a:solidFill>
                  <a:srgbClr val="14161A"/>
                </a:solidFill>
                <a:latin typeface="Space Grotesk" pitchFamily="34" charset="0"/>
                <a:ea typeface="Space Grotesk" pitchFamily="34" charset="-122"/>
                <a:cs typeface="Space Grotesk" pitchFamily="34" charset="-120"/>
              </a:rPr>
              <a:t>Enterprise Omnichannel Media &amp; Social Analytics Platform</a:t>
            </a:r>
            <a:endParaRPr lang="en-US" sz="2300" dirty="0"/>
          </a:p>
        </p:txBody>
      </p:sp>
      <p:sp>
        <p:nvSpPr>
          <p:cNvPr id="5" name="Shape 3"/>
          <p:cNvSpPr/>
          <p:nvPr/>
        </p:nvSpPr>
        <p:spPr>
          <a:xfrm>
            <a:off x="640080" y="1810512"/>
            <a:ext cx="5120640" cy="0"/>
          </a:xfrm>
          <a:prstGeom prst="line">
            <a:avLst/>
          </a:prstGeom>
          <a:noFill/>
          <a:ln w="9525">
            <a:solidFill>
              <a:srgbClr val="DCD8D0"/>
            </a:solidFill>
            <a:prstDash val="solid"/>
          </a:ln>
        </p:spPr>
        <p:txBody>
          <a:bodyPr/>
          <a:lstStyle/>
          <a:p>
            <a:endParaRPr lang="en-PK"/>
          </a:p>
        </p:txBody>
      </p:sp>
      <p:sp>
        <p:nvSpPr>
          <p:cNvPr id="6" name="Text 4"/>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6F6A5F"/>
                </a:solidFill>
                <a:latin typeface="IBM Plex Mono" pitchFamily="34" charset="0"/>
                <a:ea typeface="IBM Plex Mono" pitchFamily="34" charset="-122"/>
                <a:cs typeface="IBM Plex Mono" pitchFamily="34" charset="-120"/>
              </a:rPr>
              <a:t>DIGITAL MEDIA, PUBLISHING &amp; BROADCAST TELECOMMUNICATIONS — NAME WITHHELD   ·   2025   ·   9 WEEKS   ·   DELIVERED</a:t>
            </a:r>
            <a:endParaRPr lang="en-US" sz="800" dirty="0"/>
          </a:p>
        </p:txBody>
      </p:sp>
      <p:sp>
        <p:nvSpPr>
          <p:cNvPr id="7" name="Shape 5"/>
          <p:cNvSpPr/>
          <p:nvPr/>
        </p:nvSpPr>
        <p:spPr>
          <a:xfrm>
            <a:off x="640080" y="2331720"/>
            <a:ext cx="5120640" cy="0"/>
          </a:xfrm>
          <a:prstGeom prst="line">
            <a:avLst/>
          </a:prstGeom>
          <a:noFill/>
          <a:ln w="9525">
            <a:solidFill>
              <a:srgbClr val="DCD8D0"/>
            </a:solidFill>
            <a:prstDash val="solid"/>
          </a:ln>
        </p:spPr>
        <p:txBody>
          <a:bodyPr/>
          <a:lstStyle/>
          <a:p>
            <a:endParaRPr lang="en-PK"/>
          </a:p>
        </p:txBody>
      </p:sp>
      <p:sp>
        <p:nvSpPr>
          <p:cNvPr id="8" name="Text 6"/>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THE PROBLEM</a:t>
            </a:r>
            <a:endParaRPr lang="en-US" sz="800" dirty="0"/>
          </a:p>
        </p:txBody>
      </p:sp>
      <p:sp>
        <p:nvSpPr>
          <p:cNvPr id="9" name="Text 7"/>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High-volume digital publishing networks and regional broadcasting outlets distribute hundreds of news stories daily across a sprawling network of digital channels, including X (Twitter), Facebook, YouTube, Instagram, TikTok, Threads, WhatsApp Channels, and web portals.</a:t>
            </a:r>
            <a:endParaRPr lang="en-US" sz="1150" dirty="0"/>
          </a:p>
        </p:txBody>
      </p:sp>
      <p:sp>
        <p:nvSpPr>
          <p:cNvPr id="10" name="Text 8"/>
          <p:cNvSpPr/>
          <p:nvPr/>
        </p:nvSpPr>
        <p:spPr>
          <a:xfrm>
            <a:off x="640080" y="3875786"/>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WHAT CHANGED</a:t>
            </a:r>
            <a:endParaRPr lang="en-US" sz="800" dirty="0"/>
          </a:p>
        </p:txBody>
      </p:sp>
      <p:sp>
        <p:nvSpPr>
          <p:cNvPr id="11" name="Text 9"/>
          <p:cNvSpPr/>
          <p:nvPr/>
        </p:nvSpPr>
        <p:spPr>
          <a:xfrm>
            <a:off x="640080" y="4122674"/>
            <a:ext cx="5120640" cy="2186686"/>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Editorial and marketing teams eliminated manual spreadsheet consolidation, collapsing a recurring multi-hour reporting chore into a live view they can open on demand. The unified eight-channel dashboard gives newsroom directors instant visibility into audience engagement dynamics, enabling immediate editorial pivots, content amplification, and clear cross-network performance benchmarking.</a:t>
            </a:r>
            <a:endParaRPr lang="en-US" sz="1150" dirty="0"/>
          </a:p>
        </p:txBody>
      </p:sp>
      <p:sp>
        <p:nvSpPr>
          <p:cNvPr id="12" name="Text 10"/>
          <p:cNvSpPr/>
          <p:nvPr/>
        </p:nvSpPr>
        <p:spPr>
          <a:xfrm>
            <a:off x="6263640" y="548640"/>
            <a:ext cx="3367735" cy="365760"/>
          </a:xfrm>
          <a:prstGeom prst="rect">
            <a:avLst/>
          </a:prstGeom>
          <a:noFill/>
          <a:ln/>
        </p:spPr>
        <p:txBody>
          <a:bodyPr wrap="square" lIns="0" tIns="0" rIns="0" bIns="0" rtlCol="0" anchor="t"/>
          <a:lstStyle/>
          <a:p>
            <a:pPr marL="0" indent="0">
              <a:buNone/>
            </a:pPr>
            <a:r>
              <a:rPr lang="en-US" sz="750" kern="0" spc="100" dirty="0">
                <a:solidFill>
                  <a:srgbClr val="6F6A5F"/>
                </a:solidFill>
                <a:latin typeface="IBM Plex Mono" pitchFamily="34" charset="0"/>
                <a:ea typeface="IBM Plex Mono" pitchFamily="34" charset="-122"/>
                <a:cs typeface="IBM Plex Mono" pitchFamily="34" charset="-120"/>
              </a:rPr>
              <a:t>WEEKLY MANUAL REPORTING &amp; CONSOLIDATION EFFORT (HOURS)</a:t>
            </a:r>
            <a:endParaRPr lang="en-US" sz="750" dirty="0"/>
          </a:p>
        </p:txBody>
      </p:sp>
      <p:sp>
        <p:nvSpPr>
          <p:cNvPr id="13" name="Text 11"/>
          <p:cNvSpPr/>
          <p:nvPr/>
        </p:nvSpPr>
        <p:spPr>
          <a:xfrm>
            <a:off x="9768535" y="530352"/>
            <a:ext cx="1005840" cy="219456"/>
          </a:xfrm>
          <a:prstGeom prst="rect">
            <a:avLst/>
          </a:prstGeom>
          <a:noFill/>
          <a:ln/>
        </p:spPr>
        <p:txBody>
          <a:bodyPr wrap="square" lIns="0" tIns="0" rIns="0" bIns="0" rtlCol="0" anchor="ctr"/>
          <a:lstStyle/>
          <a:p>
            <a:pPr marL="0" indent="0" algn="r">
              <a:buNone/>
            </a:pPr>
            <a:r>
              <a:rPr lang="en-US" sz="900" dirty="0">
                <a:solidFill>
                  <a:srgbClr val="5B6066"/>
                </a:solidFill>
                <a:latin typeface="IBM Plex Mono" pitchFamily="34" charset="0"/>
                <a:ea typeface="IBM Plex Mono" pitchFamily="34" charset="-122"/>
                <a:cs typeface="IBM Plex Mono" pitchFamily="34" charset="-120"/>
              </a:rPr>
              <a:t>94 → 10</a:t>
            </a:r>
            <a:endParaRPr lang="en-US" sz="900" dirty="0"/>
          </a:p>
        </p:txBody>
      </p:sp>
      <p:sp>
        <p:nvSpPr>
          <p:cNvPr id="14" name="Text 12"/>
          <p:cNvSpPr/>
          <p:nvPr/>
        </p:nvSpPr>
        <p:spPr>
          <a:xfrm>
            <a:off x="10865815" y="530352"/>
            <a:ext cx="685800" cy="219456"/>
          </a:xfrm>
          <a:prstGeom prst="roundRect">
            <a:avLst>
              <a:gd name="adj" fmla="val 16667"/>
            </a:avLst>
          </a:prstGeom>
          <a:solidFill>
            <a:srgbClr val="F0E2C8"/>
          </a:solidFill>
          <a:ln w="6350">
            <a:solidFill>
              <a:srgbClr val="8F5D0A"/>
            </a:solidFill>
          </a:ln>
        </p:spPr>
        <p:txBody>
          <a:bodyPr wrap="square" lIns="0" tIns="0" rIns="0" bIns="0" rtlCol="0" anchor="ctr"/>
          <a:lstStyle/>
          <a:p>
            <a:pPr marL="0" indent="0" algn="ctr">
              <a:buNone/>
            </a:pPr>
            <a:r>
              <a:rPr lang="en-US" sz="900" b="1" dirty="0">
                <a:solidFill>
                  <a:srgbClr val="8F5D0A"/>
                </a:solidFill>
                <a:latin typeface="IBM Plex Mono" pitchFamily="34" charset="0"/>
                <a:ea typeface="IBM Plex Mono" pitchFamily="34" charset="-122"/>
                <a:cs typeface="IBM Plex Mono" pitchFamily="34" charset="-120"/>
              </a:rPr>
              <a:t>-89%</a:t>
            </a:r>
            <a:endParaRPr lang="en-US" sz="900" dirty="0"/>
          </a:p>
        </p:txBody>
      </p:sp>
      <p:graphicFrame>
        <p:nvGraphicFramePr>
          <p:cNvPr id="15" name="Chart 0"/>
          <p:cNvGraphicFramePr/>
          <p:nvPr/>
        </p:nvGraphicFramePr>
        <p:xfrm>
          <a:off x="6190488" y="932688"/>
          <a:ext cx="5434279" cy="2450592"/>
        </p:xfrm>
        <a:graphic>
          <a:graphicData uri="http://schemas.openxmlformats.org/drawingml/2006/chart">
            <c:chart xmlns:c="http://schemas.openxmlformats.org/drawingml/2006/chart" xmlns:r="http://schemas.openxmlformats.org/officeDocument/2006/relationships" r:id="rId3"/>
          </a:graphicData>
        </a:graphic>
      </p:graphicFrame>
      <p:sp>
        <p:nvSpPr>
          <p:cNvPr id="16" name="Shape 13"/>
          <p:cNvSpPr/>
          <p:nvPr/>
        </p:nvSpPr>
        <p:spPr>
          <a:xfrm>
            <a:off x="6263640" y="3840480"/>
            <a:ext cx="2415388" cy="0"/>
          </a:xfrm>
          <a:prstGeom prst="line">
            <a:avLst/>
          </a:prstGeom>
          <a:noFill/>
          <a:ln w="9525">
            <a:solidFill>
              <a:srgbClr val="DCD8D0"/>
            </a:solidFill>
            <a:prstDash val="solid"/>
          </a:ln>
        </p:spPr>
        <p:txBody>
          <a:bodyPr/>
          <a:lstStyle/>
          <a:p>
            <a:endParaRPr lang="en-PK"/>
          </a:p>
        </p:txBody>
      </p:sp>
      <p:sp>
        <p:nvSpPr>
          <p:cNvPr id="17" name="Text 14"/>
          <p:cNvSpPr/>
          <p:nvPr/>
        </p:nvSpPr>
        <p:spPr>
          <a:xfrm>
            <a:off x="6263640" y="395020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90%</a:t>
            </a:r>
            <a:endParaRPr lang="en-US" sz="2400" dirty="0"/>
          </a:p>
        </p:txBody>
      </p:sp>
      <p:sp>
        <p:nvSpPr>
          <p:cNvPr id="18" name="Text 15"/>
          <p:cNvSpPr/>
          <p:nvPr/>
        </p:nvSpPr>
        <p:spPr>
          <a:xfrm>
            <a:off x="6263640"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reduction in weekly manual reporting and CSV consolidation overhead</a:t>
            </a:r>
            <a:endParaRPr lang="en-US" sz="950" dirty="0"/>
          </a:p>
        </p:txBody>
      </p:sp>
      <p:sp>
        <p:nvSpPr>
          <p:cNvPr id="19" name="Shape 16"/>
          <p:cNvSpPr/>
          <p:nvPr/>
        </p:nvSpPr>
        <p:spPr>
          <a:xfrm>
            <a:off x="8907628" y="3840480"/>
            <a:ext cx="2415388" cy="0"/>
          </a:xfrm>
          <a:prstGeom prst="line">
            <a:avLst/>
          </a:prstGeom>
          <a:noFill/>
          <a:ln w="9525">
            <a:solidFill>
              <a:srgbClr val="DCD8D0"/>
            </a:solidFill>
            <a:prstDash val="solid"/>
          </a:ln>
        </p:spPr>
        <p:txBody>
          <a:bodyPr/>
          <a:lstStyle/>
          <a:p>
            <a:endParaRPr lang="en-PK"/>
          </a:p>
        </p:txBody>
      </p:sp>
      <p:sp>
        <p:nvSpPr>
          <p:cNvPr id="20" name="Text 17"/>
          <p:cNvSpPr/>
          <p:nvPr/>
        </p:nvSpPr>
        <p:spPr>
          <a:xfrm>
            <a:off x="8907628" y="395020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&lt;300ms</a:t>
            </a:r>
            <a:endParaRPr lang="en-US" sz="2400" dirty="0"/>
          </a:p>
        </p:txBody>
      </p:sp>
      <p:sp>
        <p:nvSpPr>
          <p:cNvPr id="21" name="Text 18"/>
          <p:cNvSpPr/>
          <p:nvPr/>
        </p:nvSpPr>
        <p:spPr>
          <a:xfrm>
            <a:off x="8907628"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query execution time for multi-year aggregated cross-platform analytics</a:t>
            </a:r>
            <a:endParaRPr lang="en-US" sz="950" dirty="0"/>
          </a:p>
        </p:txBody>
      </p:sp>
      <p:sp>
        <p:nvSpPr>
          <p:cNvPr id="22" name="Shape 19"/>
          <p:cNvSpPr/>
          <p:nvPr/>
        </p:nvSpPr>
        <p:spPr>
          <a:xfrm>
            <a:off x="6263640" y="5074920"/>
            <a:ext cx="2415388" cy="0"/>
          </a:xfrm>
          <a:prstGeom prst="line">
            <a:avLst/>
          </a:prstGeom>
          <a:noFill/>
          <a:ln w="9525">
            <a:solidFill>
              <a:srgbClr val="DCD8D0"/>
            </a:solidFill>
            <a:prstDash val="solid"/>
          </a:ln>
        </p:spPr>
        <p:txBody>
          <a:bodyPr/>
          <a:lstStyle/>
          <a:p>
            <a:endParaRPr lang="en-PK"/>
          </a:p>
        </p:txBody>
      </p:sp>
      <p:sp>
        <p:nvSpPr>
          <p:cNvPr id="23" name="Text 20"/>
          <p:cNvSpPr/>
          <p:nvPr/>
        </p:nvSpPr>
        <p:spPr>
          <a:xfrm>
            <a:off x="6263640" y="518464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8 Channels</a:t>
            </a:r>
            <a:endParaRPr lang="en-US" sz="2400" dirty="0"/>
          </a:p>
        </p:txBody>
      </p:sp>
      <p:sp>
        <p:nvSpPr>
          <p:cNvPr id="24" name="Text 21"/>
          <p:cNvSpPr/>
          <p:nvPr/>
        </p:nvSpPr>
        <p:spPr>
          <a:xfrm>
            <a:off x="6263640"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unified into a single real-time executive dashboard</a:t>
            </a:r>
            <a:endParaRPr lang="en-US" sz="950" dirty="0"/>
          </a:p>
        </p:txBody>
      </p:sp>
      <p:sp>
        <p:nvSpPr>
          <p:cNvPr id="25" name="Shape 22"/>
          <p:cNvSpPr/>
          <p:nvPr/>
        </p:nvSpPr>
        <p:spPr>
          <a:xfrm>
            <a:off x="8907628" y="5074920"/>
            <a:ext cx="2415388" cy="0"/>
          </a:xfrm>
          <a:prstGeom prst="line">
            <a:avLst/>
          </a:prstGeom>
          <a:noFill/>
          <a:ln w="9525">
            <a:solidFill>
              <a:srgbClr val="DCD8D0"/>
            </a:solidFill>
            <a:prstDash val="solid"/>
          </a:ln>
        </p:spPr>
        <p:txBody>
          <a:bodyPr/>
          <a:lstStyle/>
          <a:p>
            <a:endParaRPr lang="en-PK"/>
          </a:p>
        </p:txBody>
      </p:sp>
      <p:sp>
        <p:nvSpPr>
          <p:cNvPr id="26" name="Text 23"/>
          <p:cNvSpPr/>
          <p:nvPr/>
        </p:nvSpPr>
        <p:spPr>
          <a:xfrm>
            <a:off x="8907628" y="518464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2 Languages</a:t>
            </a:r>
            <a:endParaRPr lang="en-US" sz="2400" dirty="0"/>
          </a:p>
        </p:txBody>
      </p:sp>
      <p:sp>
        <p:nvSpPr>
          <p:cNvPr id="27" name="Text 24"/>
          <p:cNvSpPr/>
          <p:nvPr/>
        </p:nvSpPr>
        <p:spPr>
          <a:xfrm>
            <a:off x="8907628"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native bilingual support (English &amp; Urdu) across editorial workflows</a:t>
            </a:r>
            <a:endParaRPr lang="en-US" sz="950" dirty="0"/>
          </a:p>
        </p:txBody>
      </p:sp>
      <p:sp>
        <p:nvSpPr>
          <p:cNvPr id="28" name="Text 25"/>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9" name="Text 26"/>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18 / 30</a:t>
            </a:r>
            <a:endParaRPr lang="en-US" sz="700" dirty="0"/>
          </a:p>
        </p:txBody>
      </p:sp>
    </p:spTree>
    <p:extLst>
      <p:ext uri="{BB962C8B-B14F-4D97-AF65-F5344CB8AC3E}">
        <p14:creationId xmlns:p14="http://schemas.microsoft.com/office/powerpoint/2010/main" val="32558396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05  DATA ANALYTICS  ·  CASE STUDY 04 / 04</a:t>
            </a:r>
            <a:endParaRPr lang="en-US" sz="900" dirty="0"/>
          </a:p>
        </p:txBody>
      </p:sp>
      <p:sp>
        <p:nvSpPr>
          <p:cNvPr id="4" name="Text 2"/>
          <p:cNvSpPr/>
          <p:nvPr/>
        </p:nvSpPr>
        <p:spPr>
          <a:xfrm>
            <a:off x="640080" y="777240"/>
            <a:ext cx="5120640" cy="868680"/>
          </a:xfrm>
          <a:prstGeom prst="rect">
            <a:avLst/>
          </a:prstGeom>
          <a:noFill/>
          <a:ln/>
        </p:spPr>
        <p:txBody>
          <a:bodyPr wrap="square" lIns="0" tIns="0" rIns="0" bIns="0" rtlCol="0" anchor="t"/>
          <a:lstStyle/>
          <a:p>
            <a:pPr marL="0" indent="0">
              <a:lnSpc>
                <a:spcPct val="95000"/>
              </a:lnSpc>
              <a:buNone/>
            </a:pPr>
            <a:r>
              <a:rPr lang="en-US" sz="2300" b="1" dirty="0">
                <a:solidFill>
                  <a:srgbClr val="FFFFFF"/>
                </a:solidFill>
                <a:latin typeface="Space Grotesk" pitchFamily="34" charset="0"/>
                <a:ea typeface="Space Grotesk" pitchFamily="34" charset="-122"/>
                <a:cs typeface="Space Grotesk" pitchFamily="34" charset="-120"/>
              </a:rPr>
              <a:t>Enterprise Real-Time Website Analysis Dashboard</a:t>
            </a:r>
            <a:endParaRPr lang="en-US" sz="2300" dirty="0"/>
          </a:p>
        </p:txBody>
      </p:sp>
      <p:sp>
        <p:nvSpPr>
          <p:cNvPr id="5" name="Shape 3"/>
          <p:cNvSpPr/>
          <p:nvPr/>
        </p:nvSpPr>
        <p:spPr>
          <a:xfrm>
            <a:off x="640080" y="1810512"/>
            <a:ext cx="5120640" cy="0"/>
          </a:xfrm>
          <a:prstGeom prst="line">
            <a:avLst/>
          </a:prstGeom>
          <a:noFill/>
          <a:ln w="9525">
            <a:solidFill>
              <a:srgbClr val="2E3033"/>
            </a:solidFill>
            <a:prstDash val="solid"/>
          </a:ln>
        </p:spPr>
        <p:txBody>
          <a:bodyPr/>
          <a:lstStyle/>
          <a:p>
            <a:endParaRPr lang="en-PK"/>
          </a:p>
        </p:txBody>
      </p:sp>
      <p:sp>
        <p:nvSpPr>
          <p:cNvPr id="6" name="Text 4"/>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8B8D8F"/>
                </a:solidFill>
                <a:latin typeface="IBM Plex Mono" pitchFamily="34" charset="0"/>
                <a:ea typeface="IBM Plex Mono" pitchFamily="34" charset="-122"/>
                <a:cs typeface="IBM Plex Mono" pitchFamily="34" charset="-120"/>
              </a:rPr>
              <a:t>OPEN-SOURCE INTELLIGENCE (OSINT) &amp; CYBERSECURITY ANALYTICS — NAME WITHHELD   ·   2024   ·   6 WEEKS   ·   DELIVERED</a:t>
            </a:r>
            <a:endParaRPr lang="en-US" sz="800" dirty="0"/>
          </a:p>
        </p:txBody>
      </p:sp>
      <p:sp>
        <p:nvSpPr>
          <p:cNvPr id="7" name="Shape 5"/>
          <p:cNvSpPr/>
          <p:nvPr/>
        </p:nvSpPr>
        <p:spPr>
          <a:xfrm>
            <a:off x="640080" y="2331720"/>
            <a:ext cx="5120640" cy="0"/>
          </a:xfrm>
          <a:prstGeom prst="line">
            <a:avLst/>
          </a:prstGeom>
          <a:noFill/>
          <a:ln w="9525">
            <a:solidFill>
              <a:srgbClr val="2E3033"/>
            </a:solidFill>
            <a:prstDash val="solid"/>
          </a:ln>
        </p:spPr>
        <p:txBody>
          <a:bodyPr/>
          <a:lstStyle/>
          <a:p>
            <a:endParaRPr lang="en-PK"/>
          </a:p>
        </p:txBody>
      </p:sp>
      <p:sp>
        <p:nvSpPr>
          <p:cNvPr id="8" name="Text 6"/>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THE PROBLEM</a:t>
            </a:r>
            <a:endParaRPr lang="en-US" sz="800" dirty="0"/>
          </a:p>
        </p:txBody>
      </p:sp>
      <p:sp>
        <p:nvSpPr>
          <p:cNvPr id="9" name="Text 7"/>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Cybersecurity analysts, OSINT researchers, and digital intelligence teams routinely audit target domains to evaluate infrastructure footprints, traffic patterns, hosting jurisdictions, and visual website configurations. Historically, investigators were forced to switch between 4–5 disconnected utilities to compile WHOIS ownership records, monthly visitor volumes, bounce rates, server geolocation, and responsive layouts.</a:t>
            </a:r>
            <a:endParaRPr lang="en-US" sz="1150" dirty="0"/>
          </a:p>
        </p:txBody>
      </p:sp>
      <p:sp>
        <p:nvSpPr>
          <p:cNvPr id="10" name="Text 8"/>
          <p:cNvSpPr/>
          <p:nvPr/>
        </p:nvSpPr>
        <p:spPr>
          <a:xfrm>
            <a:off x="640080" y="4423474"/>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WHAT CHANGED</a:t>
            </a:r>
            <a:endParaRPr lang="en-US" sz="800" dirty="0"/>
          </a:p>
        </p:txBody>
      </p:sp>
      <p:sp>
        <p:nvSpPr>
          <p:cNvPr id="11" name="Text 9"/>
          <p:cNvSpPr/>
          <p:nvPr/>
        </p:nvSpPr>
        <p:spPr>
          <a:xfrm>
            <a:off x="640080" y="4670361"/>
            <a:ext cx="5120640" cy="1638999"/>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Analysts consolidated multi-step manual lookup routines into a single three-second query workflow, eliminating tool sprawl and accelerating domain risk evaluations. The unified dashboard provides complete multi-device layout visibility without local browser exposure, while sub-second page transitions and concurrent rendering provide the responsiveness required for fast-paced digital intelligence operations.</a:t>
            </a:r>
            <a:endParaRPr lang="en-US" sz="1150" dirty="0"/>
          </a:p>
        </p:txBody>
      </p:sp>
      <p:sp>
        <p:nvSpPr>
          <p:cNvPr id="12" name="Text 10"/>
          <p:cNvSpPr/>
          <p:nvPr/>
        </p:nvSpPr>
        <p:spPr>
          <a:xfrm>
            <a:off x="6263640" y="548640"/>
            <a:ext cx="3367735" cy="365760"/>
          </a:xfrm>
          <a:prstGeom prst="rect">
            <a:avLst/>
          </a:prstGeom>
          <a:noFill/>
          <a:ln/>
        </p:spPr>
        <p:txBody>
          <a:bodyPr wrap="square" lIns="0" tIns="0" rIns="0" bIns="0" rtlCol="0" anchor="t"/>
          <a:lstStyle/>
          <a:p>
            <a:pPr marL="0" indent="0">
              <a:buNone/>
            </a:pPr>
            <a:r>
              <a:rPr lang="en-US" sz="750" kern="0" spc="100" dirty="0">
                <a:solidFill>
                  <a:srgbClr val="8B8D8F"/>
                </a:solidFill>
                <a:latin typeface="IBM Plex Mono" pitchFamily="34" charset="0"/>
                <a:ea typeface="IBM Plex Mono" pitchFamily="34" charset="-122"/>
                <a:cs typeface="IBM Plex Mono" pitchFamily="34" charset="-120"/>
              </a:rPr>
              <a:t>DOMAIN AUDIT &amp; OSINT COMPILATION TURNAROUND (MINUTES)</a:t>
            </a:r>
            <a:endParaRPr lang="en-US" sz="750" dirty="0"/>
          </a:p>
        </p:txBody>
      </p:sp>
      <p:sp>
        <p:nvSpPr>
          <p:cNvPr id="13" name="Text 11"/>
          <p:cNvSpPr/>
          <p:nvPr/>
        </p:nvSpPr>
        <p:spPr>
          <a:xfrm>
            <a:off x="9768535" y="530352"/>
            <a:ext cx="1005840" cy="219456"/>
          </a:xfrm>
          <a:prstGeom prst="rect">
            <a:avLst/>
          </a:prstGeom>
          <a:noFill/>
          <a:ln/>
        </p:spPr>
        <p:txBody>
          <a:bodyPr wrap="square" lIns="0" tIns="0" rIns="0" bIns="0" rtlCol="0" anchor="ctr"/>
          <a:lstStyle/>
          <a:p>
            <a:pPr marL="0" indent="0" algn="r">
              <a:buNone/>
            </a:pPr>
            <a:r>
              <a:rPr lang="en-US" sz="900" dirty="0">
                <a:solidFill>
                  <a:srgbClr val="B6B7B8"/>
                </a:solidFill>
                <a:latin typeface="IBM Plex Mono" pitchFamily="34" charset="0"/>
                <a:ea typeface="IBM Plex Mono" pitchFamily="34" charset="-122"/>
                <a:cs typeface="IBM Plex Mono" pitchFamily="34" charset="-120"/>
              </a:rPr>
              <a:t>90 → 8</a:t>
            </a:r>
            <a:endParaRPr lang="en-US" sz="900" dirty="0"/>
          </a:p>
        </p:txBody>
      </p:sp>
      <p:sp>
        <p:nvSpPr>
          <p:cNvPr id="14" name="Text 12"/>
          <p:cNvSpPr/>
          <p:nvPr/>
        </p:nvSpPr>
        <p:spPr>
          <a:xfrm>
            <a:off x="10865815" y="530352"/>
            <a:ext cx="685800" cy="219456"/>
          </a:xfrm>
          <a:prstGeom prst="roundRect">
            <a:avLst>
              <a:gd name="adj" fmla="val 16667"/>
            </a:avLst>
          </a:prstGeom>
          <a:solidFill>
            <a:srgbClr val="2A1F0D"/>
          </a:solidFill>
          <a:ln w="6350">
            <a:solidFill>
              <a:srgbClr val="E8A33D"/>
            </a:solidFill>
          </a:ln>
        </p:spPr>
        <p:txBody>
          <a:bodyPr wrap="square" lIns="0" tIns="0" rIns="0" bIns="0" rtlCol="0" anchor="ctr"/>
          <a:lstStyle/>
          <a:p>
            <a:pPr marL="0" indent="0" algn="ctr">
              <a:buNone/>
            </a:pPr>
            <a:r>
              <a:rPr lang="en-US" sz="900" b="1" dirty="0">
                <a:solidFill>
                  <a:srgbClr val="E8A33D"/>
                </a:solidFill>
                <a:latin typeface="IBM Plex Mono" pitchFamily="34" charset="0"/>
                <a:ea typeface="IBM Plex Mono" pitchFamily="34" charset="-122"/>
                <a:cs typeface="IBM Plex Mono" pitchFamily="34" charset="-120"/>
              </a:rPr>
              <a:t>-91%</a:t>
            </a:r>
            <a:endParaRPr lang="en-US" sz="900" dirty="0"/>
          </a:p>
        </p:txBody>
      </p:sp>
      <p:graphicFrame>
        <p:nvGraphicFramePr>
          <p:cNvPr id="15" name="Chart 0"/>
          <p:cNvGraphicFramePr/>
          <p:nvPr/>
        </p:nvGraphicFramePr>
        <p:xfrm>
          <a:off x="6190488" y="932688"/>
          <a:ext cx="5434279" cy="2450592"/>
        </p:xfrm>
        <a:graphic>
          <a:graphicData uri="http://schemas.openxmlformats.org/drawingml/2006/chart">
            <c:chart xmlns:c="http://schemas.openxmlformats.org/drawingml/2006/chart" xmlns:r="http://schemas.openxmlformats.org/officeDocument/2006/relationships" r:id="rId3"/>
          </a:graphicData>
        </a:graphic>
      </p:graphicFrame>
      <p:sp>
        <p:nvSpPr>
          <p:cNvPr id="16" name="Shape 13"/>
          <p:cNvSpPr/>
          <p:nvPr/>
        </p:nvSpPr>
        <p:spPr>
          <a:xfrm>
            <a:off x="6263640" y="3840480"/>
            <a:ext cx="2415388" cy="0"/>
          </a:xfrm>
          <a:prstGeom prst="line">
            <a:avLst/>
          </a:prstGeom>
          <a:noFill/>
          <a:ln w="9525">
            <a:solidFill>
              <a:srgbClr val="2E3033"/>
            </a:solidFill>
            <a:prstDash val="solid"/>
          </a:ln>
        </p:spPr>
        <p:txBody>
          <a:bodyPr/>
          <a:lstStyle/>
          <a:p>
            <a:endParaRPr lang="en-PK"/>
          </a:p>
        </p:txBody>
      </p:sp>
      <p:sp>
        <p:nvSpPr>
          <p:cNvPr id="17" name="Text 14"/>
          <p:cNvSpPr/>
          <p:nvPr/>
        </p:nvSpPr>
        <p:spPr>
          <a:xfrm>
            <a:off x="6263640" y="395020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85%</a:t>
            </a:r>
            <a:endParaRPr lang="en-US" sz="2400" dirty="0"/>
          </a:p>
        </p:txBody>
      </p:sp>
      <p:sp>
        <p:nvSpPr>
          <p:cNvPr id="18" name="Text 15"/>
          <p:cNvSpPr/>
          <p:nvPr/>
        </p:nvSpPr>
        <p:spPr>
          <a:xfrm>
            <a:off x="6263640"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reduction in domain audit and OSINT triage turnaround time</a:t>
            </a:r>
            <a:endParaRPr lang="en-US" sz="950" dirty="0"/>
          </a:p>
        </p:txBody>
      </p:sp>
      <p:sp>
        <p:nvSpPr>
          <p:cNvPr id="19" name="Shape 16"/>
          <p:cNvSpPr/>
          <p:nvPr/>
        </p:nvSpPr>
        <p:spPr>
          <a:xfrm>
            <a:off x="8907628" y="3840480"/>
            <a:ext cx="2415388" cy="0"/>
          </a:xfrm>
          <a:prstGeom prst="line">
            <a:avLst/>
          </a:prstGeom>
          <a:noFill/>
          <a:ln w="9525">
            <a:solidFill>
              <a:srgbClr val="2E3033"/>
            </a:solidFill>
            <a:prstDash val="solid"/>
          </a:ln>
        </p:spPr>
        <p:txBody>
          <a:bodyPr/>
          <a:lstStyle/>
          <a:p>
            <a:endParaRPr lang="en-PK"/>
          </a:p>
        </p:txBody>
      </p:sp>
      <p:sp>
        <p:nvSpPr>
          <p:cNvPr id="20" name="Text 17"/>
          <p:cNvSpPr/>
          <p:nvPr/>
        </p:nvSpPr>
        <p:spPr>
          <a:xfrm>
            <a:off x="8907628" y="395020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&lt;100ms</a:t>
            </a:r>
            <a:endParaRPr lang="en-US" sz="2400" dirty="0"/>
          </a:p>
        </p:txBody>
      </p:sp>
      <p:sp>
        <p:nvSpPr>
          <p:cNvPr id="21" name="Text 18"/>
          <p:cNvSpPr/>
          <p:nvPr/>
        </p:nvSpPr>
        <p:spPr>
          <a:xfrm>
            <a:off x="8907628"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UI state transition and dashboard render latency</a:t>
            </a:r>
            <a:endParaRPr lang="en-US" sz="950" dirty="0"/>
          </a:p>
        </p:txBody>
      </p:sp>
      <p:sp>
        <p:nvSpPr>
          <p:cNvPr id="22" name="Shape 19"/>
          <p:cNvSpPr/>
          <p:nvPr/>
        </p:nvSpPr>
        <p:spPr>
          <a:xfrm>
            <a:off x="6263640" y="5074920"/>
            <a:ext cx="2415388" cy="0"/>
          </a:xfrm>
          <a:prstGeom prst="line">
            <a:avLst/>
          </a:prstGeom>
          <a:noFill/>
          <a:ln w="9525">
            <a:solidFill>
              <a:srgbClr val="2E3033"/>
            </a:solidFill>
            <a:prstDash val="solid"/>
          </a:ln>
        </p:spPr>
        <p:txBody>
          <a:bodyPr/>
          <a:lstStyle/>
          <a:p>
            <a:endParaRPr lang="en-PK"/>
          </a:p>
        </p:txBody>
      </p:sp>
      <p:sp>
        <p:nvSpPr>
          <p:cNvPr id="23" name="Text 20"/>
          <p:cNvSpPr/>
          <p:nvPr/>
        </p:nvSpPr>
        <p:spPr>
          <a:xfrm>
            <a:off x="6263640" y="518464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100%</a:t>
            </a:r>
            <a:endParaRPr lang="en-US" sz="2400" dirty="0"/>
          </a:p>
        </p:txBody>
      </p:sp>
      <p:sp>
        <p:nvSpPr>
          <p:cNvPr id="24" name="Text 21"/>
          <p:cNvSpPr/>
          <p:nvPr/>
        </p:nvSpPr>
        <p:spPr>
          <a:xfrm>
            <a:off x="6263640"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multi-device viewport inspection coverage without local endpoint risk</a:t>
            </a:r>
            <a:endParaRPr lang="en-US" sz="950" dirty="0"/>
          </a:p>
        </p:txBody>
      </p:sp>
      <p:sp>
        <p:nvSpPr>
          <p:cNvPr id="25" name="Shape 22"/>
          <p:cNvSpPr/>
          <p:nvPr/>
        </p:nvSpPr>
        <p:spPr>
          <a:xfrm>
            <a:off x="8907628" y="5074920"/>
            <a:ext cx="2415388" cy="0"/>
          </a:xfrm>
          <a:prstGeom prst="line">
            <a:avLst/>
          </a:prstGeom>
          <a:noFill/>
          <a:ln w="9525">
            <a:solidFill>
              <a:srgbClr val="2E3033"/>
            </a:solidFill>
            <a:prstDash val="solid"/>
          </a:ln>
        </p:spPr>
        <p:txBody>
          <a:bodyPr/>
          <a:lstStyle/>
          <a:p>
            <a:endParaRPr lang="en-PK"/>
          </a:p>
        </p:txBody>
      </p:sp>
      <p:sp>
        <p:nvSpPr>
          <p:cNvPr id="26" name="Text 23"/>
          <p:cNvSpPr/>
          <p:nvPr/>
        </p:nvSpPr>
        <p:spPr>
          <a:xfrm>
            <a:off x="8907628" y="518464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5 to 1</a:t>
            </a:r>
            <a:endParaRPr lang="en-US" sz="2400" dirty="0"/>
          </a:p>
        </p:txBody>
      </p:sp>
      <p:sp>
        <p:nvSpPr>
          <p:cNvPr id="27" name="Text 24"/>
          <p:cNvSpPr/>
          <p:nvPr/>
        </p:nvSpPr>
        <p:spPr>
          <a:xfrm>
            <a:off x="8907628"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tool consolidation into a single unified intelligence console</a:t>
            </a:r>
            <a:endParaRPr lang="en-US" sz="950" dirty="0"/>
          </a:p>
        </p:txBody>
      </p:sp>
      <p:sp>
        <p:nvSpPr>
          <p:cNvPr id="28" name="Text 25"/>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9" name="Text 26"/>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19 / 30</a:t>
            </a:r>
            <a:endParaRPr lang="en-US" sz="700" dirty="0"/>
          </a:p>
        </p:txBody>
      </p:sp>
    </p:spTree>
    <p:extLst>
      <p:ext uri="{BB962C8B-B14F-4D97-AF65-F5344CB8AC3E}">
        <p14:creationId xmlns:p14="http://schemas.microsoft.com/office/powerpoint/2010/main" val="3243149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05  CAPABILITIES  ·  04 / 04</a:t>
            </a:r>
            <a:endParaRPr lang="en-US" sz="900" dirty="0"/>
          </a:p>
        </p:txBody>
      </p:sp>
      <p:sp>
        <p:nvSpPr>
          <p:cNvPr id="4" name="Text 2"/>
          <p:cNvSpPr/>
          <p:nvPr/>
        </p:nvSpPr>
        <p:spPr>
          <a:xfrm>
            <a:off x="640080" y="777240"/>
            <a:ext cx="6035040" cy="685800"/>
          </a:xfrm>
          <a:prstGeom prst="rect">
            <a:avLst/>
          </a:prstGeom>
          <a:noFill/>
          <a:ln/>
        </p:spPr>
        <p:txBody>
          <a:bodyPr wrap="square" lIns="0" tIns="0" rIns="0" bIns="0" rtlCol="0" anchor="t"/>
          <a:lstStyle/>
          <a:p>
            <a:pPr marL="0" indent="0">
              <a:buNone/>
            </a:pPr>
            <a:r>
              <a:rPr lang="en-US" sz="3400" b="1" dirty="0">
                <a:solidFill>
                  <a:srgbClr val="14161A"/>
                </a:solidFill>
                <a:latin typeface="Space Grotesk" pitchFamily="34" charset="0"/>
                <a:ea typeface="Space Grotesk" pitchFamily="34" charset="-122"/>
                <a:cs typeface="Space Grotesk" pitchFamily="34" charset="-120"/>
              </a:rPr>
              <a:t>Cyber security</a:t>
            </a:r>
            <a:endParaRPr lang="en-US" sz="3400" dirty="0"/>
          </a:p>
        </p:txBody>
      </p:sp>
      <p:sp>
        <p:nvSpPr>
          <p:cNvPr id="5" name="Text 3"/>
          <p:cNvSpPr/>
          <p:nvPr/>
        </p:nvSpPr>
        <p:spPr>
          <a:xfrm>
            <a:off x="640080" y="1691639"/>
            <a:ext cx="5029200" cy="2414533"/>
          </a:xfrm>
          <a:prstGeom prst="rect">
            <a:avLst/>
          </a:prstGeom>
          <a:noFill/>
          <a:ln/>
        </p:spPr>
        <p:txBody>
          <a:bodyPr wrap="square" lIns="0" tIns="0" rIns="0" bIns="0" rtlCol="0" anchor="t"/>
          <a:lstStyle/>
          <a:p>
            <a:pPr marL="0" indent="0">
              <a:lnSpc>
                <a:spcPct val="130000"/>
              </a:lnSpc>
              <a:buNone/>
            </a:pPr>
            <a:r>
              <a:rPr lang="en-GB" sz="1400" dirty="0">
                <a:solidFill>
                  <a:srgbClr val="14161A"/>
                </a:solidFill>
                <a:latin typeface="IBM Plex Sans" pitchFamily="34" charset="0"/>
                <a:ea typeface="IBM Plex Sans" pitchFamily="34" charset="-122"/>
                <a:cs typeface="IBM Plex Sans" pitchFamily="34" charset="-120"/>
              </a:rPr>
              <a:t>Security is not something you add after the software is built. We build systems that keep sensitive information under control from the start. That includes </a:t>
            </a:r>
            <a:r>
              <a:rPr lang="en-GB" sz="1400" b="1" dirty="0">
                <a:solidFill>
                  <a:srgbClr val="14161A"/>
                </a:solidFill>
                <a:latin typeface="IBM Plex Sans" pitchFamily="34" charset="0"/>
                <a:ea typeface="IBM Plex Sans" pitchFamily="34" charset="-122"/>
                <a:cs typeface="IBM Plex Sans" pitchFamily="34" charset="-120"/>
              </a:rPr>
              <a:t>secure messaging</a:t>
            </a:r>
            <a:r>
              <a:rPr lang="en-GB" sz="1400" dirty="0">
                <a:solidFill>
                  <a:srgbClr val="14161A"/>
                </a:solidFill>
                <a:latin typeface="IBM Plex Sans" pitchFamily="34" charset="0"/>
                <a:ea typeface="IBM Plex Sans" pitchFamily="34" charset="-122"/>
                <a:cs typeface="IBM Plex Sans" pitchFamily="34" charset="-120"/>
              </a:rPr>
              <a:t> and collaboration platforms, endpoint protection, EDR and SIEM systems, threat intelligence, and offensive and defensive security testing. We help businesses control </a:t>
            </a:r>
            <a:r>
              <a:rPr lang="en-GB" sz="1400" b="1" dirty="0">
                <a:solidFill>
                  <a:srgbClr val="14161A"/>
                </a:solidFill>
                <a:latin typeface="IBM Plex Sans" pitchFamily="34" charset="0"/>
                <a:ea typeface="IBM Plex Sans" pitchFamily="34" charset="-122"/>
                <a:cs typeface="IBM Plex Sans" pitchFamily="34" charset="-120"/>
              </a:rPr>
              <a:t>who can access data</a:t>
            </a:r>
            <a:r>
              <a:rPr lang="en-GB" sz="1400" dirty="0">
                <a:solidFill>
                  <a:srgbClr val="14161A"/>
                </a:solidFill>
                <a:latin typeface="IBM Plex Sans" pitchFamily="34" charset="0"/>
                <a:ea typeface="IBM Plex Sans" pitchFamily="34" charset="-122"/>
                <a:cs typeface="IBM Plex Sans" pitchFamily="34" charset="-120"/>
              </a:rPr>
              <a:t>, detect when something goes wrong, investigate what happened, and test their defences before someone else does.</a:t>
            </a:r>
            <a:endParaRPr lang="en-US" sz="1400" dirty="0"/>
          </a:p>
        </p:txBody>
      </p:sp>
      <p:sp>
        <p:nvSpPr>
          <p:cNvPr id="6" name="Text 4"/>
          <p:cNvSpPr/>
          <p:nvPr/>
        </p:nvSpPr>
        <p:spPr>
          <a:xfrm>
            <a:off x="640080" y="4361688"/>
            <a:ext cx="5029200" cy="182880"/>
          </a:xfrm>
          <a:prstGeom prst="rect">
            <a:avLst/>
          </a:prstGeom>
          <a:noFill/>
          <a:ln/>
        </p:spPr>
        <p:txBody>
          <a:bodyPr wrap="square" lIns="0" tIns="0" rIns="0" bIns="0" rtlCol="0" anchor="t"/>
          <a:lstStyle/>
          <a:p>
            <a:pPr marL="0" indent="0">
              <a:buNone/>
            </a:pPr>
            <a:r>
              <a:rPr lang="en-US" sz="800" kern="0" spc="150" dirty="0">
                <a:solidFill>
                  <a:srgbClr val="6F6A5F"/>
                </a:solidFill>
                <a:latin typeface="IBM Plex Mono" pitchFamily="34" charset="0"/>
                <a:ea typeface="IBM Plex Mono" pitchFamily="34" charset="-122"/>
                <a:cs typeface="IBM Plex Mono" pitchFamily="34" charset="-120"/>
              </a:rPr>
              <a:t>CASE STUDIES THAT FOLLOW</a:t>
            </a:r>
            <a:endParaRPr lang="en-US" sz="800" dirty="0"/>
          </a:p>
        </p:txBody>
      </p:sp>
      <p:sp>
        <p:nvSpPr>
          <p:cNvPr id="7" name="Text 5"/>
          <p:cNvSpPr/>
          <p:nvPr/>
        </p:nvSpPr>
        <p:spPr>
          <a:xfrm>
            <a:off x="640080" y="4636007"/>
            <a:ext cx="5029200" cy="1170429"/>
          </a:xfrm>
          <a:prstGeom prst="rect">
            <a:avLst/>
          </a:prstGeom>
          <a:noFill/>
          <a:ln/>
        </p:spPr>
        <p:txBody>
          <a:bodyPr wrap="square" lIns="0" tIns="0" rIns="0" bIns="0" rtlCol="0" anchor="t"/>
          <a:lstStyle/>
          <a:p>
            <a:pPr marL="0" indent="0">
              <a:lnSpc>
                <a:spcPct val="130000"/>
              </a:lnSpc>
              <a:buNone/>
            </a:pPr>
            <a:r>
              <a:rPr lang="en-US" sz="1300" b="1" dirty="0">
                <a:solidFill>
                  <a:srgbClr val="8F5D0A"/>
                </a:solidFill>
                <a:latin typeface="Space Grotesk" pitchFamily="34" charset="0"/>
                <a:ea typeface="Space Grotesk" pitchFamily="34" charset="-122"/>
                <a:cs typeface="Space Grotesk" pitchFamily="34" charset="-120"/>
              </a:rPr>
              <a:t>Bolter SIEM</a:t>
            </a:r>
            <a:endParaRPr lang="en-US" sz="1300" dirty="0"/>
          </a:p>
          <a:p>
            <a:pPr marL="0" indent="0">
              <a:lnSpc>
                <a:spcPct val="130000"/>
              </a:lnSpc>
              <a:buNone/>
            </a:pPr>
            <a:r>
              <a:rPr lang="en-US" sz="1300" b="1" dirty="0">
                <a:solidFill>
                  <a:srgbClr val="8F5D0A"/>
                </a:solidFill>
                <a:latin typeface="Space Grotesk" pitchFamily="34" charset="0"/>
                <a:ea typeface="Space Grotesk" pitchFamily="34" charset="-122"/>
                <a:cs typeface="Space Grotesk" pitchFamily="34" charset="-120"/>
              </a:rPr>
              <a:t>Enterprise Cyber Complaint &amp; Content Governance Dashboard</a:t>
            </a:r>
            <a:endParaRPr lang="en-US" sz="1300" dirty="0"/>
          </a:p>
          <a:p>
            <a:pPr>
              <a:lnSpc>
                <a:spcPct val="130000"/>
              </a:lnSpc>
            </a:pPr>
            <a:r>
              <a:rPr lang="en-US" sz="1300" b="1" dirty="0">
                <a:solidFill>
                  <a:srgbClr val="8F5D0A"/>
                </a:solidFill>
                <a:latin typeface="Space Grotesk" pitchFamily="34" charset="0"/>
                <a:ea typeface="Space Grotesk" pitchFamily="34" charset="-122"/>
                <a:cs typeface="Space Grotesk" pitchFamily="34" charset="-120"/>
              </a:rPr>
              <a:t>Threat Intelligence and Adversary Tracking Platform</a:t>
            </a:r>
            <a:r>
              <a:rPr lang="en-GB" sz="1300" b="1" dirty="0">
                <a:solidFill>
                  <a:srgbClr val="8F5D0A"/>
                </a:solidFill>
                <a:latin typeface="Space Grotesk" pitchFamily="34" charset="0"/>
                <a:ea typeface="Space Grotesk" pitchFamily="34" charset="-122"/>
                <a:cs typeface="Space Grotesk" pitchFamily="34" charset="-120"/>
              </a:rPr>
              <a:t> </a:t>
            </a:r>
          </a:p>
          <a:p>
            <a:pPr>
              <a:lnSpc>
                <a:spcPct val="130000"/>
              </a:lnSpc>
            </a:pPr>
            <a:r>
              <a:rPr lang="en-GB" sz="1300" b="1" dirty="0">
                <a:solidFill>
                  <a:srgbClr val="8F5D0A"/>
                </a:solidFill>
                <a:latin typeface="Space Grotesk" pitchFamily="34" charset="0"/>
                <a:ea typeface="Space Grotesk" pitchFamily="34" charset="-122"/>
                <a:cs typeface="Space Grotesk" pitchFamily="34" charset="-120"/>
              </a:rPr>
              <a:t>Secure End-to-End Encrypted Company Chatbot </a:t>
            </a:r>
            <a:endParaRPr lang="en-US" sz="1300" b="1" dirty="0">
              <a:solidFill>
                <a:srgbClr val="8F5D0A"/>
              </a:solidFill>
              <a:latin typeface="Space Grotesk" pitchFamily="34" charset="0"/>
              <a:ea typeface="Space Grotesk" pitchFamily="34" charset="-122"/>
              <a:cs typeface="Space Grotesk" pitchFamily="34" charset="-120"/>
            </a:endParaRPr>
          </a:p>
          <a:p>
            <a:pPr marL="0" indent="0">
              <a:lnSpc>
                <a:spcPct val="130000"/>
              </a:lnSpc>
              <a:buNone/>
            </a:pPr>
            <a:endParaRPr lang="en-US" sz="1300" dirty="0"/>
          </a:p>
        </p:txBody>
      </p:sp>
      <p:sp>
        <p:nvSpPr>
          <p:cNvPr id="8" name="Text 6"/>
          <p:cNvSpPr/>
          <p:nvPr/>
        </p:nvSpPr>
        <p:spPr>
          <a:xfrm>
            <a:off x="6263640" y="1627632"/>
            <a:ext cx="5287975" cy="182880"/>
          </a:xfrm>
          <a:prstGeom prst="rect">
            <a:avLst/>
          </a:prstGeom>
          <a:noFill/>
          <a:ln/>
        </p:spPr>
        <p:txBody>
          <a:bodyPr wrap="square" lIns="0" tIns="0" rIns="0" bIns="0" rtlCol="0" anchor="t"/>
          <a:lstStyle/>
          <a:p>
            <a:pPr marL="0" indent="0">
              <a:buNone/>
            </a:pPr>
            <a:r>
              <a:rPr lang="en-US" sz="800" kern="0" spc="150" dirty="0">
                <a:solidFill>
                  <a:srgbClr val="6F6A5F"/>
                </a:solidFill>
                <a:latin typeface="IBM Plex Mono" pitchFamily="34" charset="0"/>
                <a:ea typeface="IBM Plex Mono" pitchFamily="34" charset="-122"/>
                <a:cs typeface="IBM Plex Mono" pitchFamily="34" charset="-120"/>
              </a:rPr>
              <a:t>HOW WE HELP</a:t>
            </a:r>
            <a:endParaRPr lang="en-US" sz="800" dirty="0"/>
          </a:p>
        </p:txBody>
      </p:sp>
      <p:sp>
        <p:nvSpPr>
          <p:cNvPr id="9" name="Shape 7"/>
          <p:cNvSpPr/>
          <p:nvPr/>
        </p:nvSpPr>
        <p:spPr>
          <a:xfrm>
            <a:off x="6263640" y="1920240"/>
            <a:ext cx="5287975" cy="0"/>
          </a:xfrm>
          <a:prstGeom prst="line">
            <a:avLst/>
          </a:prstGeom>
          <a:noFill/>
          <a:ln w="9525">
            <a:solidFill>
              <a:srgbClr val="DCD8D0"/>
            </a:solidFill>
            <a:prstDash val="solid"/>
          </a:ln>
        </p:spPr>
        <p:txBody>
          <a:bodyPr/>
          <a:lstStyle/>
          <a:p>
            <a:endParaRPr lang="en-PK"/>
          </a:p>
        </p:txBody>
      </p:sp>
      <p:sp>
        <p:nvSpPr>
          <p:cNvPr id="10" name="Text 8"/>
          <p:cNvSpPr/>
          <p:nvPr/>
        </p:nvSpPr>
        <p:spPr>
          <a:xfrm>
            <a:off x="6263640" y="1920240"/>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01</a:t>
            </a:r>
            <a:endParaRPr lang="en-US" sz="900" dirty="0"/>
          </a:p>
        </p:txBody>
      </p:sp>
      <p:sp>
        <p:nvSpPr>
          <p:cNvPr id="11" name="Text 9"/>
          <p:cNvSpPr/>
          <p:nvPr/>
        </p:nvSpPr>
        <p:spPr>
          <a:xfrm>
            <a:off x="6720840" y="1920240"/>
            <a:ext cx="4830775" cy="658368"/>
          </a:xfrm>
          <a:prstGeom prst="rect">
            <a:avLst/>
          </a:prstGeom>
          <a:noFill/>
          <a:ln/>
        </p:spPr>
        <p:txBody>
          <a:bodyPr wrap="square" lIns="0" tIns="0" rIns="0" bIns="0" rtlCol="0" anchor="ctr"/>
          <a:lstStyle/>
          <a:p>
            <a:pPr marL="0" indent="0">
              <a:buNone/>
            </a:pPr>
            <a:r>
              <a:rPr lang="en-US" sz="1200" dirty="0">
                <a:solidFill>
                  <a:srgbClr val="14161A"/>
                </a:solidFill>
                <a:latin typeface="IBM Plex Sans" pitchFamily="34" charset="0"/>
                <a:ea typeface="IBM Plex Sans" pitchFamily="34" charset="-122"/>
                <a:cs typeface="IBM Plex Sans" pitchFamily="34" charset="-120"/>
              </a:rPr>
              <a:t>Penetration testing of applications and infrastructure, with a report your team can act on</a:t>
            </a:r>
            <a:endParaRPr lang="en-US" sz="1200" dirty="0"/>
          </a:p>
        </p:txBody>
      </p:sp>
      <p:sp>
        <p:nvSpPr>
          <p:cNvPr id="12" name="Shape 10"/>
          <p:cNvSpPr/>
          <p:nvPr/>
        </p:nvSpPr>
        <p:spPr>
          <a:xfrm>
            <a:off x="6263640" y="2578608"/>
            <a:ext cx="5287975" cy="0"/>
          </a:xfrm>
          <a:prstGeom prst="line">
            <a:avLst/>
          </a:prstGeom>
          <a:noFill/>
          <a:ln w="9525">
            <a:solidFill>
              <a:srgbClr val="DCD8D0"/>
            </a:solidFill>
            <a:prstDash val="solid"/>
          </a:ln>
        </p:spPr>
        <p:txBody>
          <a:bodyPr/>
          <a:lstStyle/>
          <a:p>
            <a:endParaRPr lang="en-PK"/>
          </a:p>
        </p:txBody>
      </p:sp>
      <p:sp>
        <p:nvSpPr>
          <p:cNvPr id="13" name="Text 11"/>
          <p:cNvSpPr/>
          <p:nvPr/>
        </p:nvSpPr>
        <p:spPr>
          <a:xfrm>
            <a:off x="6263640" y="2578608"/>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02</a:t>
            </a:r>
            <a:endParaRPr lang="en-US" sz="900" dirty="0"/>
          </a:p>
        </p:txBody>
      </p:sp>
      <p:sp>
        <p:nvSpPr>
          <p:cNvPr id="14" name="Text 12"/>
          <p:cNvSpPr/>
          <p:nvPr/>
        </p:nvSpPr>
        <p:spPr>
          <a:xfrm>
            <a:off x="6720840" y="2578608"/>
            <a:ext cx="4830775" cy="658368"/>
          </a:xfrm>
          <a:prstGeom prst="rect">
            <a:avLst/>
          </a:prstGeom>
          <a:noFill/>
          <a:ln/>
        </p:spPr>
        <p:txBody>
          <a:bodyPr wrap="square" lIns="0" tIns="0" rIns="0" bIns="0" rtlCol="0" anchor="ctr"/>
          <a:lstStyle/>
          <a:p>
            <a:pPr marL="0" indent="0">
              <a:buNone/>
            </a:pPr>
            <a:r>
              <a:rPr lang="en-US" sz="1200" dirty="0">
                <a:solidFill>
                  <a:srgbClr val="14161A"/>
                </a:solidFill>
                <a:latin typeface="IBM Plex Sans" pitchFamily="34" charset="0"/>
                <a:ea typeface="IBM Plex Sans" pitchFamily="34" charset="-122"/>
                <a:cs typeface="IBM Plex Sans" pitchFamily="34" charset="-120"/>
              </a:rPr>
              <a:t>Find what you have exposed to the internet and forgotten about</a:t>
            </a:r>
            <a:endParaRPr lang="en-US" sz="1200" dirty="0"/>
          </a:p>
        </p:txBody>
      </p:sp>
      <p:sp>
        <p:nvSpPr>
          <p:cNvPr id="15" name="Shape 13"/>
          <p:cNvSpPr/>
          <p:nvPr/>
        </p:nvSpPr>
        <p:spPr>
          <a:xfrm>
            <a:off x="6263640" y="3236976"/>
            <a:ext cx="5287975" cy="0"/>
          </a:xfrm>
          <a:prstGeom prst="line">
            <a:avLst/>
          </a:prstGeom>
          <a:noFill/>
          <a:ln w="9525">
            <a:solidFill>
              <a:srgbClr val="DCD8D0"/>
            </a:solidFill>
            <a:prstDash val="solid"/>
          </a:ln>
        </p:spPr>
        <p:txBody>
          <a:bodyPr/>
          <a:lstStyle/>
          <a:p>
            <a:endParaRPr lang="en-PK"/>
          </a:p>
        </p:txBody>
      </p:sp>
      <p:sp>
        <p:nvSpPr>
          <p:cNvPr id="16" name="Text 14"/>
          <p:cNvSpPr/>
          <p:nvPr/>
        </p:nvSpPr>
        <p:spPr>
          <a:xfrm>
            <a:off x="6263640" y="3236976"/>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03</a:t>
            </a:r>
            <a:endParaRPr lang="en-US" sz="900" dirty="0"/>
          </a:p>
        </p:txBody>
      </p:sp>
      <p:sp>
        <p:nvSpPr>
          <p:cNvPr id="17" name="Text 15"/>
          <p:cNvSpPr/>
          <p:nvPr/>
        </p:nvSpPr>
        <p:spPr>
          <a:xfrm>
            <a:off x="6720840" y="3236976"/>
            <a:ext cx="4830775" cy="658368"/>
          </a:xfrm>
          <a:prstGeom prst="rect">
            <a:avLst/>
          </a:prstGeom>
          <a:noFill/>
          <a:ln/>
        </p:spPr>
        <p:txBody>
          <a:bodyPr wrap="square" lIns="0" tIns="0" rIns="0" bIns="0" rtlCol="0" anchor="ctr"/>
          <a:lstStyle/>
          <a:p>
            <a:pPr marL="0" indent="0">
              <a:buNone/>
            </a:pPr>
            <a:r>
              <a:rPr lang="en-GB" sz="1200" dirty="0">
                <a:solidFill>
                  <a:srgbClr val="14161A"/>
                </a:solidFill>
                <a:latin typeface="IBM Plex Sans" pitchFamily="34" charset="0"/>
                <a:ea typeface="IBM Plex Sans" pitchFamily="34" charset="-122"/>
                <a:cs typeface="IBM Plex Sans" pitchFamily="34" charset="-120"/>
              </a:rPr>
              <a:t>Protect sensitive data with access controls, encryption, and secure communication systems</a:t>
            </a:r>
            <a:endParaRPr lang="en-US" sz="1200" dirty="0"/>
          </a:p>
        </p:txBody>
      </p:sp>
      <p:sp>
        <p:nvSpPr>
          <p:cNvPr id="18" name="Shape 16"/>
          <p:cNvSpPr/>
          <p:nvPr/>
        </p:nvSpPr>
        <p:spPr>
          <a:xfrm>
            <a:off x="6263640" y="3895344"/>
            <a:ext cx="5287975" cy="0"/>
          </a:xfrm>
          <a:prstGeom prst="line">
            <a:avLst/>
          </a:prstGeom>
          <a:noFill/>
          <a:ln w="9525">
            <a:solidFill>
              <a:srgbClr val="DCD8D0"/>
            </a:solidFill>
            <a:prstDash val="solid"/>
          </a:ln>
        </p:spPr>
        <p:txBody>
          <a:bodyPr/>
          <a:lstStyle/>
          <a:p>
            <a:endParaRPr lang="en-PK"/>
          </a:p>
        </p:txBody>
      </p:sp>
      <p:sp>
        <p:nvSpPr>
          <p:cNvPr id="19" name="Text 17"/>
          <p:cNvSpPr/>
          <p:nvPr/>
        </p:nvSpPr>
        <p:spPr>
          <a:xfrm>
            <a:off x="6263640" y="3895344"/>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04</a:t>
            </a:r>
            <a:endParaRPr lang="en-US" sz="900" dirty="0"/>
          </a:p>
        </p:txBody>
      </p:sp>
      <p:sp>
        <p:nvSpPr>
          <p:cNvPr id="20" name="Text 18"/>
          <p:cNvSpPr/>
          <p:nvPr/>
        </p:nvSpPr>
        <p:spPr>
          <a:xfrm>
            <a:off x="6720840" y="3895344"/>
            <a:ext cx="4830775" cy="658368"/>
          </a:xfrm>
          <a:prstGeom prst="rect">
            <a:avLst/>
          </a:prstGeom>
          <a:noFill/>
          <a:ln/>
        </p:spPr>
        <p:txBody>
          <a:bodyPr wrap="square" lIns="0" tIns="0" rIns="0" bIns="0" rtlCol="0" anchor="ctr"/>
          <a:lstStyle/>
          <a:p>
            <a:pPr marL="0" indent="0">
              <a:buNone/>
            </a:pPr>
            <a:r>
              <a:rPr lang="en-GB" sz="1200" dirty="0">
                <a:solidFill>
                  <a:srgbClr val="14161A"/>
                </a:solidFill>
                <a:latin typeface="IBM Plex Sans" pitchFamily="34" charset="0"/>
                <a:ea typeface="IBM Plex Sans" pitchFamily="34" charset="-122"/>
                <a:cs typeface="IBM Plex Sans" pitchFamily="34" charset="-120"/>
              </a:rPr>
              <a:t>Secure employee endpoints and control what data can leave the organisation</a:t>
            </a:r>
            <a:endParaRPr lang="en-US" sz="1200" dirty="0"/>
          </a:p>
        </p:txBody>
      </p:sp>
      <p:sp>
        <p:nvSpPr>
          <p:cNvPr id="21" name="Shape 19"/>
          <p:cNvSpPr/>
          <p:nvPr/>
        </p:nvSpPr>
        <p:spPr>
          <a:xfrm>
            <a:off x="6263640" y="4553712"/>
            <a:ext cx="5287975" cy="0"/>
          </a:xfrm>
          <a:prstGeom prst="line">
            <a:avLst/>
          </a:prstGeom>
          <a:noFill/>
          <a:ln w="9525">
            <a:solidFill>
              <a:srgbClr val="DCD8D0"/>
            </a:solidFill>
            <a:prstDash val="solid"/>
          </a:ln>
        </p:spPr>
        <p:txBody>
          <a:bodyPr/>
          <a:lstStyle/>
          <a:p>
            <a:endParaRPr lang="en-PK"/>
          </a:p>
        </p:txBody>
      </p:sp>
      <p:sp>
        <p:nvSpPr>
          <p:cNvPr id="22" name="Text 20"/>
          <p:cNvSpPr/>
          <p:nvPr/>
        </p:nvSpPr>
        <p:spPr>
          <a:xfrm>
            <a:off x="6263640" y="4553712"/>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05</a:t>
            </a:r>
            <a:endParaRPr lang="en-US" sz="900" dirty="0"/>
          </a:p>
        </p:txBody>
      </p:sp>
      <p:sp>
        <p:nvSpPr>
          <p:cNvPr id="23" name="Text 21"/>
          <p:cNvSpPr/>
          <p:nvPr/>
        </p:nvSpPr>
        <p:spPr>
          <a:xfrm>
            <a:off x="6720840" y="4553712"/>
            <a:ext cx="4830775" cy="658368"/>
          </a:xfrm>
          <a:prstGeom prst="rect">
            <a:avLst/>
          </a:prstGeom>
          <a:noFill/>
          <a:ln/>
        </p:spPr>
        <p:txBody>
          <a:bodyPr wrap="square" lIns="0" tIns="0" rIns="0" bIns="0" rtlCol="0" anchor="ctr"/>
          <a:lstStyle/>
          <a:p>
            <a:pPr marL="0" indent="0">
              <a:buNone/>
            </a:pPr>
            <a:r>
              <a:rPr lang="en-US" sz="1200" dirty="0">
                <a:solidFill>
                  <a:srgbClr val="14161A"/>
                </a:solidFill>
                <a:latin typeface="IBM Plex Sans" pitchFamily="34" charset="0"/>
                <a:ea typeface="IBM Plex Sans" pitchFamily="34" charset="-122"/>
                <a:cs typeface="IBM Plex Sans" pitchFamily="34" charset="-120"/>
              </a:rPr>
              <a:t>Compliance and complaint systems with a full audit trail behind them</a:t>
            </a:r>
            <a:endParaRPr lang="en-US" sz="1200" dirty="0"/>
          </a:p>
        </p:txBody>
      </p:sp>
      <p:sp>
        <p:nvSpPr>
          <p:cNvPr id="24" name="Shape 22"/>
          <p:cNvSpPr/>
          <p:nvPr/>
        </p:nvSpPr>
        <p:spPr>
          <a:xfrm>
            <a:off x="6263640" y="5212080"/>
            <a:ext cx="5287975" cy="0"/>
          </a:xfrm>
          <a:prstGeom prst="line">
            <a:avLst/>
          </a:prstGeom>
          <a:noFill/>
          <a:ln w="9525">
            <a:solidFill>
              <a:srgbClr val="DCD8D0"/>
            </a:solidFill>
            <a:prstDash val="solid"/>
          </a:ln>
        </p:spPr>
        <p:txBody>
          <a:bodyPr/>
          <a:lstStyle/>
          <a:p>
            <a:endParaRPr lang="en-PK"/>
          </a:p>
        </p:txBody>
      </p:sp>
      <p:sp>
        <p:nvSpPr>
          <p:cNvPr id="25" name="Text 23"/>
          <p:cNvSpPr/>
          <p:nvPr/>
        </p:nvSpPr>
        <p:spPr>
          <a:xfrm>
            <a:off x="6263640" y="5212080"/>
            <a:ext cx="411480" cy="658368"/>
          </a:xfrm>
          <a:prstGeom prst="rect">
            <a:avLst/>
          </a:prstGeom>
          <a:noFill/>
          <a:ln/>
        </p:spPr>
        <p:txBody>
          <a:bodyPr wrap="square" lIns="0" tIns="0" rIns="0" bIns="0" rtlCol="0" anchor="ctr"/>
          <a:lstStyle/>
          <a:p>
            <a:pPr marL="0" indent="0">
              <a:buNone/>
            </a:pPr>
            <a:r>
              <a:rPr lang="en-US" sz="900" dirty="0">
                <a:solidFill>
                  <a:srgbClr val="8F5D0A"/>
                </a:solidFill>
                <a:latin typeface="IBM Plex Mono" pitchFamily="34" charset="0"/>
                <a:ea typeface="IBM Plex Mono" pitchFamily="34" charset="-122"/>
                <a:cs typeface="IBM Plex Mono" pitchFamily="34" charset="-120"/>
              </a:rPr>
              <a:t>06</a:t>
            </a:r>
            <a:endParaRPr lang="en-US" sz="900" dirty="0"/>
          </a:p>
        </p:txBody>
      </p:sp>
      <p:sp>
        <p:nvSpPr>
          <p:cNvPr id="26" name="Text 24"/>
          <p:cNvSpPr/>
          <p:nvPr/>
        </p:nvSpPr>
        <p:spPr>
          <a:xfrm>
            <a:off x="6720840" y="5212080"/>
            <a:ext cx="4830775" cy="658368"/>
          </a:xfrm>
          <a:prstGeom prst="rect">
            <a:avLst/>
          </a:prstGeom>
          <a:noFill/>
          <a:ln/>
        </p:spPr>
        <p:txBody>
          <a:bodyPr wrap="square" lIns="0" tIns="0" rIns="0" bIns="0" rtlCol="0" anchor="ctr"/>
          <a:lstStyle/>
          <a:p>
            <a:pPr marL="0" indent="0">
              <a:buNone/>
            </a:pPr>
            <a:r>
              <a:rPr lang="en-US" sz="1200" dirty="0">
                <a:solidFill>
                  <a:srgbClr val="14161A"/>
                </a:solidFill>
                <a:latin typeface="IBM Plex Sans" pitchFamily="34" charset="0"/>
                <a:ea typeface="IBM Plex Sans" pitchFamily="34" charset="-122"/>
                <a:cs typeface="IBM Plex Sans" pitchFamily="34" charset="-120"/>
              </a:rPr>
              <a:t>Review code and design for security problems before something ships</a:t>
            </a:r>
            <a:endParaRPr lang="en-US" sz="1200" dirty="0"/>
          </a:p>
        </p:txBody>
      </p:sp>
      <p:sp>
        <p:nvSpPr>
          <p:cNvPr id="27" name="Shape 25"/>
          <p:cNvSpPr/>
          <p:nvPr/>
        </p:nvSpPr>
        <p:spPr>
          <a:xfrm>
            <a:off x="6263640" y="5870448"/>
            <a:ext cx="5287975" cy="0"/>
          </a:xfrm>
          <a:prstGeom prst="line">
            <a:avLst/>
          </a:prstGeom>
          <a:noFill/>
          <a:ln w="9525">
            <a:solidFill>
              <a:srgbClr val="DCD8D0"/>
            </a:solidFill>
            <a:prstDash val="solid"/>
          </a:ln>
        </p:spPr>
        <p:txBody>
          <a:bodyPr/>
          <a:lstStyle/>
          <a:p>
            <a:endParaRPr lang="en-PK"/>
          </a:p>
        </p:txBody>
      </p:sp>
      <p:sp>
        <p:nvSpPr>
          <p:cNvPr id="28" name="Text 26"/>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9" name="Text 27"/>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20 / 30</a:t>
            </a:r>
            <a:endParaRPr lang="en-US" sz="700" dirty="0"/>
          </a:p>
        </p:txBody>
      </p:sp>
    </p:spTree>
    <p:extLst>
      <p:ext uri="{BB962C8B-B14F-4D97-AF65-F5344CB8AC3E}">
        <p14:creationId xmlns:p14="http://schemas.microsoft.com/office/powerpoint/2010/main" val="2696203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05  CYBER SECURITY  ·  CASE STUDY 01 / 04</a:t>
            </a:r>
            <a:endParaRPr lang="en-US" sz="900" dirty="0"/>
          </a:p>
        </p:txBody>
      </p:sp>
      <p:sp>
        <p:nvSpPr>
          <p:cNvPr id="4" name="Text 2"/>
          <p:cNvSpPr/>
          <p:nvPr/>
        </p:nvSpPr>
        <p:spPr>
          <a:xfrm>
            <a:off x="640080" y="777240"/>
            <a:ext cx="5120640" cy="548640"/>
          </a:xfrm>
          <a:prstGeom prst="rect">
            <a:avLst/>
          </a:prstGeom>
          <a:noFill/>
          <a:ln/>
        </p:spPr>
        <p:txBody>
          <a:bodyPr wrap="square" lIns="0" tIns="0" rIns="0" bIns="0" rtlCol="0" anchor="t"/>
          <a:lstStyle/>
          <a:p>
            <a:pPr marL="0" indent="0">
              <a:lnSpc>
                <a:spcPct val="95000"/>
              </a:lnSpc>
              <a:buNone/>
            </a:pPr>
            <a:r>
              <a:rPr lang="en-US" sz="3200" b="1" dirty="0">
                <a:solidFill>
                  <a:srgbClr val="FFFFFF"/>
                </a:solidFill>
                <a:latin typeface="Space Grotesk" pitchFamily="34" charset="0"/>
                <a:ea typeface="Space Grotesk" pitchFamily="34" charset="-122"/>
                <a:cs typeface="Space Grotesk" pitchFamily="34" charset="-120"/>
              </a:rPr>
              <a:t>Bolter SIEM</a:t>
            </a:r>
            <a:endParaRPr lang="en-US" sz="3200" dirty="0"/>
          </a:p>
        </p:txBody>
      </p:sp>
      <p:sp>
        <p:nvSpPr>
          <p:cNvPr id="5" name="Text 3"/>
          <p:cNvSpPr/>
          <p:nvPr/>
        </p:nvSpPr>
        <p:spPr>
          <a:xfrm>
            <a:off x="640080" y="1389888"/>
            <a:ext cx="5120640" cy="320040"/>
          </a:xfrm>
          <a:prstGeom prst="rect">
            <a:avLst/>
          </a:prstGeom>
          <a:noFill/>
          <a:ln/>
        </p:spPr>
        <p:txBody>
          <a:bodyPr wrap="square" lIns="0" tIns="0" rIns="0" bIns="0" rtlCol="0" anchor="t"/>
          <a:lstStyle/>
          <a:p>
            <a:pPr marL="0" indent="0">
              <a:buNone/>
            </a:pPr>
            <a:r>
              <a:rPr lang="en-US" sz="1500" dirty="0">
                <a:solidFill>
                  <a:srgbClr val="B6B7B8"/>
                </a:solidFill>
                <a:latin typeface="IBM Plex Sans" pitchFamily="34" charset="0"/>
                <a:ea typeface="IBM Plex Sans" pitchFamily="34" charset="-122"/>
                <a:cs typeface="IBM Plex Sans" pitchFamily="34" charset="-120"/>
              </a:rPr>
              <a:t>SOC monitoring and UEBA analytics</a:t>
            </a:r>
            <a:endParaRPr lang="en-US" sz="1500" dirty="0"/>
          </a:p>
        </p:txBody>
      </p:sp>
      <p:sp>
        <p:nvSpPr>
          <p:cNvPr id="6" name="Shape 4"/>
          <p:cNvSpPr/>
          <p:nvPr/>
        </p:nvSpPr>
        <p:spPr>
          <a:xfrm>
            <a:off x="640080" y="1810512"/>
            <a:ext cx="5120640" cy="0"/>
          </a:xfrm>
          <a:prstGeom prst="line">
            <a:avLst/>
          </a:prstGeom>
          <a:noFill/>
          <a:ln w="9525">
            <a:solidFill>
              <a:srgbClr val="2E3033"/>
            </a:solidFill>
            <a:prstDash val="solid"/>
          </a:ln>
        </p:spPr>
        <p:txBody>
          <a:bodyPr/>
          <a:lstStyle/>
          <a:p>
            <a:endParaRPr lang="en-PK"/>
          </a:p>
        </p:txBody>
      </p:sp>
      <p:sp>
        <p:nvSpPr>
          <p:cNvPr id="7" name="Text 5"/>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8B8D8F"/>
                </a:solidFill>
                <a:latin typeface="IBM Plex Mono" pitchFamily="34" charset="0"/>
                <a:ea typeface="IBM Plex Mono" pitchFamily="34" charset="-122"/>
                <a:cs typeface="IBM Plex Mono" pitchFamily="34" charset="-120"/>
              </a:rPr>
              <a:t>IN-HOUSE PRODUCT   ·   2025   ·   8 MONTHS   ·   DELIVERED</a:t>
            </a:r>
            <a:endParaRPr lang="en-US" sz="800" dirty="0"/>
          </a:p>
        </p:txBody>
      </p:sp>
      <p:sp>
        <p:nvSpPr>
          <p:cNvPr id="8" name="Shape 6"/>
          <p:cNvSpPr/>
          <p:nvPr/>
        </p:nvSpPr>
        <p:spPr>
          <a:xfrm>
            <a:off x="640080" y="2331720"/>
            <a:ext cx="5120640" cy="0"/>
          </a:xfrm>
          <a:prstGeom prst="line">
            <a:avLst/>
          </a:prstGeom>
          <a:noFill/>
          <a:ln w="9525">
            <a:solidFill>
              <a:srgbClr val="2E3033"/>
            </a:solidFill>
            <a:prstDash val="solid"/>
          </a:ln>
        </p:spPr>
        <p:txBody>
          <a:bodyPr/>
          <a:lstStyle/>
          <a:p>
            <a:endParaRPr lang="en-PK"/>
          </a:p>
        </p:txBody>
      </p:sp>
      <p:sp>
        <p:nvSpPr>
          <p:cNvPr id="9" name="Text 7"/>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THE PROBLEM</a:t>
            </a:r>
            <a:endParaRPr lang="en-US" sz="800" dirty="0"/>
          </a:p>
        </p:txBody>
      </p:sp>
      <p:sp>
        <p:nvSpPr>
          <p:cNvPr id="10" name="Text 8"/>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Modern security operations centres are buried under millions of event logs from firewalls, Windows event logs, Linux syslogs and endpoint agents. Traditional SIEM interfaces lag under that volume, suffer severe alert fatigue, and lack coherent entity resolution — often conflating service accounts and high-traffic file servers with rogue human behaviour in UEBA leaderboards.</a:t>
            </a:r>
            <a:endParaRPr lang="en-US" sz="1150" dirty="0"/>
          </a:p>
        </p:txBody>
      </p:sp>
      <p:sp>
        <p:nvSpPr>
          <p:cNvPr id="11" name="Text 9"/>
          <p:cNvSpPr/>
          <p:nvPr/>
        </p:nvSpPr>
        <p:spPr>
          <a:xfrm>
            <a:off x="640080" y="4240911"/>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WHAT CHANGED</a:t>
            </a:r>
            <a:endParaRPr lang="en-US" sz="800" dirty="0"/>
          </a:p>
        </p:txBody>
      </p:sp>
      <p:sp>
        <p:nvSpPr>
          <p:cNvPr id="12" name="Text 10"/>
          <p:cNvSpPr/>
          <p:nvPr/>
        </p:nvSpPr>
        <p:spPr>
          <a:xfrm>
            <a:off x="640080" y="4487799"/>
            <a:ext cx="5120640" cy="1821561"/>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Analysts investigate roughly three times faster, working from zero-navigation forensic drawers and unified asset timelines rather than reassembling a device's history by hand across duplicate records. The segregated UEBA engine cut behavioural noise by about 40%, so responders spend their attention on genuine threats instead of benign automated workloads.</a:t>
            </a:r>
            <a:endParaRPr lang="en-US" sz="1150" dirty="0"/>
          </a:p>
        </p:txBody>
      </p:sp>
      <p:sp>
        <p:nvSpPr>
          <p:cNvPr id="13" name="Text 11"/>
          <p:cNvSpPr/>
          <p:nvPr/>
        </p:nvSpPr>
        <p:spPr>
          <a:xfrm>
            <a:off x="6263640" y="548640"/>
            <a:ext cx="3367735" cy="365760"/>
          </a:xfrm>
          <a:prstGeom prst="rect">
            <a:avLst/>
          </a:prstGeom>
          <a:noFill/>
          <a:ln/>
        </p:spPr>
        <p:txBody>
          <a:bodyPr wrap="square" lIns="0" tIns="0" rIns="0" bIns="0" rtlCol="0" anchor="t"/>
          <a:lstStyle/>
          <a:p>
            <a:pPr marL="0" indent="0">
              <a:buNone/>
            </a:pPr>
            <a:r>
              <a:rPr lang="en-US" sz="750" kern="0" spc="100" dirty="0">
                <a:solidFill>
                  <a:srgbClr val="8B8D8F"/>
                </a:solidFill>
                <a:latin typeface="IBM Plex Mono" pitchFamily="34" charset="0"/>
                <a:ea typeface="IBM Plex Mono" pitchFamily="34" charset="-122"/>
                <a:cs typeface="IBM Plex Mono" pitchFamily="34" charset="-120"/>
              </a:rPr>
              <a:t>MEAN TIME TO INVESTIGATE INCIDENT (MINUTES)</a:t>
            </a:r>
            <a:endParaRPr lang="en-US" sz="750" dirty="0"/>
          </a:p>
        </p:txBody>
      </p:sp>
      <p:sp>
        <p:nvSpPr>
          <p:cNvPr id="14" name="Text 12"/>
          <p:cNvSpPr/>
          <p:nvPr/>
        </p:nvSpPr>
        <p:spPr>
          <a:xfrm>
            <a:off x="9768535" y="530352"/>
            <a:ext cx="1005840" cy="219456"/>
          </a:xfrm>
          <a:prstGeom prst="rect">
            <a:avLst/>
          </a:prstGeom>
          <a:noFill/>
          <a:ln/>
        </p:spPr>
        <p:txBody>
          <a:bodyPr wrap="square" lIns="0" tIns="0" rIns="0" bIns="0" rtlCol="0" anchor="ctr"/>
          <a:lstStyle/>
          <a:p>
            <a:pPr marL="0" indent="0" algn="r">
              <a:buNone/>
            </a:pPr>
            <a:r>
              <a:rPr lang="en-US" sz="900" dirty="0">
                <a:solidFill>
                  <a:srgbClr val="B6B7B8"/>
                </a:solidFill>
                <a:latin typeface="IBM Plex Mono" pitchFamily="34" charset="0"/>
                <a:ea typeface="IBM Plex Mono" pitchFamily="34" charset="-122"/>
                <a:cs typeface="IBM Plex Mono" pitchFamily="34" charset="-120"/>
              </a:rPr>
              <a:t>88 → 19</a:t>
            </a:r>
            <a:endParaRPr lang="en-US" sz="900" dirty="0"/>
          </a:p>
        </p:txBody>
      </p:sp>
      <p:sp>
        <p:nvSpPr>
          <p:cNvPr id="15" name="Text 13"/>
          <p:cNvSpPr/>
          <p:nvPr/>
        </p:nvSpPr>
        <p:spPr>
          <a:xfrm>
            <a:off x="10865815" y="530352"/>
            <a:ext cx="685800" cy="219456"/>
          </a:xfrm>
          <a:prstGeom prst="roundRect">
            <a:avLst>
              <a:gd name="adj" fmla="val 16667"/>
            </a:avLst>
          </a:prstGeom>
          <a:solidFill>
            <a:srgbClr val="2A1F0D"/>
          </a:solidFill>
          <a:ln w="6350">
            <a:solidFill>
              <a:srgbClr val="E8A33D"/>
            </a:solidFill>
          </a:ln>
        </p:spPr>
        <p:txBody>
          <a:bodyPr wrap="square" lIns="0" tIns="0" rIns="0" bIns="0" rtlCol="0" anchor="ctr"/>
          <a:lstStyle/>
          <a:p>
            <a:pPr marL="0" indent="0" algn="ctr">
              <a:buNone/>
            </a:pPr>
            <a:r>
              <a:rPr lang="en-US" sz="900" b="1" dirty="0">
                <a:solidFill>
                  <a:srgbClr val="E8A33D"/>
                </a:solidFill>
                <a:latin typeface="IBM Plex Mono" pitchFamily="34" charset="0"/>
                <a:ea typeface="IBM Plex Mono" pitchFamily="34" charset="-122"/>
                <a:cs typeface="IBM Plex Mono" pitchFamily="34" charset="-120"/>
              </a:rPr>
              <a:t>-78%</a:t>
            </a:r>
            <a:endParaRPr lang="en-US" sz="900" dirty="0"/>
          </a:p>
        </p:txBody>
      </p:sp>
      <p:graphicFrame>
        <p:nvGraphicFramePr>
          <p:cNvPr id="16" name="Chart 0"/>
          <p:cNvGraphicFramePr/>
          <p:nvPr/>
        </p:nvGraphicFramePr>
        <p:xfrm>
          <a:off x="6190488" y="932688"/>
          <a:ext cx="5434279" cy="2450592"/>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4"/>
          <p:cNvSpPr/>
          <p:nvPr/>
        </p:nvSpPr>
        <p:spPr>
          <a:xfrm>
            <a:off x="6263640" y="3840480"/>
            <a:ext cx="2415388" cy="0"/>
          </a:xfrm>
          <a:prstGeom prst="line">
            <a:avLst/>
          </a:prstGeom>
          <a:noFill/>
          <a:ln w="9525">
            <a:solidFill>
              <a:srgbClr val="2E3033"/>
            </a:solidFill>
            <a:prstDash val="solid"/>
          </a:ln>
        </p:spPr>
        <p:txBody>
          <a:bodyPr/>
          <a:lstStyle/>
          <a:p>
            <a:endParaRPr lang="en-PK"/>
          </a:p>
        </p:txBody>
      </p:sp>
      <p:sp>
        <p:nvSpPr>
          <p:cNvPr id="18" name="Text 15"/>
          <p:cNvSpPr/>
          <p:nvPr/>
        </p:nvSpPr>
        <p:spPr>
          <a:xfrm>
            <a:off x="6263640" y="395020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1,000,000+</a:t>
            </a:r>
            <a:endParaRPr lang="en-US" sz="2400" dirty="0"/>
          </a:p>
        </p:txBody>
      </p:sp>
      <p:sp>
        <p:nvSpPr>
          <p:cNvPr id="19" name="Text 16"/>
          <p:cNvSpPr/>
          <p:nvPr/>
        </p:nvSpPr>
        <p:spPr>
          <a:xfrm>
            <a:off x="6263640"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security events indexed and queryable per second</a:t>
            </a:r>
            <a:endParaRPr lang="en-US" sz="950" dirty="0"/>
          </a:p>
        </p:txBody>
      </p:sp>
      <p:sp>
        <p:nvSpPr>
          <p:cNvPr id="20" name="Shape 17"/>
          <p:cNvSpPr/>
          <p:nvPr/>
        </p:nvSpPr>
        <p:spPr>
          <a:xfrm>
            <a:off x="8907628" y="3840480"/>
            <a:ext cx="2415388" cy="0"/>
          </a:xfrm>
          <a:prstGeom prst="line">
            <a:avLst/>
          </a:prstGeom>
          <a:noFill/>
          <a:ln w="9525">
            <a:solidFill>
              <a:srgbClr val="2E3033"/>
            </a:solidFill>
            <a:prstDash val="solid"/>
          </a:ln>
        </p:spPr>
        <p:txBody>
          <a:bodyPr/>
          <a:lstStyle/>
          <a:p>
            <a:endParaRPr lang="en-PK"/>
          </a:p>
        </p:txBody>
      </p:sp>
      <p:sp>
        <p:nvSpPr>
          <p:cNvPr id="21" name="Text 18"/>
          <p:cNvSpPr/>
          <p:nvPr/>
        </p:nvSpPr>
        <p:spPr>
          <a:xfrm>
            <a:off x="8907628" y="395020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~65%</a:t>
            </a:r>
            <a:endParaRPr lang="en-US" sz="2400" dirty="0"/>
          </a:p>
        </p:txBody>
      </p:sp>
      <p:sp>
        <p:nvSpPr>
          <p:cNvPr id="22" name="Text 19"/>
          <p:cNvSpPr/>
          <p:nvPr/>
        </p:nvSpPr>
        <p:spPr>
          <a:xfrm>
            <a:off x="8907628"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reduction in mean time to detect via live detection streams</a:t>
            </a:r>
            <a:endParaRPr lang="en-US" sz="950" dirty="0"/>
          </a:p>
        </p:txBody>
      </p:sp>
      <p:sp>
        <p:nvSpPr>
          <p:cNvPr id="23" name="Shape 20"/>
          <p:cNvSpPr/>
          <p:nvPr/>
        </p:nvSpPr>
        <p:spPr>
          <a:xfrm>
            <a:off x="6263640" y="5074920"/>
            <a:ext cx="2415388" cy="0"/>
          </a:xfrm>
          <a:prstGeom prst="line">
            <a:avLst/>
          </a:prstGeom>
          <a:noFill/>
          <a:ln w="9525">
            <a:solidFill>
              <a:srgbClr val="2E3033"/>
            </a:solidFill>
            <a:prstDash val="solid"/>
          </a:ln>
        </p:spPr>
        <p:txBody>
          <a:bodyPr/>
          <a:lstStyle/>
          <a:p>
            <a:endParaRPr lang="en-PK"/>
          </a:p>
        </p:txBody>
      </p:sp>
      <p:sp>
        <p:nvSpPr>
          <p:cNvPr id="24" name="Text 21"/>
          <p:cNvSpPr/>
          <p:nvPr/>
        </p:nvSpPr>
        <p:spPr>
          <a:xfrm>
            <a:off x="6263640" y="518464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100%</a:t>
            </a:r>
            <a:endParaRPr lang="en-US" sz="2400" dirty="0"/>
          </a:p>
        </p:txBody>
      </p:sp>
      <p:sp>
        <p:nvSpPr>
          <p:cNvPr id="25" name="Text 22"/>
          <p:cNvSpPr/>
          <p:nvPr/>
        </p:nvSpPr>
        <p:spPr>
          <a:xfrm>
            <a:off x="6263640"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device identity unification across multi-agent telemetry sources</a:t>
            </a:r>
            <a:endParaRPr lang="en-US" sz="950" dirty="0"/>
          </a:p>
        </p:txBody>
      </p:sp>
      <p:sp>
        <p:nvSpPr>
          <p:cNvPr id="26" name="Text 23"/>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7" name="Text 24"/>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21 / 30</a:t>
            </a:r>
            <a:endParaRPr lang="en-US" sz="700" dirty="0"/>
          </a:p>
        </p:txBody>
      </p:sp>
    </p:spTree>
    <p:extLst>
      <p:ext uri="{BB962C8B-B14F-4D97-AF65-F5344CB8AC3E}">
        <p14:creationId xmlns:p14="http://schemas.microsoft.com/office/powerpoint/2010/main" val="2633618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05  CYBER SECURITY  ·  CASE STUDY 02 / 04</a:t>
            </a:r>
            <a:endParaRPr lang="en-US" sz="900" dirty="0"/>
          </a:p>
        </p:txBody>
      </p:sp>
      <p:sp>
        <p:nvSpPr>
          <p:cNvPr id="4" name="Text 2"/>
          <p:cNvSpPr/>
          <p:nvPr/>
        </p:nvSpPr>
        <p:spPr>
          <a:xfrm>
            <a:off x="640080" y="777240"/>
            <a:ext cx="5120640" cy="868680"/>
          </a:xfrm>
          <a:prstGeom prst="rect">
            <a:avLst/>
          </a:prstGeom>
          <a:noFill/>
          <a:ln/>
        </p:spPr>
        <p:txBody>
          <a:bodyPr wrap="square" lIns="0" tIns="0" rIns="0" bIns="0" rtlCol="0" anchor="t"/>
          <a:lstStyle/>
          <a:p>
            <a:pPr marL="0" indent="0">
              <a:lnSpc>
                <a:spcPct val="95000"/>
              </a:lnSpc>
              <a:buNone/>
            </a:pPr>
            <a:r>
              <a:rPr lang="en-US" sz="2300" b="1" dirty="0">
                <a:solidFill>
                  <a:srgbClr val="14161A"/>
                </a:solidFill>
                <a:latin typeface="Space Grotesk" pitchFamily="34" charset="0"/>
                <a:ea typeface="Space Grotesk" pitchFamily="34" charset="-122"/>
                <a:cs typeface="Space Grotesk" pitchFamily="34" charset="-120"/>
              </a:rPr>
              <a:t>Enterprise Cyber Complaint &amp; Content Governance Dashboard</a:t>
            </a:r>
            <a:endParaRPr lang="en-US" sz="2300" dirty="0"/>
          </a:p>
        </p:txBody>
      </p:sp>
      <p:sp>
        <p:nvSpPr>
          <p:cNvPr id="5" name="Shape 3"/>
          <p:cNvSpPr/>
          <p:nvPr/>
        </p:nvSpPr>
        <p:spPr>
          <a:xfrm>
            <a:off x="640080" y="1810512"/>
            <a:ext cx="5120640" cy="0"/>
          </a:xfrm>
          <a:prstGeom prst="line">
            <a:avLst/>
          </a:prstGeom>
          <a:noFill/>
          <a:ln w="9525">
            <a:solidFill>
              <a:srgbClr val="DCD8D0"/>
            </a:solidFill>
            <a:prstDash val="solid"/>
          </a:ln>
        </p:spPr>
        <p:txBody>
          <a:bodyPr/>
          <a:lstStyle/>
          <a:p>
            <a:endParaRPr lang="en-PK"/>
          </a:p>
        </p:txBody>
      </p:sp>
      <p:sp>
        <p:nvSpPr>
          <p:cNvPr id="6" name="Text 4"/>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6F6A5F"/>
                </a:solidFill>
                <a:latin typeface="IBM Plex Mono" pitchFamily="34" charset="0"/>
                <a:ea typeface="IBM Plex Mono" pitchFamily="34" charset="-122"/>
                <a:cs typeface="IBM Plex Mono" pitchFamily="34" charset="-120"/>
              </a:rPr>
              <a:t>TELECOMMUNICATIONS &amp; CYBER REGULATORY GOVERNANCE — NAME WITHHELD   ·   2024   ·   8 WEEKS   ·   DELIVERED</a:t>
            </a:r>
            <a:endParaRPr lang="en-US" sz="800" dirty="0"/>
          </a:p>
        </p:txBody>
      </p:sp>
      <p:sp>
        <p:nvSpPr>
          <p:cNvPr id="7" name="Shape 5"/>
          <p:cNvSpPr/>
          <p:nvPr/>
        </p:nvSpPr>
        <p:spPr>
          <a:xfrm>
            <a:off x="640080" y="2331720"/>
            <a:ext cx="5120640" cy="0"/>
          </a:xfrm>
          <a:prstGeom prst="line">
            <a:avLst/>
          </a:prstGeom>
          <a:noFill/>
          <a:ln w="9525">
            <a:solidFill>
              <a:srgbClr val="DCD8D0"/>
            </a:solidFill>
            <a:prstDash val="solid"/>
          </a:ln>
        </p:spPr>
        <p:txBody>
          <a:bodyPr/>
          <a:lstStyle/>
          <a:p>
            <a:endParaRPr lang="en-PK"/>
          </a:p>
        </p:txBody>
      </p:sp>
      <p:sp>
        <p:nvSpPr>
          <p:cNvPr id="8" name="Text 6"/>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THE PROBLEM</a:t>
            </a:r>
            <a:endParaRPr lang="en-US" sz="800" dirty="0"/>
          </a:p>
        </p:txBody>
      </p:sp>
      <p:sp>
        <p:nvSpPr>
          <p:cNvPr id="9" name="Text 7"/>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Regulatory compliance teams and cyber governance bodies handle high volumes of reported URLs, impersonation claims, hate speech, and unlawful digital content across major social media networks, including X/Twitter, Facebook, YouTube, TikTok, and Instagram. Previously, compliance teams relied on fragmented spreadsheets, manual status logging, and ad-hoc evidence retention.</a:t>
            </a:r>
            <a:endParaRPr lang="en-US" sz="1150" dirty="0"/>
          </a:p>
        </p:txBody>
      </p:sp>
      <p:sp>
        <p:nvSpPr>
          <p:cNvPr id="10" name="Text 8"/>
          <p:cNvSpPr/>
          <p:nvPr/>
        </p:nvSpPr>
        <p:spPr>
          <a:xfrm>
            <a:off x="640080" y="4240911"/>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WHAT CHANGED</a:t>
            </a:r>
            <a:endParaRPr lang="en-US" sz="800" dirty="0"/>
          </a:p>
        </p:txBody>
      </p:sp>
      <p:sp>
        <p:nvSpPr>
          <p:cNvPr id="11" name="Text 9"/>
          <p:cNvSpPr/>
          <p:nvPr/>
        </p:nvSpPr>
        <p:spPr>
          <a:xfrm>
            <a:off x="640080" y="4487799"/>
            <a:ext cx="5120640" cy="1821561"/>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Regulatory analysts replaced disparate spreadsheets and manual handoffs with a unified, real-time command dashboard. Executive leadership gained instant transparency into platform compliance distributions, monthly enforcement velocity, and removed-reach metrics. The platform established an unbroken, tamper-proof evidentiary audit trail while providing fast analytical reporting and zero-downtime reliability for mission-critical regulatory monitoring.</a:t>
            </a:r>
            <a:endParaRPr lang="en-US" sz="1150" dirty="0"/>
          </a:p>
        </p:txBody>
      </p:sp>
      <p:sp>
        <p:nvSpPr>
          <p:cNvPr id="12" name="Text 10"/>
          <p:cNvSpPr/>
          <p:nvPr/>
        </p:nvSpPr>
        <p:spPr>
          <a:xfrm>
            <a:off x="6263640" y="548640"/>
            <a:ext cx="3367735" cy="365760"/>
          </a:xfrm>
          <a:prstGeom prst="rect">
            <a:avLst/>
          </a:prstGeom>
          <a:noFill/>
          <a:ln/>
        </p:spPr>
        <p:txBody>
          <a:bodyPr wrap="square" lIns="0" tIns="0" rIns="0" bIns="0" rtlCol="0" anchor="t"/>
          <a:lstStyle/>
          <a:p>
            <a:pPr marL="0" indent="0">
              <a:buNone/>
            </a:pPr>
            <a:r>
              <a:rPr lang="en-US" sz="750" kern="0" spc="100" dirty="0">
                <a:solidFill>
                  <a:srgbClr val="6F6A5F"/>
                </a:solidFill>
                <a:latin typeface="IBM Plex Mono" pitchFamily="34" charset="0"/>
                <a:ea typeface="IBM Plex Mono" pitchFamily="34" charset="-122"/>
                <a:cs typeface="IBM Plex Mono" pitchFamily="34" charset="-120"/>
              </a:rPr>
              <a:t>COMPLAINT TURNAROUND TIME (HOURS)</a:t>
            </a:r>
            <a:endParaRPr lang="en-US" sz="750" dirty="0"/>
          </a:p>
        </p:txBody>
      </p:sp>
      <p:sp>
        <p:nvSpPr>
          <p:cNvPr id="13" name="Text 11"/>
          <p:cNvSpPr/>
          <p:nvPr/>
        </p:nvSpPr>
        <p:spPr>
          <a:xfrm>
            <a:off x="9768535" y="530352"/>
            <a:ext cx="1005840" cy="219456"/>
          </a:xfrm>
          <a:prstGeom prst="rect">
            <a:avLst/>
          </a:prstGeom>
          <a:noFill/>
          <a:ln/>
        </p:spPr>
        <p:txBody>
          <a:bodyPr wrap="square" lIns="0" tIns="0" rIns="0" bIns="0" rtlCol="0" anchor="ctr"/>
          <a:lstStyle/>
          <a:p>
            <a:pPr marL="0" indent="0" algn="r">
              <a:buNone/>
            </a:pPr>
            <a:r>
              <a:rPr lang="en-US" sz="900" dirty="0">
                <a:solidFill>
                  <a:srgbClr val="5B6066"/>
                </a:solidFill>
                <a:latin typeface="IBM Plex Mono" pitchFamily="34" charset="0"/>
                <a:ea typeface="IBM Plex Mono" pitchFamily="34" charset="-122"/>
                <a:cs typeface="IBM Plex Mono" pitchFamily="34" charset="-120"/>
              </a:rPr>
              <a:t>92 → 9</a:t>
            </a:r>
            <a:endParaRPr lang="en-US" sz="900" dirty="0"/>
          </a:p>
        </p:txBody>
      </p:sp>
      <p:sp>
        <p:nvSpPr>
          <p:cNvPr id="14" name="Text 12"/>
          <p:cNvSpPr/>
          <p:nvPr/>
        </p:nvSpPr>
        <p:spPr>
          <a:xfrm>
            <a:off x="10865815" y="530352"/>
            <a:ext cx="685800" cy="219456"/>
          </a:xfrm>
          <a:prstGeom prst="roundRect">
            <a:avLst>
              <a:gd name="adj" fmla="val 16667"/>
            </a:avLst>
          </a:prstGeom>
          <a:solidFill>
            <a:srgbClr val="F0E2C8"/>
          </a:solidFill>
          <a:ln w="6350">
            <a:solidFill>
              <a:srgbClr val="8F5D0A"/>
            </a:solidFill>
          </a:ln>
        </p:spPr>
        <p:txBody>
          <a:bodyPr wrap="square" lIns="0" tIns="0" rIns="0" bIns="0" rtlCol="0" anchor="ctr"/>
          <a:lstStyle/>
          <a:p>
            <a:pPr marL="0" indent="0" algn="ctr">
              <a:buNone/>
            </a:pPr>
            <a:r>
              <a:rPr lang="en-US" sz="900" b="1" dirty="0">
                <a:solidFill>
                  <a:srgbClr val="8F5D0A"/>
                </a:solidFill>
                <a:latin typeface="IBM Plex Mono" pitchFamily="34" charset="0"/>
                <a:ea typeface="IBM Plex Mono" pitchFamily="34" charset="-122"/>
                <a:cs typeface="IBM Plex Mono" pitchFamily="34" charset="-120"/>
              </a:rPr>
              <a:t>-90%</a:t>
            </a:r>
            <a:endParaRPr lang="en-US" sz="900" dirty="0"/>
          </a:p>
        </p:txBody>
      </p:sp>
      <p:graphicFrame>
        <p:nvGraphicFramePr>
          <p:cNvPr id="15" name="Chart 0"/>
          <p:cNvGraphicFramePr/>
          <p:nvPr/>
        </p:nvGraphicFramePr>
        <p:xfrm>
          <a:off x="6190488" y="932688"/>
          <a:ext cx="5434279" cy="2450592"/>
        </p:xfrm>
        <a:graphic>
          <a:graphicData uri="http://schemas.openxmlformats.org/drawingml/2006/chart">
            <c:chart xmlns:c="http://schemas.openxmlformats.org/drawingml/2006/chart" xmlns:r="http://schemas.openxmlformats.org/officeDocument/2006/relationships" r:id="rId3"/>
          </a:graphicData>
        </a:graphic>
      </p:graphicFrame>
      <p:sp>
        <p:nvSpPr>
          <p:cNvPr id="16" name="Shape 13"/>
          <p:cNvSpPr/>
          <p:nvPr/>
        </p:nvSpPr>
        <p:spPr>
          <a:xfrm>
            <a:off x="6263640" y="3840480"/>
            <a:ext cx="2415388" cy="0"/>
          </a:xfrm>
          <a:prstGeom prst="line">
            <a:avLst/>
          </a:prstGeom>
          <a:noFill/>
          <a:ln w="9525">
            <a:solidFill>
              <a:srgbClr val="DCD8D0"/>
            </a:solidFill>
            <a:prstDash val="solid"/>
          </a:ln>
        </p:spPr>
        <p:txBody>
          <a:bodyPr/>
          <a:lstStyle/>
          <a:p>
            <a:endParaRPr lang="en-PK"/>
          </a:p>
        </p:txBody>
      </p:sp>
      <p:sp>
        <p:nvSpPr>
          <p:cNvPr id="17" name="Text 14"/>
          <p:cNvSpPr/>
          <p:nvPr/>
        </p:nvSpPr>
        <p:spPr>
          <a:xfrm>
            <a:off x="6263640" y="395020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90%</a:t>
            </a:r>
            <a:endParaRPr lang="en-US" sz="2400" dirty="0"/>
          </a:p>
        </p:txBody>
      </p:sp>
      <p:sp>
        <p:nvSpPr>
          <p:cNvPr id="18" name="Text 15"/>
          <p:cNvSpPr/>
          <p:nvPr/>
        </p:nvSpPr>
        <p:spPr>
          <a:xfrm>
            <a:off x="6263640"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reduction in complaint processing and administrative turnaround time</a:t>
            </a:r>
            <a:endParaRPr lang="en-US" sz="950" dirty="0"/>
          </a:p>
        </p:txBody>
      </p:sp>
      <p:sp>
        <p:nvSpPr>
          <p:cNvPr id="19" name="Shape 16"/>
          <p:cNvSpPr/>
          <p:nvPr/>
        </p:nvSpPr>
        <p:spPr>
          <a:xfrm>
            <a:off x="8907628" y="3840480"/>
            <a:ext cx="2415388" cy="0"/>
          </a:xfrm>
          <a:prstGeom prst="line">
            <a:avLst/>
          </a:prstGeom>
          <a:noFill/>
          <a:ln w="9525">
            <a:solidFill>
              <a:srgbClr val="DCD8D0"/>
            </a:solidFill>
            <a:prstDash val="solid"/>
          </a:ln>
        </p:spPr>
        <p:txBody>
          <a:bodyPr/>
          <a:lstStyle/>
          <a:p>
            <a:endParaRPr lang="en-PK"/>
          </a:p>
        </p:txBody>
      </p:sp>
      <p:sp>
        <p:nvSpPr>
          <p:cNvPr id="20" name="Text 17"/>
          <p:cNvSpPr/>
          <p:nvPr/>
        </p:nvSpPr>
        <p:spPr>
          <a:xfrm>
            <a:off x="8907628" y="395020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100%</a:t>
            </a:r>
            <a:endParaRPr lang="en-US" sz="2400" dirty="0"/>
          </a:p>
        </p:txBody>
      </p:sp>
      <p:sp>
        <p:nvSpPr>
          <p:cNvPr id="21" name="Text 18"/>
          <p:cNvSpPr/>
          <p:nvPr/>
        </p:nvSpPr>
        <p:spPr>
          <a:xfrm>
            <a:off x="8907628"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audit readiness and tamper-proof evidence archiving on Azure</a:t>
            </a:r>
            <a:endParaRPr lang="en-US" sz="950" dirty="0"/>
          </a:p>
        </p:txBody>
      </p:sp>
      <p:sp>
        <p:nvSpPr>
          <p:cNvPr id="22" name="Shape 19"/>
          <p:cNvSpPr/>
          <p:nvPr/>
        </p:nvSpPr>
        <p:spPr>
          <a:xfrm>
            <a:off x="6263640" y="5074920"/>
            <a:ext cx="2415388" cy="0"/>
          </a:xfrm>
          <a:prstGeom prst="line">
            <a:avLst/>
          </a:prstGeom>
          <a:noFill/>
          <a:ln w="9525">
            <a:solidFill>
              <a:srgbClr val="DCD8D0"/>
            </a:solidFill>
            <a:prstDash val="solid"/>
          </a:ln>
        </p:spPr>
        <p:txBody>
          <a:bodyPr/>
          <a:lstStyle/>
          <a:p>
            <a:endParaRPr lang="en-PK"/>
          </a:p>
        </p:txBody>
      </p:sp>
      <p:sp>
        <p:nvSpPr>
          <p:cNvPr id="23" name="Text 20"/>
          <p:cNvSpPr/>
          <p:nvPr/>
        </p:nvSpPr>
        <p:spPr>
          <a:xfrm>
            <a:off x="6263640" y="518464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1,095+</a:t>
            </a:r>
            <a:endParaRPr lang="en-US" sz="2400" dirty="0"/>
          </a:p>
        </p:txBody>
      </p:sp>
      <p:sp>
        <p:nvSpPr>
          <p:cNvPr id="24" name="Text 21"/>
          <p:cNvSpPr/>
          <p:nvPr/>
        </p:nvSpPr>
        <p:spPr>
          <a:xfrm>
            <a:off x="6263640"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violating content items and accounts tracked and resolved</a:t>
            </a:r>
            <a:endParaRPr lang="en-US" sz="950" dirty="0"/>
          </a:p>
        </p:txBody>
      </p:sp>
      <p:sp>
        <p:nvSpPr>
          <p:cNvPr id="25" name="Shape 22"/>
          <p:cNvSpPr/>
          <p:nvPr/>
        </p:nvSpPr>
        <p:spPr>
          <a:xfrm>
            <a:off x="8907628" y="5074920"/>
            <a:ext cx="2415388" cy="0"/>
          </a:xfrm>
          <a:prstGeom prst="line">
            <a:avLst/>
          </a:prstGeom>
          <a:noFill/>
          <a:ln w="9525">
            <a:solidFill>
              <a:srgbClr val="DCD8D0"/>
            </a:solidFill>
            <a:prstDash val="solid"/>
          </a:ln>
        </p:spPr>
        <p:txBody>
          <a:bodyPr/>
          <a:lstStyle/>
          <a:p>
            <a:endParaRPr lang="en-PK"/>
          </a:p>
        </p:txBody>
      </p:sp>
      <p:sp>
        <p:nvSpPr>
          <p:cNvPr id="26" name="Text 23"/>
          <p:cNvSpPr/>
          <p:nvPr/>
        </p:nvSpPr>
        <p:spPr>
          <a:xfrm>
            <a:off x="8907628" y="518464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&lt;1s</a:t>
            </a:r>
            <a:endParaRPr lang="en-US" sz="2400" dirty="0"/>
          </a:p>
        </p:txBody>
      </p:sp>
      <p:sp>
        <p:nvSpPr>
          <p:cNvPr id="27" name="Text 24"/>
          <p:cNvSpPr/>
          <p:nvPr/>
        </p:nvSpPr>
        <p:spPr>
          <a:xfrm>
            <a:off x="8907628"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real-time alert latency across analyst consoles</a:t>
            </a:r>
            <a:endParaRPr lang="en-US" sz="950" dirty="0"/>
          </a:p>
        </p:txBody>
      </p:sp>
      <p:sp>
        <p:nvSpPr>
          <p:cNvPr id="28" name="Text 25"/>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9" name="Text 26"/>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22 / 30</a:t>
            </a:r>
            <a:endParaRPr lang="en-US" sz="700" dirty="0"/>
          </a:p>
        </p:txBody>
      </p:sp>
    </p:spTree>
    <p:extLst>
      <p:ext uri="{BB962C8B-B14F-4D97-AF65-F5344CB8AC3E}">
        <p14:creationId xmlns:p14="http://schemas.microsoft.com/office/powerpoint/2010/main" val="3738789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05  CYBER SECURITY  ·  CASE STUDY 03 / 04</a:t>
            </a:r>
            <a:endParaRPr lang="en-US" sz="900" dirty="0"/>
          </a:p>
        </p:txBody>
      </p:sp>
      <p:sp>
        <p:nvSpPr>
          <p:cNvPr id="4" name="Text 2"/>
          <p:cNvSpPr/>
          <p:nvPr/>
        </p:nvSpPr>
        <p:spPr>
          <a:xfrm>
            <a:off x="640080" y="777240"/>
            <a:ext cx="5120640" cy="868680"/>
          </a:xfrm>
          <a:prstGeom prst="rect">
            <a:avLst/>
          </a:prstGeom>
          <a:noFill/>
          <a:ln/>
        </p:spPr>
        <p:txBody>
          <a:bodyPr wrap="square" lIns="0" tIns="0" rIns="0" bIns="0" rtlCol="0" anchor="t"/>
          <a:lstStyle/>
          <a:p>
            <a:pPr marL="0" indent="0">
              <a:lnSpc>
                <a:spcPct val="95000"/>
              </a:lnSpc>
              <a:buNone/>
            </a:pPr>
            <a:r>
              <a:rPr lang="en-US" sz="2300" b="1" dirty="0">
                <a:solidFill>
                  <a:srgbClr val="FFFFFF"/>
                </a:solidFill>
                <a:latin typeface="Space Grotesk" pitchFamily="34" charset="0"/>
                <a:ea typeface="Space Grotesk" pitchFamily="34" charset="-122"/>
                <a:cs typeface="Space Grotesk" pitchFamily="34" charset="-120"/>
              </a:rPr>
              <a:t>Threat intelligence and adversary tracking platform</a:t>
            </a:r>
            <a:endParaRPr lang="en-US" sz="2300" dirty="0"/>
          </a:p>
        </p:txBody>
      </p:sp>
      <p:sp>
        <p:nvSpPr>
          <p:cNvPr id="5" name="Shape 3"/>
          <p:cNvSpPr/>
          <p:nvPr/>
        </p:nvSpPr>
        <p:spPr>
          <a:xfrm>
            <a:off x="640080" y="1810512"/>
            <a:ext cx="5120640" cy="0"/>
          </a:xfrm>
          <a:prstGeom prst="line">
            <a:avLst/>
          </a:prstGeom>
          <a:noFill/>
          <a:ln w="9525">
            <a:solidFill>
              <a:srgbClr val="2E3033"/>
            </a:solidFill>
            <a:prstDash val="solid"/>
          </a:ln>
        </p:spPr>
        <p:txBody>
          <a:bodyPr/>
          <a:lstStyle/>
          <a:p>
            <a:endParaRPr lang="en-PK"/>
          </a:p>
        </p:txBody>
      </p:sp>
      <p:sp>
        <p:nvSpPr>
          <p:cNvPr id="6" name="Text 4"/>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8B8D8F"/>
                </a:solidFill>
                <a:latin typeface="IBM Plex Mono" pitchFamily="34" charset="0"/>
                <a:ea typeface="IBM Plex Mono" pitchFamily="34" charset="-122"/>
                <a:cs typeface="IBM Plex Mono" pitchFamily="34" charset="-120"/>
              </a:rPr>
              <a:t>CYBERSECURITY AND DEFENCE — NAME WITHHELD · 2025 · 8 MONTHS · DELIVERED</a:t>
            </a:r>
            <a:endParaRPr lang="en-US" sz="800" dirty="0"/>
          </a:p>
        </p:txBody>
      </p:sp>
      <p:sp>
        <p:nvSpPr>
          <p:cNvPr id="7" name="Shape 5"/>
          <p:cNvSpPr/>
          <p:nvPr/>
        </p:nvSpPr>
        <p:spPr>
          <a:xfrm>
            <a:off x="640080" y="2331720"/>
            <a:ext cx="5120640" cy="0"/>
          </a:xfrm>
          <a:prstGeom prst="line">
            <a:avLst/>
          </a:prstGeom>
          <a:noFill/>
          <a:ln w="9525">
            <a:solidFill>
              <a:srgbClr val="2E3033"/>
            </a:solidFill>
            <a:prstDash val="solid"/>
          </a:ln>
        </p:spPr>
        <p:txBody>
          <a:bodyPr/>
          <a:lstStyle/>
          <a:p>
            <a:endParaRPr lang="en-PK"/>
          </a:p>
        </p:txBody>
      </p:sp>
      <p:sp>
        <p:nvSpPr>
          <p:cNvPr id="8" name="Text 6"/>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THE PROBLEM</a:t>
            </a:r>
            <a:endParaRPr lang="en-US" sz="800" dirty="0"/>
          </a:p>
        </p:txBody>
      </p:sp>
      <p:sp>
        <p:nvSpPr>
          <p:cNvPr id="9" name="Text 7"/>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Enterprise security operations centres and threat hunting teams are inundated with disconnected feeds of IP addresses, domain names, file hashes and malware signatures. Manually pulling from dozens of open-source and proprietary threat lists leaves analysts drowning in false positives and stale data, with no automated way to connect an isolated malicious IP to an active threat actor campaign, a known malware family, or the MITRE ATT&amp;CK techniques being leveraged.</a:t>
            </a:r>
            <a:endParaRPr lang="en-US" sz="1150" dirty="0"/>
          </a:p>
        </p:txBody>
      </p:sp>
      <p:sp>
        <p:nvSpPr>
          <p:cNvPr id="10" name="Text 8"/>
          <p:cNvSpPr/>
          <p:nvPr/>
        </p:nvSpPr>
        <p:spPr>
          <a:xfrm>
            <a:off x="640080" y="4423474"/>
            <a:ext cx="5120640" cy="182880"/>
          </a:xfrm>
          <a:prstGeom prst="rect">
            <a:avLst/>
          </a:prstGeom>
          <a:noFill/>
          <a:ln/>
        </p:spPr>
        <p:txBody>
          <a:bodyPr wrap="square" lIns="0" tIns="0" rIns="0" bIns="0" rtlCol="0" anchor="t"/>
          <a:lstStyle/>
          <a:p>
            <a:pPr marL="0" indent="0">
              <a:buNone/>
            </a:pPr>
            <a:r>
              <a:rPr lang="en-US" sz="800" b="1" kern="0" spc="150" dirty="0">
                <a:solidFill>
                  <a:srgbClr val="E8A33D"/>
                </a:solidFill>
                <a:latin typeface="IBM Plex Mono" pitchFamily="34" charset="0"/>
                <a:ea typeface="IBM Plex Mono" pitchFamily="34" charset="-122"/>
                <a:cs typeface="IBM Plex Mono" pitchFamily="34" charset="-120"/>
              </a:rPr>
              <a:t>WHAT CHANGED</a:t>
            </a:r>
            <a:endParaRPr lang="en-US" sz="800" dirty="0"/>
          </a:p>
        </p:txBody>
      </p:sp>
      <p:sp>
        <p:nvSpPr>
          <p:cNvPr id="11" name="Text 9"/>
          <p:cNvSpPr/>
          <p:nvPr/>
        </p:nvSpPr>
        <p:spPr>
          <a:xfrm>
            <a:off x="640080" y="4670361"/>
            <a:ext cx="5120640" cy="1638999"/>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IBM Plex Sans" pitchFamily="34" charset="0"/>
                <a:ea typeface="IBM Plex Sans" pitchFamily="34" charset="-122"/>
                <a:cs typeface="IBM Plex Sans" pitchFamily="34" charset="-120"/>
              </a:rPr>
              <a:t>Raw, noisy threat feeds became an organised, actionable intelligence hub. Analysts replaced hours of manual indicator cross-referencing with automated risk scoring and instant campaign context, cutting triage time sharply. Security teams gain immediate visibility into global adversary activity, high-risk emerging indicators and relevant countermeasures from a single high-density command centre rather than a dozen browser tabs.</a:t>
            </a:r>
            <a:endParaRPr lang="en-US" sz="1150" dirty="0"/>
          </a:p>
        </p:txBody>
      </p:sp>
      <p:sp>
        <p:nvSpPr>
          <p:cNvPr id="12" name="Text 10"/>
          <p:cNvSpPr/>
          <p:nvPr/>
        </p:nvSpPr>
        <p:spPr>
          <a:xfrm>
            <a:off x="6263640" y="548640"/>
            <a:ext cx="3367735" cy="365760"/>
          </a:xfrm>
          <a:prstGeom prst="rect">
            <a:avLst/>
          </a:prstGeom>
          <a:noFill/>
          <a:ln/>
        </p:spPr>
        <p:txBody>
          <a:bodyPr wrap="square" lIns="0" tIns="0" rIns="0" bIns="0" rtlCol="0" anchor="t"/>
          <a:lstStyle/>
          <a:p>
            <a:pPr marL="0" indent="0">
              <a:buNone/>
            </a:pPr>
            <a:r>
              <a:rPr lang="en-US" sz="750" kern="0" spc="100" dirty="0">
                <a:solidFill>
                  <a:srgbClr val="8B8D8F"/>
                </a:solidFill>
                <a:latin typeface="IBM Plex Mono" pitchFamily="34" charset="0"/>
                <a:ea typeface="IBM Plex Mono" pitchFamily="34" charset="-122"/>
                <a:cs typeface="IBM Plex Mono" pitchFamily="34" charset="-120"/>
              </a:rPr>
              <a:t>INDICATOR TRIAGE &amp; CORRELATION LATENCY (MINUTES)</a:t>
            </a:r>
            <a:endParaRPr lang="en-US" sz="750" dirty="0"/>
          </a:p>
        </p:txBody>
      </p:sp>
      <p:sp>
        <p:nvSpPr>
          <p:cNvPr id="13" name="Text 11"/>
          <p:cNvSpPr/>
          <p:nvPr/>
        </p:nvSpPr>
        <p:spPr>
          <a:xfrm>
            <a:off x="9768535" y="530352"/>
            <a:ext cx="1005840" cy="219456"/>
          </a:xfrm>
          <a:prstGeom prst="rect">
            <a:avLst/>
          </a:prstGeom>
          <a:noFill/>
          <a:ln/>
        </p:spPr>
        <p:txBody>
          <a:bodyPr wrap="square" lIns="0" tIns="0" rIns="0" bIns="0" rtlCol="0" anchor="ctr"/>
          <a:lstStyle/>
          <a:p>
            <a:pPr marL="0" indent="0" algn="r">
              <a:buNone/>
            </a:pPr>
            <a:r>
              <a:rPr lang="en-US" sz="900" dirty="0">
                <a:solidFill>
                  <a:srgbClr val="B6B7B8"/>
                </a:solidFill>
                <a:latin typeface="IBM Plex Mono" pitchFamily="34" charset="0"/>
                <a:ea typeface="IBM Plex Mono" pitchFamily="34" charset="-122"/>
                <a:cs typeface="IBM Plex Mono" pitchFamily="34" charset="-120"/>
              </a:rPr>
              <a:t>90 → 11</a:t>
            </a:r>
            <a:endParaRPr lang="en-US" sz="900" dirty="0"/>
          </a:p>
        </p:txBody>
      </p:sp>
      <p:sp>
        <p:nvSpPr>
          <p:cNvPr id="14" name="Text 12"/>
          <p:cNvSpPr/>
          <p:nvPr/>
        </p:nvSpPr>
        <p:spPr>
          <a:xfrm>
            <a:off x="10865815" y="530352"/>
            <a:ext cx="685800" cy="219456"/>
          </a:xfrm>
          <a:prstGeom prst="roundRect">
            <a:avLst>
              <a:gd name="adj" fmla="val 16667"/>
            </a:avLst>
          </a:prstGeom>
          <a:solidFill>
            <a:srgbClr val="2A1F0D"/>
          </a:solidFill>
          <a:ln w="6350">
            <a:solidFill>
              <a:srgbClr val="E8A33D"/>
            </a:solidFill>
          </a:ln>
        </p:spPr>
        <p:txBody>
          <a:bodyPr wrap="square" lIns="0" tIns="0" rIns="0" bIns="0" rtlCol="0" anchor="ctr"/>
          <a:lstStyle/>
          <a:p>
            <a:pPr marL="0" indent="0" algn="ctr">
              <a:buNone/>
            </a:pPr>
            <a:r>
              <a:rPr lang="en-US" sz="900" b="1" dirty="0">
                <a:solidFill>
                  <a:srgbClr val="E8A33D"/>
                </a:solidFill>
                <a:latin typeface="IBM Plex Mono" pitchFamily="34" charset="0"/>
                <a:ea typeface="IBM Plex Mono" pitchFamily="34" charset="-122"/>
                <a:cs typeface="IBM Plex Mono" pitchFamily="34" charset="-120"/>
              </a:rPr>
              <a:t>-88%</a:t>
            </a:r>
            <a:endParaRPr lang="en-US" sz="900" dirty="0"/>
          </a:p>
        </p:txBody>
      </p:sp>
      <p:graphicFrame>
        <p:nvGraphicFramePr>
          <p:cNvPr id="15" name="Chart 0"/>
          <p:cNvGraphicFramePr/>
          <p:nvPr/>
        </p:nvGraphicFramePr>
        <p:xfrm>
          <a:off x="6190488" y="932688"/>
          <a:ext cx="5434279" cy="2450592"/>
        </p:xfrm>
        <a:graphic>
          <a:graphicData uri="http://schemas.openxmlformats.org/drawingml/2006/chart">
            <c:chart xmlns:c="http://schemas.openxmlformats.org/drawingml/2006/chart" xmlns:r="http://schemas.openxmlformats.org/officeDocument/2006/relationships" r:id="rId3"/>
          </a:graphicData>
        </a:graphic>
      </p:graphicFrame>
      <p:sp>
        <p:nvSpPr>
          <p:cNvPr id="16" name="Shape 13"/>
          <p:cNvSpPr/>
          <p:nvPr/>
        </p:nvSpPr>
        <p:spPr>
          <a:xfrm>
            <a:off x="6263640" y="3840480"/>
            <a:ext cx="2415388" cy="0"/>
          </a:xfrm>
          <a:prstGeom prst="line">
            <a:avLst/>
          </a:prstGeom>
          <a:noFill/>
          <a:ln w="9525">
            <a:solidFill>
              <a:srgbClr val="2E3033"/>
            </a:solidFill>
            <a:prstDash val="solid"/>
          </a:ln>
        </p:spPr>
        <p:txBody>
          <a:bodyPr/>
          <a:lstStyle/>
          <a:p>
            <a:endParaRPr lang="en-PK"/>
          </a:p>
        </p:txBody>
      </p:sp>
      <p:sp>
        <p:nvSpPr>
          <p:cNvPr id="17" name="Text 14"/>
          <p:cNvSpPr/>
          <p:nvPr/>
        </p:nvSpPr>
        <p:spPr>
          <a:xfrm>
            <a:off x="6263640" y="395020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80+</a:t>
            </a:r>
            <a:endParaRPr lang="en-US" sz="2400" dirty="0"/>
          </a:p>
        </p:txBody>
      </p:sp>
      <p:sp>
        <p:nvSpPr>
          <p:cNvPr id="18" name="Text 15"/>
          <p:cNvSpPr/>
          <p:nvPr/>
        </p:nvSpPr>
        <p:spPr>
          <a:xfrm>
            <a:off x="6263640"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OSINT, STIX/TAXII and commercial feeds ingested automatically</a:t>
            </a:r>
            <a:endParaRPr lang="en-US" sz="950" dirty="0"/>
          </a:p>
        </p:txBody>
      </p:sp>
      <p:sp>
        <p:nvSpPr>
          <p:cNvPr id="19" name="Shape 16"/>
          <p:cNvSpPr/>
          <p:nvPr/>
        </p:nvSpPr>
        <p:spPr>
          <a:xfrm>
            <a:off x="8907628" y="3840480"/>
            <a:ext cx="2415388" cy="0"/>
          </a:xfrm>
          <a:prstGeom prst="line">
            <a:avLst/>
          </a:prstGeom>
          <a:noFill/>
          <a:ln w="9525">
            <a:solidFill>
              <a:srgbClr val="2E3033"/>
            </a:solidFill>
            <a:prstDash val="solid"/>
          </a:ln>
        </p:spPr>
        <p:txBody>
          <a:bodyPr/>
          <a:lstStyle/>
          <a:p>
            <a:endParaRPr lang="en-PK"/>
          </a:p>
        </p:txBody>
      </p:sp>
      <p:sp>
        <p:nvSpPr>
          <p:cNvPr id="20" name="Text 17"/>
          <p:cNvSpPr/>
          <p:nvPr/>
        </p:nvSpPr>
        <p:spPr>
          <a:xfrm>
            <a:off x="8907628" y="395020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50,000+</a:t>
            </a:r>
            <a:endParaRPr lang="en-US" sz="2400" dirty="0"/>
          </a:p>
        </p:txBody>
      </p:sp>
      <p:sp>
        <p:nvSpPr>
          <p:cNvPr id="21" name="Text 18"/>
          <p:cNvSpPr/>
          <p:nvPr/>
        </p:nvSpPr>
        <p:spPr>
          <a:xfrm>
            <a:off x="8907628"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indicators of compromise normalised and scored every day</a:t>
            </a:r>
            <a:endParaRPr lang="en-US" sz="950" dirty="0"/>
          </a:p>
        </p:txBody>
      </p:sp>
      <p:sp>
        <p:nvSpPr>
          <p:cNvPr id="22" name="Shape 19"/>
          <p:cNvSpPr/>
          <p:nvPr/>
        </p:nvSpPr>
        <p:spPr>
          <a:xfrm>
            <a:off x="6263640" y="5074920"/>
            <a:ext cx="2415388" cy="0"/>
          </a:xfrm>
          <a:prstGeom prst="line">
            <a:avLst/>
          </a:prstGeom>
          <a:noFill/>
          <a:ln w="9525">
            <a:solidFill>
              <a:srgbClr val="2E3033"/>
            </a:solidFill>
            <a:prstDash val="solid"/>
          </a:ln>
        </p:spPr>
        <p:txBody>
          <a:bodyPr/>
          <a:lstStyle/>
          <a:p>
            <a:endParaRPr lang="en-PK"/>
          </a:p>
        </p:txBody>
      </p:sp>
      <p:sp>
        <p:nvSpPr>
          <p:cNvPr id="23" name="Text 20"/>
          <p:cNvSpPr/>
          <p:nvPr/>
        </p:nvSpPr>
        <p:spPr>
          <a:xfrm>
            <a:off x="6263640" y="5184648"/>
            <a:ext cx="2415388" cy="411480"/>
          </a:xfrm>
          <a:prstGeom prst="rect">
            <a:avLst/>
          </a:prstGeom>
          <a:noFill/>
          <a:ln/>
        </p:spPr>
        <p:txBody>
          <a:bodyPr wrap="square" lIns="0" tIns="0" rIns="0" bIns="0" rtlCol="0" anchor="t"/>
          <a:lstStyle/>
          <a:p>
            <a:pPr marL="0" indent="0">
              <a:buNone/>
            </a:pPr>
            <a:r>
              <a:rPr lang="en-US" sz="2400" b="1" dirty="0">
                <a:solidFill>
                  <a:srgbClr val="E8A33D"/>
                </a:solidFill>
                <a:latin typeface="Space Grotesk" pitchFamily="34" charset="0"/>
                <a:ea typeface="Space Grotesk" pitchFamily="34" charset="-122"/>
                <a:cs typeface="Space Grotesk" pitchFamily="34" charset="-120"/>
              </a:rPr>
              <a:t>3D</a:t>
            </a:r>
            <a:endParaRPr lang="en-US" sz="2400" dirty="0"/>
          </a:p>
        </p:txBody>
      </p:sp>
      <p:sp>
        <p:nvSpPr>
          <p:cNvPr id="24" name="Text 21"/>
          <p:cNvSpPr/>
          <p:nvPr/>
        </p:nvSpPr>
        <p:spPr>
          <a:xfrm>
            <a:off x="6263640"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B6B7B8"/>
                </a:solidFill>
                <a:latin typeface="IBM Plex Sans" pitchFamily="34" charset="0"/>
                <a:ea typeface="IBM Plex Sans" pitchFamily="34" charset="-122"/>
                <a:cs typeface="IBM Plex Sans" pitchFamily="34" charset="-120"/>
              </a:rPr>
              <a:t>geospatial command centre for real-time adversary tracking</a:t>
            </a:r>
            <a:endParaRPr lang="en-US" sz="950" dirty="0"/>
          </a:p>
        </p:txBody>
      </p:sp>
      <p:sp>
        <p:nvSpPr>
          <p:cNvPr id="25" name="Text 22"/>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6" name="Text 23"/>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23 / 30</a:t>
            </a:r>
            <a:endParaRPr lang="en-US" sz="700" dirty="0"/>
          </a:p>
        </p:txBody>
      </p:sp>
    </p:spTree>
    <p:extLst>
      <p:ext uri="{BB962C8B-B14F-4D97-AF65-F5344CB8AC3E}">
        <p14:creationId xmlns:p14="http://schemas.microsoft.com/office/powerpoint/2010/main" val="819419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05  CYBER SECURITY  ·  CASE STUDY 04 / 04</a:t>
            </a:r>
            <a:endParaRPr lang="en-US" sz="900" dirty="0"/>
          </a:p>
        </p:txBody>
      </p:sp>
      <p:sp>
        <p:nvSpPr>
          <p:cNvPr id="4" name="Text 2"/>
          <p:cNvSpPr/>
          <p:nvPr/>
        </p:nvSpPr>
        <p:spPr>
          <a:xfrm>
            <a:off x="640080" y="777240"/>
            <a:ext cx="5120640" cy="868680"/>
          </a:xfrm>
          <a:prstGeom prst="rect">
            <a:avLst/>
          </a:prstGeom>
          <a:noFill/>
          <a:ln/>
        </p:spPr>
        <p:txBody>
          <a:bodyPr wrap="square" lIns="0" tIns="0" rIns="0" bIns="0" rtlCol="0" anchor="t"/>
          <a:lstStyle/>
          <a:p>
            <a:pPr marL="0" indent="0">
              <a:lnSpc>
                <a:spcPct val="95000"/>
              </a:lnSpc>
              <a:buNone/>
            </a:pPr>
            <a:r>
              <a:rPr lang="en-US" sz="2300" b="1" dirty="0">
                <a:solidFill>
                  <a:srgbClr val="14161A"/>
                </a:solidFill>
                <a:latin typeface="Space Grotesk" pitchFamily="34" charset="0"/>
                <a:ea typeface="Space Grotesk" pitchFamily="34" charset="-122"/>
                <a:cs typeface="Space Grotesk" pitchFamily="34" charset="-120"/>
              </a:rPr>
              <a:t>Secure End-to-End Encrypted Company Chatbot</a:t>
            </a:r>
            <a:endParaRPr lang="en-US" sz="2300" dirty="0"/>
          </a:p>
        </p:txBody>
      </p:sp>
      <p:sp>
        <p:nvSpPr>
          <p:cNvPr id="5" name="Shape 3"/>
          <p:cNvSpPr/>
          <p:nvPr/>
        </p:nvSpPr>
        <p:spPr>
          <a:xfrm>
            <a:off x="640080" y="1810512"/>
            <a:ext cx="5120640" cy="0"/>
          </a:xfrm>
          <a:prstGeom prst="line">
            <a:avLst/>
          </a:prstGeom>
          <a:noFill/>
          <a:ln w="9525">
            <a:solidFill>
              <a:srgbClr val="DCD8D0"/>
            </a:solidFill>
            <a:prstDash val="solid"/>
          </a:ln>
        </p:spPr>
        <p:txBody>
          <a:bodyPr/>
          <a:lstStyle/>
          <a:p>
            <a:endParaRPr lang="en-PK"/>
          </a:p>
        </p:txBody>
      </p:sp>
      <p:sp>
        <p:nvSpPr>
          <p:cNvPr id="6" name="Text 4"/>
          <p:cNvSpPr/>
          <p:nvPr/>
        </p:nvSpPr>
        <p:spPr>
          <a:xfrm>
            <a:off x="640080" y="1920240"/>
            <a:ext cx="5120640" cy="365760"/>
          </a:xfrm>
          <a:prstGeom prst="rect">
            <a:avLst/>
          </a:prstGeom>
          <a:noFill/>
          <a:ln/>
        </p:spPr>
        <p:txBody>
          <a:bodyPr wrap="square" lIns="0" tIns="0" rIns="0" bIns="0" rtlCol="0" anchor="t"/>
          <a:lstStyle/>
          <a:p>
            <a:pPr marL="0" indent="0">
              <a:lnSpc>
                <a:spcPct val="130000"/>
              </a:lnSpc>
              <a:buNone/>
            </a:pPr>
            <a:r>
              <a:rPr lang="en-US" sz="800" kern="0" spc="100" dirty="0">
                <a:solidFill>
                  <a:srgbClr val="6F6A5F"/>
                </a:solidFill>
                <a:latin typeface="IBM Plex Mono" pitchFamily="34" charset="0"/>
                <a:ea typeface="IBM Plex Mono" pitchFamily="34" charset="-122"/>
                <a:cs typeface="IBM Plex Mono" pitchFamily="34" charset="-120"/>
              </a:rPr>
              <a:t>PROFESSIONAL SERVICES — LOGMATE / DEVTROVE / SIGMA · 2026 · 3 MONTHS · DELIVERED</a:t>
            </a:r>
            <a:endParaRPr lang="en-US" sz="800" dirty="0"/>
          </a:p>
        </p:txBody>
      </p:sp>
      <p:sp>
        <p:nvSpPr>
          <p:cNvPr id="7" name="Shape 5"/>
          <p:cNvSpPr/>
          <p:nvPr/>
        </p:nvSpPr>
        <p:spPr>
          <a:xfrm>
            <a:off x="640080" y="2331720"/>
            <a:ext cx="5120640" cy="0"/>
          </a:xfrm>
          <a:prstGeom prst="line">
            <a:avLst/>
          </a:prstGeom>
          <a:noFill/>
          <a:ln w="9525">
            <a:solidFill>
              <a:srgbClr val="DCD8D0"/>
            </a:solidFill>
            <a:prstDash val="solid"/>
          </a:ln>
        </p:spPr>
        <p:txBody>
          <a:bodyPr/>
          <a:lstStyle/>
          <a:p>
            <a:endParaRPr lang="en-PK"/>
          </a:p>
        </p:txBody>
      </p:sp>
      <p:sp>
        <p:nvSpPr>
          <p:cNvPr id="8" name="Text 6"/>
          <p:cNvSpPr/>
          <p:nvPr/>
        </p:nvSpPr>
        <p:spPr>
          <a:xfrm>
            <a:off x="640080" y="2514600"/>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THE PROBLEM</a:t>
            </a:r>
            <a:endParaRPr lang="en-US" sz="800" dirty="0"/>
          </a:p>
        </p:txBody>
      </p:sp>
      <p:sp>
        <p:nvSpPr>
          <p:cNvPr id="9" name="Text 7"/>
          <p:cNvSpPr/>
          <p:nvPr/>
        </p:nvSpPr>
        <p:spPr>
          <a:xfrm>
            <a:off x="640080" y="2761488"/>
            <a:ext cx="5120640" cy="1737360"/>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Company knowledge was spread across shared drives, email threads, wikis, chat history and file servers, in every format from scanned PDFs to recorded training videos. Staff lost hours searching or asking colleagues, and new hires took months to learn where things lived. Public AI assistants were ruled out: sending confidential files to an outside model broke data policy, and none of them could respect who is allowed to see what.</a:t>
            </a:r>
            <a:endParaRPr lang="en-US" sz="1150" dirty="0"/>
          </a:p>
        </p:txBody>
      </p:sp>
      <p:sp>
        <p:nvSpPr>
          <p:cNvPr id="10" name="Text 8"/>
          <p:cNvSpPr/>
          <p:nvPr/>
        </p:nvSpPr>
        <p:spPr>
          <a:xfrm>
            <a:off x="640080" y="4423474"/>
            <a:ext cx="5120640" cy="182880"/>
          </a:xfrm>
          <a:prstGeom prst="rect">
            <a:avLst/>
          </a:prstGeom>
          <a:noFill/>
          <a:ln/>
        </p:spPr>
        <p:txBody>
          <a:bodyPr wrap="square" lIns="0" tIns="0" rIns="0" bIns="0" rtlCol="0" anchor="t"/>
          <a:lstStyle/>
          <a:p>
            <a:pPr marL="0" indent="0">
              <a:buNone/>
            </a:pPr>
            <a:r>
              <a:rPr lang="en-US" sz="800" b="1" kern="0" spc="150" dirty="0">
                <a:solidFill>
                  <a:srgbClr val="8F5D0A"/>
                </a:solidFill>
                <a:latin typeface="IBM Plex Mono" pitchFamily="34" charset="0"/>
                <a:ea typeface="IBM Plex Mono" pitchFamily="34" charset="-122"/>
                <a:cs typeface="IBM Plex Mono" pitchFamily="34" charset="-120"/>
              </a:rPr>
              <a:t>WHAT CHANGED</a:t>
            </a:r>
            <a:endParaRPr lang="en-US" sz="800" dirty="0"/>
          </a:p>
        </p:txBody>
      </p:sp>
      <p:sp>
        <p:nvSpPr>
          <p:cNvPr id="11" name="Text 9"/>
          <p:cNvSpPr/>
          <p:nvPr/>
        </p:nvSpPr>
        <p:spPr>
          <a:xfrm>
            <a:off x="640080" y="4670361"/>
            <a:ext cx="5120640" cy="1638999"/>
          </a:xfrm>
          <a:prstGeom prst="rect">
            <a:avLst/>
          </a:prstGeom>
          <a:noFill/>
          <a:ln/>
        </p:spPr>
        <p:txBody>
          <a:bodyPr wrap="square" lIns="0" tIns="0" rIns="0" bIns="0" rtlCol="0" anchor="t"/>
          <a:lstStyle/>
          <a:p>
            <a:pPr marL="0" indent="0">
              <a:lnSpc>
                <a:spcPct val="125000"/>
              </a:lnSpc>
              <a:buNone/>
            </a:pPr>
            <a:r>
              <a:rPr lang="en-US" sz="1150" dirty="0">
                <a:solidFill>
                  <a:srgbClr val="14161A"/>
                </a:solidFill>
                <a:latin typeface="IBM Plex Sans" pitchFamily="34" charset="0"/>
                <a:ea typeface="IBM Plex Sans" pitchFamily="34" charset="-122"/>
                <a:cs typeface="IBM Plex Sans" pitchFamily="34" charset="-120"/>
              </a:rPr>
              <a:t>Every document, image, video and PDF now sits in one encrypted company brain that staff question in plain language. Conversations are encrypted end to end, and role-based access is checked before any answer is written, so an analyst and a director asking the same question each get an answer drawn only from what they are cleared to see. Every answer cites its source files, and every query is logged for audit.</a:t>
            </a:r>
            <a:endParaRPr lang="en-US" sz="1150" dirty="0"/>
          </a:p>
        </p:txBody>
      </p:sp>
      <p:sp>
        <p:nvSpPr>
          <p:cNvPr id="12" name="Text 10"/>
          <p:cNvSpPr/>
          <p:nvPr/>
        </p:nvSpPr>
        <p:spPr>
          <a:xfrm>
            <a:off x="6263640" y="548640"/>
            <a:ext cx="3367735" cy="365760"/>
          </a:xfrm>
          <a:prstGeom prst="rect">
            <a:avLst/>
          </a:prstGeom>
          <a:noFill/>
          <a:ln/>
        </p:spPr>
        <p:txBody>
          <a:bodyPr wrap="square" lIns="0" tIns="0" rIns="0" bIns="0" rtlCol="0" anchor="t"/>
          <a:lstStyle/>
          <a:p>
            <a:pPr marL="0" indent="0">
              <a:buNone/>
            </a:pPr>
            <a:r>
              <a:rPr lang="en-US" sz="750" kern="0" spc="100" dirty="0">
                <a:solidFill>
                  <a:srgbClr val="6F6A5F"/>
                </a:solidFill>
                <a:latin typeface="IBM Plex Mono" pitchFamily="34" charset="0"/>
                <a:ea typeface="IBM Plex Mono" pitchFamily="34" charset="-122"/>
                <a:cs typeface="IBM Plex Mono" pitchFamily="34" charset="-120"/>
              </a:rPr>
              <a:t>TIME TO FIND AN INTERNAL ANSWER (MINUTES)</a:t>
            </a:r>
            <a:endParaRPr lang="en-US" sz="750" dirty="0"/>
          </a:p>
        </p:txBody>
      </p:sp>
      <p:sp>
        <p:nvSpPr>
          <p:cNvPr id="13" name="Text 11"/>
          <p:cNvSpPr/>
          <p:nvPr/>
        </p:nvSpPr>
        <p:spPr>
          <a:xfrm>
            <a:off x="9768535" y="530352"/>
            <a:ext cx="1005840" cy="219456"/>
          </a:xfrm>
          <a:prstGeom prst="rect">
            <a:avLst/>
          </a:prstGeom>
          <a:noFill/>
          <a:ln/>
        </p:spPr>
        <p:txBody>
          <a:bodyPr wrap="square" lIns="0" tIns="0" rIns="0" bIns="0" rtlCol="0" anchor="ctr"/>
          <a:lstStyle/>
          <a:p>
            <a:pPr marL="0" indent="0" algn="r">
              <a:buNone/>
            </a:pPr>
            <a:r>
              <a:rPr lang="en-US" sz="900" dirty="0">
                <a:solidFill>
                  <a:srgbClr val="5B6066"/>
                </a:solidFill>
                <a:latin typeface="IBM Plex Mono" pitchFamily="34" charset="0"/>
                <a:ea typeface="IBM Plex Mono" pitchFamily="34" charset="-122"/>
                <a:cs typeface="IBM Plex Mono" pitchFamily="34" charset="-120"/>
              </a:rPr>
              <a:t>42 → 2</a:t>
            </a:r>
            <a:endParaRPr lang="en-US" sz="900" dirty="0"/>
          </a:p>
        </p:txBody>
      </p:sp>
      <p:sp>
        <p:nvSpPr>
          <p:cNvPr id="14" name="Text 12"/>
          <p:cNvSpPr/>
          <p:nvPr/>
        </p:nvSpPr>
        <p:spPr>
          <a:xfrm>
            <a:off x="10865815" y="530352"/>
            <a:ext cx="685800" cy="219456"/>
          </a:xfrm>
          <a:prstGeom prst="roundRect">
            <a:avLst>
              <a:gd name="adj" fmla="val 16667"/>
            </a:avLst>
          </a:prstGeom>
          <a:solidFill>
            <a:srgbClr val="F0E2C8"/>
          </a:solidFill>
          <a:ln w="6350">
            <a:solidFill>
              <a:srgbClr val="8F5D0A"/>
            </a:solidFill>
          </a:ln>
        </p:spPr>
        <p:txBody>
          <a:bodyPr wrap="square" lIns="0" tIns="0" rIns="0" bIns="0" rtlCol="0" anchor="ctr"/>
          <a:lstStyle/>
          <a:p>
            <a:pPr marL="0" indent="0" algn="ctr">
              <a:buNone/>
            </a:pPr>
            <a:r>
              <a:rPr lang="en-US" sz="900" b="1" dirty="0">
                <a:solidFill>
                  <a:srgbClr val="8F5D0A"/>
                </a:solidFill>
                <a:latin typeface="IBM Plex Mono" pitchFamily="34" charset="0"/>
                <a:ea typeface="IBM Plex Mono" pitchFamily="34" charset="-122"/>
                <a:cs typeface="IBM Plex Mono" pitchFamily="34" charset="-120"/>
              </a:rPr>
              <a:t>-95%</a:t>
            </a:r>
            <a:endParaRPr lang="en-US" sz="900" dirty="0"/>
          </a:p>
        </p:txBody>
      </p:sp>
      <p:graphicFrame>
        <p:nvGraphicFramePr>
          <p:cNvPr id="15" name="Chart 0"/>
          <p:cNvGraphicFramePr/>
          <p:nvPr/>
        </p:nvGraphicFramePr>
        <p:xfrm>
          <a:off x="6190488" y="932688"/>
          <a:ext cx="5434279" cy="2450592"/>
        </p:xfrm>
        <a:graphic>
          <a:graphicData uri="http://schemas.openxmlformats.org/drawingml/2006/chart">
            <c:chart xmlns:c="http://schemas.openxmlformats.org/drawingml/2006/chart" xmlns:r="http://schemas.openxmlformats.org/officeDocument/2006/relationships" r:id="rId3"/>
          </a:graphicData>
        </a:graphic>
      </p:graphicFrame>
      <p:sp>
        <p:nvSpPr>
          <p:cNvPr id="16" name="Shape 13"/>
          <p:cNvSpPr/>
          <p:nvPr/>
        </p:nvSpPr>
        <p:spPr>
          <a:xfrm>
            <a:off x="6263640" y="3840480"/>
            <a:ext cx="2415388" cy="0"/>
          </a:xfrm>
          <a:prstGeom prst="line">
            <a:avLst/>
          </a:prstGeom>
          <a:noFill/>
          <a:ln w="9525">
            <a:solidFill>
              <a:srgbClr val="DCD8D0"/>
            </a:solidFill>
            <a:prstDash val="solid"/>
          </a:ln>
        </p:spPr>
        <p:txBody>
          <a:bodyPr/>
          <a:lstStyle/>
          <a:p>
            <a:endParaRPr lang="en-PK"/>
          </a:p>
        </p:txBody>
      </p:sp>
      <p:sp>
        <p:nvSpPr>
          <p:cNvPr id="17" name="Text 14"/>
          <p:cNvSpPr/>
          <p:nvPr/>
        </p:nvSpPr>
        <p:spPr>
          <a:xfrm>
            <a:off x="6263640" y="395020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400K+</a:t>
            </a:r>
            <a:endParaRPr lang="en-US" sz="2400" dirty="0"/>
          </a:p>
        </p:txBody>
      </p:sp>
      <p:sp>
        <p:nvSpPr>
          <p:cNvPr id="18" name="Text 15"/>
          <p:cNvSpPr/>
          <p:nvPr/>
        </p:nvSpPr>
        <p:spPr>
          <a:xfrm>
            <a:off x="6263640"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documents, images, videos and PDFs indexed and searchable</a:t>
            </a:r>
            <a:endParaRPr lang="en-US" sz="950" dirty="0"/>
          </a:p>
        </p:txBody>
      </p:sp>
      <p:sp>
        <p:nvSpPr>
          <p:cNvPr id="19" name="Shape 16"/>
          <p:cNvSpPr/>
          <p:nvPr/>
        </p:nvSpPr>
        <p:spPr>
          <a:xfrm>
            <a:off x="8907628" y="3840480"/>
            <a:ext cx="2415388" cy="0"/>
          </a:xfrm>
          <a:prstGeom prst="line">
            <a:avLst/>
          </a:prstGeom>
          <a:noFill/>
          <a:ln w="9525">
            <a:solidFill>
              <a:srgbClr val="DCD8D0"/>
            </a:solidFill>
            <a:prstDash val="solid"/>
          </a:ln>
        </p:spPr>
        <p:txBody>
          <a:bodyPr/>
          <a:lstStyle/>
          <a:p>
            <a:endParaRPr lang="en-PK"/>
          </a:p>
        </p:txBody>
      </p:sp>
      <p:sp>
        <p:nvSpPr>
          <p:cNvPr id="20" name="Text 17"/>
          <p:cNvSpPr/>
          <p:nvPr/>
        </p:nvSpPr>
        <p:spPr>
          <a:xfrm>
            <a:off x="8907628" y="395020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5</a:t>
            </a:r>
            <a:endParaRPr lang="en-US" sz="2400" dirty="0"/>
          </a:p>
        </p:txBody>
      </p:sp>
      <p:sp>
        <p:nvSpPr>
          <p:cNvPr id="21" name="Text 18"/>
          <p:cNvSpPr/>
          <p:nvPr/>
        </p:nvSpPr>
        <p:spPr>
          <a:xfrm>
            <a:off x="8907628" y="438912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access tiers checked on every question before an answer is drawn</a:t>
            </a:r>
            <a:endParaRPr lang="en-US" sz="950" dirty="0"/>
          </a:p>
        </p:txBody>
      </p:sp>
      <p:sp>
        <p:nvSpPr>
          <p:cNvPr id="22" name="Shape 19"/>
          <p:cNvSpPr/>
          <p:nvPr/>
        </p:nvSpPr>
        <p:spPr>
          <a:xfrm>
            <a:off x="6263640" y="5074920"/>
            <a:ext cx="2415388" cy="0"/>
          </a:xfrm>
          <a:prstGeom prst="line">
            <a:avLst/>
          </a:prstGeom>
          <a:noFill/>
          <a:ln w="9525">
            <a:solidFill>
              <a:srgbClr val="DCD8D0"/>
            </a:solidFill>
            <a:prstDash val="solid"/>
          </a:ln>
        </p:spPr>
        <p:txBody>
          <a:bodyPr/>
          <a:lstStyle/>
          <a:p>
            <a:endParaRPr lang="en-PK"/>
          </a:p>
        </p:txBody>
      </p:sp>
      <p:sp>
        <p:nvSpPr>
          <p:cNvPr id="23" name="Text 20"/>
          <p:cNvSpPr/>
          <p:nvPr/>
        </p:nvSpPr>
        <p:spPr>
          <a:xfrm>
            <a:off x="6263640" y="5184648"/>
            <a:ext cx="2415388" cy="411480"/>
          </a:xfrm>
          <a:prstGeom prst="rect">
            <a:avLst/>
          </a:prstGeom>
          <a:noFill/>
          <a:ln/>
        </p:spPr>
        <p:txBody>
          <a:bodyPr wrap="square" lIns="0" tIns="0" rIns="0" bIns="0" rtlCol="0" anchor="t"/>
          <a:lstStyle/>
          <a:p>
            <a:pPr marL="0" indent="0">
              <a:buNone/>
            </a:pPr>
            <a:r>
              <a:rPr lang="en-US" sz="2400" b="1" dirty="0">
                <a:solidFill>
                  <a:srgbClr val="8F5D0A"/>
                </a:solidFill>
                <a:latin typeface="Space Grotesk" pitchFamily="34" charset="0"/>
                <a:ea typeface="Space Grotesk" pitchFamily="34" charset="-122"/>
                <a:cs typeface="Space Grotesk" pitchFamily="34" charset="-120"/>
              </a:rPr>
              <a:t>E2E</a:t>
            </a:r>
            <a:endParaRPr lang="en-US" sz="2400" dirty="0"/>
          </a:p>
        </p:txBody>
      </p:sp>
      <p:sp>
        <p:nvSpPr>
          <p:cNvPr id="24" name="Text 21"/>
          <p:cNvSpPr/>
          <p:nvPr/>
        </p:nvSpPr>
        <p:spPr>
          <a:xfrm>
            <a:off x="6263640" y="5623560"/>
            <a:ext cx="2369668" cy="640080"/>
          </a:xfrm>
          <a:prstGeom prst="rect">
            <a:avLst/>
          </a:prstGeom>
          <a:noFill/>
          <a:ln/>
        </p:spPr>
        <p:txBody>
          <a:bodyPr wrap="square" lIns="0" tIns="0" rIns="0" bIns="0" rtlCol="0" anchor="t"/>
          <a:lstStyle/>
          <a:p>
            <a:pPr marL="0" indent="0">
              <a:lnSpc>
                <a:spcPct val="110000"/>
              </a:lnSpc>
              <a:buNone/>
            </a:pPr>
            <a:r>
              <a:rPr lang="en-US" sz="950" dirty="0">
                <a:solidFill>
                  <a:srgbClr val="5B6066"/>
                </a:solidFill>
                <a:latin typeface="IBM Plex Sans" pitchFamily="34" charset="0"/>
                <a:ea typeface="IBM Plex Sans" pitchFamily="34" charset="-122"/>
                <a:cs typeface="IBM Plex Sans" pitchFamily="34" charset="-120"/>
              </a:rPr>
              <a:t>encryption from the employee's device to the knowledge store</a:t>
            </a:r>
            <a:endParaRPr lang="en-US" sz="950" dirty="0"/>
          </a:p>
        </p:txBody>
      </p:sp>
      <p:sp>
        <p:nvSpPr>
          <p:cNvPr id="25" name="Text 22"/>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6" name="Text 23"/>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24 / 30</a:t>
            </a:r>
            <a:endParaRPr lang="en-US" sz="700" dirty="0"/>
          </a:p>
        </p:txBody>
      </p:sp>
    </p:spTree>
    <p:extLst>
      <p:ext uri="{BB962C8B-B14F-4D97-AF65-F5344CB8AC3E}">
        <p14:creationId xmlns:p14="http://schemas.microsoft.com/office/powerpoint/2010/main" val="4214120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06  CLIENTS</a:t>
            </a:r>
            <a:endParaRPr lang="en-US" sz="900" dirty="0"/>
          </a:p>
        </p:txBody>
      </p:sp>
      <p:sp>
        <p:nvSpPr>
          <p:cNvPr id="4" name="Text 2"/>
          <p:cNvSpPr/>
          <p:nvPr/>
        </p:nvSpPr>
        <p:spPr>
          <a:xfrm>
            <a:off x="640080" y="777240"/>
            <a:ext cx="10911535" cy="685800"/>
          </a:xfrm>
          <a:prstGeom prst="rect">
            <a:avLst/>
          </a:prstGeom>
          <a:noFill/>
          <a:ln/>
        </p:spPr>
        <p:txBody>
          <a:bodyPr wrap="square" lIns="0" tIns="0" rIns="0" bIns="0" rtlCol="0" anchor="t"/>
          <a:lstStyle/>
          <a:p>
            <a:pPr marL="0" indent="0">
              <a:buNone/>
            </a:pPr>
            <a:r>
              <a:rPr lang="en-US" sz="3400" b="1" dirty="0">
                <a:solidFill>
                  <a:srgbClr val="FFFFFF"/>
                </a:solidFill>
                <a:latin typeface="Space Grotesk" pitchFamily="34" charset="0"/>
                <a:ea typeface="Space Grotesk" pitchFamily="34" charset="-122"/>
                <a:cs typeface="Space Grotesk" pitchFamily="34" charset="-120"/>
              </a:rPr>
              <a:t>In our clients' words</a:t>
            </a:r>
            <a:endParaRPr lang="en-US" sz="3400" dirty="0"/>
          </a:p>
        </p:txBody>
      </p:sp>
      <p:sp>
        <p:nvSpPr>
          <p:cNvPr id="5" name="Shape 3"/>
          <p:cNvSpPr/>
          <p:nvPr/>
        </p:nvSpPr>
        <p:spPr>
          <a:xfrm>
            <a:off x="640080" y="1645920"/>
            <a:ext cx="5318608" cy="2194560"/>
          </a:xfrm>
          <a:prstGeom prst="roundRect">
            <a:avLst>
              <a:gd name="adj" fmla="val 2083"/>
            </a:avLst>
          </a:prstGeom>
          <a:solidFill>
            <a:srgbClr val="0E1011"/>
          </a:solidFill>
          <a:ln/>
        </p:spPr>
        <p:txBody>
          <a:bodyPr/>
          <a:lstStyle/>
          <a:p>
            <a:endParaRPr lang="en-PK"/>
          </a:p>
        </p:txBody>
      </p:sp>
      <p:sp>
        <p:nvSpPr>
          <p:cNvPr id="6" name="Shape 4"/>
          <p:cNvSpPr/>
          <p:nvPr/>
        </p:nvSpPr>
        <p:spPr>
          <a:xfrm>
            <a:off x="640080" y="1920240"/>
            <a:ext cx="45720" cy="1645920"/>
          </a:xfrm>
          <a:prstGeom prst="rect">
            <a:avLst/>
          </a:prstGeom>
          <a:solidFill>
            <a:srgbClr val="E8A33D"/>
          </a:solidFill>
          <a:ln/>
        </p:spPr>
        <p:txBody>
          <a:bodyPr/>
          <a:lstStyle/>
          <a:p>
            <a:endParaRPr lang="en-PK"/>
          </a:p>
        </p:txBody>
      </p:sp>
      <p:sp>
        <p:nvSpPr>
          <p:cNvPr id="7" name="Text 5"/>
          <p:cNvSpPr/>
          <p:nvPr/>
        </p:nvSpPr>
        <p:spPr>
          <a:xfrm>
            <a:off x="1005840" y="1901952"/>
            <a:ext cx="4587088" cy="182880"/>
          </a:xfrm>
          <a:prstGeom prst="rect">
            <a:avLst/>
          </a:prstGeom>
          <a:noFill/>
          <a:ln/>
        </p:spPr>
        <p:txBody>
          <a:bodyPr wrap="square" lIns="0" tIns="0" rIns="0" bIns="0" rtlCol="0" anchor="t"/>
          <a:lstStyle/>
          <a:p>
            <a:pPr marL="0" indent="0">
              <a:buNone/>
            </a:pPr>
            <a:r>
              <a:rPr lang="en-US" sz="750" b="1" kern="0" spc="120" dirty="0">
                <a:solidFill>
                  <a:srgbClr val="E8A33D"/>
                </a:solidFill>
                <a:latin typeface="IBM Plex Mono" pitchFamily="34" charset="0"/>
                <a:ea typeface="IBM Plex Mono" pitchFamily="34" charset="-122"/>
                <a:cs typeface="IBM Plex Mono" pitchFamily="34" charset="-120"/>
              </a:rPr>
              <a:t>CURRENT BY LOGMATE</a:t>
            </a:r>
            <a:endParaRPr lang="en-US" sz="750" dirty="0"/>
          </a:p>
        </p:txBody>
      </p:sp>
      <p:sp>
        <p:nvSpPr>
          <p:cNvPr id="8" name="Text 6"/>
          <p:cNvSpPr/>
          <p:nvPr/>
        </p:nvSpPr>
        <p:spPr>
          <a:xfrm>
            <a:off x="1005840" y="2157984"/>
            <a:ext cx="4587088" cy="1097280"/>
          </a:xfrm>
          <a:prstGeom prst="rect">
            <a:avLst/>
          </a:prstGeom>
          <a:noFill/>
          <a:ln/>
        </p:spPr>
        <p:txBody>
          <a:bodyPr wrap="square" lIns="0" tIns="0" rIns="0" bIns="0" rtlCol="0" anchor="t"/>
          <a:lstStyle/>
          <a:p>
            <a:pPr>
              <a:lnSpc>
                <a:spcPct val="112000"/>
              </a:lnSpc>
            </a:pPr>
            <a:r>
              <a:rPr lang="en-GB" sz="1150" dirty="0">
                <a:solidFill>
                  <a:schemeClr val="bg2"/>
                </a:solidFill>
              </a:rPr>
              <a:t>“This product has effectively reduced our workload by three quarters.”</a:t>
            </a:r>
            <a:endParaRPr lang="en-US" sz="1150" dirty="0">
              <a:solidFill>
                <a:schemeClr val="bg2"/>
              </a:solidFill>
            </a:endParaRPr>
          </a:p>
        </p:txBody>
      </p:sp>
      <p:sp>
        <p:nvSpPr>
          <p:cNvPr id="9" name="Text 7"/>
          <p:cNvSpPr/>
          <p:nvPr/>
        </p:nvSpPr>
        <p:spPr>
          <a:xfrm>
            <a:off x="1005840" y="3273552"/>
            <a:ext cx="4587088" cy="219456"/>
          </a:xfrm>
          <a:prstGeom prst="rect">
            <a:avLst/>
          </a:prstGeom>
          <a:noFill/>
          <a:ln/>
        </p:spPr>
        <p:txBody>
          <a:bodyPr wrap="square" lIns="0" tIns="0" rIns="0" bIns="0" rtlCol="0" anchor="t"/>
          <a:lstStyle/>
          <a:p>
            <a:pPr marL="0" indent="0">
              <a:buNone/>
            </a:pPr>
            <a:r>
              <a:rPr lang="en-US" sz="1100" b="1" dirty="0">
                <a:solidFill>
                  <a:srgbClr val="FFFFFF"/>
                </a:solidFill>
                <a:latin typeface="IBM Plex Sans" pitchFamily="34" charset="0"/>
                <a:ea typeface="IBM Plex Sans" pitchFamily="34" charset="-122"/>
                <a:cs typeface="IBM Plex Sans" pitchFamily="34" charset="-120"/>
              </a:rPr>
              <a:t>Hamid Mehmood</a:t>
            </a:r>
            <a:endParaRPr lang="en-US" sz="1100" dirty="0"/>
          </a:p>
        </p:txBody>
      </p:sp>
      <p:sp>
        <p:nvSpPr>
          <p:cNvPr id="10" name="Text 8"/>
          <p:cNvSpPr/>
          <p:nvPr/>
        </p:nvSpPr>
        <p:spPr>
          <a:xfrm>
            <a:off x="1005840" y="3511296"/>
            <a:ext cx="4587088" cy="182880"/>
          </a:xfrm>
          <a:prstGeom prst="rect">
            <a:avLst/>
          </a:prstGeom>
          <a:noFill/>
          <a:ln/>
        </p:spPr>
        <p:txBody>
          <a:bodyPr wrap="square" lIns="0" tIns="0" rIns="0" bIns="0" rtlCol="0" anchor="t"/>
          <a:lstStyle/>
          <a:p>
            <a:pPr marL="0" indent="0">
              <a:buNone/>
            </a:pPr>
            <a:r>
              <a:rPr lang="en-US" sz="750" kern="0" spc="100" dirty="0">
                <a:solidFill>
                  <a:srgbClr val="8B8D8F"/>
                </a:solidFill>
                <a:latin typeface="IBM Plex Mono" pitchFamily="34" charset="0"/>
                <a:ea typeface="IBM Plex Mono" pitchFamily="34" charset="-122"/>
                <a:cs typeface="IBM Plex Mono" pitchFamily="34" charset="-120"/>
              </a:rPr>
              <a:t>DIRECTOR, LOGMATE</a:t>
            </a:r>
            <a:endParaRPr lang="en-US" sz="750" dirty="0"/>
          </a:p>
        </p:txBody>
      </p:sp>
      <p:sp>
        <p:nvSpPr>
          <p:cNvPr id="11" name="Shape 9"/>
          <p:cNvSpPr/>
          <p:nvPr/>
        </p:nvSpPr>
        <p:spPr>
          <a:xfrm>
            <a:off x="6233008" y="1645920"/>
            <a:ext cx="5318608" cy="2194560"/>
          </a:xfrm>
          <a:prstGeom prst="roundRect">
            <a:avLst>
              <a:gd name="adj" fmla="val 2083"/>
            </a:avLst>
          </a:prstGeom>
          <a:solidFill>
            <a:srgbClr val="0E1011"/>
          </a:solidFill>
          <a:ln/>
        </p:spPr>
        <p:txBody>
          <a:bodyPr/>
          <a:lstStyle/>
          <a:p>
            <a:endParaRPr lang="en-PK"/>
          </a:p>
        </p:txBody>
      </p:sp>
      <p:sp>
        <p:nvSpPr>
          <p:cNvPr id="12" name="Shape 10"/>
          <p:cNvSpPr/>
          <p:nvPr/>
        </p:nvSpPr>
        <p:spPr>
          <a:xfrm>
            <a:off x="6233008" y="1920240"/>
            <a:ext cx="45720" cy="1645920"/>
          </a:xfrm>
          <a:prstGeom prst="rect">
            <a:avLst/>
          </a:prstGeom>
          <a:solidFill>
            <a:srgbClr val="E8A33D"/>
          </a:solidFill>
          <a:ln/>
        </p:spPr>
        <p:txBody>
          <a:bodyPr/>
          <a:lstStyle/>
          <a:p>
            <a:endParaRPr lang="en-PK"/>
          </a:p>
        </p:txBody>
      </p:sp>
      <p:sp>
        <p:nvSpPr>
          <p:cNvPr id="13" name="Text 11"/>
          <p:cNvSpPr/>
          <p:nvPr/>
        </p:nvSpPr>
        <p:spPr>
          <a:xfrm>
            <a:off x="6598768" y="1901952"/>
            <a:ext cx="4587088" cy="182880"/>
          </a:xfrm>
          <a:prstGeom prst="rect">
            <a:avLst/>
          </a:prstGeom>
          <a:noFill/>
          <a:ln/>
        </p:spPr>
        <p:txBody>
          <a:bodyPr wrap="square" lIns="0" tIns="0" rIns="0" bIns="0" rtlCol="0" anchor="t"/>
          <a:lstStyle/>
          <a:p>
            <a:pPr marL="0" indent="0">
              <a:buNone/>
            </a:pPr>
            <a:r>
              <a:rPr lang="en-US" sz="750" b="1" kern="0" spc="120" dirty="0">
                <a:solidFill>
                  <a:srgbClr val="E8A33D"/>
                </a:solidFill>
                <a:latin typeface="IBM Plex Mono" pitchFamily="34" charset="0"/>
                <a:ea typeface="IBM Plex Mono" pitchFamily="34" charset="-122"/>
                <a:cs typeface="IBM Plex Mono" pitchFamily="34" charset="-120"/>
              </a:rPr>
              <a:t>ENTERPRISE CYBER COMPLAINT &amp; CONTENT GOVERNANCE DASHBOARD</a:t>
            </a:r>
            <a:endParaRPr lang="en-US" sz="750" dirty="0"/>
          </a:p>
        </p:txBody>
      </p:sp>
      <p:sp>
        <p:nvSpPr>
          <p:cNvPr id="14" name="Text 12"/>
          <p:cNvSpPr/>
          <p:nvPr/>
        </p:nvSpPr>
        <p:spPr>
          <a:xfrm>
            <a:off x="6598768" y="2157984"/>
            <a:ext cx="4587088" cy="1097280"/>
          </a:xfrm>
          <a:prstGeom prst="rect">
            <a:avLst/>
          </a:prstGeom>
          <a:noFill/>
          <a:ln/>
        </p:spPr>
        <p:txBody>
          <a:bodyPr wrap="square" lIns="0" tIns="0" rIns="0" bIns="0" rtlCol="0" anchor="t"/>
          <a:lstStyle/>
          <a:p>
            <a:pPr marL="0" indent="0">
              <a:lnSpc>
                <a:spcPct val="112000"/>
              </a:lnSpc>
              <a:buNone/>
            </a:pPr>
            <a:r>
              <a:rPr lang="en-US" sz="1150" dirty="0">
                <a:solidFill>
                  <a:schemeClr val="bg2"/>
                </a:solidFill>
                <a:latin typeface="Space Grotesk" pitchFamily="34" charset="0"/>
                <a:ea typeface="Space Grotesk" pitchFamily="34" charset="-122"/>
                <a:cs typeface="Space Grotesk" pitchFamily="34" charset="-120"/>
              </a:rPr>
              <a:t>“Boltertech delivered an enterprise platform that transformed our compliance monitoring capabilities. The combination of real-time data visualizations, cloud evidence storage, and automated reporting has given our team unprecedented control and clarity over digital content governance.”</a:t>
            </a:r>
            <a:endParaRPr lang="en-US" sz="1150" dirty="0">
              <a:solidFill>
                <a:schemeClr val="bg2"/>
              </a:solidFill>
            </a:endParaRPr>
          </a:p>
        </p:txBody>
      </p:sp>
      <p:sp>
        <p:nvSpPr>
          <p:cNvPr id="15" name="Text 13"/>
          <p:cNvSpPr/>
          <p:nvPr/>
        </p:nvSpPr>
        <p:spPr>
          <a:xfrm>
            <a:off x="6598768" y="3273552"/>
            <a:ext cx="4587088" cy="219456"/>
          </a:xfrm>
          <a:prstGeom prst="rect">
            <a:avLst/>
          </a:prstGeom>
          <a:noFill/>
          <a:ln/>
        </p:spPr>
        <p:txBody>
          <a:bodyPr wrap="square" lIns="0" tIns="0" rIns="0" bIns="0" rtlCol="0" anchor="t"/>
          <a:lstStyle/>
          <a:p>
            <a:pPr marL="0" indent="0">
              <a:buNone/>
            </a:pPr>
            <a:r>
              <a:rPr lang="en-US" sz="1100" b="1" dirty="0">
                <a:solidFill>
                  <a:srgbClr val="FFFFFF"/>
                </a:solidFill>
                <a:latin typeface="IBM Plex Sans" pitchFamily="34" charset="0"/>
                <a:ea typeface="IBM Plex Sans" pitchFamily="34" charset="-122"/>
                <a:cs typeface="IBM Plex Sans" pitchFamily="34" charset="-120"/>
              </a:rPr>
              <a:t>Hasib Ahmad</a:t>
            </a:r>
            <a:endParaRPr lang="en-US" sz="1100" dirty="0"/>
          </a:p>
        </p:txBody>
      </p:sp>
      <p:sp>
        <p:nvSpPr>
          <p:cNvPr id="16" name="Text 14"/>
          <p:cNvSpPr/>
          <p:nvPr/>
        </p:nvSpPr>
        <p:spPr>
          <a:xfrm>
            <a:off x="6598768" y="3511296"/>
            <a:ext cx="4587088" cy="182880"/>
          </a:xfrm>
          <a:prstGeom prst="rect">
            <a:avLst/>
          </a:prstGeom>
          <a:noFill/>
          <a:ln/>
        </p:spPr>
        <p:txBody>
          <a:bodyPr wrap="square" lIns="0" tIns="0" rIns="0" bIns="0" rtlCol="0" anchor="t"/>
          <a:lstStyle/>
          <a:p>
            <a:pPr marL="0" indent="0">
              <a:buNone/>
            </a:pPr>
            <a:r>
              <a:rPr lang="en-US" sz="750" kern="0" spc="100" dirty="0">
                <a:solidFill>
                  <a:srgbClr val="8B8D8F"/>
                </a:solidFill>
                <a:latin typeface="IBM Plex Mono" pitchFamily="34" charset="0"/>
                <a:ea typeface="IBM Plex Mono" pitchFamily="34" charset="-122"/>
                <a:cs typeface="IBM Plex Mono" pitchFamily="34" charset="-120"/>
              </a:rPr>
              <a:t>TEAM LEAD, DEVTROVE</a:t>
            </a:r>
            <a:endParaRPr lang="en-US" sz="750" dirty="0"/>
          </a:p>
        </p:txBody>
      </p:sp>
      <p:sp>
        <p:nvSpPr>
          <p:cNvPr id="17" name="Shape 15"/>
          <p:cNvSpPr/>
          <p:nvPr/>
        </p:nvSpPr>
        <p:spPr>
          <a:xfrm>
            <a:off x="640080" y="4114800"/>
            <a:ext cx="5318608" cy="2194560"/>
          </a:xfrm>
          <a:prstGeom prst="roundRect">
            <a:avLst>
              <a:gd name="adj" fmla="val 2083"/>
            </a:avLst>
          </a:prstGeom>
          <a:solidFill>
            <a:srgbClr val="0E1011"/>
          </a:solidFill>
          <a:ln/>
        </p:spPr>
        <p:txBody>
          <a:bodyPr/>
          <a:lstStyle/>
          <a:p>
            <a:endParaRPr lang="en-PK"/>
          </a:p>
        </p:txBody>
      </p:sp>
      <p:sp>
        <p:nvSpPr>
          <p:cNvPr id="18" name="Shape 16"/>
          <p:cNvSpPr/>
          <p:nvPr/>
        </p:nvSpPr>
        <p:spPr>
          <a:xfrm>
            <a:off x="640080" y="4389120"/>
            <a:ext cx="45720" cy="1645920"/>
          </a:xfrm>
          <a:prstGeom prst="rect">
            <a:avLst/>
          </a:prstGeom>
          <a:solidFill>
            <a:srgbClr val="E8A33D"/>
          </a:solidFill>
          <a:ln/>
        </p:spPr>
        <p:txBody>
          <a:bodyPr/>
          <a:lstStyle/>
          <a:p>
            <a:endParaRPr lang="en-PK"/>
          </a:p>
        </p:txBody>
      </p:sp>
      <p:sp>
        <p:nvSpPr>
          <p:cNvPr id="19" name="Text 17"/>
          <p:cNvSpPr/>
          <p:nvPr/>
        </p:nvSpPr>
        <p:spPr>
          <a:xfrm>
            <a:off x="1005840" y="4370832"/>
            <a:ext cx="4587088" cy="182880"/>
          </a:xfrm>
          <a:prstGeom prst="rect">
            <a:avLst/>
          </a:prstGeom>
          <a:noFill/>
          <a:ln/>
        </p:spPr>
        <p:txBody>
          <a:bodyPr wrap="square" lIns="0" tIns="0" rIns="0" bIns="0" rtlCol="0" anchor="t"/>
          <a:lstStyle/>
          <a:p>
            <a:pPr marL="0" indent="0">
              <a:buNone/>
            </a:pPr>
            <a:r>
              <a:rPr lang="en-US" sz="750" b="1" kern="0" spc="120" dirty="0">
                <a:solidFill>
                  <a:srgbClr val="E8A33D"/>
                </a:solidFill>
                <a:latin typeface="IBM Plex Mono" pitchFamily="34" charset="0"/>
                <a:ea typeface="IBM Plex Mono" pitchFamily="34" charset="-122"/>
                <a:cs typeface="IBM Plex Mono" pitchFamily="34" charset="-120"/>
              </a:rPr>
              <a:t>ENTERPRISE OMNICHANNEL MEDIA &amp; SOCIAL ANALYTICS PLATFORM</a:t>
            </a:r>
            <a:endParaRPr lang="en-US" sz="750" dirty="0"/>
          </a:p>
        </p:txBody>
      </p:sp>
      <p:sp>
        <p:nvSpPr>
          <p:cNvPr id="20" name="Text 18"/>
          <p:cNvSpPr/>
          <p:nvPr/>
        </p:nvSpPr>
        <p:spPr>
          <a:xfrm>
            <a:off x="1005840" y="4626864"/>
            <a:ext cx="4587088" cy="1097280"/>
          </a:xfrm>
          <a:prstGeom prst="rect">
            <a:avLst/>
          </a:prstGeom>
          <a:noFill/>
          <a:ln/>
        </p:spPr>
        <p:txBody>
          <a:bodyPr wrap="square" lIns="0" tIns="0" rIns="0" bIns="0" rtlCol="0" anchor="t"/>
          <a:lstStyle/>
          <a:p>
            <a:pPr marL="0" indent="0">
              <a:lnSpc>
                <a:spcPct val="112000"/>
              </a:lnSpc>
              <a:buNone/>
            </a:pPr>
            <a:r>
              <a:rPr lang="en-US" sz="1150" dirty="0">
                <a:solidFill>
                  <a:schemeClr val="bg2"/>
                </a:solidFill>
                <a:latin typeface="Space Grotesk" pitchFamily="34" charset="0"/>
                <a:ea typeface="Space Grotesk" pitchFamily="34" charset="-122"/>
                <a:cs typeface="Space Grotesk" pitchFamily="34" charset="-120"/>
              </a:rPr>
              <a:t>“Bolter Tech delivered a tailored solution that completely transformed how our newsroom and marketing teams track audience engagement. Having our 8 major channels reporting real-time metrics in a single, high-speed dashboard has significantly improved our decision-making speed.”</a:t>
            </a:r>
            <a:endParaRPr lang="en-US" sz="1150" dirty="0">
              <a:solidFill>
                <a:schemeClr val="bg2"/>
              </a:solidFill>
            </a:endParaRPr>
          </a:p>
        </p:txBody>
      </p:sp>
      <p:sp>
        <p:nvSpPr>
          <p:cNvPr id="21" name="Text 19"/>
          <p:cNvSpPr/>
          <p:nvPr/>
        </p:nvSpPr>
        <p:spPr>
          <a:xfrm>
            <a:off x="1005840" y="5742432"/>
            <a:ext cx="4587088" cy="219456"/>
          </a:xfrm>
          <a:prstGeom prst="rect">
            <a:avLst/>
          </a:prstGeom>
          <a:noFill/>
          <a:ln/>
        </p:spPr>
        <p:txBody>
          <a:bodyPr wrap="square" lIns="0" tIns="0" rIns="0" bIns="0" rtlCol="0" anchor="t"/>
          <a:lstStyle/>
          <a:p>
            <a:pPr marL="0" indent="0">
              <a:buNone/>
            </a:pPr>
            <a:r>
              <a:rPr lang="en-US" sz="1100" b="1" dirty="0">
                <a:solidFill>
                  <a:srgbClr val="FFFFFF"/>
                </a:solidFill>
                <a:latin typeface="IBM Plex Sans" pitchFamily="34" charset="0"/>
                <a:ea typeface="IBM Plex Sans" pitchFamily="34" charset="-122"/>
                <a:cs typeface="IBM Plex Sans" pitchFamily="34" charset="-120"/>
              </a:rPr>
              <a:t>Fayyaz Siddiqui</a:t>
            </a:r>
            <a:endParaRPr lang="en-US" sz="1100" dirty="0"/>
          </a:p>
        </p:txBody>
      </p:sp>
      <p:sp>
        <p:nvSpPr>
          <p:cNvPr id="22" name="Text 20"/>
          <p:cNvSpPr/>
          <p:nvPr/>
        </p:nvSpPr>
        <p:spPr>
          <a:xfrm>
            <a:off x="1005840" y="5980176"/>
            <a:ext cx="4587088" cy="182880"/>
          </a:xfrm>
          <a:prstGeom prst="rect">
            <a:avLst/>
          </a:prstGeom>
          <a:noFill/>
          <a:ln/>
        </p:spPr>
        <p:txBody>
          <a:bodyPr wrap="square" lIns="0" tIns="0" rIns="0" bIns="0" rtlCol="0" anchor="t"/>
          <a:lstStyle/>
          <a:p>
            <a:pPr marL="0" indent="0">
              <a:buNone/>
            </a:pPr>
            <a:r>
              <a:rPr lang="en-US" sz="750" kern="0" spc="100" dirty="0">
                <a:solidFill>
                  <a:srgbClr val="8B8D8F"/>
                </a:solidFill>
                <a:latin typeface="IBM Plex Mono" pitchFamily="34" charset="0"/>
                <a:ea typeface="IBM Plex Mono" pitchFamily="34" charset="-122"/>
                <a:cs typeface="IBM Plex Mono" pitchFamily="34" charset="-120"/>
              </a:rPr>
              <a:t>MEDIA NETWORK DIRECTOR, CSCCC</a:t>
            </a:r>
            <a:endParaRPr lang="en-US" sz="750" dirty="0"/>
          </a:p>
        </p:txBody>
      </p:sp>
      <p:sp>
        <p:nvSpPr>
          <p:cNvPr id="23" name="Shape 21"/>
          <p:cNvSpPr/>
          <p:nvPr/>
        </p:nvSpPr>
        <p:spPr>
          <a:xfrm>
            <a:off x="6233008" y="4114800"/>
            <a:ext cx="5318608" cy="2194560"/>
          </a:xfrm>
          <a:prstGeom prst="roundRect">
            <a:avLst>
              <a:gd name="adj" fmla="val 2083"/>
            </a:avLst>
          </a:prstGeom>
          <a:solidFill>
            <a:srgbClr val="0E1011"/>
          </a:solidFill>
          <a:ln/>
        </p:spPr>
        <p:txBody>
          <a:bodyPr/>
          <a:lstStyle/>
          <a:p>
            <a:endParaRPr lang="en-PK"/>
          </a:p>
        </p:txBody>
      </p:sp>
      <p:sp>
        <p:nvSpPr>
          <p:cNvPr id="24" name="Shape 22"/>
          <p:cNvSpPr/>
          <p:nvPr/>
        </p:nvSpPr>
        <p:spPr>
          <a:xfrm>
            <a:off x="6233008" y="4389120"/>
            <a:ext cx="45720" cy="1645920"/>
          </a:xfrm>
          <a:prstGeom prst="rect">
            <a:avLst/>
          </a:prstGeom>
          <a:solidFill>
            <a:srgbClr val="E8A33D"/>
          </a:solidFill>
          <a:ln/>
        </p:spPr>
        <p:txBody>
          <a:bodyPr/>
          <a:lstStyle/>
          <a:p>
            <a:endParaRPr lang="en-PK"/>
          </a:p>
        </p:txBody>
      </p:sp>
      <p:sp>
        <p:nvSpPr>
          <p:cNvPr id="25" name="Text 23"/>
          <p:cNvSpPr/>
          <p:nvPr/>
        </p:nvSpPr>
        <p:spPr>
          <a:xfrm>
            <a:off x="6598768" y="4370832"/>
            <a:ext cx="4587088" cy="182880"/>
          </a:xfrm>
          <a:prstGeom prst="rect">
            <a:avLst/>
          </a:prstGeom>
          <a:noFill/>
          <a:ln/>
        </p:spPr>
        <p:txBody>
          <a:bodyPr wrap="square" lIns="0" tIns="0" rIns="0" bIns="0" rtlCol="0" anchor="t"/>
          <a:lstStyle/>
          <a:p>
            <a:pPr marL="0" indent="0">
              <a:buNone/>
            </a:pPr>
            <a:r>
              <a:rPr lang="en-US" sz="750" b="1" kern="0" spc="120" dirty="0">
                <a:solidFill>
                  <a:srgbClr val="E8A33D"/>
                </a:solidFill>
                <a:latin typeface="IBM Plex Mono" pitchFamily="34" charset="0"/>
                <a:ea typeface="IBM Plex Mono" pitchFamily="34" charset="-122"/>
                <a:cs typeface="IBM Plex Mono" pitchFamily="34" charset="-120"/>
              </a:rPr>
              <a:t>ENTERPRISE REAL-TIME WEBSITE ANALYSIS DASHBOARD</a:t>
            </a:r>
            <a:endParaRPr lang="en-US" sz="750" dirty="0"/>
          </a:p>
        </p:txBody>
      </p:sp>
      <p:sp>
        <p:nvSpPr>
          <p:cNvPr id="26" name="Text 24"/>
          <p:cNvSpPr/>
          <p:nvPr/>
        </p:nvSpPr>
        <p:spPr>
          <a:xfrm>
            <a:off x="6598768" y="4626864"/>
            <a:ext cx="4587088" cy="1097280"/>
          </a:xfrm>
          <a:prstGeom prst="rect">
            <a:avLst/>
          </a:prstGeom>
          <a:noFill/>
          <a:ln/>
        </p:spPr>
        <p:txBody>
          <a:bodyPr wrap="square" lIns="0" tIns="0" rIns="0" bIns="0" rtlCol="0" anchor="t"/>
          <a:lstStyle/>
          <a:p>
            <a:pPr marL="0" indent="0">
              <a:lnSpc>
                <a:spcPct val="112000"/>
              </a:lnSpc>
              <a:buNone/>
            </a:pPr>
            <a:r>
              <a:rPr lang="en-US" sz="1200" dirty="0">
                <a:solidFill>
                  <a:schemeClr val="bg2"/>
                </a:solidFill>
                <a:latin typeface="Space Grotesk" pitchFamily="34" charset="0"/>
                <a:ea typeface="Space Grotesk" pitchFamily="34" charset="-122"/>
                <a:cs typeface="Space Grotesk" pitchFamily="34" charset="-120"/>
              </a:rPr>
              <a:t>“BolterTech transformed our website evaluation workflow into a seamless, single-pane-of-glass dashboard. Their expertise in modern React architectures and intuitive SOC design made this project an outstanding success.”</a:t>
            </a:r>
            <a:endParaRPr lang="en-US" sz="1200" dirty="0">
              <a:solidFill>
                <a:schemeClr val="bg2"/>
              </a:solidFill>
            </a:endParaRPr>
          </a:p>
        </p:txBody>
      </p:sp>
      <p:sp>
        <p:nvSpPr>
          <p:cNvPr id="27" name="Text 25"/>
          <p:cNvSpPr/>
          <p:nvPr/>
        </p:nvSpPr>
        <p:spPr>
          <a:xfrm>
            <a:off x="6598768" y="5742432"/>
            <a:ext cx="4587088" cy="219456"/>
          </a:xfrm>
          <a:prstGeom prst="rect">
            <a:avLst/>
          </a:prstGeom>
          <a:noFill/>
          <a:ln/>
        </p:spPr>
        <p:txBody>
          <a:bodyPr wrap="square" lIns="0" tIns="0" rIns="0" bIns="0" rtlCol="0" anchor="t"/>
          <a:lstStyle/>
          <a:p>
            <a:pPr marL="0" indent="0">
              <a:buNone/>
            </a:pPr>
            <a:r>
              <a:rPr lang="en-US" sz="1100" b="1" dirty="0">
                <a:solidFill>
                  <a:srgbClr val="FFFFFF"/>
                </a:solidFill>
                <a:latin typeface="IBM Plex Sans" pitchFamily="34" charset="0"/>
                <a:ea typeface="IBM Plex Sans" pitchFamily="34" charset="-122"/>
                <a:cs typeface="IBM Plex Sans" pitchFamily="34" charset="-120"/>
              </a:rPr>
              <a:t>Asif Usman</a:t>
            </a:r>
            <a:endParaRPr lang="en-US" sz="1100" dirty="0"/>
          </a:p>
        </p:txBody>
      </p:sp>
      <p:sp>
        <p:nvSpPr>
          <p:cNvPr id="28" name="Text 26"/>
          <p:cNvSpPr/>
          <p:nvPr/>
        </p:nvSpPr>
        <p:spPr>
          <a:xfrm>
            <a:off x="6598768" y="5980176"/>
            <a:ext cx="4587088" cy="182880"/>
          </a:xfrm>
          <a:prstGeom prst="rect">
            <a:avLst/>
          </a:prstGeom>
          <a:noFill/>
          <a:ln/>
        </p:spPr>
        <p:txBody>
          <a:bodyPr wrap="square" lIns="0" tIns="0" rIns="0" bIns="0" rtlCol="0" anchor="t"/>
          <a:lstStyle/>
          <a:p>
            <a:pPr marL="0" indent="0">
              <a:buNone/>
            </a:pPr>
            <a:r>
              <a:rPr lang="en-US" sz="750" kern="0" spc="100" dirty="0">
                <a:solidFill>
                  <a:srgbClr val="8B8D8F"/>
                </a:solidFill>
                <a:latin typeface="IBM Plex Mono" pitchFamily="34" charset="0"/>
                <a:ea typeface="IBM Plex Mono" pitchFamily="34" charset="-122"/>
                <a:cs typeface="IBM Plex Mono" pitchFamily="34" charset="-120"/>
              </a:rPr>
              <a:t>LEAD SECURITY &amp; OSINT ANALYST, TENBYTES</a:t>
            </a:r>
            <a:endParaRPr lang="en-US" sz="750" dirty="0"/>
          </a:p>
        </p:txBody>
      </p:sp>
      <p:sp>
        <p:nvSpPr>
          <p:cNvPr id="29" name="Text 27"/>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30" name="Text 28"/>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25 / 30</a:t>
            </a:r>
            <a:endParaRPr lang="en-US" sz="700" dirty="0"/>
          </a:p>
        </p:txBody>
      </p:sp>
    </p:spTree>
    <p:extLst>
      <p:ext uri="{BB962C8B-B14F-4D97-AF65-F5344CB8AC3E}">
        <p14:creationId xmlns:p14="http://schemas.microsoft.com/office/powerpoint/2010/main" val="9992596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2490140" cy="150876"/>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07  METHOD</a:t>
            </a:r>
            <a:endParaRPr lang="en-US" sz="900" dirty="0"/>
          </a:p>
        </p:txBody>
      </p:sp>
      <p:sp>
        <p:nvSpPr>
          <p:cNvPr id="4" name="Text 2"/>
          <p:cNvSpPr/>
          <p:nvPr/>
        </p:nvSpPr>
        <p:spPr>
          <a:xfrm>
            <a:off x="640080" y="777240"/>
            <a:ext cx="2964713" cy="685800"/>
          </a:xfrm>
          <a:prstGeom prst="rect">
            <a:avLst/>
          </a:prstGeom>
          <a:noFill/>
          <a:ln/>
        </p:spPr>
        <p:txBody>
          <a:bodyPr wrap="square" lIns="0" tIns="0" rIns="0" bIns="0" rtlCol="0" anchor="t"/>
          <a:lstStyle/>
          <a:p>
            <a:pPr marL="0" indent="0">
              <a:buNone/>
            </a:pPr>
            <a:r>
              <a:rPr lang="en-US" sz="3400" b="1" dirty="0">
                <a:solidFill>
                  <a:srgbClr val="14161A"/>
                </a:solidFill>
                <a:latin typeface="Space Grotesk" pitchFamily="34" charset="0"/>
                <a:ea typeface="Space Grotesk" pitchFamily="34" charset="-122"/>
                <a:cs typeface="Space Grotesk" pitchFamily="34" charset="-120"/>
              </a:rPr>
              <a:t>How we work</a:t>
            </a:r>
            <a:endParaRPr lang="en-US" sz="3400" dirty="0"/>
          </a:p>
        </p:txBody>
      </p:sp>
      <p:sp>
        <p:nvSpPr>
          <p:cNvPr id="5" name="Shape 3"/>
          <p:cNvSpPr/>
          <p:nvPr/>
        </p:nvSpPr>
        <p:spPr>
          <a:xfrm>
            <a:off x="640080" y="2018899"/>
            <a:ext cx="10911535" cy="0"/>
          </a:xfrm>
          <a:prstGeom prst="line">
            <a:avLst/>
          </a:prstGeom>
          <a:noFill/>
          <a:ln w="9525">
            <a:solidFill>
              <a:srgbClr val="DCD8D0"/>
            </a:solidFill>
            <a:prstDash val="solid"/>
          </a:ln>
        </p:spPr>
        <p:txBody>
          <a:bodyPr/>
          <a:lstStyle/>
          <a:p>
            <a:endParaRPr lang="en-PK"/>
          </a:p>
        </p:txBody>
      </p:sp>
      <p:sp>
        <p:nvSpPr>
          <p:cNvPr id="6" name="Shape 4"/>
          <p:cNvSpPr/>
          <p:nvPr/>
        </p:nvSpPr>
        <p:spPr>
          <a:xfrm>
            <a:off x="639166" y="1945747"/>
            <a:ext cx="146304" cy="146304"/>
          </a:xfrm>
          <a:prstGeom prst="ellipse">
            <a:avLst/>
          </a:prstGeom>
          <a:solidFill>
            <a:srgbClr val="8F5D0A"/>
          </a:solidFill>
          <a:ln w="38100">
            <a:solidFill>
              <a:srgbClr val="F3F1ED"/>
            </a:solidFill>
            <a:prstDash val="solid"/>
          </a:ln>
        </p:spPr>
        <p:txBody>
          <a:bodyPr/>
          <a:lstStyle/>
          <a:p>
            <a:endParaRPr lang="en-PK"/>
          </a:p>
        </p:txBody>
      </p:sp>
      <p:sp>
        <p:nvSpPr>
          <p:cNvPr id="7" name="Text 5"/>
          <p:cNvSpPr/>
          <p:nvPr/>
        </p:nvSpPr>
        <p:spPr>
          <a:xfrm>
            <a:off x="640080" y="2148840"/>
            <a:ext cx="2453564" cy="731520"/>
          </a:xfrm>
          <a:prstGeom prst="rect">
            <a:avLst/>
          </a:prstGeom>
          <a:noFill/>
          <a:ln/>
        </p:spPr>
        <p:txBody>
          <a:bodyPr wrap="square" lIns="0" tIns="0" rIns="0" bIns="0" rtlCol="0" anchor="t"/>
          <a:lstStyle/>
          <a:p>
            <a:pPr marL="0" indent="0">
              <a:buNone/>
            </a:pPr>
            <a:r>
              <a:rPr lang="en-US" sz="4800" b="1" dirty="0">
                <a:solidFill>
                  <a:srgbClr val="8F5D0A"/>
                </a:solidFill>
                <a:latin typeface="Space Grotesk" pitchFamily="34" charset="0"/>
                <a:ea typeface="Space Grotesk" pitchFamily="34" charset="-122"/>
                <a:cs typeface="Space Grotesk" pitchFamily="34" charset="-120"/>
              </a:rPr>
              <a:t>01</a:t>
            </a:r>
            <a:endParaRPr lang="en-US" sz="4800" dirty="0"/>
          </a:p>
        </p:txBody>
      </p:sp>
      <p:sp>
        <p:nvSpPr>
          <p:cNvPr id="8" name="Text 6"/>
          <p:cNvSpPr/>
          <p:nvPr/>
        </p:nvSpPr>
        <p:spPr>
          <a:xfrm>
            <a:off x="640080" y="2971800"/>
            <a:ext cx="2453564" cy="731520"/>
          </a:xfrm>
          <a:prstGeom prst="rect">
            <a:avLst/>
          </a:prstGeom>
          <a:noFill/>
          <a:ln/>
        </p:spPr>
        <p:txBody>
          <a:bodyPr wrap="square" lIns="0" tIns="0" rIns="0" bIns="0" rtlCol="0" anchor="t"/>
          <a:lstStyle/>
          <a:p>
            <a:pPr marL="0" indent="0">
              <a:buNone/>
            </a:pPr>
            <a:r>
              <a:rPr lang="en-US" sz="2000" b="1" dirty="0">
                <a:solidFill>
                  <a:srgbClr val="14161A"/>
                </a:solidFill>
                <a:latin typeface="Space Grotesk" pitchFamily="34" charset="0"/>
                <a:ea typeface="Space Grotesk" pitchFamily="34" charset="-122"/>
                <a:cs typeface="Space Grotesk" pitchFamily="34" charset="-120"/>
              </a:rPr>
              <a:t>Discovery</a:t>
            </a:r>
            <a:endParaRPr lang="en-US" sz="2000" dirty="0"/>
          </a:p>
        </p:txBody>
      </p:sp>
      <p:sp>
        <p:nvSpPr>
          <p:cNvPr id="9" name="Text 7"/>
          <p:cNvSpPr/>
          <p:nvPr/>
        </p:nvSpPr>
        <p:spPr>
          <a:xfrm>
            <a:off x="640080" y="3749040"/>
            <a:ext cx="2453564" cy="2377440"/>
          </a:xfrm>
          <a:prstGeom prst="rect">
            <a:avLst/>
          </a:prstGeom>
          <a:noFill/>
          <a:ln/>
        </p:spPr>
        <p:txBody>
          <a:bodyPr wrap="square" lIns="0" tIns="0" rIns="0" bIns="0" rtlCol="0" anchor="t"/>
          <a:lstStyle/>
          <a:p>
            <a:pPr marL="0" indent="0">
              <a:lnSpc>
                <a:spcPct val="130000"/>
              </a:lnSpc>
              <a:buNone/>
            </a:pPr>
            <a:r>
              <a:rPr lang="en-GB" sz="1200" dirty="0">
                <a:solidFill>
                  <a:srgbClr val="5B6066"/>
                </a:solidFill>
                <a:latin typeface="IBM Plex Sans" pitchFamily="34" charset="0"/>
                <a:ea typeface="IBM Plex Sans" pitchFamily="34" charset="-122"/>
                <a:cs typeface="IBM Plex Sans" pitchFamily="34" charset="-120"/>
              </a:rPr>
              <a:t>We start by understanding what you need the software to do and how the work happens today. We define the features, scope, requirements, and technical approach before we start. Use our website’s </a:t>
            </a:r>
            <a:r>
              <a:rPr lang="en-GB" sz="1200" b="1" dirty="0">
                <a:solidFill>
                  <a:srgbClr val="5B6066"/>
                </a:solidFill>
                <a:latin typeface="IBM Plex Sans" pitchFamily="34" charset="0"/>
                <a:ea typeface="IBM Plex Sans" pitchFamily="34" charset="-122"/>
                <a:cs typeface="IBM Plex Sans" pitchFamily="34" charset="-120"/>
              </a:rPr>
              <a:t>cost estimator </a:t>
            </a:r>
            <a:r>
              <a:rPr lang="en-GB" sz="1200" dirty="0">
                <a:solidFill>
                  <a:srgbClr val="5B6066"/>
                </a:solidFill>
                <a:latin typeface="IBM Plex Sans" pitchFamily="34" charset="0"/>
                <a:ea typeface="IBM Plex Sans" pitchFamily="34" charset="-122"/>
                <a:cs typeface="IBM Plex Sans" pitchFamily="34" charset="-120"/>
              </a:rPr>
              <a:t>to work through your requirements and get a clearer picture of what you need.</a:t>
            </a:r>
            <a:endParaRPr lang="en-US" sz="1200" dirty="0"/>
          </a:p>
        </p:txBody>
      </p:sp>
      <p:sp>
        <p:nvSpPr>
          <p:cNvPr id="10" name="Shape 8"/>
          <p:cNvSpPr/>
          <p:nvPr/>
        </p:nvSpPr>
        <p:spPr>
          <a:xfrm>
            <a:off x="3458489" y="1945747"/>
            <a:ext cx="146304" cy="146304"/>
          </a:xfrm>
          <a:prstGeom prst="ellipse">
            <a:avLst/>
          </a:prstGeom>
          <a:solidFill>
            <a:srgbClr val="8F5D0A"/>
          </a:solidFill>
          <a:ln w="38100">
            <a:solidFill>
              <a:srgbClr val="F3F1ED"/>
            </a:solidFill>
            <a:prstDash val="solid"/>
          </a:ln>
        </p:spPr>
        <p:txBody>
          <a:bodyPr/>
          <a:lstStyle/>
          <a:p>
            <a:endParaRPr lang="en-PK"/>
          </a:p>
        </p:txBody>
      </p:sp>
      <p:sp>
        <p:nvSpPr>
          <p:cNvPr id="11" name="Text 9"/>
          <p:cNvSpPr/>
          <p:nvPr/>
        </p:nvSpPr>
        <p:spPr>
          <a:xfrm>
            <a:off x="3459404" y="2148840"/>
            <a:ext cx="2453564" cy="731520"/>
          </a:xfrm>
          <a:prstGeom prst="rect">
            <a:avLst/>
          </a:prstGeom>
          <a:noFill/>
          <a:ln/>
        </p:spPr>
        <p:txBody>
          <a:bodyPr wrap="square" lIns="0" tIns="0" rIns="0" bIns="0" rtlCol="0" anchor="t"/>
          <a:lstStyle/>
          <a:p>
            <a:pPr marL="0" indent="0">
              <a:buNone/>
            </a:pPr>
            <a:r>
              <a:rPr lang="en-US" sz="4800" b="1" dirty="0">
                <a:solidFill>
                  <a:srgbClr val="8F5D0A"/>
                </a:solidFill>
                <a:latin typeface="Space Grotesk" pitchFamily="34" charset="0"/>
                <a:ea typeface="Space Grotesk" pitchFamily="34" charset="-122"/>
                <a:cs typeface="Space Grotesk" pitchFamily="34" charset="-120"/>
              </a:rPr>
              <a:t>02</a:t>
            </a:r>
            <a:endParaRPr lang="en-US" sz="4800" dirty="0"/>
          </a:p>
        </p:txBody>
      </p:sp>
      <p:sp>
        <p:nvSpPr>
          <p:cNvPr id="12" name="Text 10"/>
          <p:cNvSpPr/>
          <p:nvPr/>
        </p:nvSpPr>
        <p:spPr>
          <a:xfrm>
            <a:off x="3459404" y="2971800"/>
            <a:ext cx="2453564" cy="731520"/>
          </a:xfrm>
          <a:prstGeom prst="rect">
            <a:avLst/>
          </a:prstGeom>
          <a:noFill/>
          <a:ln/>
        </p:spPr>
        <p:txBody>
          <a:bodyPr wrap="square" lIns="0" tIns="0" rIns="0" bIns="0" rtlCol="0" anchor="t"/>
          <a:lstStyle/>
          <a:p>
            <a:pPr marL="0" indent="0">
              <a:buNone/>
            </a:pPr>
            <a:r>
              <a:rPr lang="en-US" sz="2000" b="1" dirty="0">
                <a:solidFill>
                  <a:srgbClr val="14161A"/>
                </a:solidFill>
                <a:latin typeface="Space Grotesk" pitchFamily="34" charset="0"/>
                <a:ea typeface="Space Grotesk" pitchFamily="34" charset="-122"/>
                <a:cs typeface="Space Grotesk" pitchFamily="34" charset="-120"/>
              </a:rPr>
              <a:t>Plan &amp; Scope</a:t>
            </a:r>
            <a:endParaRPr lang="en-US" sz="2000" dirty="0"/>
          </a:p>
        </p:txBody>
      </p:sp>
      <p:sp>
        <p:nvSpPr>
          <p:cNvPr id="13" name="Text 11"/>
          <p:cNvSpPr/>
          <p:nvPr/>
        </p:nvSpPr>
        <p:spPr>
          <a:xfrm>
            <a:off x="3459404" y="3749040"/>
            <a:ext cx="2453564" cy="2377440"/>
          </a:xfrm>
          <a:prstGeom prst="rect">
            <a:avLst/>
          </a:prstGeom>
          <a:noFill/>
          <a:ln/>
        </p:spPr>
        <p:txBody>
          <a:bodyPr wrap="square" lIns="0" tIns="0" rIns="0" bIns="0" rtlCol="0" anchor="t"/>
          <a:lstStyle/>
          <a:p>
            <a:pPr marL="0" indent="0">
              <a:lnSpc>
                <a:spcPct val="130000"/>
              </a:lnSpc>
              <a:buNone/>
            </a:pPr>
            <a:r>
              <a:rPr lang="en-US" sz="1200" dirty="0">
                <a:solidFill>
                  <a:srgbClr val="5B6066"/>
                </a:solidFill>
                <a:latin typeface="IBM Plex Sans" pitchFamily="34" charset="0"/>
                <a:ea typeface="IBM Plex Sans" pitchFamily="34" charset="-122"/>
                <a:cs typeface="IBM Plex Sans" pitchFamily="34" charset="-120"/>
              </a:rPr>
              <a:t>We turn the requirements into a clear plan with defined deliverables, timelines, and pricing. For phased projects, each phase has an </a:t>
            </a:r>
            <a:r>
              <a:rPr lang="en-US" sz="1200" b="1" dirty="0">
                <a:solidFill>
                  <a:srgbClr val="5B6066"/>
                </a:solidFill>
                <a:latin typeface="IBM Plex Sans" pitchFamily="34" charset="0"/>
                <a:ea typeface="IBM Plex Sans" pitchFamily="34" charset="-122"/>
                <a:cs typeface="IBM Plex Sans" pitchFamily="34" charset="-120"/>
              </a:rPr>
              <a:t>agreed scope and cost, with assumptions and uncertainties made clear from the start</a:t>
            </a:r>
            <a:r>
              <a:rPr lang="en-US" sz="1200" dirty="0">
                <a:solidFill>
                  <a:srgbClr val="5B6066"/>
                </a:solidFill>
                <a:latin typeface="IBM Plex Sans" pitchFamily="34" charset="0"/>
                <a:ea typeface="IBM Plex Sans" pitchFamily="34" charset="-122"/>
                <a:cs typeface="IBM Plex Sans" pitchFamily="34" charset="-120"/>
              </a:rPr>
              <a:t>.</a:t>
            </a:r>
            <a:endParaRPr lang="en-US" sz="1200" dirty="0"/>
          </a:p>
        </p:txBody>
      </p:sp>
      <p:sp>
        <p:nvSpPr>
          <p:cNvPr id="14" name="Shape 12"/>
          <p:cNvSpPr/>
          <p:nvPr/>
        </p:nvSpPr>
        <p:spPr>
          <a:xfrm>
            <a:off x="6277813" y="1945747"/>
            <a:ext cx="146304" cy="146304"/>
          </a:xfrm>
          <a:prstGeom prst="ellipse">
            <a:avLst/>
          </a:prstGeom>
          <a:solidFill>
            <a:srgbClr val="8F5D0A"/>
          </a:solidFill>
          <a:ln w="38100">
            <a:solidFill>
              <a:srgbClr val="F3F1ED"/>
            </a:solidFill>
            <a:prstDash val="solid"/>
          </a:ln>
        </p:spPr>
        <p:txBody>
          <a:bodyPr/>
          <a:lstStyle/>
          <a:p>
            <a:endParaRPr lang="en-PK"/>
          </a:p>
        </p:txBody>
      </p:sp>
      <p:sp>
        <p:nvSpPr>
          <p:cNvPr id="15" name="Text 13"/>
          <p:cNvSpPr/>
          <p:nvPr/>
        </p:nvSpPr>
        <p:spPr>
          <a:xfrm>
            <a:off x="6278728" y="2148840"/>
            <a:ext cx="2453564" cy="731520"/>
          </a:xfrm>
          <a:prstGeom prst="rect">
            <a:avLst/>
          </a:prstGeom>
          <a:noFill/>
          <a:ln/>
        </p:spPr>
        <p:txBody>
          <a:bodyPr wrap="square" lIns="0" tIns="0" rIns="0" bIns="0" rtlCol="0" anchor="t"/>
          <a:lstStyle/>
          <a:p>
            <a:pPr marL="0" indent="0">
              <a:buNone/>
            </a:pPr>
            <a:r>
              <a:rPr lang="en-US" sz="4800" b="1" dirty="0">
                <a:solidFill>
                  <a:srgbClr val="8F5D0A"/>
                </a:solidFill>
                <a:latin typeface="Space Grotesk" pitchFamily="34" charset="0"/>
                <a:ea typeface="Space Grotesk" pitchFamily="34" charset="-122"/>
                <a:cs typeface="Space Grotesk" pitchFamily="34" charset="-120"/>
              </a:rPr>
              <a:t>03</a:t>
            </a:r>
            <a:endParaRPr lang="en-US" sz="4800" dirty="0"/>
          </a:p>
        </p:txBody>
      </p:sp>
      <p:sp>
        <p:nvSpPr>
          <p:cNvPr id="16" name="Text 14"/>
          <p:cNvSpPr/>
          <p:nvPr/>
        </p:nvSpPr>
        <p:spPr>
          <a:xfrm>
            <a:off x="6278728" y="2971800"/>
            <a:ext cx="2453564" cy="731520"/>
          </a:xfrm>
          <a:prstGeom prst="rect">
            <a:avLst/>
          </a:prstGeom>
          <a:noFill/>
          <a:ln/>
        </p:spPr>
        <p:txBody>
          <a:bodyPr wrap="square" lIns="0" tIns="0" rIns="0" bIns="0" rtlCol="0" anchor="t"/>
          <a:lstStyle/>
          <a:p>
            <a:pPr marL="0" indent="0">
              <a:buNone/>
            </a:pPr>
            <a:r>
              <a:rPr lang="en-US" sz="2000" b="1" dirty="0">
                <a:solidFill>
                  <a:srgbClr val="14161A"/>
                </a:solidFill>
                <a:latin typeface="Space Grotesk" pitchFamily="34" charset="0"/>
                <a:ea typeface="Space Grotesk" pitchFamily="34" charset="-122"/>
                <a:cs typeface="Space Grotesk" pitchFamily="34" charset="-120"/>
              </a:rPr>
              <a:t>Build &amp; Deliver</a:t>
            </a:r>
            <a:endParaRPr lang="en-US" sz="2000" dirty="0"/>
          </a:p>
        </p:txBody>
      </p:sp>
      <p:sp>
        <p:nvSpPr>
          <p:cNvPr id="17" name="Text 15"/>
          <p:cNvSpPr/>
          <p:nvPr/>
        </p:nvSpPr>
        <p:spPr>
          <a:xfrm>
            <a:off x="6278728" y="3749040"/>
            <a:ext cx="2453564" cy="2377440"/>
          </a:xfrm>
          <a:prstGeom prst="rect">
            <a:avLst/>
          </a:prstGeom>
          <a:noFill/>
          <a:ln/>
        </p:spPr>
        <p:txBody>
          <a:bodyPr wrap="square" lIns="0" tIns="0" rIns="0" bIns="0" rtlCol="0" anchor="t"/>
          <a:lstStyle/>
          <a:p>
            <a:pPr marL="0" indent="0">
              <a:lnSpc>
                <a:spcPct val="130000"/>
              </a:lnSpc>
              <a:buNone/>
            </a:pPr>
            <a:r>
              <a:rPr lang="en-US" sz="1200" dirty="0">
                <a:solidFill>
                  <a:srgbClr val="5B6066"/>
                </a:solidFill>
                <a:latin typeface="IBM Plex Sans" pitchFamily="34" charset="0"/>
                <a:ea typeface="IBM Plex Sans" pitchFamily="34" charset="-122"/>
                <a:cs typeface="IBM Plex Sans" pitchFamily="34" charset="-120"/>
              </a:rPr>
              <a:t>We build the solution in practical stages and </a:t>
            </a:r>
            <a:r>
              <a:rPr lang="en-US" sz="1200" b="1" dirty="0">
                <a:solidFill>
                  <a:srgbClr val="5B6066"/>
                </a:solidFill>
                <a:latin typeface="IBM Plex Sans" pitchFamily="34" charset="0"/>
                <a:ea typeface="IBM Plex Sans" pitchFamily="34" charset="-122"/>
                <a:cs typeface="IBM Plex Sans" pitchFamily="34" charset="-120"/>
              </a:rPr>
              <a:t>show you working progress </a:t>
            </a:r>
            <a:r>
              <a:rPr lang="en-US" sz="1200" dirty="0">
                <a:solidFill>
                  <a:srgbClr val="5B6066"/>
                </a:solidFill>
                <a:latin typeface="IBM Plex Sans" pitchFamily="34" charset="0"/>
                <a:ea typeface="IBM Plex Sans" pitchFamily="34" charset="-122"/>
                <a:cs typeface="IBM Plex Sans" pitchFamily="34" charset="-120"/>
              </a:rPr>
              <a:t>along the way. You stay involved throughout the process, so feedback can be addressed early rather than waiting until everything is finished.</a:t>
            </a:r>
            <a:endParaRPr lang="en-US" sz="1200" dirty="0"/>
          </a:p>
        </p:txBody>
      </p:sp>
      <p:sp>
        <p:nvSpPr>
          <p:cNvPr id="18" name="Shape 16"/>
          <p:cNvSpPr/>
          <p:nvPr/>
        </p:nvSpPr>
        <p:spPr>
          <a:xfrm>
            <a:off x="9097137" y="1945747"/>
            <a:ext cx="146304" cy="146304"/>
          </a:xfrm>
          <a:prstGeom prst="ellipse">
            <a:avLst/>
          </a:prstGeom>
          <a:solidFill>
            <a:srgbClr val="8F5D0A"/>
          </a:solidFill>
          <a:ln w="38100">
            <a:solidFill>
              <a:srgbClr val="F3F1ED"/>
            </a:solidFill>
            <a:prstDash val="solid"/>
          </a:ln>
        </p:spPr>
        <p:txBody>
          <a:bodyPr/>
          <a:lstStyle/>
          <a:p>
            <a:endParaRPr lang="en-PK"/>
          </a:p>
        </p:txBody>
      </p:sp>
      <p:sp>
        <p:nvSpPr>
          <p:cNvPr id="19" name="Text 17"/>
          <p:cNvSpPr/>
          <p:nvPr/>
        </p:nvSpPr>
        <p:spPr>
          <a:xfrm>
            <a:off x="9098051" y="2148840"/>
            <a:ext cx="2453564" cy="731520"/>
          </a:xfrm>
          <a:prstGeom prst="rect">
            <a:avLst/>
          </a:prstGeom>
          <a:noFill/>
          <a:ln/>
        </p:spPr>
        <p:txBody>
          <a:bodyPr wrap="square" lIns="0" tIns="0" rIns="0" bIns="0" rtlCol="0" anchor="t"/>
          <a:lstStyle/>
          <a:p>
            <a:pPr marL="0" indent="0">
              <a:buNone/>
            </a:pPr>
            <a:r>
              <a:rPr lang="en-US" sz="4800" b="1" dirty="0">
                <a:solidFill>
                  <a:srgbClr val="8F5D0A"/>
                </a:solidFill>
                <a:latin typeface="Space Grotesk" pitchFamily="34" charset="0"/>
                <a:ea typeface="Space Grotesk" pitchFamily="34" charset="-122"/>
                <a:cs typeface="Space Grotesk" pitchFamily="34" charset="-120"/>
              </a:rPr>
              <a:t>04</a:t>
            </a:r>
            <a:endParaRPr lang="en-US" sz="4800" dirty="0"/>
          </a:p>
        </p:txBody>
      </p:sp>
      <p:sp>
        <p:nvSpPr>
          <p:cNvPr id="20" name="Text 18"/>
          <p:cNvSpPr/>
          <p:nvPr/>
        </p:nvSpPr>
        <p:spPr>
          <a:xfrm>
            <a:off x="9098051" y="2971800"/>
            <a:ext cx="2453564" cy="731520"/>
          </a:xfrm>
          <a:prstGeom prst="rect">
            <a:avLst/>
          </a:prstGeom>
          <a:noFill/>
          <a:ln/>
        </p:spPr>
        <p:txBody>
          <a:bodyPr wrap="square" lIns="0" tIns="0" rIns="0" bIns="0" rtlCol="0" anchor="t"/>
          <a:lstStyle/>
          <a:p>
            <a:pPr marL="0" indent="0">
              <a:buNone/>
            </a:pPr>
            <a:r>
              <a:rPr lang="en-US" sz="2000" b="1" dirty="0">
                <a:solidFill>
                  <a:srgbClr val="14161A"/>
                </a:solidFill>
                <a:latin typeface="Space Grotesk" pitchFamily="34" charset="0"/>
                <a:ea typeface="Space Grotesk" pitchFamily="34" charset="-122"/>
                <a:cs typeface="Space Grotesk" pitchFamily="34" charset="-120"/>
              </a:rPr>
              <a:t>Handover &amp; Support</a:t>
            </a:r>
            <a:endParaRPr lang="en-US" sz="2000" dirty="0"/>
          </a:p>
        </p:txBody>
      </p:sp>
      <p:sp>
        <p:nvSpPr>
          <p:cNvPr id="21" name="Text 19"/>
          <p:cNvSpPr/>
          <p:nvPr/>
        </p:nvSpPr>
        <p:spPr>
          <a:xfrm>
            <a:off x="9098051" y="3749040"/>
            <a:ext cx="2453564" cy="2377440"/>
          </a:xfrm>
          <a:prstGeom prst="rect">
            <a:avLst/>
          </a:prstGeom>
          <a:noFill/>
          <a:ln/>
        </p:spPr>
        <p:txBody>
          <a:bodyPr wrap="square" lIns="0" tIns="0" rIns="0" bIns="0" rtlCol="0" anchor="t"/>
          <a:lstStyle/>
          <a:p>
            <a:pPr marL="0" indent="0">
              <a:lnSpc>
                <a:spcPct val="130000"/>
              </a:lnSpc>
              <a:buNone/>
            </a:pPr>
            <a:r>
              <a:rPr lang="en-US" sz="1200" dirty="0">
                <a:solidFill>
                  <a:srgbClr val="5B6066"/>
                </a:solidFill>
                <a:latin typeface="IBM Plex Sans" pitchFamily="34" charset="0"/>
                <a:ea typeface="IBM Plex Sans" pitchFamily="34" charset="-122"/>
                <a:cs typeface="IBM Plex Sans" pitchFamily="34" charset="-120"/>
              </a:rPr>
              <a:t>Once the project is delivered, we provide the </a:t>
            </a:r>
            <a:r>
              <a:rPr lang="en-US" sz="1200" b="1" dirty="0">
                <a:solidFill>
                  <a:srgbClr val="5B6066"/>
                </a:solidFill>
                <a:latin typeface="IBM Plex Sans" pitchFamily="34" charset="0"/>
                <a:ea typeface="IBM Plex Sans" pitchFamily="34" charset="-122"/>
                <a:cs typeface="IBM Plex Sans" pitchFamily="34" charset="-120"/>
              </a:rPr>
              <a:t>necessary documentation, access, and handover </a:t>
            </a:r>
            <a:r>
              <a:rPr lang="en-US" sz="1200" dirty="0">
                <a:solidFill>
                  <a:srgbClr val="5B6066"/>
                </a:solidFill>
                <a:latin typeface="IBM Plex Sans" pitchFamily="34" charset="0"/>
                <a:ea typeface="IBM Plex Sans" pitchFamily="34" charset="-122"/>
                <a:cs typeface="IBM Plex Sans" pitchFamily="34" charset="-120"/>
              </a:rPr>
              <a:t>so your team can use and manage the solution confidently. If you need ongoing maintenance, improvements, automation, analytics, or technical support, we can continue through an ongoing support arrangement.</a:t>
            </a:r>
            <a:endParaRPr lang="en-US" sz="1200" dirty="0"/>
          </a:p>
        </p:txBody>
      </p:sp>
      <p:sp>
        <p:nvSpPr>
          <p:cNvPr id="22" name="Text 20"/>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3" name="Text 21"/>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26 / 30</a:t>
            </a:r>
            <a:endParaRPr lang="en-US" sz="700" dirty="0"/>
          </a:p>
        </p:txBody>
      </p:sp>
      <p:sp>
        <p:nvSpPr>
          <p:cNvPr id="25" name="Shape 3">
            <a:extLst>
              <a:ext uri="{FF2B5EF4-FFF2-40B4-BE49-F238E27FC236}">
                <a16:creationId xmlns:a16="http://schemas.microsoft.com/office/drawing/2014/main" id="{BA41385F-32E8-33D8-F6C2-0110934D9C1E}"/>
              </a:ext>
            </a:extLst>
          </p:cNvPr>
          <p:cNvSpPr/>
          <p:nvPr/>
        </p:nvSpPr>
        <p:spPr>
          <a:xfrm>
            <a:off x="5486400" y="235846"/>
            <a:ext cx="6065215" cy="1325880"/>
          </a:xfrm>
          <a:prstGeom prst="roundRect">
            <a:avLst>
              <a:gd name="adj" fmla="val 3448"/>
            </a:avLst>
          </a:prstGeom>
          <a:solidFill>
            <a:srgbClr val="FFFFFF"/>
          </a:solidFill>
          <a:ln w="9525">
            <a:solidFill>
              <a:srgbClr val="DCD8D0"/>
            </a:solidFill>
            <a:prstDash val="solid"/>
          </a:ln>
        </p:spPr>
        <p:txBody>
          <a:bodyPr/>
          <a:lstStyle/>
          <a:p>
            <a:endParaRPr lang="en-PK"/>
          </a:p>
        </p:txBody>
      </p:sp>
      <p:sp>
        <p:nvSpPr>
          <p:cNvPr id="27" name="Shape 4">
            <a:extLst>
              <a:ext uri="{FF2B5EF4-FFF2-40B4-BE49-F238E27FC236}">
                <a16:creationId xmlns:a16="http://schemas.microsoft.com/office/drawing/2014/main" id="{D1465A43-EE92-AC95-AE56-72C4E20A5010}"/>
              </a:ext>
            </a:extLst>
          </p:cNvPr>
          <p:cNvSpPr/>
          <p:nvPr/>
        </p:nvSpPr>
        <p:spPr>
          <a:xfrm>
            <a:off x="5779008" y="441586"/>
            <a:ext cx="219456" cy="32004"/>
          </a:xfrm>
          <a:prstGeom prst="rect">
            <a:avLst/>
          </a:prstGeom>
          <a:solidFill>
            <a:srgbClr val="8F5D0A"/>
          </a:solidFill>
          <a:ln/>
        </p:spPr>
        <p:txBody>
          <a:bodyPr/>
          <a:lstStyle/>
          <a:p>
            <a:endParaRPr lang="en-PK"/>
          </a:p>
        </p:txBody>
      </p:sp>
      <p:sp>
        <p:nvSpPr>
          <p:cNvPr id="29" name="Text 5">
            <a:extLst>
              <a:ext uri="{FF2B5EF4-FFF2-40B4-BE49-F238E27FC236}">
                <a16:creationId xmlns:a16="http://schemas.microsoft.com/office/drawing/2014/main" id="{23D3CC99-C1C7-E06B-1FBF-D525DA9DBEAC}"/>
              </a:ext>
            </a:extLst>
          </p:cNvPr>
          <p:cNvSpPr/>
          <p:nvPr/>
        </p:nvSpPr>
        <p:spPr>
          <a:xfrm>
            <a:off x="6108192" y="373006"/>
            <a:ext cx="5150815"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PROJECT COST ESTIMATOR</a:t>
            </a:r>
            <a:endParaRPr lang="en-US" sz="900" dirty="0"/>
          </a:p>
        </p:txBody>
      </p:sp>
      <p:sp>
        <p:nvSpPr>
          <p:cNvPr id="31" name="Text 6">
            <a:extLst>
              <a:ext uri="{FF2B5EF4-FFF2-40B4-BE49-F238E27FC236}">
                <a16:creationId xmlns:a16="http://schemas.microsoft.com/office/drawing/2014/main" id="{6769FED6-4174-210D-925F-CEAFE8647892}"/>
              </a:ext>
            </a:extLst>
          </p:cNvPr>
          <p:cNvSpPr/>
          <p:nvPr/>
        </p:nvSpPr>
        <p:spPr>
          <a:xfrm>
            <a:off x="5779008" y="647326"/>
            <a:ext cx="5479999" cy="310896"/>
          </a:xfrm>
          <a:prstGeom prst="rect">
            <a:avLst/>
          </a:prstGeom>
          <a:noFill/>
          <a:ln/>
        </p:spPr>
        <p:txBody>
          <a:bodyPr wrap="square" lIns="0" tIns="0" rIns="0" bIns="0" rtlCol="0" anchor="t"/>
          <a:lstStyle/>
          <a:p>
            <a:pPr marL="0" indent="0">
              <a:buNone/>
            </a:pPr>
            <a:r>
              <a:rPr lang="en-US" sz="1600" b="1" dirty="0">
                <a:solidFill>
                  <a:srgbClr val="14161A"/>
                </a:solidFill>
                <a:latin typeface="Space Grotesk" pitchFamily="34" charset="0"/>
                <a:ea typeface="Space Grotesk" pitchFamily="34" charset="-122"/>
                <a:cs typeface="Space Grotesk" pitchFamily="34" charset="-120"/>
              </a:rPr>
              <a:t>Know what you're building before you build it.</a:t>
            </a:r>
            <a:endParaRPr lang="en-US" sz="1600" dirty="0"/>
          </a:p>
        </p:txBody>
      </p:sp>
      <p:sp>
        <p:nvSpPr>
          <p:cNvPr id="33" name="Text 7">
            <a:extLst>
              <a:ext uri="{FF2B5EF4-FFF2-40B4-BE49-F238E27FC236}">
                <a16:creationId xmlns:a16="http://schemas.microsoft.com/office/drawing/2014/main" id="{384032D2-7C1C-31FF-3006-490090A4E187}"/>
              </a:ext>
            </a:extLst>
          </p:cNvPr>
          <p:cNvSpPr/>
          <p:nvPr/>
        </p:nvSpPr>
        <p:spPr>
          <a:xfrm>
            <a:off x="5779008" y="1013086"/>
            <a:ext cx="4053535" cy="402336"/>
          </a:xfrm>
          <a:prstGeom prst="rect">
            <a:avLst/>
          </a:prstGeom>
          <a:noFill/>
          <a:ln/>
        </p:spPr>
        <p:txBody>
          <a:bodyPr wrap="square" lIns="0" tIns="0" rIns="0" bIns="0" rtlCol="0" anchor="t"/>
          <a:lstStyle/>
          <a:p>
            <a:pPr marL="0" indent="0">
              <a:lnSpc>
                <a:spcPct val="120000"/>
              </a:lnSpc>
              <a:buNone/>
            </a:pPr>
            <a:r>
              <a:rPr lang="en-US" sz="1050" dirty="0">
                <a:solidFill>
                  <a:srgbClr val="5B6066"/>
                </a:solidFill>
                <a:latin typeface="IBM Plex Sans" pitchFamily="34" charset="0"/>
                <a:ea typeface="IBM Plex Sans" pitchFamily="34" charset="-122"/>
                <a:cs typeface="IBM Plex Sans" pitchFamily="34" charset="-120"/>
              </a:rPr>
              <a:t>Explore the features you need and get an early view of scope, timeline and cost. Indicative, not a quote.</a:t>
            </a:r>
            <a:endParaRPr lang="en-US" sz="1050" dirty="0"/>
          </a:p>
        </p:txBody>
      </p:sp>
      <p:sp>
        <p:nvSpPr>
          <p:cNvPr id="35" name="Text 8">
            <a:extLst>
              <a:ext uri="{FF2B5EF4-FFF2-40B4-BE49-F238E27FC236}">
                <a16:creationId xmlns:a16="http://schemas.microsoft.com/office/drawing/2014/main" id="{A20B9DA0-7231-0E50-8DB9-B488C9674156}"/>
              </a:ext>
            </a:extLst>
          </p:cNvPr>
          <p:cNvSpPr/>
          <p:nvPr/>
        </p:nvSpPr>
        <p:spPr>
          <a:xfrm>
            <a:off x="9814255" y="1058806"/>
            <a:ext cx="1444752" cy="265176"/>
          </a:xfrm>
          <a:prstGeom prst="rect">
            <a:avLst/>
          </a:prstGeom>
          <a:noFill/>
          <a:ln/>
        </p:spPr>
        <p:txBody>
          <a:bodyPr wrap="square" lIns="0" tIns="0" rIns="0" bIns="0" rtlCol="0" anchor="t"/>
          <a:lstStyle/>
          <a:p>
            <a:pPr marL="0" indent="0">
              <a:buNone/>
            </a:pPr>
            <a:r>
              <a:rPr lang="en-US" sz="900" b="1" u="sng" kern="0" spc="100" dirty="0">
                <a:solidFill>
                  <a:srgbClr val="8F5D0A"/>
                </a:solidFill>
                <a:latin typeface="IBM Plex Mono" pitchFamily="34" charset="0"/>
                <a:ea typeface="IBM Plex Mono" pitchFamily="34" charset="-122"/>
                <a:cs typeface="IBM Plex Mono" pitchFamily="34" charset="-120"/>
                <a:hlinkClick r:id="rId3">
                  <a:extLst>
                    <a:ext uri="{A12FA001-AC4F-418D-AE19-62706E023703}">
                      <ahyp:hlinkClr xmlns:ahyp="http://schemas.microsoft.com/office/drawing/2018/hyperlinkcolor" val="tx"/>
                    </a:ext>
                  </a:extLst>
                </a:hlinkClick>
              </a:rPr>
              <a:t>OPEN ESTIMATOR  →</a:t>
            </a:r>
            <a:endParaRPr lang="en-US" sz="900" dirty="0"/>
          </a:p>
        </p:txBody>
      </p:sp>
    </p:spTree>
    <p:extLst>
      <p:ext uri="{BB962C8B-B14F-4D97-AF65-F5344CB8AC3E}">
        <p14:creationId xmlns:p14="http://schemas.microsoft.com/office/powerpoint/2010/main" val="1865243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07  ENGAGEMENT MODELS</a:t>
            </a:r>
            <a:endParaRPr lang="en-US" sz="900" dirty="0"/>
          </a:p>
        </p:txBody>
      </p:sp>
      <p:sp>
        <p:nvSpPr>
          <p:cNvPr id="4" name="Text 2"/>
          <p:cNvSpPr/>
          <p:nvPr/>
        </p:nvSpPr>
        <p:spPr>
          <a:xfrm>
            <a:off x="640080" y="777240"/>
            <a:ext cx="10911535" cy="685800"/>
          </a:xfrm>
          <a:prstGeom prst="rect">
            <a:avLst/>
          </a:prstGeom>
          <a:noFill/>
          <a:ln/>
        </p:spPr>
        <p:txBody>
          <a:bodyPr wrap="square" lIns="0" tIns="0" rIns="0" bIns="0" rtlCol="0" anchor="t"/>
          <a:lstStyle/>
          <a:p>
            <a:pPr marL="0" indent="0">
              <a:buNone/>
            </a:pPr>
            <a:r>
              <a:rPr lang="en-US" sz="3400" b="1" dirty="0">
                <a:solidFill>
                  <a:srgbClr val="FFFFFF"/>
                </a:solidFill>
                <a:latin typeface="Space Grotesk" pitchFamily="34" charset="0"/>
                <a:ea typeface="Space Grotesk" pitchFamily="34" charset="-122"/>
                <a:cs typeface="Space Grotesk" pitchFamily="34" charset="-120"/>
              </a:rPr>
              <a:t>How you can engage us</a:t>
            </a:r>
            <a:endParaRPr lang="en-US" sz="3400" dirty="0"/>
          </a:p>
        </p:txBody>
      </p:sp>
      <p:sp>
        <p:nvSpPr>
          <p:cNvPr id="5" name="Shape 3"/>
          <p:cNvSpPr/>
          <p:nvPr/>
        </p:nvSpPr>
        <p:spPr>
          <a:xfrm>
            <a:off x="640080" y="1691640"/>
            <a:ext cx="3454298" cy="4617720"/>
          </a:xfrm>
          <a:prstGeom prst="roundRect">
            <a:avLst>
              <a:gd name="adj" fmla="val 1588"/>
            </a:avLst>
          </a:prstGeom>
          <a:solidFill>
            <a:srgbClr val="0A0B0C"/>
          </a:solidFill>
          <a:ln w="9525">
            <a:solidFill>
              <a:srgbClr val="2E3033"/>
            </a:solidFill>
            <a:prstDash val="solid"/>
          </a:ln>
        </p:spPr>
        <p:txBody>
          <a:bodyPr/>
          <a:lstStyle/>
          <a:p>
            <a:endParaRPr lang="en-PK"/>
          </a:p>
        </p:txBody>
      </p:sp>
      <p:sp>
        <p:nvSpPr>
          <p:cNvPr id="6" name="Text 4"/>
          <p:cNvSpPr/>
          <p:nvPr/>
        </p:nvSpPr>
        <p:spPr>
          <a:xfrm>
            <a:off x="932688" y="1984248"/>
            <a:ext cx="2869082" cy="182880"/>
          </a:xfrm>
          <a:prstGeom prst="rect">
            <a:avLst/>
          </a:prstGeom>
          <a:noFill/>
          <a:ln/>
        </p:spPr>
        <p:txBody>
          <a:bodyPr wrap="square" lIns="0" tIns="0" rIns="0" bIns="0" rtlCol="0" anchor="t"/>
          <a:lstStyle/>
          <a:p>
            <a:pPr marL="0" indent="0">
              <a:buNone/>
            </a:pPr>
            <a:r>
              <a:rPr lang="en-US" sz="850" b="1" kern="0" spc="150" dirty="0">
                <a:solidFill>
                  <a:srgbClr val="E8A33D"/>
                </a:solidFill>
                <a:latin typeface="IBM Plex Mono" pitchFamily="34" charset="0"/>
                <a:ea typeface="IBM Plex Mono" pitchFamily="34" charset="-122"/>
                <a:cs typeface="IBM Plex Mono" pitchFamily="34" charset="-120"/>
              </a:rPr>
              <a:t>START YOUR JOURNEY HERE</a:t>
            </a:r>
            <a:endParaRPr lang="en-US" sz="850" dirty="0"/>
          </a:p>
        </p:txBody>
      </p:sp>
      <p:sp>
        <p:nvSpPr>
          <p:cNvPr id="7" name="Text 5"/>
          <p:cNvSpPr/>
          <p:nvPr/>
        </p:nvSpPr>
        <p:spPr>
          <a:xfrm>
            <a:off x="932688" y="2240280"/>
            <a:ext cx="2869082" cy="822960"/>
          </a:xfrm>
          <a:prstGeom prst="rect">
            <a:avLst/>
          </a:prstGeom>
          <a:noFill/>
          <a:ln/>
        </p:spPr>
        <p:txBody>
          <a:bodyPr wrap="square" lIns="0" tIns="0" rIns="0" bIns="0" rtlCol="0" anchor="t"/>
          <a:lstStyle/>
          <a:p>
            <a:pPr marL="0" indent="0">
              <a:buNone/>
            </a:pPr>
            <a:r>
              <a:rPr lang="en-US" sz="2400" b="1" dirty="0">
                <a:solidFill>
                  <a:srgbClr val="FFFFFF"/>
                </a:solidFill>
                <a:latin typeface="Space Grotesk" pitchFamily="34" charset="0"/>
                <a:ea typeface="Space Grotesk" pitchFamily="34" charset="-122"/>
                <a:cs typeface="Space Grotesk" pitchFamily="34" charset="-120"/>
              </a:rPr>
              <a:t>Discovery &amp; Planning</a:t>
            </a:r>
            <a:endParaRPr lang="en-US" sz="2400" dirty="0"/>
          </a:p>
        </p:txBody>
      </p:sp>
      <p:sp>
        <p:nvSpPr>
          <p:cNvPr id="8" name="Text 6"/>
          <p:cNvSpPr/>
          <p:nvPr/>
        </p:nvSpPr>
        <p:spPr>
          <a:xfrm>
            <a:off x="932688" y="3108960"/>
            <a:ext cx="2869082" cy="2331719"/>
          </a:xfrm>
          <a:prstGeom prst="rect">
            <a:avLst/>
          </a:prstGeom>
          <a:noFill/>
          <a:ln/>
        </p:spPr>
        <p:txBody>
          <a:bodyPr wrap="square" lIns="0" tIns="0" rIns="0" bIns="0" rtlCol="0" anchor="t"/>
          <a:lstStyle/>
          <a:p>
            <a:pPr marL="0" indent="0">
              <a:lnSpc>
                <a:spcPct val="125000"/>
              </a:lnSpc>
              <a:buNone/>
            </a:pPr>
            <a:r>
              <a:rPr lang="en-US" sz="1100" dirty="0">
                <a:solidFill>
                  <a:srgbClr val="B6B7B8"/>
                </a:solidFill>
                <a:latin typeface="IBM Plex Sans" pitchFamily="34" charset="0"/>
                <a:ea typeface="IBM Plex Sans" pitchFamily="34" charset="-122"/>
                <a:cs typeface="IBM Plex Sans" pitchFamily="34" charset="-120"/>
              </a:rPr>
              <a:t>Not sure where to start, or have an idea that needs to be shaped into a practical solution? We work with you to understand the problem, define what needs to be built, identify the right technology and approach, and create a clear plan for execution. This is ideal for larger or more complex projects where getting the direction right before development can save time and cost.</a:t>
            </a:r>
            <a:endParaRPr lang="en-US" sz="1100" dirty="0"/>
          </a:p>
        </p:txBody>
      </p:sp>
      <p:sp>
        <p:nvSpPr>
          <p:cNvPr id="9" name="Shape 7"/>
          <p:cNvSpPr/>
          <p:nvPr/>
        </p:nvSpPr>
        <p:spPr>
          <a:xfrm>
            <a:off x="932688" y="5440680"/>
            <a:ext cx="2869082" cy="0"/>
          </a:xfrm>
          <a:prstGeom prst="line">
            <a:avLst/>
          </a:prstGeom>
          <a:noFill/>
          <a:ln w="9525">
            <a:solidFill>
              <a:srgbClr val="2E3033"/>
            </a:solidFill>
            <a:prstDash val="solid"/>
          </a:ln>
        </p:spPr>
        <p:txBody>
          <a:bodyPr/>
          <a:lstStyle/>
          <a:p>
            <a:endParaRPr lang="en-PK"/>
          </a:p>
        </p:txBody>
      </p:sp>
      <p:sp>
        <p:nvSpPr>
          <p:cNvPr id="10" name="Text 8"/>
          <p:cNvSpPr/>
          <p:nvPr/>
        </p:nvSpPr>
        <p:spPr>
          <a:xfrm>
            <a:off x="932688" y="5550408"/>
            <a:ext cx="2869082" cy="182880"/>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TERMS</a:t>
            </a:r>
            <a:endParaRPr lang="en-US" sz="800" dirty="0"/>
          </a:p>
        </p:txBody>
      </p:sp>
      <p:sp>
        <p:nvSpPr>
          <p:cNvPr id="11" name="Text 9"/>
          <p:cNvSpPr/>
          <p:nvPr/>
        </p:nvSpPr>
        <p:spPr>
          <a:xfrm>
            <a:off x="932688" y="5760720"/>
            <a:ext cx="2869082" cy="457200"/>
          </a:xfrm>
          <a:prstGeom prst="rect">
            <a:avLst/>
          </a:prstGeom>
          <a:noFill/>
          <a:ln/>
        </p:spPr>
        <p:txBody>
          <a:bodyPr wrap="square" lIns="0" tIns="0" rIns="0" bIns="0" rtlCol="0" anchor="t"/>
          <a:lstStyle/>
          <a:p>
            <a:pPr marL="0" indent="0">
              <a:buNone/>
            </a:pPr>
            <a:r>
              <a:rPr lang="en-US" sz="1100" dirty="0">
                <a:solidFill>
                  <a:srgbClr val="FFFFFF"/>
                </a:solidFill>
                <a:latin typeface="IBM Plex Sans" pitchFamily="34" charset="0"/>
                <a:ea typeface="IBM Plex Sans" pitchFamily="34" charset="-122"/>
                <a:cs typeface="IBM Plex Sans" pitchFamily="34" charset="-120"/>
              </a:rPr>
              <a:t>Typically 1–2 weeks, priced according to project requirements.</a:t>
            </a:r>
            <a:endParaRPr lang="en-US" sz="1100" dirty="0"/>
          </a:p>
        </p:txBody>
      </p:sp>
      <p:sp>
        <p:nvSpPr>
          <p:cNvPr id="12" name="Shape 10"/>
          <p:cNvSpPr/>
          <p:nvPr/>
        </p:nvSpPr>
        <p:spPr>
          <a:xfrm>
            <a:off x="4368698" y="1691640"/>
            <a:ext cx="3454298" cy="4617720"/>
          </a:xfrm>
          <a:prstGeom prst="roundRect">
            <a:avLst>
              <a:gd name="adj" fmla="val 1588"/>
            </a:avLst>
          </a:prstGeom>
          <a:solidFill>
            <a:srgbClr val="0E1011"/>
          </a:solidFill>
          <a:ln w="15875">
            <a:solidFill>
              <a:srgbClr val="E8A33D"/>
            </a:solidFill>
            <a:prstDash val="solid"/>
          </a:ln>
        </p:spPr>
        <p:txBody>
          <a:bodyPr/>
          <a:lstStyle/>
          <a:p>
            <a:endParaRPr lang="en-PK"/>
          </a:p>
        </p:txBody>
      </p:sp>
      <p:sp>
        <p:nvSpPr>
          <p:cNvPr id="13" name="Text 11"/>
          <p:cNvSpPr/>
          <p:nvPr/>
        </p:nvSpPr>
        <p:spPr>
          <a:xfrm>
            <a:off x="4661306" y="1984248"/>
            <a:ext cx="2869082" cy="182880"/>
          </a:xfrm>
          <a:prstGeom prst="rect">
            <a:avLst/>
          </a:prstGeom>
          <a:noFill/>
          <a:ln/>
        </p:spPr>
        <p:txBody>
          <a:bodyPr wrap="square" lIns="0" tIns="0" rIns="0" bIns="0" rtlCol="0" anchor="t"/>
          <a:lstStyle/>
          <a:p>
            <a:pPr marL="0" indent="0">
              <a:buNone/>
            </a:pPr>
            <a:r>
              <a:rPr lang="en-US" sz="850" b="1" kern="0" spc="150" dirty="0">
                <a:solidFill>
                  <a:srgbClr val="E8A33D"/>
                </a:solidFill>
                <a:latin typeface="IBM Plex Mono" pitchFamily="34" charset="0"/>
                <a:ea typeface="IBM Plex Mono" pitchFamily="34" charset="-122"/>
                <a:cs typeface="IBM Plex Mono" pitchFamily="34" charset="-120"/>
              </a:rPr>
              <a:t>MOST COMMON</a:t>
            </a:r>
            <a:endParaRPr lang="en-US" sz="850" dirty="0"/>
          </a:p>
        </p:txBody>
      </p:sp>
      <p:sp>
        <p:nvSpPr>
          <p:cNvPr id="14" name="Text 12"/>
          <p:cNvSpPr/>
          <p:nvPr/>
        </p:nvSpPr>
        <p:spPr>
          <a:xfrm>
            <a:off x="4661306" y="2240280"/>
            <a:ext cx="2869082" cy="457200"/>
          </a:xfrm>
          <a:prstGeom prst="rect">
            <a:avLst/>
          </a:prstGeom>
          <a:noFill/>
          <a:ln/>
        </p:spPr>
        <p:txBody>
          <a:bodyPr wrap="square" lIns="0" tIns="0" rIns="0" bIns="0" rtlCol="0" anchor="t"/>
          <a:lstStyle/>
          <a:p>
            <a:pPr marL="0" indent="0">
              <a:buNone/>
            </a:pPr>
            <a:r>
              <a:rPr lang="en-US" sz="2400" b="1" dirty="0">
                <a:solidFill>
                  <a:srgbClr val="FFFFFF"/>
                </a:solidFill>
                <a:latin typeface="Space Grotesk" pitchFamily="34" charset="0"/>
                <a:ea typeface="Space Grotesk" pitchFamily="34" charset="-122"/>
                <a:cs typeface="Space Grotesk" pitchFamily="34" charset="-120"/>
              </a:rPr>
              <a:t>Build &amp; Deliver</a:t>
            </a:r>
            <a:endParaRPr lang="en-US" sz="2400" dirty="0"/>
          </a:p>
        </p:txBody>
      </p:sp>
      <p:sp>
        <p:nvSpPr>
          <p:cNvPr id="15" name="Text 13"/>
          <p:cNvSpPr/>
          <p:nvPr/>
        </p:nvSpPr>
        <p:spPr>
          <a:xfrm>
            <a:off x="4661306" y="2834640"/>
            <a:ext cx="2869082" cy="2560320"/>
          </a:xfrm>
          <a:prstGeom prst="rect">
            <a:avLst/>
          </a:prstGeom>
          <a:noFill/>
          <a:ln/>
        </p:spPr>
        <p:txBody>
          <a:bodyPr wrap="square" lIns="0" tIns="0" rIns="0" bIns="0" rtlCol="0" anchor="t"/>
          <a:lstStyle/>
          <a:p>
            <a:pPr marL="0" indent="0">
              <a:lnSpc>
                <a:spcPct val="125000"/>
              </a:lnSpc>
              <a:buNone/>
            </a:pPr>
            <a:r>
              <a:rPr lang="en-US" sz="1100" dirty="0">
                <a:solidFill>
                  <a:srgbClr val="B6B7B8"/>
                </a:solidFill>
                <a:latin typeface="IBM Plex Sans" pitchFamily="34" charset="0"/>
                <a:ea typeface="IBM Plex Sans" pitchFamily="34" charset="-122"/>
                <a:cs typeface="IBM Plex Sans" pitchFamily="34" charset="-120"/>
              </a:rPr>
              <a:t>From a small task that simply needs to get done to a complete software, AI automation, or data analytics solution, we build what your business needs and take it through to delivery. We work in clear phases with defined deliverables, keeping you involved throughout development while handling the technical work from start to finish. This is the right fit when you have a project that needs to be built, improved, automated, or brought to life.</a:t>
            </a:r>
            <a:endParaRPr lang="en-US" sz="1100" dirty="0"/>
          </a:p>
        </p:txBody>
      </p:sp>
      <p:sp>
        <p:nvSpPr>
          <p:cNvPr id="16" name="Shape 14"/>
          <p:cNvSpPr/>
          <p:nvPr/>
        </p:nvSpPr>
        <p:spPr>
          <a:xfrm>
            <a:off x="4661306" y="5440680"/>
            <a:ext cx="2869082" cy="0"/>
          </a:xfrm>
          <a:prstGeom prst="line">
            <a:avLst/>
          </a:prstGeom>
          <a:noFill/>
          <a:ln w="9525">
            <a:solidFill>
              <a:srgbClr val="2E3033"/>
            </a:solidFill>
            <a:prstDash val="solid"/>
          </a:ln>
        </p:spPr>
        <p:txBody>
          <a:bodyPr/>
          <a:lstStyle/>
          <a:p>
            <a:endParaRPr lang="en-PK"/>
          </a:p>
        </p:txBody>
      </p:sp>
      <p:sp>
        <p:nvSpPr>
          <p:cNvPr id="17" name="Text 15"/>
          <p:cNvSpPr/>
          <p:nvPr/>
        </p:nvSpPr>
        <p:spPr>
          <a:xfrm>
            <a:off x="4661306" y="5550408"/>
            <a:ext cx="2869082" cy="182880"/>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TERMS</a:t>
            </a:r>
            <a:endParaRPr lang="en-US" sz="800" dirty="0"/>
          </a:p>
        </p:txBody>
      </p:sp>
      <p:sp>
        <p:nvSpPr>
          <p:cNvPr id="18" name="Text 16"/>
          <p:cNvSpPr/>
          <p:nvPr/>
        </p:nvSpPr>
        <p:spPr>
          <a:xfrm>
            <a:off x="4661306" y="5760720"/>
            <a:ext cx="2869082" cy="457200"/>
          </a:xfrm>
          <a:prstGeom prst="rect">
            <a:avLst/>
          </a:prstGeom>
          <a:noFill/>
          <a:ln/>
        </p:spPr>
        <p:txBody>
          <a:bodyPr wrap="square" lIns="0" tIns="0" rIns="0" bIns="0" rtlCol="0" anchor="t"/>
          <a:lstStyle/>
          <a:p>
            <a:pPr marL="0" indent="0">
              <a:buNone/>
            </a:pPr>
            <a:r>
              <a:rPr lang="en-US" sz="1100" dirty="0">
                <a:solidFill>
                  <a:srgbClr val="FFFFFF"/>
                </a:solidFill>
                <a:latin typeface="IBM Plex Sans" pitchFamily="34" charset="0"/>
                <a:ea typeface="IBM Plex Sans" pitchFamily="34" charset="-122"/>
                <a:cs typeface="IBM Plex Sans" pitchFamily="34" charset="-120"/>
              </a:rPr>
              <a:t>Priced per project, with larger engagements structured into clear delivery phases.</a:t>
            </a:r>
            <a:endParaRPr lang="en-US" sz="1100" dirty="0"/>
          </a:p>
        </p:txBody>
      </p:sp>
      <p:sp>
        <p:nvSpPr>
          <p:cNvPr id="19" name="Shape 17"/>
          <p:cNvSpPr/>
          <p:nvPr/>
        </p:nvSpPr>
        <p:spPr>
          <a:xfrm>
            <a:off x="8097317" y="1691640"/>
            <a:ext cx="3454298" cy="4617720"/>
          </a:xfrm>
          <a:prstGeom prst="roundRect">
            <a:avLst>
              <a:gd name="adj" fmla="val 1588"/>
            </a:avLst>
          </a:prstGeom>
          <a:solidFill>
            <a:srgbClr val="0A0B0C"/>
          </a:solidFill>
          <a:ln w="9525">
            <a:solidFill>
              <a:srgbClr val="2E3033"/>
            </a:solidFill>
            <a:prstDash val="solid"/>
          </a:ln>
        </p:spPr>
        <p:txBody>
          <a:bodyPr/>
          <a:lstStyle/>
          <a:p>
            <a:endParaRPr lang="en-PK"/>
          </a:p>
        </p:txBody>
      </p:sp>
      <p:sp>
        <p:nvSpPr>
          <p:cNvPr id="20" name="Text 18"/>
          <p:cNvSpPr/>
          <p:nvPr/>
        </p:nvSpPr>
        <p:spPr>
          <a:xfrm>
            <a:off x="8389925" y="1984248"/>
            <a:ext cx="2869082" cy="182880"/>
          </a:xfrm>
          <a:prstGeom prst="rect">
            <a:avLst/>
          </a:prstGeom>
          <a:noFill/>
          <a:ln/>
        </p:spPr>
        <p:txBody>
          <a:bodyPr wrap="square" lIns="0" tIns="0" rIns="0" bIns="0" rtlCol="0" anchor="t"/>
          <a:lstStyle/>
          <a:p>
            <a:pPr marL="0" indent="0">
              <a:buNone/>
            </a:pPr>
            <a:r>
              <a:rPr lang="en-US" sz="850" b="1" kern="0" spc="150" dirty="0">
                <a:solidFill>
                  <a:srgbClr val="E8A33D"/>
                </a:solidFill>
                <a:latin typeface="IBM Plex Mono" pitchFamily="34" charset="0"/>
                <a:ea typeface="IBM Plex Mono" pitchFamily="34" charset="-122"/>
                <a:cs typeface="IBM Plex Mono" pitchFamily="34" charset="-120"/>
              </a:rPr>
              <a:t>AFTER LAUNCH</a:t>
            </a:r>
            <a:endParaRPr lang="en-US" sz="850" dirty="0"/>
          </a:p>
        </p:txBody>
      </p:sp>
      <p:sp>
        <p:nvSpPr>
          <p:cNvPr id="21" name="Text 19"/>
          <p:cNvSpPr/>
          <p:nvPr/>
        </p:nvSpPr>
        <p:spPr>
          <a:xfrm>
            <a:off x="8389925" y="2240280"/>
            <a:ext cx="2869082" cy="457200"/>
          </a:xfrm>
          <a:prstGeom prst="rect">
            <a:avLst/>
          </a:prstGeom>
          <a:noFill/>
          <a:ln/>
        </p:spPr>
        <p:txBody>
          <a:bodyPr wrap="square" lIns="0" tIns="0" rIns="0" bIns="0" rtlCol="0" anchor="t"/>
          <a:lstStyle/>
          <a:p>
            <a:pPr marL="0" indent="0">
              <a:buNone/>
            </a:pPr>
            <a:r>
              <a:rPr lang="en-US" sz="2400" b="1" dirty="0">
                <a:solidFill>
                  <a:srgbClr val="FFFFFF"/>
                </a:solidFill>
                <a:latin typeface="Space Grotesk" pitchFamily="34" charset="0"/>
                <a:ea typeface="Space Grotesk" pitchFamily="34" charset="-122"/>
                <a:cs typeface="Space Grotesk" pitchFamily="34" charset="-120"/>
              </a:rPr>
              <a:t>Ongoing Support</a:t>
            </a:r>
            <a:endParaRPr lang="en-US" sz="2400" dirty="0"/>
          </a:p>
        </p:txBody>
      </p:sp>
      <p:sp>
        <p:nvSpPr>
          <p:cNvPr id="22" name="Text 20"/>
          <p:cNvSpPr/>
          <p:nvPr/>
        </p:nvSpPr>
        <p:spPr>
          <a:xfrm>
            <a:off x="8389925" y="2834640"/>
            <a:ext cx="2869082" cy="2560320"/>
          </a:xfrm>
          <a:prstGeom prst="rect">
            <a:avLst/>
          </a:prstGeom>
          <a:noFill/>
          <a:ln/>
        </p:spPr>
        <p:txBody>
          <a:bodyPr wrap="square" lIns="0" tIns="0" rIns="0" bIns="0" rtlCol="0" anchor="t"/>
          <a:lstStyle/>
          <a:p>
            <a:pPr marL="0" indent="0">
              <a:lnSpc>
                <a:spcPct val="125000"/>
              </a:lnSpc>
              <a:buNone/>
            </a:pPr>
            <a:r>
              <a:rPr lang="en-US" sz="1100" dirty="0">
                <a:solidFill>
                  <a:srgbClr val="B6B7B8"/>
                </a:solidFill>
                <a:latin typeface="IBM Plex Sans" pitchFamily="34" charset="0"/>
                <a:ea typeface="IBM Plex Sans" pitchFamily="34" charset="-122"/>
                <a:cs typeface="IBM Plex Sans" pitchFamily="34" charset="-120"/>
              </a:rPr>
              <a:t>Some solutions need more than a one-time delivery. We stay involved to maintain, improve, monitor, automate, and support your digital systems over time, whether that means ongoing software development, AI automation, data analytics, digital marketing, or operational support. This is ideal for businesses that need a reliable technology partner without building a full in-house team.</a:t>
            </a:r>
            <a:endParaRPr lang="en-US" sz="1100" dirty="0"/>
          </a:p>
        </p:txBody>
      </p:sp>
      <p:sp>
        <p:nvSpPr>
          <p:cNvPr id="23" name="Shape 21"/>
          <p:cNvSpPr/>
          <p:nvPr/>
        </p:nvSpPr>
        <p:spPr>
          <a:xfrm>
            <a:off x="8389925" y="5440680"/>
            <a:ext cx="2869082" cy="0"/>
          </a:xfrm>
          <a:prstGeom prst="line">
            <a:avLst/>
          </a:prstGeom>
          <a:noFill/>
          <a:ln w="9525">
            <a:solidFill>
              <a:srgbClr val="2E3033"/>
            </a:solidFill>
            <a:prstDash val="solid"/>
          </a:ln>
        </p:spPr>
        <p:txBody>
          <a:bodyPr/>
          <a:lstStyle/>
          <a:p>
            <a:endParaRPr lang="en-PK"/>
          </a:p>
        </p:txBody>
      </p:sp>
      <p:sp>
        <p:nvSpPr>
          <p:cNvPr id="24" name="Text 22"/>
          <p:cNvSpPr/>
          <p:nvPr/>
        </p:nvSpPr>
        <p:spPr>
          <a:xfrm>
            <a:off x="8389925" y="5550408"/>
            <a:ext cx="2869082" cy="182880"/>
          </a:xfrm>
          <a:prstGeom prst="rect">
            <a:avLst/>
          </a:prstGeom>
          <a:noFill/>
          <a:ln/>
        </p:spPr>
        <p:txBody>
          <a:bodyPr wrap="square" lIns="0" tIns="0" rIns="0" bIns="0" rtlCol="0" anchor="t"/>
          <a:lstStyle/>
          <a:p>
            <a:pPr marL="0" indent="0">
              <a:buNone/>
            </a:pPr>
            <a:r>
              <a:rPr lang="en-US" sz="800" kern="0" spc="150" dirty="0">
                <a:solidFill>
                  <a:srgbClr val="8B8D8F"/>
                </a:solidFill>
                <a:latin typeface="IBM Plex Mono" pitchFamily="34" charset="0"/>
                <a:ea typeface="IBM Plex Mono" pitchFamily="34" charset="-122"/>
                <a:cs typeface="IBM Plex Mono" pitchFamily="34" charset="-120"/>
              </a:rPr>
              <a:t>TERMS</a:t>
            </a:r>
            <a:endParaRPr lang="en-US" sz="800" dirty="0"/>
          </a:p>
        </p:txBody>
      </p:sp>
      <p:sp>
        <p:nvSpPr>
          <p:cNvPr id="25" name="Text 23"/>
          <p:cNvSpPr/>
          <p:nvPr/>
        </p:nvSpPr>
        <p:spPr>
          <a:xfrm>
            <a:off x="8389925" y="5760720"/>
            <a:ext cx="2869082" cy="457200"/>
          </a:xfrm>
          <a:prstGeom prst="rect">
            <a:avLst/>
          </a:prstGeom>
          <a:noFill/>
          <a:ln/>
        </p:spPr>
        <p:txBody>
          <a:bodyPr wrap="square" lIns="0" tIns="0" rIns="0" bIns="0" rtlCol="0" anchor="t"/>
          <a:lstStyle/>
          <a:p>
            <a:pPr marL="0" indent="0">
              <a:buNone/>
            </a:pPr>
            <a:r>
              <a:rPr lang="en-US" sz="1100" dirty="0">
                <a:solidFill>
                  <a:srgbClr val="FFFFFF"/>
                </a:solidFill>
                <a:latin typeface="IBM Plex Sans" pitchFamily="34" charset="0"/>
                <a:ea typeface="IBM Plex Sans" pitchFamily="34" charset="-122"/>
                <a:cs typeface="IBM Plex Sans" pitchFamily="34" charset="-120"/>
              </a:rPr>
              <a:t>Monthly retainer, with scope and support level agreed based on ongoing requirements.</a:t>
            </a:r>
            <a:endParaRPr lang="en-US" sz="1100" dirty="0"/>
          </a:p>
        </p:txBody>
      </p:sp>
      <p:sp>
        <p:nvSpPr>
          <p:cNvPr id="26" name="Text 24"/>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7" name="Text 25"/>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27 / 30</a:t>
            </a:r>
            <a:endParaRPr lang="en-US" sz="700" dirty="0"/>
          </a:p>
        </p:txBody>
      </p:sp>
    </p:spTree>
    <p:extLst>
      <p:ext uri="{BB962C8B-B14F-4D97-AF65-F5344CB8AC3E}">
        <p14:creationId xmlns:p14="http://schemas.microsoft.com/office/powerpoint/2010/main" val="12001010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3F1ED"/>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8F5D0A"/>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07  WHAT YOU GET</a:t>
            </a:r>
            <a:endParaRPr lang="en-US" sz="900" dirty="0"/>
          </a:p>
        </p:txBody>
      </p:sp>
      <p:sp>
        <p:nvSpPr>
          <p:cNvPr id="4" name="Text 2"/>
          <p:cNvSpPr/>
          <p:nvPr/>
        </p:nvSpPr>
        <p:spPr>
          <a:xfrm>
            <a:off x="640080" y="777240"/>
            <a:ext cx="10911535" cy="685800"/>
          </a:xfrm>
          <a:prstGeom prst="rect">
            <a:avLst/>
          </a:prstGeom>
          <a:noFill/>
          <a:ln/>
        </p:spPr>
        <p:txBody>
          <a:bodyPr wrap="square" lIns="0" tIns="0" rIns="0" bIns="0" rtlCol="0" anchor="t"/>
          <a:lstStyle/>
          <a:p>
            <a:pPr marL="0" indent="0">
              <a:buNone/>
            </a:pPr>
            <a:r>
              <a:rPr lang="en-US" sz="3400" b="1" dirty="0">
                <a:solidFill>
                  <a:srgbClr val="14161A"/>
                </a:solidFill>
                <a:latin typeface="Space Grotesk" pitchFamily="34" charset="0"/>
                <a:ea typeface="Space Grotesk" pitchFamily="34" charset="-122"/>
                <a:cs typeface="Space Grotesk" pitchFamily="34" charset="-120"/>
              </a:rPr>
              <a:t>What we commit to in writing</a:t>
            </a:r>
            <a:endParaRPr lang="en-US" sz="3400" dirty="0"/>
          </a:p>
        </p:txBody>
      </p:sp>
      <p:sp>
        <p:nvSpPr>
          <p:cNvPr id="5" name="Shape 3"/>
          <p:cNvSpPr/>
          <p:nvPr/>
        </p:nvSpPr>
        <p:spPr>
          <a:xfrm>
            <a:off x="640080" y="2057400"/>
            <a:ext cx="2453564" cy="0"/>
          </a:xfrm>
          <a:prstGeom prst="line">
            <a:avLst/>
          </a:prstGeom>
          <a:noFill/>
          <a:ln w="9525">
            <a:solidFill>
              <a:srgbClr val="DCD8D0"/>
            </a:solidFill>
            <a:prstDash val="solid"/>
          </a:ln>
        </p:spPr>
        <p:txBody>
          <a:bodyPr/>
          <a:lstStyle/>
          <a:p>
            <a:endParaRPr lang="en-PK"/>
          </a:p>
        </p:txBody>
      </p:sp>
      <p:sp>
        <p:nvSpPr>
          <p:cNvPr id="6" name="Shape 4"/>
          <p:cNvSpPr/>
          <p:nvPr/>
        </p:nvSpPr>
        <p:spPr>
          <a:xfrm>
            <a:off x="640080" y="2057400"/>
            <a:ext cx="548640" cy="0"/>
          </a:xfrm>
          <a:prstGeom prst="line">
            <a:avLst/>
          </a:prstGeom>
          <a:noFill/>
          <a:ln w="28575">
            <a:solidFill>
              <a:srgbClr val="8F5D0A"/>
            </a:solidFill>
            <a:prstDash val="solid"/>
          </a:ln>
        </p:spPr>
        <p:txBody>
          <a:bodyPr/>
          <a:lstStyle/>
          <a:p>
            <a:endParaRPr lang="en-PK"/>
          </a:p>
        </p:txBody>
      </p:sp>
      <p:sp>
        <p:nvSpPr>
          <p:cNvPr id="7" name="Text 5"/>
          <p:cNvSpPr/>
          <p:nvPr/>
        </p:nvSpPr>
        <p:spPr>
          <a:xfrm>
            <a:off x="640080" y="2331720"/>
            <a:ext cx="2453564" cy="274320"/>
          </a:xfrm>
          <a:prstGeom prst="rect">
            <a:avLst/>
          </a:prstGeom>
          <a:noFill/>
          <a:ln/>
        </p:spPr>
        <p:txBody>
          <a:bodyPr wrap="square" lIns="0" tIns="0" rIns="0" bIns="0" rtlCol="0" anchor="t"/>
          <a:lstStyle/>
          <a:p>
            <a:pPr marL="0" indent="0">
              <a:buNone/>
            </a:pPr>
            <a:r>
              <a:rPr lang="en-US" sz="1100" dirty="0">
                <a:solidFill>
                  <a:srgbClr val="8F5D0A"/>
                </a:solidFill>
                <a:latin typeface="IBM Plex Mono" pitchFamily="34" charset="0"/>
                <a:ea typeface="IBM Plex Mono" pitchFamily="34" charset="-122"/>
                <a:cs typeface="IBM Plex Mono" pitchFamily="34" charset="-120"/>
              </a:rPr>
              <a:t>01</a:t>
            </a:r>
            <a:endParaRPr lang="en-US" sz="1100" dirty="0"/>
          </a:p>
        </p:txBody>
      </p:sp>
      <p:sp>
        <p:nvSpPr>
          <p:cNvPr id="8" name="Text 6"/>
          <p:cNvSpPr/>
          <p:nvPr/>
        </p:nvSpPr>
        <p:spPr>
          <a:xfrm>
            <a:off x="640080" y="2743200"/>
            <a:ext cx="2453564" cy="731520"/>
          </a:xfrm>
          <a:prstGeom prst="rect">
            <a:avLst/>
          </a:prstGeom>
          <a:noFill/>
          <a:ln/>
        </p:spPr>
        <p:txBody>
          <a:bodyPr wrap="square" lIns="0" tIns="0" rIns="0" bIns="0" rtlCol="0" anchor="t"/>
          <a:lstStyle/>
          <a:p>
            <a:pPr marL="0" indent="0">
              <a:lnSpc>
                <a:spcPct val="100000"/>
              </a:lnSpc>
              <a:buNone/>
            </a:pPr>
            <a:r>
              <a:rPr lang="en-US" sz="2000" b="1" dirty="0">
                <a:solidFill>
                  <a:srgbClr val="14161A"/>
                </a:solidFill>
                <a:latin typeface="Space Grotesk" pitchFamily="34" charset="0"/>
                <a:ea typeface="Space Grotesk" pitchFamily="34" charset="-122"/>
                <a:cs typeface="Space Grotesk" pitchFamily="34" charset="-120"/>
              </a:rPr>
              <a:t>A dedicated point of contact</a:t>
            </a:r>
            <a:endParaRPr lang="en-US" sz="2000" dirty="0"/>
          </a:p>
        </p:txBody>
      </p:sp>
      <p:sp>
        <p:nvSpPr>
          <p:cNvPr id="9" name="Text 7"/>
          <p:cNvSpPr/>
          <p:nvPr/>
        </p:nvSpPr>
        <p:spPr>
          <a:xfrm>
            <a:off x="640080" y="3611880"/>
            <a:ext cx="2453564" cy="2651760"/>
          </a:xfrm>
          <a:prstGeom prst="rect">
            <a:avLst/>
          </a:prstGeom>
          <a:noFill/>
          <a:ln/>
        </p:spPr>
        <p:txBody>
          <a:bodyPr wrap="square" lIns="0" tIns="0" rIns="0" bIns="0" rtlCol="0" anchor="t"/>
          <a:lstStyle/>
          <a:p>
            <a:pPr marL="0" indent="0">
              <a:lnSpc>
                <a:spcPct val="130000"/>
              </a:lnSpc>
              <a:buNone/>
            </a:pPr>
            <a:r>
              <a:rPr lang="en-US" sz="1200" dirty="0">
                <a:solidFill>
                  <a:srgbClr val="5B6066"/>
                </a:solidFill>
                <a:latin typeface="IBM Plex Sans" pitchFamily="34" charset="0"/>
                <a:ea typeface="IBM Plex Sans" pitchFamily="34" charset="-122"/>
                <a:cs typeface="IBM Plex Sans" pitchFamily="34" charset="-120"/>
              </a:rPr>
              <a:t>You will have a clear point of contact throughout the project who understands your requirements, decisions, and progress. You will always know who to speak to when you have a question, need an update, or want to make a decision.</a:t>
            </a:r>
            <a:endParaRPr lang="en-US" sz="1200" dirty="0"/>
          </a:p>
        </p:txBody>
      </p:sp>
      <p:sp>
        <p:nvSpPr>
          <p:cNvPr id="10" name="Shape 8"/>
          <p:cNvSpPr/>
          <p:nvPr/>
        </p:nvSpPr>
        <p:spPr>
          <a:xfrm>
            <a:off x="3459404" y="2057400"/>
            <a:ext cx="2453564" cy="0"/>
          </a:xfrm>
          <a:prstGeom prst="line">
            <a:avLst/>
          </a:prstGeom>
          <a:noFill/>
          <a:ln w="9525">
            <a:solidFill>
              <a:srgbClr val="DCD8D0"/>
            </a:solidFill>
            <a:prstDash val="solid"/>
          </a:ln>
        </p:spPr>
        <p:txBody>
          <a:bodyPr/>
          <a:lstStyle/>
          <a:p>
            <a:endParaRPr lang="en-PK"/>
          </a:p>
        </p:txBody>
      </p:sp>
      <p:sp>
        <p:nvSpPr>
          <p:cNvPr id="11" name="Shape 9"/>
          <p:cNvSpPr/>
          <p:nvPr/>
        </p:nvSpPr>
        <p:spPr>
          <a:xfrm>
            <a:off x="3459404" y="2057400"/>
            <a:ext cx="548640" cy="0"/>
          </a:xfrm>
          <a:prstGeom prst="line">
            <a:avLst/>
          </a:prstGeom>
          <a:noFill/>
          <a:ln w="28575">
            <a:solidFill>
              <a:srgbClr val="8F5D0A"/>
            </a:solidFill>
            <a:prstDash val="solid"/>
          </a:ln>
        </p:spPr>
        <p:txBody>
          <a:bodyPr/>
          <a:lstStyle/>
          <a:p>
            <a:endParaRPr lang="en-PK"/>
          </a:p>
        </p:txBody>
      </p:sp>
      <p:sp>
        <p:nvSpPr>
          <p:cNvPr id="12" name="Text 10"/>
          <p:cNvSpPr/>
          <p:nvPr/>
        </p:nvSpPr>
        <p:spPr>
          <a:xfrm>
            <a:off x="3459404" y="2331720"/>
            <a:ext cx="2453564" cy="274320"/>
          </a:xfrm>
          <a:prstGeom prst="rect">
            <a:avLst/>
          </a:prstGeom>
          <a:noFill/>
          <a:ln/>
        </p:spPr>
        <p:txBody>
          <a:bodyPr wrap="square" lIns="0" tIns="0" rIns="0" bIns="0" rtlCol="0" anchor="t"/>
          <a:lstStyle/>
          <a:p>
            <a:pPr marL="0" indent="0">
              <a:buNone/>
            </a:pPr>
            <a:r>
              <a:rPr lang="en-US" sz="1100" dirty="0">
                <a:solidFill>
                  <a:srgbClr val="8F5D0A"/>
                </a:solidFill>
                <a:latin typeface="IBM Plex Mono" pitchFamily="34" charset="0"/>
                <a:ea typeface="IBM Plex Mono" pitchFamily="34" charset="-122"/>
                <a:cs typeface="IBM Plex Mono" pitchFamily="34" charset="-120"/>
              </a:rPr>
              <a:t>02</a:t>
            </a:r>
            <a:endParaRPr lang="en-US" sz="1100" dirty="0"/>
          </a:p>
        </p:txBody>
      </p:sp>
      <p:sp>
        <p:nvSpPr>
          <p:cNvPr id="13" name="Text 11"/>
          <p:cNvSpPr/>
          <p:nvPr/>
        </p:nvSpPr>
        <p:spPr>
          <a:xfrm>
            <a:off x="3459404" y="2743200"/>
            <a:ext cx="2453564" cy="731520"/>
          </a:xfrm>
          <a:prstGeom prst="rect">
            <a:avLst/>
          </a:prstGeom>
          <a:noFill/>
          <a:ln/>
        </p:spPr>
        <p:txBody>
          <a:bodyPr wrap="square" lIns="0" tIns="0" rIns="0" bIns="0" rtlCol="0" anchor="t"/>
          <a:lstStyle/>
          <a:p>
            <a:pPr marL="0" indent="0">
              <a:lnSpc>
                <a:spcPct val="100000"/>
              </a:lnSpc>
              <a:buNone/>
            </a:pPr>
            <a:r>
              <a:rPr lang="en-US" sz="2000" b="1" dirty="0">
                <a:solidFill>
                  <a:srgbClr val="14161A"/>
                </a:solidFill>
                <a:latin typeface="Space Grotesk" pitchFamily="34" charset="0"/>
                <a:ea typeface="Space Grotesk" pitchFamily="34" charset="-122"/>
                <a:cs typeface="Space Grotesk" pitchFamily="34" charset="-120"/>
              </a:rPr>
              <a:t>Clear pricing by phase</a:t>
            </a:r>
            <a:endParaRPr lang="en-US" sz="2000" dirty="0"/>
          </a:p>
        </p:txBody>
      </p:sp>
      <p:sp>
        <p:nvSpPr>
          <p:cNvPr id="14" name="Text 12"/>
          <p:cNvSpPr/>
          <p:nvPr/>
        </p:nvSpPr>
        <p:spPr>
          <a:xfrm>
            <a:off x="3459404" y="3611880"/>
            <a:ext cx="2453564" cy="2651760"/>
          </a:xfrm>
          <a:prstGeom prst="rect">
            <a:avLst/>
          </a:prstGeom>
          <a:noFill/>
          <a:ln/>
        </p:spPr>
        <p:txBody>
          <a:bodyPr wrap="square" lIns="0" tIns="0" rIns="0" bIns="0" rtlCol="0" anchor="t"/>
          <a:lstStyle/>
          <a:p>
            <a:pPr marL="0" indent="0">
              <a:lnSpc>
                <a:spcPct val="130000"/>
              </a:lnSpc>
              <a:buNone/>
            </a:pPr>
            <a:r>
              <a:rPr lang="en-US" sz="1200" dirty="0">
                <a:solidFill>
                  <a:srgbClr val="5B6066"/>
                </a:solidFill>
                <a:latin typeface="IBM Plex Sans" pitchFamily="34" charset="0"/>
                <a:ea typeface="IBM Plex Sans" pitchFamily="34" charset="-122"/>
                <a:cs typeface="IBM Plex Sans" pitchFamily="34" charset="-120"/>
              </a:rPr>
              <a:t>Before each phase begins, you will know what we are delivering, what it will cost, and what assumptions the price is based on. If a change affects the scope, timeline, or cost, we will discuss and agree it with you before carrying out the additional work.</a:t>
            </a:r>
            <a:endParaRPr lang="en-US" sz="1200" dirty="0"/>
          </a:p>
        </p:txBody>
      </p:sp>
      <p:sp>
        <p:nvSpPr>
          <p:cNvPr id="15" name="Shape 13"/>
          <p:cNvSpPr/>
          <p:nvPr/>
        </p:nvSpPr>
        <p:spPr>
          <a:xfrm>
            <a:off x="6278728" y="2057400"/>
            <a:ext cx="2453564" cy="0"/>
          </a:xfrm>
          <a:prstGeom prst="line">
            <a:avLst/>
          </a:prstGeom>
          <a:noFill/>
          <a:ln w="9525">
            <a:solidFill>
              <a:srgbClr val="DCD8D0"/>
            </a:solidFill>
            <a:prstDash val="solid"/>
          </a:ln>
        </p:spPr>
        <p:txBody>
          <a:bodyPr/>
          <a:lstStyle/>
          <a:p>
            <a:endParaRPr lang="en-PK"/>
          </a:p>
        </p:txBody>
      </p:sp>
      <p:sp>
        <p:nvSpPr>
          <p:cNvPr id="16" name="Shape 14"/>
          <p:cNvSpPr/>
          <p:nvPr/>
        </p:nvSpPr>
        <p:spPr>
          <a:xfrm>
            <a:off x="6278728" y="2057400"/>
            <a:ext cx="548640" cy="0"/>
          </a:xfrm>
          <a:prstGeom prst="line">
            <a:avLst/>
          </a:prstGeom>
          <a:noFill/>
          <a:ln w="28575">
            <a:solidFill>
              <a:srgbClr val="8F5D0A"/>
            </a:solidFill>
            <a:prstDash val="solid"/>
          </a:ln>
        </p:spPr>
        <p:txBody>
          <a:bodyPr/>
          <a:lstStyle/>
          <a:p>
            <a:endParaRPr lang="en-PK"/>
          </a:p>
        </p:txBody>
      </p:sp>
      <p:sp>
        <p:nvSpPr>
          <p:cNvPr id="17" name="Text 15"/>
          <p:cNvSpPr/>
          <p:nvPr/>
        </p:nvSpPr>
        <p:spPr>
          <a:xfrm>
            <a:off x="6278728" y="2331720"/>
            <a:ext cx="2453564" cy="274320"/>
          </a:xfrm>
          <a:prstGeom prst="rect">
            <a:avLst/>
          </a:prstGeom>
          <a:noFill/>
          <a:ln/>
        </p:spPr>
        <p:txBody>
          <a:bodyPr wrap="square" lIns="0" tIns="0" rIns="0" bIns="0" rtlCol="0" anchor="t"/>
          <a:lstStyle/>
          <a:p>
            <a:pPr marL="0" indent="0">
              <a:buNone/>
            </a:pPr>
            <a:r>
              <a:rPr lang="en-US" sz="1100" dirty="0">
                <a:solidFill>
                  <a:srgbClr val="8F5D0A"/>
                </a:solidFill>
                <a:latin typeface="IBM Plex Mono" pitchFamily="34" charset="0"/>
                <a:ea typeface="IBM Plex Mono" pitchFamily="34" charset="-122"/>
                <a:cs typeface="IBM Plex Mono" pitchFamily="34" charset="-120"/>
              </a:rPr>
              <a:t>03</a:t>
            </a:r>
            <a:endParaRPr lang="en-US" sz="1100" dirty="0"/>
          </a:p>
        </p:txBody>
      </p:sp>
      <p:sp>
        <p:nvSpPr>
          <p:cNvPr id="18" name="Text 16"/>
          <p:cNvSpPr/>
          <p:nvPr/>
        </p:nvSpPr>
        <p:spPr>
          <a:xfrm>
            <a:off x="6278728" y="2743200"/>
            <a:ext cx="2453564" cy="731520"/>
          </a:xfrm>
          <a:prstGeom prst="rect">
            <a:avLst/>
          </a:prstGeom>
          <a:noFill/>
          <a:ln/>
        </p:spPr>
        <p:txBody>
          <a:bodyPr wrap="square" lIns="0" tIns="0" rIns="0" bIns="0" rtlCol="0" anchor="t"/>
          <a:lstStyle/>
          <a:p>
            <a:pPr marL="0" indent="0">
              <a:lnSpc>
                <a:spcPct val="100000"/>
              </a:lnSpc>
              <a:buNone/>
            </a:pPr>
            <a:r>
              <a:rPr lang="en-US" sz="2000" b="1" dirty="0">
                <a:solidFill>
                  <a:srgbClr val="14161A"/>
                </a:solidFill>
                <a:latin typeface="Space Grotesk" pitchFamily="34" charset="0"/>
                <a:ea typeface="Space Grotesk" pitchFamily="34" charset="-122"/>
                <a:cs typeface="Space Grotesk" pitchFamily="34" charset="-120"/>
              </a:rPr>
              <a:t>You own what we build</a:t>
            </a:r>
            <a:endParaRPr lang="en-US" sz="2000" dirty="0"/>
          </a:p>
        </p:txBody>
      </p:sp>
      <p:sp>
        <p:nvSpPr>
          <p:cNvPr id="19" name="Text 17"/>
          <p:cNvSpPr/>
          <p:nvPr/>
        </p:nvSpPr>
        <p:spPr>
          <a:xfrm>
            <a:off x="6278728" y="3611880"/>
            <a:ext cx="2453564" cy="2651760"/>
          </a:xfrm>
          <a:prstGeom prst="rect">
            <a:avLst/>
          </a:prstGeom>
          <a:noFill/>
          <a:ln/>
        </p:spPr>
        <p:txBody>
          <a:bodyPr wrap="square" lIns="0" tIns="0" rIns="0" bIns="0" rtlCol="0" anchor="t"/>
          <a:lstStyle/>
          <a:p>
            <a:pPr marL="0" indent="0">
              <a:lnSpc>
                <a:spcPct val="130000"/>
              </a:lnSpc>
              <a:buNone/>
            </a:pPr>
            <a:r>
              <a:rPr lang="en-US" sz="1200" dirty="0">
                <a:solidFill>
                  <a:srgbClr val="5B6066"/>
                </a:solidFill>
                <a:latin typeface="IBM Plex Sans" pitchFamily="34" charset="0"/>
                <a:ea typeface="IBM Plex Sans" pitchFamily="34" charset="-122"/>
                <a:cs typeface="IBM Plex Sans" pitchFamily="34" charset="-120"/>
              </a:rPr>
              <a:t>The software, designs, documentation, and project deliverables created specifically for you belong to you, subject to the terms agreed in your contract. We will provide the access and documentation you need to operate, maintain, and continue developing your solution.</a:t>
            </a:r>
            <a:endParaRPr lang="en-US" sz="1200" dirty="0"/>
          </a:p>
        </p:txBody>
      </p:sp>
      <p:sp>
        <p:nvSpPr>
          <p:cNvPr id="20" name="Shape 18"/>
          <p:cNvSpPr/>
          <p:nvPr/>
        </p:nvSpPr>
        <p:spPr>
          <a:xfrm>
            <a:off x="9098051" y="2057400"/>
            <a:ext cx="2453564" cy="0"/>
          </a:xfrm>
          <a:prstGeom prst="line">
            <a:avLst/>
          </a:prstGeom>
          <a:noFill/>
          <a:ln w="9525">
            <a:solidFill>
              <a:srgbClr val="DCD8D0"/>
            </a:solidFill>
            <a:prstDash val="solid"/>
          </a:ln>
        </p:spPr>
        <p:txBody>
          <a:bodyPr/>
          <a:lstStyle/>
          <a:p>
            <a:endParaRPr lang="en-PK"/>
          </a:p>
        </p:txBody>
      </p:sp>
      <p:sp>
        <p:nvSpPr>
          <p:cNvPr id="21" name="Shape 19"/>
          <p:cNvSpPr/>
          <p:nvPr/>
        </p:nvSpPr>
        <p:spPr>
          <a:xfrm>
            <a:off x="9098051" y="2057400"/>
            <a:ext cx="548640" cy="0"/>
          </a:xfrm>
          <a:prstGeom prst="line">
            <a:avLst/>
          </a:prstGeom>
          <a:noFill/>
          <a:ln w="28575">
            <a:solidFill>
              <a:srgbClr val="8F5D0A"/>
            </a:solidFill>
            <a:prstDash val="solid"/>
          </a:ln>
        </p:spPr>
        <p:txBody>
          <a:bodyPr/>
          <a:lstStyle/>
          <a:p>
            <a:endParaRPr lang="en-PK"/>
          </a:p>
        </p:txBody>
      </p:sp>
      <p:sp>
        <p:nvSpPr>
          <p:cNvPr id="22" name="Text 20"/>
          <p:cNvSpPr/>
          <p:nvPr/>
        </p:nvSpPr>
        <p:spPr>
          <a:xfrm>
            <a:off x="9098051" y="2331720"/>
            <a:ext cx="2453564" cy="274320"/>
          </a:xfrm>
          <a:prstGeom prst="rect">
            <a:avLst/>
          </a:prstGeom>
          <a:noFill/>
          <a:ln/>
        </p:spPr>
        <p:txBody>
          <a:bodyPr wrap="square" lIns="0" tIns="0" rIns="0" bIns="0" rtlCol="0" anchor="t"/>
          <a:lstStyle/>
          <a:p>
            <a:pPr marL="0" indent="0">
              <a:buNone/>
            </a:pPr>
            <a:r>
              <a:rPr lang="en-US" sz="1100" dirty="0">
                <a:solidFill>
                  <a:srgbClr val="8F5D0A"/>
                </a:solidFill>
                <a:latin typeface="IBM Plex Mono" pitchFamily="34" charset="0"/>
                <a:ea typeface="IBM Plex Mono" pitchFamily="34" charset="-122"/>
                <a:cs typeface="IBM Plex Mono" pitchFamily="34" charset="-120"/>
              </a:rPr>
              <a:t>04</a:t>
            </a:r>
            <a:endParaRPr lang="en-US" sz="1100" dirty="0"/>
          </a:p>
        </p:txBody>
      </p:sp>
      <p:sp>
        <p:nvSpPr>
          <p:cNvPr id="23" name="Text 21"/>
          <p:cNvSpPr/>
          <p:nvPr/>
        </p:nvSpPr>
        <p:spPr>
          <a:xfrm>
            <a:off x="9098051" y="2743200"/>
            <a:ext cx="2453564" cy="731520"/>
          </a:xfrm>
          <a:prstGeom prst="rect">
            <a:avLst/>
          </a:prstGeom>
          <a:noFill/>
          <a:ln/>
        </p:spPr>
        <p:txBody>
          <a:bodyPr wrap="square" lIns="0" tIns="0" rIns="0" bIns="0" rtlCol="0" anchor="t"/>
          <a:lstStyle/>
          <a:p>
            <a:pPr marL="0" indent="0">
              <a:lnSpc>
                <a:spcPct val="100000"/>
              </a:lnSpc>
              <a:buNone/>
            </a:pPr>
            <a:r>
              <a:rPr lang="en-US" sz="2000" b="1" dirty="0">
                <a:solidFill>
                  <a:srgbClr val="14161A"/>
                </a:solidFill>
                <a:latin typeface="Space Grotesk" pitchFamily="34" charset="0"/>
                <a:ea typeface="Space Grotesk" pitchFamily="34" charset="-122"/>
                <a:cs typeface="Space Grotesk" pitchFamily="34" charset="-120"/>
              </a:rPr>
              <a:t>Support beyond delivery</a:t>
            </a:r>
            <a:endParaRPr lang="en-US" sz="2000" dirty="0"/>
          </a:p>
        </p:txBody>
      </p:sp>
      <p:sp>
        <p:nvSpPr>
          <p:cNvPr id="24" name="Text 22"/>
          <p:cNvSpPr/>
          <p:nvPr/>
        </p:nvSpPr>
        <p:spPr>
          <a:xfrm>
            <a:off x="9098051" y="3611880"/>
            <a:ext cx="2453564" cy="2651760"/>
          </a:xfrm>
          <a:prstGeom prst="rect">
            <a:avLst/>
          </a:prstGeom>
          <a:noFill/>
          <a:ln/>
        </p:spPr>
        <p:txBody>
          <a:bodyPr wrap="square" lIns="0" tIns="0" rIns="0" bIns="0" rtlCol="0" anchor="t"/>
          <a:lstStyle/>
          <a:p>
            <a:pPr marL="0" indent="0">
              <a:lnSpc>
                <a:spcPct val="130000"/>
              </a:lnSpc>
              <a:buNone/>
            </a:pPr>
            <a:r>
              <a:rPr lang="en-US" sz="1200" dirty="0">
                <a:solidFill>
                  <a:srgbClr val="5B6066"/>
                </a:solidFill>
                <a:latin typeface="IBM Plex Sans" pitchFamily="34" charset="0"/>
                <a:ea typeface="IBM Plex Sans" pitchFamily="34" charset="-122"/>
                <a:cs typeface="IBM Plex Sans" pitchFamily="34" charset="-120"/>
              </a:rPr>
              <a:t>Our involvement does not have to end when the project goes live. We provide a proper handover and can continue supporting, maintaining, improving, and expanding your solution through an ongoing support arrangement when your business needs it, with 3 months of guaranteed support.</a:t>
            </a:r>
            <a:endParaRPr lang="en-US" sz="1200" dirty="0"/>
          </a:p>
        </p:txBody>
      </p:sp>
      <p:sp>
        <p:nvSpPr>
          <p:cNvPr id="25" name="Text 23"/>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6" name="Text 24"/>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28 / 30</a:t>
            </a:r>
            <a:endParaRPr lang="en-US" sz="700" dirty="0"/>
          </a:p>
        </p:txBody>
      </p:sp>
    </p:spTree>
    <p:extLst>
      <p:ext uri="{BB962C8B-B14F-4D97-AF65-F5344CB8AC3E}">
        <p14:creationId xmlns:p14="http://schemas.microsoft.com/office/powerpoint/2010/main" val="25087006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0A0B0C"/>
        </a:solidFill>
        <a:effectLst/>
      </p:bgPr>
    </p:bg>
    <p:spTree>
      <p:nvGrpSpPr>
        <p:cNvPr id="1" name=""/>
        <p:cNvGrpSpPr/>
        <p:nvPr/>
      </p:nvGrpSpPr>
      <p:grpSpPr>
        <a:xfrm>
          <a:off x="0" y="0"/>
          <a:ext cx="0" cy="0"/>
          <a:chOff x="0" y="0"/>
          <a:chExt cx="0" cy="0"/>
        </a:xfrm>
      </p:grpSpPr>
      <p:sp>
        <p:nvSpPr>
          <p:cNvPr id="2" name="Shape 0"/>
          <p:cNvSpPr/>
          <p:nvPr/>
        </p:nvSpPr>
        <p:spPr>
          <a:xfrm>
            <a:off x="640080" y="571500"/>
            <a:ext cx="219456" cy="32004"/>
          </a:xfrm>
          <a:prstGeom prst="rect">
            <a:avLst/>
          </a:prstGeom>
          <a:solidFill>
            <a:srgbClr val="E8A33D"/>
          </a:solidFill>
          <a:ln/>
        </p:spPr>
        <p:txBody>
          <a:bodyPr/>
          <a:lstStyle/>
          <a:p>
            <a:endParaRPr lang="en-PK"/>
          </a:p>
        </p:txBody>
      </p:sp>
      <p:sp>
        <p:nvSpPr>
          <p:cNvPr id="3" name="Text 1"/>
          <p:cNvSpPr/>
          <p:nvPr/>
        </p:nvSpPr>
        <p:spPr>
          <a:xfrm>
            <a:off x="969264" y="502920"/>
            <a:ext cx="8229600" cy="182880"/>
          </a:xfrm>
          <a:prstGeom prst="rect">
            <a:avLst/>
          </a:prstGeom>
          <a:noFill/>
          <a:ln/>
        </p:spPr>
        <p:txBody>
          <a:bodyPr wrap="square" lIns="0" tIns="0" rIns="0" bIns="0" rtlCol="0" anchor="t"/>
          <a:lstStyle/>
          <a:p>
            <a:pPr marL="0" indent="0">
              <a:buNone/>
            </a:pPr>
            <a:r>
              <a:rPr lang="en-US" sz="900" b="1" kern="0" spc="200" dirty="0">
                <a:solidFill>
                  <a:srgbClr val="E8A33D"/>
                </a:solidFill>
                <a:latin typeface="IBM Plex Mono" pitchFamily="34" charset="0"/>
                <a:ea typeface="IBM Plex Mono" pitchFamily="34" charset="-122"/>
                <a:cs typeface="IBM Plex Mono" pitchFamily="34" charset="-120"/>
              </a:rPr>
              <a:t>07  WORKING TOGETHER</a:t>
            </a:r>
            <a:endParaRPr lang="en-US" sz="900" dirty="0"/>
          </a:p>
        </p:txBody>
      </p:sp>
      <p:sp>
        <p:nvSpPr>
          <p:cNvPr id="4" name="Text 2"/>
          <p:cNvSpPr/>
          <p:nvPr/>
        </p:nvSpPr>
        <p:spPr>
          <a:xfrm>
            <a:off x="640080" y="777240"/>
            <a:ext cx="10911535" cy="685800"/>
          </a:xfrm>
          <a:prstGeom prst="rect">
            <a:avLst/>
          </a:prstGeom>
          <a:noFill/>
          <a:ln/>
        </p:spPr>
        <p:txBody>
          <a:bodyPr wrap="square" lIns="0" tIns="0" rIns="0" bIns="0" rtlCol="0" anchor="t"/>
          <a:lstStyle/>
          <a:p>
            <a:pPr marL="0" indent="0">
              <a:buNone/>
            </a:pPr>
            <a:r>
              <a:rPr lang="en-US" sz="3400" b="1" dirty="0">
                <a:solidFill>
                  <a:srgbClr val="FFFFFF"/>
                </a:solidFill>
                <a:latin typeface="Space Grotesk" pitchFamily="34" charset="0"/>
                <a:ea typeface="Space Grotesk" pitchFamily="34" charset="-122"/>
                <a:cs typeface="Space Grotesk" pitchFamily="34" charset="-120"/>
              </a:rPr>
              <a:t>Questions we get asked</a:t>
            </a:r>
            <a:endParaRPr lang="en-US" sz="3400" dirty="0"/>
          </a:p>
        </p:txBody>
      </p:sp>
      <p:sp>
        <p:nvSpPr>
          <p:cNvPr id="5" name="Shape 3"/>
          <p:cNvSpPr/>
          <p:nvPr/>
        </p:nvSpPr>
        <p:spPr>
          <a:xfrm>
            <a:off x="640080" y="1508760"/>
            <a:ext cx="5227168" cy="0"/>
          </a:xfrm>
          <a:prstGeom prst="line">
            <a:avLst/>
          </a:prstGeom>
          <a:noFill/>
          <a:ln w="9525">
            <a:solidFill>
              <a:srgbClr val="2E3033"/>
            </a:solidFill>
            <a:prstDash val="solid"/>
          </a:ln>
        </p:spPr>
        <p:txBody>
          <a:bodyPr/>
          <a:lstStyle/>
          <a:p>
            <a:endParaRPr lang="en-PK"/>
          </a:p>
        </p:txBody>
      </p:sp>
      <p:sp>
        <p:nvSpPr>
          <p:cNvPr id="6" name="Text 4"/>
          <p:cNvSpPr/>
          <p:nvPr/>
        </p:nvSpPr>
        <p:spPr>
          <a:xfrm>
            <a:off x="640080" y="1636776"/>
            <a:ext cx="5227168" cy="237744"/>
          </a:xfrm>
          <a:prstGeom prst="rect">
            <a:avLst/>
          </a:prstGeom>
          <a:noFill/>
          <a:ln/>
        </p:spPr>
        <p:txBody>
          <a:bodyPr wrap="square" lIns="0" tIns="0" rIns="0" bIns="0" rtlCol="0" anchor="t"/>
          <a:lstStyle/>
          <a:p>
            <a:pPr marL="0" indent="0">
              <a:buNone/>
            </a:pPr>
            <a:r>
              <a:rPr lang="en-US" sz="1300" b="1" dirty="0">
                <a:solidFill>
                  <a:srgbClr val="FFFFFF"/>
                </a:solidFill>
                <a:latin typeface="Space Grotesk" pitchFamily="34" charset="0"/>
                <a:ea typeface="Space Grotesk" pitchFamily="34" charset="-122"/>
                <a:cs typeface="Space Grotesk" pitchFamily="34" charset="-120"/>
              </a:rPr>
              <a:t>Who owns the code and the intellectual property?</a:t>
            </a:r>
            <a:endParaRPr lang="en-US" sz="1300" dirty="0"/>
          </a:p>
        </p:txBody>
      </p:sp>
      <p:sp>
        <p:nvSpPr>
          <p:cNvPr id="7" name="Text 5"/>
          <p:cNvSpPr/>
          <p:nvPr/>
        </p:nvSpPr>
        <p:spPr>
          <a:xfrm>
            <a:off x="640080" y="1947672"/>
            <a:ext cx="5227168" cy="1088136"/>
          </a:xfrm>
          <a:prstGeom prst="rect">
            <a:avLst/>
          </a:prstGeom>
          <a:noFill/>
          <a:ln/>
        </p:spPr>
        <p:txBody>
          <a:bodyPr wrap="square" lIns="0" tIns="0" rIns="0" bIns="0" rtlCol="0" anchor="t"/>
          <a:lstStyle/>
          <a:p>
            <a:pPr marL="0" indent="0">
              <a:lnSpc>
                <a:spcPct val="120000"/>
              </a:lnSpc>
              <a:buNone/>
            </a:pPr>
            <a:r>
              <a:rPr lang="en-US" sz="1000" dirty="0">
                <a:solidFill>
                  <a:srgbClr val="B6B7B8"/>
                </a:solidFill>
                <a:latin typeface="IBM Plex Sans" pitchFamily="34" charset="0"/>
                <a:ea typeface="IBM Plex Sans" pitchFamily="34" charset="-122"/>
                <a:cs typeface="IBM Plex Sans" pitchFamily="34" charset="-120"/>
              </a:rPr>
              <a:t>You do, on final payment, in full. That includes the source, the infrastructure definitions, and the documentation. We keep no licence over your systems and we do not reuse client code in other engagements.</a:t>
            </a:r>
            <a:endParaRPr lang="en-US" sz="1000" dirty="0"/>
          </a:p>
        </p:txBody>
      </p:sp>
      <p:sp>
        <p:nvSpPr>
          <p:cNvPr id="8" name="Shape 6"/>
          <p:cNvSpPr/>
          <p:nvPr/>
        </p:nvSpPr>
        <p:spPr>
          <a:xfrm>
            <a:off x="6324448" y="1508760"/>
            <a:ext cx="5227168" cy="0"/>
          </a:xfrm>
          <a:prstGeom prst="line">
            <a:avLst/>
          </a:prstGeom>
          <a:noFill/>
          <a:ln w="9525">
            <a:solidFill>
              <a:srgbClr val="2E3033"/>
            </a:solidFill>
            <a:prstDash val="solid"/>
          </a:ln>
        </p:spPr>
        <p:txBody>
          <a:bodyPr/>
          <a:lstStyle/>
          <a:p>
            <a:endParaRPr lang="en-PK"/>
          </a:p>
        </p:txBody>
      </p:sp>
      <p:sp>
        <p:nvSpPr>
          <p:cNvPr id="9" name="Text 7"/>
          <p:cNvSpPr/>
          <p:nvPr/>
        </p:nvSpPr>
        <p:spPr>
          <a:xfrm>
            <a:off x="6324448" y="1636776"/>
            <a:ext cx="5227168" cy="237744"/>
          </a:xfrm>
          <a:prstGeom prst="rect">
            <a:avLst/>
          </a:prstGeom>
          <a:noFill/>
          <a:ln/>
        </p:spPr>
        <p:txBody>
          <a:bodyPr wrap="square" lIns="0" tIns="0" rIns="0" bIns="0" rtlCol="0" anchor="t"/>
          <a:lstStyle/>
          <a:p>
            <a:pPr marL="0" indent="0">
              <a:buNone/>
            </a:pPr>
            <a:r>
              <a:rPr lang="en-US" sz="1300" b="1" dirty="0">
                <a:solidFill>
                  <a:srgbClr val="FFFFFF"/>
                </a:solidFill>
                <a:latin typeface="Space Grotesk" pitchFamily="34" charset="0"/>
                <a:ea typeface="Space Grotesk" pitchFamily="34" charset="-122"/>
                <a:cs typeface="Space Grotesk" pitchFamily="34" charset="-120"/>
              </a:rPr>
              <a:t>What timezone overlap do we actually get?</a:t>
            </a:r>
            <a:endParaRPr lang="en-US" sz="1300" dirty="0"/>
          </a:p>
        </p:txBody>
      </p:sp>
      <p:sp>
        <p:nvSpPr>
          <p:cNvPr id="10" name="Text 8"/>
          <p:cNvSpPr/>
          <p:nvPr/>
        </p:nvSpPr>
        <p:spPr>
          <a:xfrm>
            <a:off x="6324448" y="1947672"/>
            <a:ext cx="5227168" cy="1088136"/>
          </a:xfrm>
          <a:prstGeom prst="rect">
            <a:avLst/>
          </a:prstGeom>
          <a:noFill/>
          <a:ln/>
        </p:spPr>
        <p:txBody>
          <a:bodyPr wrap="square" lIns="0" tIns="0" rIns="0" bIns="0" rtlCol="0" anchor="t"/>
          <a:lstStyle/>
          <a:p>
            <a:pPr marL="0" indent="0">
              <a:lnSpc>
                <a:spcPct val="120000"/>
              </a:lnSpc>
              <a:buNone/>
            </a:pPr>
            <a:r>
              <a:rPr lang="en-US" sz="1000" dirty="0">
                <a:solidFill>
                  <a:srgbClr val="B6B7B8"/>
                </a:solidFill>
                <a:latin typeface="IBM Plex Sans" pitchFamily="34" charset="0"/>
                <a:ea typeface="IBM Plex Sans" pitchFamily="34" charset="-122"/>
                <a:cs typeface="IBM Plex Sans" pitchFamily="34" charset="-120"/>
              </a:rPr>
              <a:t>We operate in UTC+5. That is a full working morning overlapping Europe and an afternoon overlapping the US East Coast. We commit to a fixed daily overlap window in writing before a project starts rather than leaving it to chance.</a:t>
            </a:r>
            <a:endParaRPr lang="en-US" sz="1000" dirty="0"/>
          </a:p>
        </p:txBody>
      </p:sp>
      <p:sp>
        <p:nvSpPr>
          <p:cNvPr id="11" name="Shape 9"/>
          <p:cNvSpPr/>
          <p:nvPr/>
        </p:nvSpPr>
        <p:spPr>
          <a:xfrm>
            <a:off x="640080" y="3108960"/>
            <a:ext cx="5227168" cy="0"/>
          </a:xfrm>
          <a:prstGeom prst="line">
            <a:avLst/>
          </a:prstGeom>
          <a:noFill/>
          <a:ln w="9525">
            <a:solidFill>
              <a:srgbClr val="2E3033"/>
            </a:solidFill>
            <a:prstDash val="solid"/>
          </a:ln>
        </p:spPr>
        <p:txBody>
          <a:bodyPr/>
          <a:lstStyle/>
          <a:p>
            <a:endParaRPr lang="en-PK"/>
          </a:p>
        </p:txBody>
      </p:sp>
      <p:sp>
        <p:nvSpPr>
          <p:cNvPr id="12" name="Text 10"/>
          <p:cNvSpPr/>
          <p:nvPr/>
        </p:nvSpPr>
        <p:spPr>
          <a:xfrm>
            <a:off x="640080" y="3236976"/>
            <a:ext cx="5227168" cy="237744"/>
          </a:xfrm>
          <a:prstGeom prst="rect">
            <a:avLst/>
          </a:prstGeom>
          <a:noFill/>
          <a:ln/>
        </p:spPr>
        <p:txBody>
          <a:bodyPr wrap="square" lIns="0" tIns="0" rIns="0" bIns="0" rtlCol="0" anchor="t"/>
          <a:lstStyle/>
          <a:p>
            <a:pPr marL="0" indent="0">
              <a:buNone/>
            </a:pPr>
            <a:r>
              <a:rPr lang="en-US" sz="1300" b="1" dirty="0">
                <a:solidFill>
                  <a:srgbClr val="FFFFFF"/>
                </a:solidFill>
                <a:latin typeface="Space Grotesk" pitchFamily="34" charset="0"/>
                <a:ea typeface="Space Grotesk" pitchFamily="34" charset="-122"/>
                <a:cs typeface="Space Grotesk" pitchFamily="34" charset="-120"/>
              </a:rPr>
              <a:t>How do you scope and price a project?</a:t>
            </a:r>
            <a:endParaRPr lang="en-US" sz="1300" dirty="0"/>
          </a:p>
        </p:txBody>
      </p:sp>
      <p:sp>
        <p:nvSpPr>
          <p:cNvPr id="13" name="Text 11"/>
          <p:cNvSpPr/>
          <p:nvPr/>
        </p:nvSpPr>
        <p:spPr>
          <a:xfrm>
            <a:off x="640080" y="3547872"/>
            <a:ext cx="5227168" cy="1088136"/>
          </a:xfrm>
          <a:prstGeom prst="rect">
            <a:avLst/>
          </a:prstGeom>
          <a:noFill/>
          <a:ln/>
        </p:spPr>
        <p:txBody>
          <a:bodyPr wrap="square" lIns="0" tIns="0" rIns="0" bIns="0" rtlCol="0" anchor="t"/>
          <a:lstStyle/>
          <a:p>
            <a:pPr marL="0" indent="0">
              <a:lnSpc>
                <a:spcPct val="120000"/>
              </a:lnSpc>
              <a:buNone/>
            </a:pPr>
            <a:r>
              <a:rPr lang="en-US" sz="1000" dirty="0">
                <a:solidFill>
                  <a:srgbClr val="B6B7B8"/>
                </a:solidFill>
                <a:latin typeface="IBM Plex Sans" pitchFamily="34" charset="0"/>
                <a:ea typeface="IBM Plex Sans" pitchFamily="34" charset="-122"/>
                <a:cs typeface="IBM Plex Sans" pitchFamily="34" charset="-120"/>
              </a:rPr>
              <a:t>We start with a conversation to understand what you need, how the work is done today, and what the project needs to achieve. We then turn that into a written scope with clear deliverables, timelines, assumptions, and pricing, with larger projects broken into defined phases. If something changes along the way, we discuss the impact on scope, timeline, and cost before doing the additional work, so there are no unexpected charges.</a:t>
            </a:r>
            <a:endParaRPr lang="en-US" sz="1000" dirty="0"/>
          </a:p>
        </p:txBody>
      </p:sp>
      <p:sp>
        <p:nvSpPr>
          <p:cNvPr id="14" name="Shape 12"/>
          <p:cNvSpPr/>
          <p:nvPr/>
        </p:nvSpPr>
        <p:spPr>
          <a:xfrm>
            <a:off x="6324448" y="3108960"/>
            <a:ext cx="5227168" cy="0"/>
          </a:xfrm>
          <a:prstGeom prst="line">
            <a:avLst/>
          </a:prstGeom>
          <a:noFill/>
          <a:ln w="9525">
            <a:solidFill>
              <a:srgbClr val="2E3033"/>
            </a:solidFill>
            <a:prstDash val="solid"/>
          </a:ln>
        </p:spPr>
        <p:txBody>
          <a:bodyPr/>
          <a:lstStyle/>
          <a:p>
            <a:endParaRPr lang="en-PK"/>
          </a:p>
        </p:txBody>
      </p:sp>
      <p:sp>
        <p:nvSpPr>
          <p:cNvPr id="15" name="Text 13"/>
          <p:cNvSpPr/>
          <p:nvPr/>
        </p:nvSpPr>
        <p:spPr>
          <a:xfrm>
            <a:off x="6324448" y="3236976"/>
            <a:ext cx="5227168" cy="237744"/>
          </a:xfrm>
          <a:prstGeom prst="rect">
            <a:avLst/>
          </a:prstGeom>
          <a:noFill/>
          <a:ln/>
        </p:spPr>
        <p:txBody>
          <a:bodyPr wrap="square" lIns="0" tIns="0" rIns="0" bIns="0" rtlCol="0" anchor="t"/>
          <a:lstStyle/>
          <a:p>
            <a:pPr marL="0" indent="0">
              <a:buNone/>
            </a:pPr>
            <a:r>
              <a:rPr lang="en-US" sz="1300" b="1" dirty="0">
                <a:solidFill>
                  <a:srgbClr val="FFFFFF"/>
                </a:solidFill>
                <a:latin typeface="Space Grotesk" pitchFamily="34" charset="0"/>
                <a:ea typeface="Space Grotesk" pitchFamily="34" charset="-122"/>
                <a:cs typeface="Space Grotesk" pitchFamily="34" charset="-120"/>
              </a:rPr>
              <a:t>Do you use AI to write our code, and will you tell us?</a:t>
            </a:r>
            <a:endParaRPr lang="en-US" sz="1300" dirty="0"/>
          </a:p>
        </p:txBody>
      </p:sp>
      <p:sp>
        <p:nvSpPr>
          <p:cNvPr id="16" name="Text 14"/>
          <p:cNvSpPr/>
          <p:nvPr/>
        </p:nvSpPr>
        <p:spPr>
          <a:xfrm>
            <a:off x="6324448" y="3547872"/>
            <a:ext cx="5227168" cy="1088136"/>
          </a:xfrm>
          <a:prstGeom prst="rect">
            <a:avLst/>
          </a:prstGeom>
          <a:noFill/>
          <a:ln/>
        </p:spPr>
        <p:txBody>
          <a:bodyPr wrap="square" lIns="0" tIns="0" rIns="0" bIns="0" rtlCol="0" anchor="t"/>
          <a:lstStyle/>
          <a:p>
            <a:pPr marL="0" indent="0">
              <a:lnSpc>
                <a:spcPct val="120000"/>
              </a:lnSpc>
              <a:buNone/>
            </a:pPr>
            <a:r>
              <a:rPr lang="en-US" sz="1000" dirty="0">
                <a:solidFill>
                  <a:srgbClr val="B6B7B8"/>
                </a:solidFill>
                <a:latin typeface="IBM Plex Sans" pitchFamily="34" charset="0"/>
                <a:ea typeface="IBM Plex Sans" pitchFamily="34" charset="-122"/>
                <a:cs typeface="IBM Plex Sans" pitchFamily="34" charset="-120"/>
              </a:rPr>
              <a:t>Yes, we use AI tools where they can improve speed, research, testing, documentation, and development efficiency. AI-generated work is reviewed, tested, and validated by our engineers before it becomes part of your solution, and we remain responsible for the quality, security, and functionality of what we deliver. If AI is used in a material part of your project, we will be transparent about how it is being used and what human review is applied.</a:t>
            </a:r>
            <a:endParaRPr lang="en-US" sz="1000" dirty="0"/>
          </a:p>
        </p:txBody>
      </p:sp>
      <p:sp>
        <p:nvSpPr>
          <p:cNvPr id="17" name="Shape 15"/>
          <p:cNvSpPr/>
          <p:nvPr/>
        </p:nvSpPr>
        <p:spPr>
          <a:xfrm>
            <a:off x="640080" y="4709160"/>
            <a:ext cx="5227168" cy="0"/>
          </a:xfrm>
          <a:prstGeom prst="line">
            <a:avLst/>
          </a:prstGeom>
          <a:noFill/>
          <a:ln w="9525">
            <a:solidFill>
              <a:srgbClr val="2E3033"/>
            </a:solidFill>
            <a:prstDash val="solid"/>
          </a:ln>
        </p:spPr>
        <p:txBody>
          <a:bodyPr/>
          <a:lstStyle/>
          <a:p>
            <a:endParaRPr lang="en-PK"/>
          </a:p>
        </p:txBody>
      </p:sp>
      <p:sp>
        <p:nvSpPr>
          <p:cNvPr id="18" name="Text 16"/>
          <p:cNvSpPr/>
          <p:nvPr/>
        </p:nvSpPr>
        <p:spPr>
          <a:xfrm>
            <a:off x="640080" y="4837176"/>
            <a:ext cx="5227168" cy="438912"/>
          </a:xfrm>
          <a:prstGeom prst="rect">
            <a:avLst/>
          </a:prstGeom>
          <a:noFill/>
          <a:ln/>
        </p:spPr>
        <p:txBody>
          <a:bodyPr wrap="square" lIns="0" tIns="0" rIns="0" bIns="0" rtlCol="0" anchor="t"/>
          <a:lstStyle/>
          <a:p>
            <a:pPr marL="0" indent="0">
              <a:buNone/>
            </a:pPr>
            <a:r>
              <a:rPr lang="en-US" sz="1300" b="1" dirty="0">
                <a:solidFill>
                  <a:srgbClr val="FFFFFF"/>
                </a:solidFill>
                <a:latin typeface="Space Grotesk" pitchFamily="34" charset="0"/>
                <a:ea typeface="Space Grotesk" pitchFamily="34" charset="-122"/>
                <a:cs typeface="Space Grotesk" pitchFamily="34" charset="-120"/>
              </a:rPr>
              <a:t>Can you work with our existing systems, or do we need to start from scratch?</a:t>
            </a:r>
            <a:endParaRPr lang="en-US" sz="1300" dirty="0"/>
          </a:p>
        </p:txBody>
      </p:sp>
      <p:sp>
        <p:nvSpPr>
          <p:cNvPr id="19" name="Text 17"/>
          <p:cNvSpPr/>
          <p:nvPr/>
        </p:nvSpPr>
        <p:spPr>
          <a:xfrm>
            <a:off x="640080" y="5349240"/>
            <a:ext cx="5227168" cy="886968"/>
          </a:xfrm>
          <a:prstGeom prst="rect">
            <a:avLst/>
          </a:prstGeom>
          <a:noFill/>
          <a:ln/>
        </p:spPr>
        <p:txBody>
          <a:bodyPr wrap="square" lIns="0" tIns="0" rIns="0" bIns="0" rtlCol="0" anchor="t"/>
          <a:lstStyle/>
          <a:p>
            <a:pPr marL="0" indent="0">
              <a:lnSpc>
                <a:spcPct val="120000"/>
              </a:lnSpc>
              <a:buNone/>
            </a:pPr>
            <a:r>
              <a:rPr lang="en-US" sz="1000" dirty="0">
                <a:solidFill>
                  <a:srgbClr val="B6B7B8"/>
                </a:solidFill>
                <a:latin typeface="IBM Plex Sans" pitchFamily="34" charset="0"/>
                <a:ea typeface="IBM Plex Sans" pitchFamily="34" charset="-122"/>
                <a:cs typeface="IBM Plex Sans" pitchFamily="34" charset="-120"/>
              </a:rPr>
              <a:t>We can work with what you already have. Whether you need to improve an existing application, connect different systems, automate a manual process, add AI capabilities, or build something completely new, we first assess your current setup and recommend the most practical approach. We do not rebuild something from scratch simply because it is easier for us.</a:t>
            </a:r>
            <a:endParaRPr lang="en-US" sz="1000" dirty="0"/>
          </a:p>
        </p:txBody>
      </p:sp>
      <p:sp>
        <p:nvSpPr>
          <p:cNvPr id="20" name="Shape 18"/>
          <p:cNvSpPr/>
          <p:nvPr/>
        </p:nvSpPr>
        <p:spPr>
          <a:xfrm>
            <a:off x="6324448" y="4709160"/>
            <a:ext cx="5227168" cy="0"/>
          </a:xfrm>
          <a:prstGeom prst="line">
            <a:avLst/>
          </a:prstGeom>
          <a:noFill/>
          <a:ln w="9525">
            <a:solidFill>
              <a:srgbClr val="2E3033"/>
            </a:solidFill>
            <a:prstDash val="solid"/>
          </a:ln>
        </p:spPr>
        <p:txBody>
          <a:bodyPr/>
          <a:lstStyle/>
          <a:p>
            <a:endParaRPr lang="en-PK"/>
          </a:p>
        </p:txBody>
      </p:sp>
      <p:sp>
        <p:nvSpPr>
          <p:cNvPr id="21" name="Text 19"/>
          <p:cNvSpPr/>
          <p:nvPr/>
        </p:nvSpPr>
        <p:spPr>
          <a:xfrm>
            <a:off x="6324448" y="4837176"/>
            <a:ext cx="5227168" cy="237744"/>
          </a:xfrm>
          <a:prstGeom prst="rect">
            <a:avLst/>
          </a:prstGeom>
          <a:noFill/>
          <a:ln/>
        </p:spPr>
        <p:txBody>
          <a:bodyPr wrap="square" lIns="0" tIns="0" rIns="0" bIns="0" rtlCol="0" anchor="t"/>
          <a:lstStyle/>
          <a:p>
            <a:pPr marL="0" indent="0">
              <a:buNone/>
            </a:pPr>
            <a:r>
              <a:rPr lang="en-US" sz="1300" b="1" dirty="0">
                <a:solidFill>
                  <a:srgbClr val="FFFFFF"/>
                </a:solidFill>
                <a:latin typeface="Space Grotesk" pitchFamily="34" charset="0"/>
                <a:ea typeface="Space Grotesk" pitchFamily="34" charset="-122"/>
                <a:cs typeface="Space Grotesk" pitchFamily="34" charset="-120"/>
              </a:rPr>
              <a:t>What if our needs change during the project?</a:t>
            </a:r>
            <a:endParaRPr lang="en-US" sz="1300" dirty="0"/>
          </a:p>
        </p:txBody>
      </p:sp>
      <p:sp>
        <p:nvSpPr>
          <p:cNvPr id="22" name="Text 20"/>
          <p:cNvSpPr/>
          <p:nvPr/>
        </p:nvSpPr>
        <p:spPr>
          <a:xfrm>
            <a:off x="6324448" y="5148072"/>
            <a:ext cx="5227168" cy="1088136"/>
          </a:xfrm>
          <a:prstGeom prst="rect">
            <a:avLst/>
          </a:prstGeom>
          <a:noFill/>
          <a:ln/>
        </p:spPr>
        <p:txBody>
          <a:bodyPr wrap="square" lIns="0" tIns="0" rIns="0" bIns="0" rtlCol="0" anchor="t"/>
          <a:lstStyle/>
          <a:p>
            <a:pPr marL="0" indent="0">
              <a:lnSpc>
                <a:spcPct val="120000"/>
              </a:lnSpc>
              <a:buNone/>
            </a:pPr>
            <a:r>
              <a:rPr lang="en-US" sz="1000" dirty="0">
                <a:solidFill>
                  <a:srgbClr val="B6B7B8"/>
                </a:solidFill>
                <a:latin typeface="IBM Plex Sans" pitchFamily="34" charset="0"/>
                <a:ea typeface="IBM Plex Sans" pitchFamily="34" charset="-122"/>
                <a:cs typeface="IBM Plex Sans" pitchFamily="34" charset="-120"/>
              </a:rPr>
              <a:t>We plan in phases and communicate regularly, so changes can be discussed and incorporated as we go. If something new is needed, we will clarify the impact on scope, timeline, and cost before proceeding.</a:t>
            </a:r>
            <a:endParaRPr lang="en-US" sz="1000" dirty="0"/>
          </a:p>
        </p:txBody>
      </p:sp>
      <p:sp>
        <p:nvSpPr>
          <p:cNvPr id="23" name="Text 21"/>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8B8D8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4" name="Text 22"/>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8B8D8F"/>
                </a:solidFill>
                <a:latin typeface="IBM Plex Mono" pitchFamily="34" charset="0"/>
                <a:ea typeface="IBM Plex Mono" pitchFamily="34" charset="-122"/>
                <a:cs typeface="IBM Plex Mono" pitchFamily="34" charset="-120"/>
              </a:rPr>
              <a:t>29 / 30</a:t>
            </a:r>
            <a:endParaRPr lang="en-US" sz="700" dirty="0"/>
          </a:p>
        </p:txBody>
      </p:sp>
    </p:spTree>
    <p:extLst>
      <p:ext uri="{BB962C8B-B14F-4D97-AF65-F5344CB8AC3E}">
        <p14:creationId xmlns:p14="http://schemas.microsoft.com/office/powerpoint/2010/main" val="4246608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3F1ED"/>
        </a:solidFill>
        <a:effectLst/>
      </p:bgPr>
    </p:bg>
    <p:spTree>
      <p:nvGrpSpPr>
        <p:cNvPr id="1" name=""/>
        <p:cNvGrpSpPr/>
        <p:nvPr/>
      </p:nvGrpSpPr>
      <p:grpSpPr>
        <a:xfrm>
          <a:off x="0" y="0"/>
          <a:ext cx="0" cy="0"/>
          <a:chOff x="0" y="0"/>
          <a:chExt cx="0" cy="0"/>
        </a:xfrm>
      </p:grpSpPr>
      <p:pic>
        <p:nvPicPr>
          <p:cNvPr id="2" name="Image 0" descr="X:\code\personal\boltertech.com\public\yellow-logo.png"/>
          <p:cNvPicPr>
            <a:picLocks noChangeAspect="1"/>
          </p:cNvPicPr>
          <p:nvPr/>
        </p:nvPicPr>
        <p:blipFill>
          <a:blip r:embed="rId3">
            <a:alphaModFix amt="4000"/>
          </a:blip>
          <a:srcRect t="3864" b="6260"/>
          <a:stretch>
            <a:fillRect/>
          </a:stretch>
        </p:blipFill>
        <p:spPr>
          <a:xfrm>
            <a:off x="2561844" y="0"/>
            <a:ext cx="7068312" cy="6858000"/>
          </a:xfrm>
          <a:prstGeom prst="rect">
            <a:avLst/>
          </a:prstGeom>
          <a:effectLst>
            <a:outerShdw blurRad="50800" dist="50800" sx="1000" sy="1000" algn="ctr" rotWithShape="0">
              <a:srgbClr val="000000"/>
            </a:outerShdw>
            <a:reflection endPos="0" dist="50800" dir="5400000" sy="-100000" algn="bl" rotWithShape="0"/>
          </a:effectLst>
        </p:spPr>
      </p:pic>
      <p:sp>
        <p:nvSpPr>
          <p:cNvPr id="3" name="Shape 0"/>
          <p:cNvSpPr/>
          <p:nvPr/>
        </p:nvSpPr>
        <p:spPr>
          <a:xfrm>
            <a:off x="640080" y="1257300"/>
            <a:ext cx="219456" cy="32004"/>
          </a:xfrm>
          <a:prstGeom prst="rect">
            <a:avLst/>
          </a:prstGeom>
          <a:solidFill>
            <a:srgbClr val="8F5D0A"/>
          </a:solidFill>
          <a:ln/>
        </p:spPr>
        <p:txBody>
          <a:bodyPr/>
          <a:lstStyle/>
          <a:p>
            <a:endParaRPr lang="en-PK"/>
          </a:p>
        </p:txBody>
      </p:sp>
      <p:sp>
        <p:nvSpPr>
          <p:cNvPr id="4" name="Text 1"/>
          <p:cNvSpPr/>
          <p:nvPr/>
        </p:nvSpPr>
        <p:spPr>
          <a:xfrm>
            <a:off x="969264" y="1188720"/>
            <a:ext cx="8229600" cy="182880"/>
          </a:xfrm>
          <a:prstGeom prst="rect">
            <a:avLst/>
          </a:prstGeom>
          <a:noFill/>
          <a:ln/>
        </p:spPr>
        <p:txBody>
          <a:bodyPr wrap="square" lIns="0" tIns="0" rIns="0" bIns="0" rtlCol="0" anchor="t"/>
          <a:lstStyle/>
          <a:p>
            <a:pPr marL="0" indent="0">
              <a:buNone/>
            </a:pPr>
            <a:r>
              <a:rPr lang="en-US" sz="900" b="1" kern="0" spc="200" dirty="0">
                <a:solidFill>
                  <a:srgbClr val="8F5D0A"/>
                </a:solidFill>
                <a:latin typeface="IBM Plex Mono" pitchFamily="34" charset="0"/>
                <a:ea typeface="IBM Plex Mono" pitchFamily="34" charset="-122"/>
                <a:cs typeface="IBM Plex Mono" pitchFamily="34" charset="-120"/>
              </a:rPr>
              <a:t>08  CONTACT</a:t>
            </a:r>
            <a:endParaRPr lang="en-US" sz="900" dirty="0"/>
          </a:p>
        </p:txBody>
      </p:sp>
      <p:sp>
        <p:nvSpPr>
          <p:cNvPr id="5" name="Text 2"/>
          <p:cNvSpPr/>
          <p:nvPr/>
        </p:nvSpPr>
        <p:spPr>
          <a:xfrm>
            <a:off x="640080" y="1508760"/>
            <a:ext cx="7498080" cy="1005840"/>
          </a:xfrm>
          <a:prstGeom prst="rect">
            <a:avLst/>
          </a:prstGeom>
          <a:noFill/>
          <a:ln/>
        </p:spPr>
        <p:txBody>
          <a:bodyPr wrap="square" lIns="0" tIns="0" rIns="0" bIns="0" rtlCol="0" anchor="t"/>
          <a:lstStyle/>
          <a:p>
            <a:pPr marL="0" indent="0">
              <a:buNone/>
            </a:pPr>
            <a:r>
              <a:rPr lang="en-US" sz="6400" b="1" dirty="0">
                <a:solidFill>
                  <a:srgbClr val="14161A"/>
                </a:solidFill>
                <a:latin typeface="Space Grotesk" pitchFamily="34" charset="0"/>
                <a:ea typeface="Space Grotesk" pitchFamily="34" charset="-122"/>
                <a:cs typeface="Space Grotesk" pitchFamily="34" charset="-120"/>
              </a:rPr>
              <a:t>Start a project</a:t>
            </a:r>
            <a:endParaRPr lang="en-US" sz="6400" dirty="0"/>
          </a:p>
        </p:txBody>
      </p:sp>
      <p:sp>
        <p:nvSpPr>
          <p:cNvPr id="6" name="Text 3"/>
          <p:cNvSpPr/>
          <p:nvPr/>
        </p:nvSpPr>
        <p:spPr>
          <a:xfrm>
            <a:off x="640080" y="2697480"/>
            <a:ext cx="6583680" cy="822960"/>
          </a:xfrm>
          <a:prstGeom prst="rect">
            <a:avLst/>
          </a:prstGeom>
          <a:noFill/>
          <a:ln/>
        </p:spPr>
        <p:txBody>
          <a:bodyPr wrap="square" lIns="0" tIns="0" rIns="0" bIns="0" rtlCol="0" anchor="t"/>
          <a:lstStyle/>
          <a:p>
            <a:pPr marL="0" indent="0">
              <a:lnSpc>
                <a:spcPct val="120000"/>
              </a:lnSpc>
              <a:buNone/>
            </a:pPr>
            <a:r>
              <a:rPr lang="en-US" sz="2000" dirty="0">
                <a:solidFill>
                  <a:srgbClr val="5B6066"/>
                </a:solidFill>
                <a:latin typeface="IBM Plex Sans" pitchFamily="34" charset="0"/>
                <a:ea typeface="IBM Plex Sans" pitchFamily="34" charset="-122"/>
                <a:cs typeface="IBM Plex Sans" pitchFamily="34" charset="-120"/>
              </a:rPr>
              <a:t>Tell us what is slowing your team down, and let’s get started</a:t>
            </a:r>
            <a:endParaRPr lang="en-US" sz="2000" dirty="0"/>
          </a:p>
        </p:txBody>
      </p:sp>
      <p:sp>
        <p:nvSpPr>
          <p:cNvPr id="7" name="Shape 4"/>
          <p:cNvSpPr/>
          <p:nvPr/>
        </p:nvSpPr>
        <p:spPr>
          <a:xfrm>
            <a:off x="640080" y="4114800"/>
            <a:ext cx="3657600" cy="0"/>
          </a:xfrm>
          <a:prstGeom prst="line">
            <a:avLst/>
          </a:prstGeom>
          <a:noFill/>
          <a:ln w="9525">
            <a:solidFill>
              <a:srgbClr val="DCD8D0"/>
            </a:solidFill>
            <a:prstDash val="solid"/>
          </a:ln>
        </p:spPr>
        <p:txBody>
          <a:bodyPr/>
          <a:lstStyle/>
          <a:p>
            <a:endParaRPr lang="en-PK"/>
          </a:p>
        </p:txBody>
      </p:sp>
      <p:sp>
        <p:nvSpPr>
          <p:cNvPr id="8" name="Text 5"/>
          <p:cNvSpPr/>
          <p:nvPr/>
        </p:nvSpPr>
        <p:spPr>
          <a:xfrm>
            <a:off x="640080" y="4242816"/>
            <a:ext cx="3657600" cy="182880"/>
          </a:xfrm>
          <a:prstGeom prst="rect">
            <a:avLst/>
          </a:prstGeom>
          <a:noFill/>
          <a:ln/>
        </p:spPr>
        <p:txBody>
          <a:bodyPr wrap="square" lIns="0" tIns="0" rIns="0" bIns="0" rtlCol="0" anchor="t"/>
          <a:lstStyle/>
          <a:p>
            <a:pPr marL="0" indent="0">
              <a:buNone/>
            </a:pPr>
            <a:r>
              <a:rPr lang="en-US" sz="800" kern="0" spc="150" dirty="0">
                <a:solidFill>
                  <a:srgbClr val="6F6A5F"/>
                </a:solidFill>
                <a:latin typeface="IBM Plex Mono" pitchFamily="34" charset="0"/>
                <a:ea typeface="IBM Plex Mono" pitchFamily="34" charset="-122"/>
                <a:cs typeface="IBM Plex Mono" pitchFamily="34" charset="-120"/>
              </a:rPr>
              <a:t>EMAIL</a:t>
            </a:r>
            <a:endParaRPr lang="en-US" sz="800" dirty="0"/>
          </a:p>
        </p:txBody>
      </p:sp>
      <p:sp>
        <p:nvSpPr>
          <p:cNvPr id="9" name="Text 6"/>
          <p:cNvSpPr/>
          <p:nvPr/>
        </p:nvSpPr>
        <p:spPr>
          <a:xfrm>
            <a:off x="640080" y="4480560"/>
            <a:ext cx="3657600" cy="548640"/>
          </a:xfrm>
          <a:prstGeom prst="rect">
            <a:avLst/>
          </a:prstGeom>
          <a:noFill/>
          <a:ln/>
        </p:spPr>
        <p:txBody>
          <a:bodyPr wrap="square" lIns="0" tIns="0" rIns="0" bIns="0" rtlCol="0" anchor="t"/>
          <a:lstStyle/>
          <a:p>
            <a:pPr marL="0" indent="0">
              <a:lnSpc>
                <a:spcPct val="115000"/>
              </a:lnSpc>
              <a:buNone/>
            </a:pPr>
            <a:r>
              <a:rPr lang="en-US" sz="1500" u="sng" dirty="0">
                <a:solidFill>
                  <a:srgbClr val="14161A"/>
                </a:solidFill>
                <a:latin typeface="IBM Plex Sans" pitchFamily="34" charset="0"/>
                <a:ea typeface="IBM Plex Sans" pitchFamily="34" charset="-122"/>
                <a:cs typeface="IBM Plex Sans" pitchFamily="34" charset="-120"/>
                <a:hlinkClick r:id="rId4">
                  <a:extLst>
                    <a:ext uri="{A12FA001-AC4F-418D-AE19-62706E023703}">
                      <ahyp:hlinkClr xmlns:ahyp="http://schemas.microsoft.com/office/drawing/2018/hyperlinkcolor" val="tx"/>
                    </a:ext>
                  </a:extLst>
                </a:hlinkClick>
              </a:rPr>
              <a:t>contact@boltertech.com</a:t>
            </a:r>
            <a:endParaRPr lang="en-US" sz="1500" dirty="0"/>
          </a:p>
        </p:txBody>
      </p:sp>
      <p:sp>
        <p:nvSpPr>
          <p:cNvPr id="10" name="Shape 7"/>
          <p:cNvSpPr/>
          <p:nvPr/>
        </p:nvSpPr>
        <p:spPr>
          <a:xfrm>
            <a:off x="4663440" y="4114800"/>
            <a:ext cx="3657600" cy="0"/>
          </a:xfrm>
          <a:prstGeom prst="line">
            <a:avLst/>
          </a:prstGeom>
          <a:noFill/>
          <a:ln w="9525">
            <a:solidFill>
              <a:srgbClr val="DCD8D0"/>
            </a:solidFill>
            <a:prstDash val="solid"/>
          </a:ln>
        </p:spPr>
        <p:txBody>
          <a:bodyPr/>
          <a:lstStyle/>
          <a:p>
            <a:endParaRPr lang="en-PK"/>
          </a:p>
        </p:txBody>
      </p:sp>
      <p:sp>
        <p:nvSpPr>
          <p:cNvPr id="11" name="Text 8"/>
          <p:cNvSpPr/>
          <p:nvPr/>
        </p:nvSpPr>
        <p:spPr>
          <a:xfrm>
            <a:off x="4663440" y="4242816"/>
            <a:ext cx="3657600" cy="182880"/>
          </a:xfrm>
          <a:prstGeom prst="rect">
            <a:avLst/>
          </a:prstGeom>
          <a:noFill/>
          <a:ln/>
        </p:spPr>
        <p:txBody>
          <a:bodyPr wrap="square" lIns="0" tIns="0" rIns="0" bIns="0" rtlCol="0" anchor="t"/>
          <a:lstStyle/>
          <a:p>
            <a:pPr marL="0" indent="0">
              <a:buNone/>
            </a:pPr>
            <a:r>
              <a:rPr lang="en-US" sz="800" kern="0" spc="150" dirty="0">
                <a:solidFill>
                  <a:srgbClr val="6F6A5F"/>
                </a:solidFill>
                <a:latin typeface="IBM Plex Mono" pitchFamily="34" charset="0"/>
                <a:ea typeface="IBM Plex Mono" pitchFamily="34" charset="-122"/>
                <a:cs typeface="IBM Plex Mono" pitchFamily="34" charset="-120"/>
              </a:rPr>
              <a:t>PHONE</a:t>
            </a:r>
            <a:endParaRPr lang="en-US" sz="800" dirty="0"/>
          </a:p>
        </p:txBody>
      </p:sp>
      <p:sp>
        <p:nvSpPr>
          <p:cNvPr id="12" name="Text 9"/>
          <p:cNvSpPr/>
          <p:nvPr/>
        </p:nvSpPr>
        <p:spPr>
          <a:xfrm>
            <a:off x="4663440" y="4480560"/>
            <a:ext cx="3657600" cy="548640"/>
          </a:xfrm>
          <a:prstGeom prst="rect">
            <a:avLst/>
          </a:prstGeom>
          <a:noFill/>
          <a:ln/>
        </p:spPr>
        <p:txBody>
          <a:bodyPr wrap="square" lIns="0" tIns="0" rIns="0" bIns="0" rtlCol="0" anchor="t"/>
          <a:lstStyle/>
          <a:p>
            <a:pPr marL="0" indent="0">
              <a:lnSpc>
                <a:spcPct val="115000"/>
              </a:lnSpc>
              <a:buNone/>
            </a:pPr>
            <a:r>
              <a:rPr lang="en-US" sz="1500" u="sng" dirty="0">
                <a:solidFill>
                  <a:srgbClr val="14161A"/>
                </a:solidFill>
                <a:latin typeface="IBM Plex Sans" pitchFamily="34" charset="0"/>
                <a:ea typeface="IBM Plex Sans" pitchFamily="34" charset="-122"/>
                <a:cs typeface="IBM Plex Sans" pitchFamily="34" charset="-120"/>
                <a:hlinkClick r:id="rId5">
                  <a:extLst>
                    <a:ext uri="{A12FA001-AC4F-418D-AE19-62706E023703}">
                      <ahyp:hlinkClr xmlns:ahyp="http://schemas.microsoft.com/office/drawing/2018/hyperlinkcolor" val="tx"/>
                    </a:ext>
                  </a:extLst>
                </a:hlinkClick>
              </a:rPr>
              <a:t>+92 334 707 0209</a:t>
            </a:r>
            <a:endParaRPr lang="en-US" sz="1500" dirty="0"/>
          </a:p>
        </p:txBody>
      </p:sp>
      <p:sp>
        <p:nvSpPr>
          <p:cNvPr id="13" name="Shape 10"/>
          <p:cNvSpPr/>
          <p:nvPr/>
        </p:nvSpPr>
        <p:spPr>
          <a:xfrm>
            <a:off x="640080" y="5074920"/>
            <a:ext cx="3657600" cy="0"/>
          </a:xfrm>
          <a:prstGeom prst="line">
            <a:avLst/>
          </a:prstGeom>
          <a:noFill/>
          <a:ln w="9525">
            <a:solidFill>
              <a:srgbClr val="DCD8D0"/>
            </a:solidFill>
            <a:prstDash val="solid"/>
          </a:ln>
        </p:spPr>
        <p:txBody>
          <a:bodyPr/>
          <a:lstStyle/>
          <a:p>
            <a:endParaRPr lang="en-PK"/>
          </a:p>
        </p:txBody>
      </p:sp>
      <p:sp>
        <p:nvSpPr>
          <p:cNvPr id="14" name="Text 11"/>
          <p:cNvSpPr/>
          <p:nvPr/>
        </p:nvSpPr>
        <p:spPr>
          <a:xfrm>
            <a:off x="640080" y="5202936"/>
            <a:ext cx="3657600" cy="182880"/>
          </a:xfrm>
          <a:prstGeom prst="rect">
            <a:avLst/>
          </a:prstGeom>
          <a:noFill/>
          <a:ln/>
        </p:spPr>
        <p:txBody>
          <a:bodyPr wrap="square" lIns="0" tIns="0" rIns="0" bIns="0" rtlCol="0" anchor="t"/>
          <a:lstStyle/>
          <a:p>
            <a:pPr marL="0" indent="0">
              <a:buNone/>
            </a:pPr>
            <a:r>
              <a:rPr lang="en-US" sz="800" kern="0" spc="150" dirty="0">
                <a:solidFill>
                  <a:srgbClr val="6F6A5F"/>
                </a:solidFill>
                <a:latin typeface="IBM Plex Mono" pitchFamily="34" charset="0"/>
                <a:ea typeface="IBM Plex Mono" pitchFamily="34" charset="-122"/>
                <a:cs typeface="IBM Plex Mono" pitchFamily="34" charset="-120"/>
              </a:rPr>
              <a:t>WEBSITE</a:t>
            </a:r>
            <a:endParaRPr lang="en-US" sz="800" dirty="0"/>
          </a:p>
        </p:txBody>
      </p:sp>
      <p:sp>
        <p:nvSpPr>
          <p:cNvPr id="15" name="Text 12"/>
          <p:cNvSpPr/>
          <p:nvPr/>
        </p:nvSpPr>
        <p:spPr>
          <a:xfrm>
            <a:off x="640080" y="5440680"/>
            <a:ext cx="3657600" cy="548640"/>
          </a:xfrm>
          <a:prstGeom prst="rect">
            <a:avLst/>
          </a:prstGeom>
          <a:noFill/>
          <a:ln/>
        </p:spPr>
        <p:txBody>
          <a:bodyPr wrap="square" lIns="0" tIns="0" rIns="0" bIns="0" rtlCol="0" anchor="t"/>
          <a:lstStyle/>
          <a:p>
            <a:pPr marL="0" indent="0">
              <a:lnSpc>
                <a:spcPct val="115000"/>
              </a:lnSpc>
              <a:buNone/>
            </a:pPr>
            <a:r>
              <a:rPr lang="en-US" sz="1500" u="sng" dirty="0">
                <a:solidFill>
                  <a:srgbClr val="14161A"/>
                </a:solidFill>
                <a:latin typeface="IBM Plex Sans" pitchFamily="34" charset="0"/>
                <a:ea typeface="IBM Plex Sans" pitchFamily="34" charset="-122"/>
                <a:cs typeface="IBM Plex Sans" pitchFamily="34" charset="-120"/>
                <a:hlinkClick r:id="rId6">
                  <a:extLst>
                    <a:ext uri="{A12FA001-AC4F-418D-AE19-62706E023703}">
                      <ahyp:hlinkClr xmlns:ahyp="http://schemas.microsoft.com/office/drawing/2018/hyperlinkcolor" val="tx"/>
                    </a:ext>
                  </a:extLst>
                </a:hlinkClick>
              </a:rPr>
              <a:t>boltertech.com</a:t>
            </a:r>
            <a:endParaRPr lang="en-US" sz="1500" dirty="0"/>
          </a:p>
        </p:txBody>
      </p:sp>
      <p:sp>
        <p:nvSpPr>
          <p:cNvPr id="16" name="Shape 13"/>
          <p:cNvSpPr/>
          <p:nvPr/>
        </p:nvSpPr>
        <p:spPr>
          <a:xfrm>
            <a:off x="4663440" y="5074920"/>
            <a:ext cx="3657600" cy="0"/>
          </a:xfrm>
          <a:prstGeom prst="line">
            <a:avLst/>
          </a:prstGeom>
          <a:noFill/>
          <a:ln w="9525">
            <a:solidFill>
              <a:srgbClr val="DCD8D0"/>
            </a:solidFill>
            <a:prstDash val="solid"/>
          </a:ln>
        </p:spPr>
        <p:txBody>
          <a:bodyPr/>
          <a:lstStyle/>
          <a:p>
            <a:endParaRPr lang="en-PK"/>
          </a:p>
        </p:txBody>
      </p:sp>
      <p:sp>
        <p:nvSpPr>
          <p:cNvPr id="17" name="Text 14"/>
          <p:cNvSpPr/>
          <p:nvPr/>
        </p:nvSpPr>
        <p:spPr>
          <a:xfrm>
            <a:off x="4663440" y="5202936"/>
            <a:ext cx="3657600" cy="182880"/>
          </a:xfrm>
          <a:prstGeom prst="rect">
            <a:avLst/>
          </a:prstGeom>
          <a:noFill/>
          <a:ln/>
        </p:spPr>
        <p:txBody>
          <a:bodyPr wrap="square" lIns="0" tIns="0" rIns="0" bIns="0" rtlCol="0" anchor="t"/>
          <a:lstStyle/>
          <a:p>
            <a:pPr marL="0" indent="0">
              <a:buNone/>
            </a:pPr>
            <a:r>
              <a:rPr lang="en-US" sz="800" kern="0" spc="150" dirty="0">
                <a:solidFill>
                  <a:srgbClr val="6F6A5F"/>
                </a:solidFill>
                <a:latin typeface="IBM Plex Mono" pitchFamily="34" charset="0"/>
                <a:ea typeface="IBM Plex Mono" pitchFamily="34" charset="-122"/>
                <a:cs typeface="IBM Plex Mono" pitchFamily="34" charset="-120"/>
              </a:rPr>
              <a:t>OFFICE</a:t>
            </a:r>
            <a:endParaRPr lang="en-US" sz="800" dirty="0"/>
          </a:p>
        </p:txBody>
      </p:sp>
      <p:sp>
        <p:nvSpPr>
          <p:cNvPr id="18" name="Text 15"/>
          <p:cNvSpPr/>
          <p:nvPr/>
        </p:nvSpPr>
        <p:spPr>
          <a:xfrm>
            <a:off x="4663440" y="5440680"/>
            <a:ext cx="3657600" cy="548640"/>
          </a:xfrm>
          <a:prstGeom prst="rect">
            <a:avLst/>
          </a:prstGeom>
          <a:noFill/>
          <a:ln/>
        </p:spPr>
        <p:txBody>
          <a:bodyPr wrap="square" lIns="0" tIns="0" rIns="0" bIns="0" rtlCol="0" anchor="t"/>
          <a:lstStyle/>
          <a:p>
            <a:pPr marL="0" indent="0">
              <a:lnSpc>
                <a:spcPct val="115000"/>
              </a:lnSpc>
              <a:buNone/>
            </a:pPr>
            <a:r>
              <a:rPr lang="en-US" sz="1100" u="sng" dirty="0">
                <a:solidFill>
                  <a:srgbClr val="14161A"/>
                </a:solidFill>
                <a:latin typeface="IBM Plex Sans" pitchFamily="34" charset="0"/>
                <a:ea typeface="IBM Plex Sans" pitchFamily="34" charset="-122"/>
                <a:cs typeface="IBM Plex Sans" pitchFamily="34" charset="-120"/>
                <a:hlinkClick r:id="rId7">
                  <a:extLst>
                    <a:ext uri="{A12FA001-AC4F-418D-AE19-62706E023703}">
                      <ahyp:hlinkClr xmlns:ahyp="http://schemas.microsoft.com/office/drawing/2018/hyperlinkcolor" val="tx"/>
                    </a:ext>
                  </a:extLst>
                </a:hlinkClick>
              </a:rPr>
              <a:t>303, 3rd Floor, Mehran Business Square, Plaza 3-H, Kunwar Block, Topcity-1, Islamabad, Pakistan</a:t>
            </a:r>
            <a:endParaRPr lang="en-US" sz="1100" dirty="0"/>
          </a:p>
        </p:txBody>
      </p:sp>
      <p:sp>
        <p:nvSpPr>
          <p:cNvPr id="19" name="Text 16"/>
          <p:cNvSpPr/>
          <p:nvPr/>
        </p:nvSpPr>
        <p:spPr>
          <a:xfrm>
            <a:off x="640080" y="6473952"/>
            <a:ext cx="6400800" cy="164592"/>
          </a:xfrm>
          <a:prstGeom prst="rect">
            <a:avLst/>
          </a:prstGeom>
          <a:noFill/>
          <a:ln/>
        </p:spPr>
        <p:txBody>
          <a:bodyPr wrap="square" lIns="0" tIns="0" rIns="0" bIns="0" rtlCol="0" anchor="t"/>
          <a:lstStyle/>
          <a:p>
            <a:pPr marL="0" indent="0">
              <a:buNone/>
            </a:pPr>
            <a:r>
              <a:rPr lang="en-US" sz="700" kern="0" spc="150" dirty="0">
                <a:solidFill>
                  <a:srgbClr val="6F6A5F"/>
                </a:solidFill>
                <a:latin typeface="IBM Plex Mono" pitchFamily="34" charset="0"/>
                <a:ea typeface="IBM Plex Mono" pitchFamily="34" charset="-122"/>
                <a:cs typeface="IBM Plex Mono" pitchFamily="34" charset="-120"/>
              </a:rPr>
              <a:t>BOLTER TECHNOLOGIES PRIVATE LIMITED  ·  COMPANY PROFILE</a:t>
            </a:r>
            <a:endParaRPr lang="en-US" sz="700" dirty="0"/>
          </a:p>
        </p:txBody>
      </p:sp>
      <p:sp>
        <p:nvSpPr>
          <p:cNvPr id="20" name="Text 17"/>
          <p:cNvSpPr/>
          <p:nvPr/>
        </p:nvSpPr>
        <p:spPr>
          <a:xfrm>
            <a:off x="9722815" y="6473952"/>
            <a:ext cx="1828800" cy="164592"/>
          </a:xfrm>
          <a:prstGeom prst="rect">
            <a:avLst/>
          </a:prstGeom>
          <a:noFill/>
          <a:ln/>
        </p:spPr>
        <p:txBody>
          <a:bodyPr wrap="square" lIns="0" tIns="0" rIns="0" bIns="0" rtlCol="0" anchor="t"/>
          <a:lstStyle/>
          <a:p>
            <a:pPr marL="0" indent="0" algn="r">
              <a:buNone/>
            </a:pPr>
            <a:r>
              <a:rPr lang="en-US" sz="700" kern="0" spc="150" dirty="0">
                <a:solidFill>
                  <a:srgbClr val="6F6A5F"/>
                </a:solidFill>
                <a:latin typeface="IBM Plex Mono" pitchFamily="34" charset="0"/>
                <a:ea typeface="IBM Plex Mono" pitchFamily="34" charset="-122"/>
                <a:cs typeface="IBM Plex Mono" pitchFamily="34" charset="-120"/>
              </a:rPr>
              <a:t>30 / 30</a:t>
            </a:r>
            <a:endParaRPr lang="en-US" sz="700" dirty="0"/>
          </a:p>
        </p:txBody>
      </p:sp>
    </p:spTree>
    <p:extLst>
      <p:ext uri="{BB962C8B-B14F-4D97-AF65-F5344CB8AC3E}">
        <p14:creationId xmlns:p14="http://schemas.microsoft.com/office/powerpoint/2010/main" val="2047826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88F3458-0E27-4C8F-9356-E4AF690FE094}">
  <we:reference id="wa200010001" version="1.0.0.1" store="en-US" storeType="OMEX"/>
  <we:alternateReferences>
    <we:reference id="wa200010001" version="1.0.0.1" store="en-US" storeType="OMEX"/>
  </we:alternateReferences>
  <we:properties>
    <we:property name="claude.fileId" value="&quot;65f0a35d-0ad7-442c-8beb-d98ed1a60dd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230</TotalTime>
  <Words>6490</Words>
  <Application>Microsoft Office PowerPoint</Application>
  <PresentationFormat>Widescreen</PresentationFormat>
  <Paragraphs>657</Paragraphs>
  <Slides>33</Slides>
  <Notes>33</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IBM Plex Mono</vt:lpstr>
      <vt:lpstr>IBM Plex Sans</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Bolter Technologies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Bolter Technologies — Company Profile</dc:title>
  <dc:subject>PptxGenJS Presentation</dc:subject>
  <dc:creator>Bolter Technologies Private Limited</dc:creator>
  <cp:lastModifiedBy>Muhammad Sadiq Raza</cp:lastModifiedBy>
  <cp:revision>12</cp:revision>
  <dcterms:created xsi:type="dcterms:W3CDTF">2026-09-17T09:14:02Z</dcterms:created>
  <dcterms:modified xsi:type="dcterms:W3CDTF">2026-09-28T09:47:14Z</dcterms:modified>
</cp:coreProperties>
</file>